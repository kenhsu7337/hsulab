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Lst>
  <p:notesMasterIdLst>
    <p:notesMasterId r:id="rId57"/>
  </p:notesMasterIdLst>
  <p:sldIdLst>
    <p:sldId id="257" r:id="rId2"/>
    <p:sldId id="259" r:id="rId3"/>
    <p:sldId id="272" r:id="rId4"/>
    <p:sldId id="296" r:id="rId5"/>
    <p:sldId id="258" r:id="rId6"/>
    <p:sldId id="292"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4" r:id="rId39"/>
    <p:sldId id="297" r:id="rId40"/>
    <p:sldId id="298" r:id="rId41"/>
    <p:sldId id="300" r:id="rId42"/>
    <p:sldId id="313" r:id="rId43"/>
    <p:sldId id="305" r:id="rId44"/>
    <p:sldId id="303" r:id="rId45"/>
    <p:sldId id="301" r:id="rId46"/>
    <p:sldId id="306" r:id="rId47"/>
    <p:sldId id="307" r:id="rId48"/>
    <p:sldId id="302" r:id="rId49"/>
    <p:sldId id="308" r:id="rId50"/>
    <p:sldId id="299" r:id="rId51"/>
    <p:sldId id="309" r:id="rId52"/>
    <p:sldId id="310" r:id="rId53"/>
    <p:sldId id="311" r:id="rId54"/>
    <p:sldId id="312" r:id="rId55"/>
    <p:sldId id="314"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2"/>
    <p:restoredTop sz="86560" autoAdjust="0"/>
  </p:normalViewPr>
  <p:slideViewPr>
    <p:cSldViewPr>
      <p:cViewPr varScale="1">
        <p:scale>
          <a:sx n="122" d="100"/>
          <a:sy n="122" d="100"/>
        </p:scale>
        <p:origin x="2168" y="200"/>
      </p:cViewPr>
      <p:guideLst>
        <p:guide orient="horz" pos="2160"/>
        <p:guide pos="2880"/>
      </p:guideLst>
    </p:cSldViewPr>
  </p:slideViewPr>
  <p:notesTextViewPr>
    <p:cViewPr>
      <p:scale>
        <a:sx n="1" d="1"/>
        <a:sy n="1" d="1"/>
      </p:scale>
      <p:origin x="0" y="0"/>
    </p:cViewPr>
  </p:notesTextViewPr>
  <p:sorterViewPr>
    <p:cViewPr>
      <p:scale>
        <a:sx n="100" d="100"/>
        <a:sy n="100" d="100"/>
      </p:scale>
      <p:origin x="0" y="-107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E55FDC-CE4F-483A-B98A-DFEF2F34E5FA}" type="datetimeFigureOut">
              <a:rPr lang="en-US" smtClean="0"/>
              <a:t>2/1/19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67CA5F-4884-4C51-950C-1867F2C45501}" type="slidenum">
              <a:rPr lang="en-US" smtClean="0"/>
              <a:t>‹#›</a:t>
            </a:fld>
            <a:endParaRPr lang="en-US"/>
          </a:p>
        </p:txBody>
      </p:sp>
    </p:spTree>
    <p:extLst>
      <p:ext uri="{BB962C8B-B14F-4D97-AF65-F5344CB8AC3E}">
        <p14:creationId xmlns:p14="http://schemas.microsoft.com/office/powerpoint/2010/main" val="1548038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646D2D20-3F94-4F46-B4F2-E008A8AB0F34}" type="slidenum">
              <a:rPr lang="en-US" altLang="en-US">
                <a:solidFill>
                  <a:prstClr val="black"/>
                </a:solidFill>
                <a:latin typeface="Times New Roman" pitchFamily="18" charset="0"/>
              </a:rPr>
              <a:pPr eaLnBrk="1" hangingPunct="1"/>
              <a:t>3</a:t>
            </a:fld>
            <a:endParaRPr lang="en-US" altLang="en-US">
              <a:solidFill>
                <a:prstClr val="black"/>
              </a:solidFill>
              <a:latin typeface="Times New Roman" pitchFamily="18"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r>
              <a:rPr lang="en-US" altLang="en-US" dirty="0"/>
              <a:t>"-</a:t>
            </a:r>
            <a:r>
              <a:rPr lang="en-US" altLang="en-US" dirty="0" err="1"/>
              <a:t>ome</a:t>
            </a:r>
            <a:r>
              <a:rPr lang="en-US" altLang="en-US" dirty="0"/>
              <a:t>" and "-</a:t>
            </a:r>
            <a:r>
              <a:rPr lang="en-US" altLang="en-US" dirty="0" err="1"/>
              <a:t>omic</a:t>
            </a:r>
            <a:r>
              <a:rPr lang="en-US" altLang="en-US" dirty="0"/>
              <a:t>" mania kicked off with the genome, a neologism which today describes the complete DNA sequence of an organism. The term itself, however, was coined as early as 1920 by German botanist Hans Winkler as a portmanteau of the words gene and chromosome. The genome was soon followed by the transcriptome (a term for all RNAs encoded by the genome) and the proteome (the translated and modified protein products of these transcripts).</a:t>
            </a:r>
          </a:p>
          <a:p>
            <a:endParaRPr lang="en-US" altLang="en-US" dirty="0"/>
          </a:p>
          <a:p>
            <a:r>
              <a:rPr lang="en-US" altLang="en-US" dirty="0"/>
              <a:t>More than 100 “-</a:t>
            </a:r>
            <a:r>
              <a:rPr lang="en-US" altLang="en-US" dirty="0" err="1"/>
              <a:t>omes</a:t>
            </a:r>
            <a:r>
              <a:rPr lang="en-US" altLang="en-US" dirty="0"/>
              <a:t> or -omics” at http://www.genomicglossaries.com/content/omes.asp</a:t>
            </a:r>
          </a:p>
          <a:p>
            <a:r>
              <a:rPr lang="en-US" altLang="en-US" dirty="0"/>
              <a:t>Transcriptome, </a:t>
            </a:r>
            <a:r>
              <a:rPr lang="en-US" altLang="en-US" dirty="0" err="1"/>
              <a:t>peptidome</a:t>
            </a:r>
            <a:r>
              <a:rPr lang="en-US" altLang="en-US" dirty="0"/>
              <a:t>, metabolome, </a:t>
            </a:r>
            <a:r>
              <a:rPr lang="en-US" altLang="en-US" dirty="0" err="1"/>
              <a:t>kinome</a:t>
            </a:r>
            <a:r>
              <a:rPr lang="en-US" altLang="en-US" dirty="0"/>
              <a:t>, </a:t>
            </a:r>
            <a:r>
              <a:rPr lang="en-US" altLang="en-US" dirty="0" err="1"/>
              <a:t>secretome</a:t>
            </a:r>
            <a:endParaRPr lang="en-US" altLang="en-US" dirty="0"/>
          </a:p>
          <a:p>
            <a:r>
              <a:rPr lang="en-US" altLang="en-US" dirty="0" err="1"/>
              <a:t>Diseaseome</a:t>
            </a:r>
            <a:r>
              <a:rPr lang="en-US" altLang="en-US" dirty="0"/>
              <a:t>, </a:t>
            </a:r>
            <a:r>
              <a:rPr lang="en-US" altLang="en-US" dirty="0" err="1"/>
              <a:t>systeome</a:t>
            </a:r>
            <a:r>
              <a:rPr lang="en-US" altLang="en-US" dirty="0"/>
              <a:t>, </a:t>
            </a:r>
            <a:r>
              <a:rPr lang="en-US" altLang="en-US" dirty="0" err="1"/>
              <a:t>psychiatome</a:t>
            </a:r>
            <a:r>
              <a:rPr lang="en-US" altLang="en-US" dirty="0"/>
              <a:t>…</a:t>
            </a:r>
            <a:r>
              <a:rPr lang="en-US" altLang="en-US" u="sng" dirty="0" err="1"/>
              <a:t>unknome</a:t>
            </a:r>
            <a:endParaRPr lang="en-US" altLang="en-US" u="sng" dirty="0"/>
          </a:p>
          <a:p>
            <a:endParaRPr lang="en-US" altLang="en-US" dirty="0"/>
          </a:p>
          <a:p>
            <a:endParaRPr lang="en-US" altLang="en-US" dirty="0"/>
          </a:p>
        </p:txBody>
      </p:sp>
    </p:spTree>
    <p:extLst>
      <p:ext uri="{BB962C8B-B14F-4D97-AF65-F5344CB8AC3E}">
        <p14:creationId xmlns:p14="http://schemas.microsoft.com/office/powerpoint/2010/main" val="3373079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6F16A244-A58A-48E4-B1F7-3DC63BD791D0}" type="slidenum">
              <a:rPr lang="en-US" altLang="en-US">
                <a:solidFill>
                  <a:prstClr val="black"/>
                </a:solidFill>
                <a:latin typeface="Times New Roman" pitchFamily="18" charset="0"/>
              </a:rPr>
              <a:pPr eaLnBrk="1" hangingPunct="1"/>
              <a:t>5</a:t>
            </a:fld>
            <a:endParaRPr lang="en-US" altLang="en-US">
              <a:solidFill>
                <a:prstClr val="black"/>
              </a:solidFill>
              <a:latin typeface="Times New Roman" pitchFamily="18"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03614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47976E77-F8E6-4282-B990-4C55982068DD}" type="slidenum">
              <a:rPr lang="en-US" altLang="en-US">
                <a:solidFill>
                  <a:prstClr val="black"/>
                </a:solidFill>
                <a:latin typeface="Times New Roman" pitchFamily="18" charset="0"/>
              </a:rPr>
              <a:pPr eaLnBrk="1" hangingPunct="1"/>
              <a:t>7</a:t>
            </a:fld>
            <a:endParaRPr lang="en-US" altLang="en-US">
              <a:solidFill>
                <a:prstClr val="black"/>
              </a:solidFill>
              <a:latin typeface="Times New Roman" pitchFamily="18"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r>
              <a:rPr lang="en-US" altLang="en-US" dirty="0"/>
              <a:t>http://masspec.scripps.edu/mshistory/perspectives/timeline.php</a:t>
            </a:r>
          </a:p>
          <a:p>
            <a:endParaRPr lang="en-US" altLang="en-US" dirty="0"/>
          </a:p>
        </p:txBody>
      </p:sp>
    </p:spTree>
    <p:extLst>
      <p:ext uri="{BB962C8B-B14F-4D97-AF65-F5344CB8AC3E}">
        <p14:creationId xmlns:p14="http://schemas.microsoft.com/office/powerpoint/2010/main" val="2064955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9285E325-AA58-4ECF-91A9-F896C1FC4929}" type="slidenum">
              <a:rPr lang="en-US" altLang="en-US">
                <a:solidFill>
                  <a:prstClr val="black"/>
                </a:solidFill>
                <a:latin typeface="Times New Roman" pitchFamily="18" charset="0"/>
              </a:rPr>
              <a:pPr eaLnBrk="1" hangingPunct="1"/>
              <a:t>8</a:t>
            </a:fld>
            <a:endParaRPr lang="en-US" altLang="en-US">
              <a:solidFill>
                <a:prstClr val="black"/>
              </a:solidFill>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p:spPr>
        <p:txBody>
          <a:bodyPr/>
          <a:lstStyle/>
          <a:p>
            <a:r>
              <a:rPr lang="en-US" altLang="en-US"/>
              <a:t>http://masspec.scripps.edu/mshistory/perspectives/timeline.php</a:t>
            </a:r>
          </a:p>
          <a:p>
            <a:endParaRPr lang="en-US" altLang="en-US"/>
          </a:p>
        </p:txBody>
      </p:sp>
    </p:spTree>
    <p:extLst>
      <p:ext uri="{BB962C8B-B14F-4D97-AF65-F5344CB8AC3E}">
        <p14:creationId xmlns:p14="http://schemas.microsoft.com/office/powerpoint/2010/main" val="1158947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69A025A3-76C7-4D1A-97A0-54F4903A5407}" type="slidenum">
              <a:rPr lang="en-US" altLang="en-US">
                <a:solidFill>
                  <a:srgbClr val="000000"/>
                </a:solidFill>
                <a:latin typeface="Times New Roman" pitchFamily="18" charset="0"/>
              </a:rPr>
              <a:pPr eaLnBrk="1" hangingPunct="1"/>
              <a:t>9</a:t>
            </a:fld>
            <a:endParaRPr lang="en-US" altLang="en-US">
              <a:solidFill>
                <a:srgbClr val="000000"/>
              </a:solidFill>
              <a:latin typeface="Times New Roman" pitchFamily="18"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812801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p:spPr>
        <p:txBody>
          <a:bodyPr/>
          <a:lstStyle/>
          <a:p>
            <a:r>
              <a:rPr lang="en-US" altLang="en-US" dirty="0" err="1"/>
              <a:t>Proteinogenic</a:t>
            </a:r>
            <a:r>
              <a:rPr lang="en-US" altLang="en-US" dirty="0"/>
              <a:t>: precursors to proteins</a:t>
            </a:r>
          </a:p>
          <a:p>
            <a:endParaRPr lang="en-US" altLang="en-US" dirty="0"/>
          </a:p>
          <a:p>
            <a:r>
              <a:rPr lang="en-US" altLang="en-US" dirty="0"/>
              <a:t>20 common amino acids (encoded by DNA): A=alanine; C=cysteine; D=aspartic acid; E=glutamic acid; F=phenylalanine; G=glycine; H=histidine; I=isoleucine; L=leucine; M=methionine; N=asparagine; P=</a:t>
            </a:r>
            <a:r>
              <a:rPr lang="en-US" altLang="en-US" dirty="0" err="1"/>
              <a:t>proline</a:t>
            </a:r>
            <a:r>
              <a:rPr lang="en-US" altLang="en-US" dirty="0"/>
              <a:t>; Q=glutamine; R=arginine; S=serine; T=threonine; V=valine; W=tryptophan; Y=tyrosine</a:t>
            </a:r>
          </a:p>
          <a:p>
            <a:endParaRPr lang="en-US" altLang="en-US" dirty="0"/>
          </a:p>
          <a:p>
            <a:r>
              <a:rPr lang="en-US" altLang="en-US" dirty="0"/>
              <a:t>9 essential amino acids: H, I, K, L, M, P, T, V, W (need to consume in diet; cannot be synthesized in humans)</a:t>
            </a:r>
          </a:p>
          <a:p>
            <a:endParaRPr lang="en-US" altLang="en-US" dirty="0"/>
          </a:p>
          <a:p>
            <a:endParaRPr lang="en-US" altLang="en-US" dirty="0"/>
          </a:p>
        </p:txBody>
      </p:sp>
      <p:sp>
        <p:nvSpPr>
          <p:cNvPr id="81924" name="Slide Number Placeholder 3"/>
          <p:cNvSpPr>
            <a:spLocks noGrp="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3A019DAB-F960-424D-9D49-B155493D3F38}" type="slidenum">
              <a:rPr lang="en-US" altLang="en-US">
                <a:solidFill>
                  <a:prstClr val="black"/>
                </a:solidFill>
                <a:latin typeface="Times New Roman" pitchFamily="18" charset="0"/>
              </a:rPr>
              <a:pPr eaLnBrk="1" hangingPunct="1"/>
              <a:t>11</a:t>
            </a:fld>
            <a:endParaRPr lang="en-US" altLang="en-US">
              <a:solidFill>
                <a:prstClr val="black"/>
              </a:solidFill>
              <a:latin typeface="Times New Roman" pitchFamily="18" charset="0"/>
            </a:endParaRPr>
          </a:p>
        </p:txBody>
      </p:sp>
    </p:spTree>
    <p:extLst>
      <p:ext uri="{BB962C8B-B14F-4D97-AF65-F5344CB8AC3E}">
        <p14:creationId xmlns:p14="http://schemas.microsoft.com/office/powerpoint/2010/main" val="3847997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06955EC3-3C8E-4404-9FFA-13884B79ADCD}" type="slidenum">
              <a:rPr lang="en-US" altLang="en-US">
                <a:solidFill>
                  <a:prstClr val="black"/>
                </a:solidFill>
                <a:latin typeface="Times New Roman" pitchFamily="18" charset="0"/>
              </a:rPr>
              <a:pPr eaLnBrk="1" hangingPunct="1"/>
              <a:t>13</a:t>
            </a:fld>
            <a:endParaRPr lang="en-US" altLang="en-US">
              <a:solidFill>
                <a:prstClr val="black"/>
              </a:solidFill>
              <a:latin typeface="Times New Roman" pitchFamily="18"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p:spPr>
        <p:txBody>
          <a:bodyPr/>
          <a:lstStyle/>
          <a:p>
            <a:r>
              <a:rPr lang="en-US" altLang="en-US"/>
              <a:t>Albuminous substances = casein, fibrin, gelatin</a:t>
            </a:r>
          </a:p>
          <a:p>
            <a:r>
              <a:rPr lang="en-US" altLang="en-US"/>
              <a:t>Sanger was awarded a second chemistry Nobel Prize in 1980 for DNA sequencing (“Sanger method”)</a:t>
            </a:r>
          </a:p>
          <a:p>
            <a:r>
              <a:rPr lang="en-US" altLang="en-US"/>
              <a:t>	He is one of two persons to win two Nobel Prizes in the same category (and the only one for chemistry)</a:t>
            </a:r>
          </a:p>
          <a:p>
            <a:r>
              <a:rPr lang="en-US" altLang="en-US"/>
              <a:t>	He died in 2013 at 95 years of age.</a:t>
            </a:r>
          </a:p>
          <a:p>
            <a:endParaRPr lang="en-US" altLang="en-US"/>
          </a:p>
          <a:p>
            <a:endParaRPr lang="en-US" altLang="en-US"/>
          </a:p>
        </p:txBody>
      </p:sp>
    </p:spTree>
    <p:extLst>
      <p:ext uri="{BB962C8B-B14F-4D97-AF65-F5344CB8AC3E}">
        <p14:creationId xmlns:p14="http://schemas.microsoft.com/office/powerpoint/2010/main" val="1865995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DCDB084D-A3E8-4499-A7C1-320B69422EB9}" type="slidenum">
              <a:rPr lang="en-US" altLang="en-US">
                <a:solidFill>
                  <a:prstClr val="black"/>
                </a:solidFill>
                <a:latin typeface="Times New Roman" pitchFamily="18" charset="0"/>
              </a:rPr>
              <a:pPr eaLnBrk="1" hangingPunct="1"/>
              <a:t>15</a:t>
            </a:fld>
            <a:endParaRPr lang="en-US" altLang="en-US">
              <a:solidFill>
                <a:prstClr val="black"/>
              </a:solidFill>
              <a:latin typeface="Times New Roman" pitchFamily="18"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68271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523818-DC6D-49BA-9F64-9560B9A0D3FC}" type="slidenum">
              <a:rPr lang="en-US" altLang="en-US">
                <a:solidFill>
                  <a:prstClr val="black"/>
                </a:solidFill>
              </a:rPr>
              <a:pPr/>
              <a:t>20</a:t>
            </a:fld>
            <a:endParaRPr lang="en-US" altLang="en-US">
              <a:solidFill>
                <a:prstClr val="black"/>
              </a:solidFill>
            </a:endParaRPr>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altLang="en-US" dirty="0" err="1"/>
              <a:t>apoB</a:t>
            </a:r>
            <a:r>
              <a:rPr lang="en-US" altLang="en-US" dirty="0"/>
              <a:t> (</a:t>
            </a:r>
            <a:r>
              <a:rPr lang="en-US" altLang="en-US" dirty="0" err="1"/>
              <a:t>apolipoprotein</a:t>
            </a:r>
            <a:r>
              <a:rPr lang="en-US" altLang="en-US" baseline="0" dirty="0"/>
              <a:t> B)</a:t>
            </a:r>
          </a:p>
          <a:p>
            <a:r>
              <a:rPr lang="en-US" altLang="en-US" baseline="0" dirty="0"/>
              <a:t>Cyanogen bromide and trypsin digest</a:t>
            </a:r>
          </a:p>
          <a:p>
            <a:r>
              <a:rPr lang="en-US" altLang="en-US" baseline="0" dirty="0"/>
              <a:t>HPLC fractionation of peptides</a:t>
            </a:r>
          </a:p>
          <a:p>
            <a:r>
              <a:rPr lang="en-US" altLang="en-US" baseline="0" dirty="0"/>
              <a:t>Fast-atom bombardment (FAB)-CID-tandem mass spectrometry (MS/MS) with a triple stage </a:t>
            </a:r>
            <a:r>
              <a:rPr lang="en-US" altLang="en-US" baseline="0" dirty="0" err="1"/>
              <a:t>quadrupole</a:t>
            </a:r>
            <a:r>
              <a:rPr lang="en-US" altLang="en-US" baseline="0" dirty="0"/>
              <a:t> (TSQ)</a:t>
            </a:r>
          </a:p>
          <a:p>
            <a:endParaRPr lang="en-US" altLang="en-US" dirty="0"/>
          </a:p>
        </p:txBody>
      </p:sp>
    </p:spTree>
    <p:extLst>
      <p:ext uri="{BB962C8B-B14F-4D97-AF65-F5344CB8AC3E}">
        <p14:creationId xmlns:p14="http://schemas.microsoft.com/office/powerpoint/2010/main" val="1766680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B8338F3D-1D1C-426B-9BAC-3C70A6B0434D}" type="slidenum">
              <a:rPr lang="en-US" altLang="en-US">
                <a:solidFill>
                  <a:prstClr val="black"/>
                </a:solidFill>
                <a:latin typeface="Times New Roman" pitchFamily="18" charset="0"/>
              </a:rPr>
              <a:pPr eaLnBrk="1" hangingPunct="1"/>
              <a:t>22</a:t>
            </a:fld>
            <a:endParaRPr lang="en-US" altLang="en-US">
              <a:solidFill>
                <a:prstClr val="black"/>
              </a:solidFill>
              <a:latin typeface="Times New Roman" pitchFamily="18"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5006615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a:t>
            </a:r>
            <a:r>
              <a:rPr lang="en-US" baseline="0" dirty="0"/>
              <a:t> proteomics methods that use  online liquid chromatography and electrospray ionization.</a:t>
            </a:r>
          </a:p>
          <a:p>
            <a:endParaRPr lang="en-US" dirty="0"/>
          </a:p>
        </p:txBody>
      </p:sp>
      <p:sp>
        <p:nvSpPr>
          <p:cNvPr id="4" name="Slide Number Placeholder 3"/>
          <p:cNvSpPr>
            <a:spLocks noGrp="1"/>
          </p:cNvSpPr>
          <p:nvPr>
            <p:ph type="sldNum" sz="quarter" idx="10"/>
          </p:nvPr>
        </p:nvSpPr>
        <p:spPr/>
        <p:txBody>
          <a:bodyPr/>
          <a:lstStyle/>
          <a:p>
            <a:pPr>
              <a:defRPr/>
            </a:pPr>
            <a:fld id="{09D9C80B-E451-429B-A329-686AB5B305D6}" type="slidenum">
              <a:rPr lang="en-US">
                <a:solidFill>
                  <a:prstClr val="black"/>
                </a:solidFill>
              </a:rPr>
              <a:pPr>
                <a:defRPr/>
              </a:pPr>
              <a:t>24</a:t>
            </a:fld>
            <a:endParaRPr lang="en-US">
              <a:solidFill>
                <a:prstClr val="black"/>
              </a:solidFill>
            </a:endParaRPr>
          </a:p>
        </p:txBody>
      </p:sp>
    </p:spTree>
    <p:extLst>
      <p:ext uri="{BB962C8B-B14F-4D97-AF65-F5344CB8AC3E}">
        <p14:creationId xmlns:p14="http://schemas.microsoft.com/office/powerpoint/2010/main" val="642667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10B91F73-13CB-4F0C-884F-D5BE2F1A1A4B}" type="slidenum">
              <a:rPr lang="en-US" altLang="en-US">
                <a:solidFill>
                  <a:prstClr val="black"/>
                </a:solidFill>
                <a:latin typeface="Times New Roman" pitchFamily="18" charset="0"/>
              </a:rPr>
              <a:pPr eaLnBrk="1" hangingPunct="1"/>
              <a:t>28</a:t>
            </a:fld>
            <a:endParaRPr lang="en-US" altLang="en-US">
              <a:solidFill>
                <a:prstClr val="black"/>
              </a:solidFill>
              <a:latin typeface="Times New Roman" pitchFamily="18"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668572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4FC41301-F71F-4DC9-B164-EC9C54EA95B9}" type="slidenum">
              <a:rPr lang="en-US" altLang="en-US">
                <a:solidFill>
                  <a:prstClr val="black"/>
                </a:solidFill>
                <a:latin typeface="Times New Roman" pitchFamily="18" charset="0"/>
              </a:rPr>
              <a:pPr eaLnBrk="1" hangingPunct="1"/>
              <a:t>29</a:t>
            </a:fld>
            <a:endParaRPr lang="en-US" altLang="en-US">
              <a:solidFill>
                <a:prstClr val="black"/>
              </a:solidFill>
              <a:latin typeface="Times New Roman" pitchFamily="18"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033178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670E019D-9AB6-40A0-B242-A2D07AD3F427}" type="slidenum">
              <a:rPr lang="en-US" altLang="en-US">
                <a:solidFill>
                  <a:prstClr val="black"/>
                </a:solidFill>
                <a:latin typeface="Times New Roman" pitchFamily="18" charset="0"/>
              </a:rPr>
              <a:pPr eaLnBrk="1" hangingPunct="1"/>
              <a:t>30</a:t>
            </a:fld>
            <a:endParaRPr lang="en-US" altLang="en-US">
              <a:solidFill>
                <a:prstClr val="black"/>
              </a:solidFill>
              <a:latin typeface="Times New Roman" pitchFamily="18"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207973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B0657B34-17F6-45A3-9601-32BA1F23D55F}" type="slidenum">
              <a:rPr lang="en-US" altLang="en-US">
                <a:solidFill>
                  <a:prstClr val="black"/>
                </a:solidFill>
                <a:latin typeface="Times New Roman" pitchFamily="18" charset="0"/>
              </a:rPr>
              <a:pPr eaLnBrk="1" hangingPunct="1"/>
              <a:t>31</a:t>
            </a:fld>
            <a:endParaRPr lang="en-US" altLang="en-US">
              <a:solidFill>
                <a:prstClr val="black"/>
              </a:solidFill>
              <a:latin typeface="Times New Roman" pitchFamily="18"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7702328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9BC3DA3C-D749-4F28-BA76-B43A7FE7FB30}" type="slidenum">
              <a:rPr lang="en-US" altLang="en-US">
                <a:solidFill>
                  <a:prstClr val="black"/>
                </a:solidFill>
                <a:latin typeface="Times New Roman" pitchFamily="18" charset="0"/>
              </a:rPr>
              <a:pPr eaLnBrk="1" hangingPunct="1"/>
              <a:t>32</a:t>
            </a:fld>
            <a:endParaRPr lang="en-US" altLang="en-US">
              <a:solidFill>
                <a:prstClr val="black"/>
              </a:solidFill>
              <a:latin typeface="Times New Roman" pitchFamily="18"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r>
              <a:rPr lang="en-US" sz="1200" b="0" kern="1200" dirty="0">
                <a:solidFill>
                  <a:schemeClr val="tx1"/>
                </a:solidFill>
                <a:latin typeface="+mn-lt"/>
                <a:ea typeface="+mn-ea"/>
                <a:cs typeface="+mn-cs"/>
              </a:rPr>
              <a:t>Parsimony: Determine the smallest set of proteins that accounts for all peptides identified.</a:t>
            </a:r>
          </a:p>
          <a:p>
            <a:r>
              <a:rPr lang="en-US" sz="1200" b="0" kern="1200" dirty="0">
                <a:solidFill>
                  <a:schemeClr val="tx1"/>
                </a:solidFill>
                <a:latin typeface="+mn-lt"/>
                <a:ea typeface="+mn-ea"/>
                <a:cs typeface="+mn-cs"/>
              </a:rPr>
              <a:t>Deal with peptides that</a:t>
            </a:r>
            <a:r>
              <a:rPr lang="en-US" sz="1200" b="0" kern="1200" baseline="0" dirty="0">
                <a:solidFill>
                  <a:schemeClr val="tx1"/>
                </a:solidFill>
                <a:latin typeface="+mn-lt"/>
                <a:ea typeface="+mn-ea"/>
                <a:cs typeface="+mn-cs"/>
              </a:rPr>
              <a:t> are contained in multiple proteins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latin typeface="+mn-lt"/>
                <a:ea typeface="+mn-ea"/>
                <a:cs typeface="+mn-cs"/>
              </a:rPr>
              <a:t>ftp://chemdata.nist.gov/download/Sara/DBParser2.0/ParsimonyDefinition.html</a:t>
            </a:r>
          </a:p>
          <a:p>
            <a:endParaRPr lang="en-US" sz="1200" b="0" kern="1200" baseline="0" dirty="0">
              <a:solidFill>
                <a:schemeClr val="tx1"/>
              </a:solidFill>
              <a:latin typeface="+mn-lt"/>
              <a:ea typeface="+mn-ea"/>
              <a:cs typeface="+mn-cs"/>
            </a:endParaRPr>
          </a:p>
          <a:p>
            <a:endParaRPr lang="en-US" sz="1200" b="0" kern="1200" baseline="0" dirty="0">
              <a:solidFill>
                <a:schemeClr val="tx1"/>
              </a:solidFill>
              <a:latin typeface="+mn-lt"/>
              <a:ea typeface="+mn-ea"/>
              <a:cs typeface="+mn-cs"/>
            </a:endParaRPr>
          </a:p>
          <a:p>
            <a:r>
              <a:rPr lang="en-US" sz="1200" b="0" kern="1200" baseline="0" dirty="0" err="1">
                <a:solidFill>
                  <a:schemeClr val="tx1"/>
                </a:solidFill>
                <a:latin typeface="+mn-lt"/>
                <a:ea typeface="+mn-ea"/>
                <a:cs typeface="+mn-cs"/>
              </a:rPr>
              <a:t>MassSieve</a:t>
            </a:r>
            <a:r>
              <a:rPr lang="en-US" sz="1200" b="0" kern="1200" baseline="0" dirty="0">
                <a:solidFill>
                  <a:schemeClr val="tx1"/>
                </a:solidFill>
                <a:latin typeface="+mn-lt"/>
                <a:ea typeface="+mn-ea"/>
                <a:cs typeface="+mn-cs"/>
              </a:rPr>
              <a:t> software:</a:t>
            </a:r>
          </a:p>
          <a:p>
            <a:r>
              <a:rPr lang="en-US" sz="1200" b="0" kern="1200" dirty="0">
                <a:solidFill>
                  <a:schemeClr val="tx1"/>
                </a:solidFill>
                <a:latin typeface="+mn-lt"/>
                <a:ea typeface="+mn-ea"/>
                <a:cs typeface="+mn-cs"/>
              </a:rPr>
              <a:t>http://www.ncbi.nlm.nih.gov/staff/slottad/MassSieve/parsimony.html</a:t>
            </a:r>
          </a:p>
          <a:p>
            <a:r>
              <a:rPr lang="en-US" dirty="0"/>
              <a:t>Since a given peptide sequence can map to more than one protein, a method is desired to reduce the complexity of the resulting set of proteins. The following parsimony rules and definitions are designed to reduce the number of proteins and yet still account for all of the observed spectra and isoforms. </a:t>
            </a:r>
            <a:endParaRPr lang="en-US" sz="1200" b="0" kern="1200" dirty="0">
              <a:solidFill>
                <a:schemeClr val="tx1"/>
              </a:solidFill>
              <a:latin typeface="+mn-lt"/>
              <a:ea typeface="+mn-ea"/>
              <a:cs typeface="+mn-cs"/>
            </a:endParaRPr>
          </a:p>
          <a:p>
            <a:endParaRPr lang="en-US" sz="1200" b="0" kern="1200" dirty="0">
              <a:solidFill>
                <a:schemeClr val="tx1"/>
              </a:solidFill>
              <a:latin typeface="+mn-lt"/>
              <a:ea typeface="+mn-ea"/>
              <a:cs typeface="+mn-cs"/>
            </a:endParaRPr>
          </a:p>
          <a:p>
            <a:endParaRPr lang="en-US" altLang="en-US" dirty="0"/>
          </a:p>
        </p:txBody>
      </p:sp>
    </p:spTree>
    <p:extLst>
      <p:ext uri="{BB962C8B-B14F-4D97-AF65-F5344CB8AC3E}">
        <p14:creationId xmlns:p14="http://schemas.microsoft.com/office/powerpoint/2010/main" val="19641166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67C7A664-EE39-44E0-B1B2-675414B3D79D}" type="slidenum">
              <a:rPr lang="en-US" altLang="en-US">
                <a:solidFill>
                  <a:prstClr val="black"/>
                </a:solidFill>
                <a:latin typeface="Times New Roman" pitchFamily="18" charset="0"/>
              </a:rPr>
              <a:pPr eaLnBrk="1" hangingPunct="1"/>
              <a:t>33</a:t>
            </a:fld>
            <a:endParaRPr lang="en-US" altLang="en-US">
              <a:solidFill>
                <a:prstClr val="black"/>
              </a:solidFill>
              <a:latin typeface="Times New Roman" pitchFamily="18"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r>
              <a:rPr lang="en-US" altLang="en-US" dirty="0"/>
              <a:t>Increase search result</a:t>
            </a:r>
            <a:r>
              <a:rPr lang="en-US" altLang="en-US" baseline="0" dirty="0"/>
              <a:t> (peptide identification) with larger database (more possibilities) and search versus a “decoy” database (reversed protein sequences), to determine a “false discovery rate” (frequency of incorrect matches to reversed, “false” sequences).</a:t>
            </a:r>
            <a:endParaRPr lang="en-US" altLang="en-US" dirty="0"/>
          </a:p>
        </p:txBody>
      </p:sp>
    </p:spTree>
    <p:extLst>
      <p:ext uri="{BB962C8B-B14F-4D97-AF65-F5344CB8AC3E}">
        <p14:creationId xmlns:p14="http://schemas.microsoft.com/office/powerpoint/2010/main" val="1543032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B461D0AC-F626-426F-B86C-98C6DAE5442B}" type="slidenum">
              <a:rPr lang="en-US" altLang="en-US">
                <a:solidFill>
                  <a:prstClr val="black"/>
                </a:solidFill>
                <a:latin typeface="Times New Roman" pitchFamily="18" charset="0"/>
              </a:rPr>
              <a:pPr eaLnBrk="1" hangingPunct="1"/>
              <a:t>34</a:t>
            </a:fld>
            <a:endParaRPr lang="en-US" altLang="en-US">
              <a:solidFill>
                <a:prstClr val="black"/>
              </a:solidFill>
              <a:latin typeface="Times New Roman" pitchFamily="18"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pPr marL="0" lvl="2" defTabSz="897301" eaLnBrk="0" fontAlgn="base" hangingPunct="0">
              <a:spcBef>
                <a:spcPct val="30000"/>
              </a:spcBef>
              <a:spcAft>
                <a:spcPct val="0"/>
              </a:spcAft>
            </a:pPr>
            <a:r>
              <a:rPr lang="en-US" altLang="en-US" sz="2000" dirty="0"/>
              <a:t>SILAC=stable isotope labeling with amino acids in cell culture. Two populations of cells are cultivated in cell culture. One of the cell populations is fed with growth medium containing normal amino acids. In contrast, the second population is fed with growth medium containing amino acids labeled with stable (non-radioactive) heavy isotopes. For example, the medium can contain arginine labeled with six carbon-13 atoms (13C) instead of the normal carbon-12 (12C). When the cells are growing in this medium, they incorporate the heavy arginine into all of their proteins. Thereafter, all peptides containing a single arginine are 6 Da heavier than their normal counterparts. Alternatively, uniform labeling with 13C or 15N can be used. The trick is that the proteins from both cell populations can be combined and analyzed together by mass spectrometry. Pairs of chemically identical peptides of different stable-isotope composition can be differentiated in a mass spectrometer owing to their mass difference. The ratio of peak intensities in the mass spectrum for such peptide pairs reflects the abundance ratio for the two proteins.</a:t>
            </a:r>
          </a:p>
          <a:p>
            <a:endParaRPr lang="en-US" altLang="en-US" dirty="0"/>
          </a:p>
          <a:p>
            <a:pPr marL="0" lvl="2" defTabSz="897301" eaLnBrk="0" fontAlgn="base" hangingPunct="0">
              <a:spcBef>
                <a:spcPct val="30000"/>
              </a:spcBef>
              <a:spcAft>
                <a:spcPct val="0"/>
              </a:spcAft>
            </a:pPr>
            <a:r>
              <a:rPr lang="en-US" altLang="en-US" sz="2000" dirty="0" err="1"/>
              <a:t>iTRAQ</a:t>
            </a:r>
            <a:r>
              <a:rPr lang="en-US" altLang="en-US" sz="2000" dirty="0"/>
              <a:t>=isobaric tag for relative and absolute quantitation; the method is based on the covalent labeling of the N-terminus and </a:t>
            </a:r>
            <a:r>
              <a:rPr lang="en-US" altLang="en-US" sz="2000" dirty="0" err="1"/>
              <a:t>sidechain</a:t>
            </a:r>
            <a:r>
              <a:rPr lang="en-US" altLang="en-US" sz="2000" dirty="0"/>
              <a:t> amines of peptides from protein digestions with tags of varying mass. The fragmentation of the attached tag generates a low molecular mass reporter ion that can be used to relatively quantify the peptides and the proteins from which they originated.</a:t>
            </a:r>
          </a:p>
          <a:p>
            <a:r>
              <a:rPr lang="en-US" altLang="en-US" dirty="0"/>
              <a:t>(Wikipedia)</a:t>
            </a:r>
          </a:p>
        </p:txBody>
      </p:sp>
    </p:spTree>
    <p:extLst>
      <p:ext uri="{BB962C8B-B14F-4D97-AF65-F5344CB8AC3E}">
        <p14:creationId xmlns:p14="http://schemas.microsoft.com/office/powerpoint/2010/main" val="1207082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5F099D31-DFE9-46D6-B47F-61D07AD3A003}" type="slidenum">
              <a:rPr lang="en-US" altLang="en-US">
                <a:solidFill>
                  <a:prstClr val="black"/>
                </a:solidFill>
                <a:latin typeface="Times New Roman" pitchFamily="18" charset="0"/>
              </a:rPr>
              <a:pPr eaLnBrk="1" hangingPunct="1"/>
              <a:t>35</a:t>
            </a:fld>
            <a:endParaRPr lang="en-US" altLang="en-US">
              <a:solidFill>
                <a:prstClr val="black"/>
              </a:solidFill>
              <a:latin typeface="Times New Roman" pitchFamily="18"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p:spPr>
        <p:txBody>
          <a:bodyPr/>
          <a:lstStyle/>
          <a:p>
            <a:r>
              <a:rPr lang="en-US" altLang="en-US" dirty="0"/>
              <a:t>FTMS=Fourier</a:t>
            </a:r>
            <a:r>
              <a:rPr lang="en-US" altLang="en-US" baseline="0" dirty="0"/>
              <a:t> transform mass spectrometry</a:t>
            </a:r>
          </a:p>
          <a:p>
            <a:r>
              <a:rPr lang="en-US" altLang="en-US" baseline="0" dirty="0"/>
              <a:t>PTMs=Post-translational modifications (additions of chemical groups to proteins after DNA translation that generates the proteins)</a:t>
            </a:r>
          </a:p>
          <a:p>
            <a:endParaRPr lang="en-US" altLang="en-US" dirty="0"/>
          </a:p>
        </p:txBody>
      </p:sp>
    </p:spTree>
    <p:extLst>
      <p:ext uri="{BB962C8B-B14F-4D97-AF65-F5344CB8AC3E}">
        <p14:creationId xmlns:p14="http://schemas.microsoft.com/office/powerpoint/2010/main" val="2692399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defTabSz="914437" eaLnBrk="0" hangingPunct="0">
              <a:defRPr>
                <a:solidFill>
                  <a:schemeClr val="tx1"/>
                </a:solidFill>
                <a:latin typeface="Arial" charset="0"/>
                <a:cs typeface="Arial" charset="0"/>
              </a:defRPr>
            </a:lvl1pPr>
            <a:lvl2pPr marL="729057" indent="-280406" defTabSz="914437" eaLnBrk="0" hangingPunct="0">
              <a:defRPr>
                <a:solidFill>
                  <a:schemeClr val="tx1"/>
                </a:solidFill>
                <a:latin typeface="Arial" charset="0"/>
                <a:cs typeface="Arial" charset="0"/>
              </a:defRPr>
            </a:lvl2pPr>
            <a:lvl3pPr marL="1121626" indent="-224325" defTabSz="914437" eaLnBrk="0" hangingPunct="0">
              <a:defRPr>
                <a:solidFill>
                  <a:schemeClr val="tx1"/>
                </a:solidFill>
                <a:latin typeface="Arial" charset="0"/>
                <a:cs typeface="Arial" charset="0"/>
              </a:defRPr>
            </a:lvl3pPr>
            <a:lvl4pPr marL="1570276" indent="-224325" defTabSz="914437" eaLnBrk="0" hangingPunct="0">
              <a:defRPr>
                <a:solidFill>
                  <a:schemeClr val="tx1"/>
                </a:solidFill>
                <a:latin typeface="Arial" charset="0"/>
                <a:cs typeface="Arial" charset="0"/>
              </a:defRPr>
            </a:lvl4pPr>
            <a:lvl5pPr marL="2018927" indent="-224325" defTabSz="914437" eaLnBrk="0" hangingPunct="0">
              <a:defRPr>
                <a:solidFill>
                  <a:schemeClr val="tx1"/>
                </a:solidFill>
                <a:latin typeface="Arial" charset="0"/>
                <a:cs typeface="Arial" charset="0"/>
              </a:defRPr>
            </a:lvl5pPr>
            <a:lvl6pPr marL="2467577" indent="-224325" defTabSz="914437" eaLnBrk="0" fontAlgn="base" hangingPunct="0">
              <a:spcBef>
                <a:spcPct val="0"/>
              </a:spcBef>
              <a:spcAft>
                <a:spcPct val="0"/>
              </a:spcAft>
              <a:defRPr>
                <a:solidFill>
                  <a:schemeClr val="tx1"/>
                </a:solidFill>
                <a:latin typeface="Arial" charset="0"/>
                <a:cs typeface="Arial" charset="0"/>
              </a:defRPr>
            </a:lvl6pPr>
            <a:lvl7pPr marL="2916227" indent="-224325" defTabSz="914437" eaLnBrk="0" fontAlgn="base" hangingPunct="0">
              <a:spcBef>
                <a:spcPct val="0"/>
              </a:spcBef>
              <a:spcAft>
                <a:spcPct val="0"/>
              </a:spcAft>
              <a:defRPr>
                <a:solidFill>
                  <a:schemeClr val="tx1"/>
                </a:solidFill>
                <a:latin typeface="Arial" charset="0"/>
                <a:cs typeface="Arial" charset="0"/>
              </a:defRPr>
            </a:lvl7pPr>
            <a:lvl8pPr marL="3364878" indent="-224325" defTabSz="914437" eaLnBrk="0" fontAlgn="base" hangingPunct="0">
              <a:spcBef>
                <a:spcPct val="0"/>
              </a:spcBef>
              <a:spcAft>
                <a:spcPct val="0"/>
              </a:spcAft>
              <a:defRPr>
                <a:solidFill>
                  <a:schemeClr val="tx1"/>
                </a:solidFill>
                <a:latin typeface="Arial" charset="0"/>
                <a:cs typeface="Arial" charset="0"/>
              </a:defRPr>
            </a:lvl8pPr>
            <a:lvl9pPr marL="3813528" indent="-224325" defTabSz="914437" eaLnBrk="0" fontAlgn="base" hangingPunct="0">
              <a:spcBef>
                <a:spcPct val="0"/>
              </a:spcBef>
              <a:spcAft>
                <a:spcPct val="0"/>
              </a:spcAft>
              <a:defRPr>
                <a:solidFill>
                  <a:schemeClr val="tx1"/>
                </a:solidFill>
                <a:latin typeface="Arial" charset="0"/>
                <a:cs typeface="Arial" charset="0"/>
              </a:defRPr>
            </a:lvl9pPr>
          </a:lstStyle>
          <a:p>
            <a:pPr eaLnBrk="1" hangingPunct="1"/>
            <a:fld id="{FA2C67C5-CC72-44A2-A5D7-09E371B0E24E}" type="slidenum">
              <a:rPr lang="en-US" altLang="en-US">
                <a:solidFill>
                  <a:prstClr val="black"/>
                </a:solidFill>
                <a:latin typeface="Times New Roman" pitchFamily="18" charset="0"/>
              </a:rPr>
              <a:pPr eaLnBrk="1" hangingPunct="1"/>
              <a:t>36</a:t>
            </a:fld>
            <a:endParaRPr lang="en-US" altLang="en-US">
              <a:solidFill>
                <a:prstClr val="black"/>
              </a:solidFill>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r>
              <a:rPr lang="en-US" altLang="en-US" dirty="0"/>
              <a:t>It</a:t>
            </a:r>
            <a:r>
              <a:rPr lang="en-US" altLang="en-US" baseline="0" dirty="0"/>
              <a:t> is estimated that the number</a:t>
            </a:r>
            <a:r>
              <a:rPr lang="en-US" altLang="en-US" dirty="0"/>
              <a:t> of protein isoforms might be 100-1000x the number of human genes.</a:t>
            </a:r>
          </a:p>
          <a:p>
            <a:endParaRPr lang="en-US" altLang="en-US" dirty="0"/>
          </a:p>
          <a:p>
            <a:r>
              <a:rPr lang="en-US" altLang="en-US" dirty="0"/>
              <a:t>More than 5% genome encodes for enzymes.</a:t>
            </a:r>
          </a:p>
          <a:p>
            <a:endParaRPr lang="en-US" altLang="en-US" dirty="0"/>
          </a:p>
        </p:txBody>
      </p:sp>
    </p:spTree>
    <p:extLst>
      <p:ext uri="{BB962C8B-B14F-4D97-AF65-F5344CB8AC3E}">
        <p14:creationId xmlns:p14="http://schemas.microsoft.com/office/powerpoint/2010/main" val="2301538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t>‹#›</a:t>
            </a:fld>
            <a:endParaRPr lang="en-US"/>
          </a:p>
        </p:txBody>
      </p:sp>
    </p:spTree>
    <p:extLst>
      <p:ext uri="{BB962C8B-B14F-4D97-AF65-F5344CB8AC3E}">
        <p14:creationId xmlns:p14="http://schemas.microsoft.com/office/powerpoint/2010/main" val="1649768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152401"/>
            <a:ext cx="7886700" cy="685800"/>
          </a:xfrm>
        </p:spPr>
        <p:txBody>
          <a:bodyPr/>
          <a:lstStyle/>
          <a:p>
            <a:r>
              <a:rPr lang="en-US" dirty="0"/>
              <a:t>Click to edit Master title style</a:t>
            </a:r>
          </a:p>
        </p:txBody>
      </p:sp>
      <p:sp>
        <p:nvSpPr>
          <p:cNvPr id="3" name="Content Placeholder 2"/>
          <p:cNvSpPr>
            <a:spLocks noGrp="1"/>
          </p:cNvSpPr>
          <p:nvPr>
            <p:ph idx="1"/>
          </p:nvPr>
        </p:nvSpPr>
        <p:spPr>
          <a:xfrm>
            <a:off x="628650" y="1219200"/>
            <a:ext cx="7886700" cy="464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28650" y="6492875"/>
            <a:ext cx="2057400" cy="365125"/>
          </a:xfrm>
        </p:spPr>
        <p:txBody>
          <a:bodyPr/>
          <a:lstStyle/>
          <a:p>
            <a:r>
              <a:rPr lang="en-US"/>
              <a:t>11/2/2015</a:t>
            </a:r>
          </a:p>
        </p:txBody>
      </p:sp>
      <p:sp>
        <p:nvSpPr>
          <p:cNvPr id="5" name="Footer Placeholder 4"/>
          <p:cNvSpPr>
            <a:spLocks noGrp="1"/>
          </p:cNvSpPr>
          <p:nvPr>
            <p:ph type="ftr" sz="quarter" idx="11"/>
          </p:nvPr>
        </p:nvSpPr>
        <p:spPr>
          <a:xfrm>
            <a:off x="3028950" y="6492875"/>
            <a:ext cx="3086100" cy="365125"/>
          </a:xfrm>
        </p:spPr>
        <p:txBody>
          <a:bodyPr/>
          <a:lstStyle/>
          <a:p>
            <a:r>
              <a:rPr lang="en-US"/>
              <a:t>Hsu group meeting</a:t>
            </a:r>
          </a:p>
        </p:txBody>
      </p:sp>
      <p:sp>
        <p:nvSpPr>
          <p:cNvPr id="6" name="Slide Number Placeholder 5"/>
          <p:cNvSpPr>
            <a:spLocks noGrp="1"/>
          </p:cNvSpPr>
          <p:nvPr>
            <p:ph type="sldNum" sz="quarter" idx="12"/>
          </p:nvPr>
        </p:nvSpPr>
        <p:spPr>
          <a:xfrm>
            <a:off x="6457950" y="6492875"/>
            <a:ext cx="1929856" cy="365125"/>
          </a:xfrm>
        </p:spPr>
        <p:txBody>
          <a:bodyPr/>
          <a:lstStyle>
            <a:lvl1pPr algn="r">
              <a:defRPr/>
            </a:lvl1pPr>
          </a:lstStyle>
          <a:p>
            <a:fld id="{69B5BC37-830D-4F1C-891C-DA1C51928656}" type="slidenum">
              <a:rPr lang="en-US" smtClean="0"/>
              <a:pPr/>
              <a:t>‹#›</a:t>
            </a:fld>
            <a:endParaRPr lang="en-US" dirty="0"/>
          </a:p>
        </p:txBody>
      </p:sp>
    </p:spTree>
    <p:extLst>
      <p:ext uri="{BB962C8B-B14F-4D97-AF65-F5344CB8AC3E}">
        <p14:creationId xmlns:p14="http://schemas.microsoft.com/office/powerpoint/2010/main" val="586341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r>
              <a:rPr lang="en-US"/>
              <a:t>11/2/2015</a:t>
            </a:r>
          </a:p>
        </p:txBody>
      </p:sp>
      <p:sp>
        <p:nvSpPr>
          <p:cNvPr id="4" name="Footer Placeholder 3"/>
          <p:cNvSpPr>
            <a:spLocks noGrp="1"/>
          </p:cNvSpPr>
          <p:nvPr>
            <p:ph type="ftr" sz="quarter" idx="11"/>
          </p:nvPr>
        </p:nvSpPr>
        <p:spPr/>
        <p:txBody>
          <a:bodyPr/>
          <a:lstStyle/>
          <a:p>
            <a:r>
              <a:rPr lang="en-US"/>
              <a:t>Hsu group meeting</a:t>
            </a:r>
          </a:p>
        </p:txBody>
      </p:sp>
      <p:sp>
        <p:nvSpPr>
          <p:cNvPr id="5" name="Slide Number Placeholder 4"/>
          <p:cNvSpPr>
            <a:spLocks noGrp="1"/>
          </p:cNvSpPr>
          <p:nvPr>
            <p:ph type="sldNum" sz="quarter" idx="12"/>
          </p:nvPr>
        </p:nvSpPr>
        <p:spPr/>
        <p:txBody>
          <a:bodyPr/>
          <a:lstStyle/>
          <a:p>
            <a:fld id="{69B5BC37-830D-4F1C-891C-DA1C51928656}" type="slidenum">
              <a:rPr lang="en-US" smtClean="0"/>
              <a:t>‹#›</a:t>
            </a:fld>
            <a:endParaRPr lang="en-US"/>
          </a:p>
        </p:txBody>
      </p:sp>
    </p:spTree>
    <p:extLst>
      <p:ext uri="{BB962C8B-B14F-4D97-AF65-F5344CB8AC3E}">
        <p14:creationId xmlns:p14="http://schemas.microsoft.com/office/powerpoint/2010/main" val="110710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4" name="Slide Number Placeholder 3"/>
          <p:cNvSpPr>
            <a:spLocks noGrp="1"/>
          </p:cNvSpPr>
          <p:nvPr>
            <p:ph type="sldNum" sz="quarter" idx="12"/>
          </p:nvPr>
        </p:nvSpPr>
        <p:spPr>
          <a:xfrm>
            <a:off x="6705600" y="6478819"/>
            <a:ext cx="1929856" cy="365125"/>
          </a:xfrm>
        </p:spPr>
        <p:txBody>
          <a:bodyPr/>
          <a:lstStyle/>
          <a:p>
            <a:fld id="{69B5BC37-830D-4F1C-891C-DA1C51928656}" type="slidenum">
              <a:rPr lang="en-US" smtClean="0"/>
              <a:t>‹#›</a:t>
            </a:fld>
            <a:endParaRPr lang="en-US"/>
          </a:p>
        </p:txBody>
      </p:sp>
    </p:spTree>
    <p:extLst>
      <p:ext uri="{BB962C8B-B14F-4D97-AF65-F5344CB8AC3E}">
        <p14:creationId xmlns:p14="http://schemas.microsoft.com/office/powerpoint/2010/main" val="1819988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0" y="6381750"/>
            <a:ext cx="2895600" cy="476250"/>
          </a:xfrm>
          <a:prstGeom prst="rect">
            <a:avLst/>
          </a:prstGeom>
        </p:spPr>
        <p:txBody>
          <a:bodyPr/>
          <a:lstStyle>
            <a:lvl1pPr>
              <a:defRPr>
                <a:latin typeface="Arial" pitchFamily="34" charset="0"/>
                <a:cs typeface="Arial" pitchFamily="34" charset="0"/>
              </a:defRPr>
            </a:lvl1pPr>
          </a:lstStyle>
          <a:p>
            <a:pPr fontAlgn="base">
              <a:spcBef>
                <a:spcPct val="0"/>
              </a:spcBef>
              <a:spcAft>
                <a:spcPct val="0"/>
              </a:spcAft>
              <a:defRPr/>
            </a:pPr>
            <a:r>
              <a:rPr lang="en-US">
                <a:solidFill>
                  <a:srgbClr val="000000"/>
                </a:solidFill>
              </a:rPr>
              <a:t>Hsu group meeting</a:t>
            </a:r>
          </a:p>
        </p:txBody>
      </p:sp>
      <p:sp>
        <p:nvSpPr>
          <p:cNvPr id="6" name="Slide Number Placeholder 5"/>
          <p:cNvSpPr>
            <a:spLocks noGrp="1"/>
          </p:cNvSpPr>
          <p:nvPr>
            <p:ph type="sldNum" sz="quarter" idx="11"/>
          </p:nvPr>
        </p:nvSpPr>
        <p:spPr/>
        <p:txBody>
          <a:bodyPr/>
          <a:lstStyle>
            <a:lvl1pPr>
              <a:defRPr/>
            </a:lvl1pPr>
          </a:lstStyle>
          <a:p>
            <a:pPr>
              <a:defRPr/>
            </a:pPr>
            <a:fld id="{0298D672-392A-4E4B-9B32-BB591332E67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2603760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6095" y="100013"/>
            <a:ext cx="7886700" cy="7778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6095" y="1219200"/>
            <a:ext cx="78867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492875"/>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11/2/2015</a:t>
            </a:r>
          </a:p>
        </p:txBody>
      </p:sp>
      <p:sp>
        <p:nvSpPr>
          <p:cNvPr id="5" name="Footer Placeholder 4"/>
          <p:cNvSpPr>
            <a:spLocks noGrp="1"/>
          </p:cNvSpPr>
          <p:nvPr>
            <p:ph type="ftr" sz="quarter" idx="3"/>
          </p:nvPr>
        </p:nvSpPr>
        <p:spPr>
          <a:xfrm>
            <a:off x="3028950" y="6492875"/>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Hsu group meeting</a:t>
            </a:r>
          </a:p>
        </p:txBody>
      </p:sp>
      <p:sp>
        <p:nvSpPr>
          <p:cNvPr id="6" name="Slide Number Placeholder 5"/>
          <p:cNvSpPr>
            <a:spLocks noGrp="1"/>
          </p:cNvSpPr>
          <p:nvPr>
            <p:ph type="sldNum" sz="quarter" idx="4"/>
          </p:nvPr>
        </p:nvSpPr>
        <p:spPr>
          <a:xfrm>
            <a:off x="6457950" y="649287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B5BC37-830D-4F1C-891C-DA1C51928656}" type="slidenum">
              <a:rPr lang="en-US" smtClean="0"/>
              <a:pPr/>
              <a:t>‹#›</a:t>
            </a:fld>
            <a:endParaRPr lang="en-US"/>
          </a:p>
        </p:txBody>
      </p:sp>
    </p:spTree>
    <p:extLst>
      <p:ext uri="{BB962C8B-B14F-4D97-AF65-F5344CB8AC3E}">
        <p14:creationId xmlns:p14="http://schemas.microsoft.com/office/powerpoint/2010/main" val="1303787923"/>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42" r:id="rId3"/>
    <p:sldLayoutId id="2147483743" r:id="rId4"/>
    <p:sldLayoutId id="2147483748" r:id="rId5"/>
  </p:sldLayoutIdLst>
  <p:hf hdr="0"/>
  <p:txStyles>
    <p:titleStyle>
      <a:lvl1pPr algn="ctr"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www.google.com/url?sa=i&amp;rct=j&amp;q=&amp;esrc=s&amp;source=images&amp;cd=&amp;cad=rja&amp;uact=8&amp;ved=0CAcQjRxqFQoTCNLEhaTd4MgCFYlxPgodIG8BrQ&amp;url=http://fbresearch.org/education/nobel-prize/&amp;bvm=bv.105841590,d.cWw&amp;psig=AFQjCNF-fPf6t23GGDlrnVFxq2Wf5gn5jA&amp;ust=144596921598685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wmf"/><Relationship Id="rId5" Type="http://schemas.openxmlformats.org/officeDocument/2006/relationships/image" Target="../media/image8.png"/><Relationship Id="rId10" Type="http://schemas.openxmlformats.org/officeDocument/2006/relationships/image" Target="../media/image13.wmf"/><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jpe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hyperlink" Target="http://www.thefreedictionary.com/protein"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41.wmf"/><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image" Target="../media/image46.png"/><Relationship Id="rId21" Type="http://schemas.openxmlformats.org/officeDocument/2006/relationships/image" Target="../media/image64.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image" Target="../media/image45.png"/><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7.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6.png"/><Relationship Id="rId10" Type="http://schemas.openxmlformats.org/officeDocument/2006/relationships/image" Target="../media/image53.png"/><Relationship Id="rId19" Type="http://schemas.openxmlformats.org/officeDocument/2006/relationships/image" Target="../media/image62.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5.png"/></Relationships>
</file>

<file path=ppt/slides/_rels/slide26.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image" Target="../media/image59.png"/><Relationship Id="rId3" Type="http://schemas.openxmlformats.org/officeDocument/2006/relationships/image" Target="../media/image65.png"/><Relationship Id="rId7" Type="http://schemas.openxmlformats.org/officeDocument/2006/relationships/image" Target="../media/image70.wmf"/><Relationship Id="rId12" Type="http://schemas.openxmlformats.org/officeDocument/2006/relationships/image" Target="../media/image58.png"/><Relationship Id="rId2" Type="http://schemas.openxmlformats.org/officeDocument/2006/relationships/image" Target="../media/image64.png"/><Relationship Id="rId1" Type="http://schemas.openxmlformats.org/officeDocument/2006/relationships/slideLayout" Target="../slideLayouts/slideLayout3.xml"/><Relationship Id="rId6" Type="http://schemas.openxmlformats.org/officeDocument/2006/relationships/image" Target="../media/image69.wmf"/><Relationship Id="rId11" Type="http://schemas.openxmlformats.org/officeDocument/2006/relationships/image" Target="../media/image57.png"/><Relationship Id="rId5" Type="http://schemas.openxmlformats.org/officeDocument/2006/relationships/image" Target="../media/image68.wmf"/><Relationship Id="rId10" Type="http://schemas.openxmlformats.org/officeDocument/2006/relationships/image" Target="../media/image56.png"/><Relationship Id="rId4" Type="http://schemas.openxmlformats.org/officeDocument/2006/relationships/image" Target="../media/image66.png"/><Relationship Id="rId9" Type="http://schemas.openxmlformats.org/officeDocument/2006/relationships/image" Target="../media/image72.wmf"/></Relationships>
</file>

<file path=ppt/slides/_rels/slide2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s>
</file>

<file path=ppt/slides/_rels/slide3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www.asms.org/about/about-mass-spectrometry" TargetMode="External"/><Relationship Id="rId2" Type="http://schemas.openxmlformats.org/officeDocument/2006/relationships/hyperlink" Target="http://science.howstuffworks.com/mass-spectrometry1.htm" TargetMode="External"/><Relationship Id="rId1" Type="http://schemas.openxmlformats.org/officeDocument/2006/relationships/slideLayout" Target="../slideLayouts/slideLayout2.xml"/><Relationship Id="rId5" Type="http://schemas.openxmlformats.org/officeDocument/2006/relationships/hyperlink" Target="http://en.wikibooks.org/wiki/Proteomics/Introduction_to_Proteomics" TargetMode="External"/><Relationship Id="rId4" Type="http://schemas.openxmlformats.org/officeDocument/2006/relationships/hyperlink" Target="http://masspec.scripps.edu/mshistory/mshistory.php"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4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5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3.xml"/><Relationship Id="rId4" Type="http://schemas.openxmlformats.org/officeDocument/2006/relationships/image" Target="../media/image10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2"/>
          <p:cNvSpPr>
            <a:spLocks noGrp="1" noChangeArrowheads="1"/>
          </p:cNvSpPr>
          <p:nvPr>
            <p:ph idx="1"/>
          </p:nvPr>
        </p:nvSpPr>
        <p:spPr>
          <a:xfrm>
            <a:off x="457200" y="609600"/>
            <a:ext cx="8229600" cy="2209800"/>
          </a:xfrm>
        </p:spPr>
        <p:txBody>
          <a:bodyPr>
            <a:normAutofit fontScale="92500" lnSpcReduction="20000"/>
          </a:bodyPr>
          <a:lstStyle/>
          <a:p>
            <a:pPr algn="ctr" eaLnBrk="1" hangingPunct="1">
              <a:buFontTx/>
              <a:buNone/>
            </a:pPr>
            <a:r>
              <a:rPr lang="en-US" altLang="en-US" sz="3500" b="1" dirty="0"/>
              <a:t>Mass Spectrometry</a:t>
            </a:r>
          </a:p>
          <a:p>
            <a:pPr algn="ctr" eaLnBrk="1" hangingPunct="1">
              <a:buFontTx/>
              <a:buNone/>
            </a:pPr>
            <a:r>
              <a:rPr lang="en-US" altLang="en-US" sz="3500" b="1" dirty="0"/>
              <a:t>and</a:t>
            </a:r>
          </a:p>
          <a:p>
            <a:pPr algn="ctr" eaLnBrk="1" hangingPunct="1">
              <a:buFontTx/>
              <a:buNone/>
            </a:pPr>
            <a:r>
              <a:rPr lang="en-US" altLang="en-US" sz="3500" b="1" dirty="0"/>
              <a:t>Proteomics</a:t>
            </a:r>
          </a:p>
          <a:p>
            <a:pPr algn="ctr" eaLnBrk="1" hangingPunct="1">
              <a:buFontTx/>
              <a:buNone/>
            </a:pPr>
            <a:endParaRPr lang="en-US" altLang="en-US" sz="2400" dirty="0"/>
          </a:p>
          <a:p>
            <a:pPr algn="ctr" eaLnBrk="1" hangingPunct="1">
              <a:buFontTx/>
              <a:buNone/>
            </a:pPr>
            <a:r>
              <a:rPr lang="en-US" altLang="en-US" sz="2400" dirty="0"/>
              <a:t>Mark M. Ross (mmr6q@virginia.edu)</a:t>
            </a:r>
          </a:p>
        </p:txBody>
      </p:sp>
      <p:sp>
        <p:nvSpPr>
          <p:cNvPr id="15363" name="Slide Number Placeholder 2"/>
          <p:cNvSpPr>
            <a:spLocks noGrp="1"/>
          </p:cNvSpPr>
          <p:nvPr>
            <p:ph type="sldNum" sz="quarter" idx="12"/>
          </p:nvPr>
        </p:nvSpPr>
        <p:spPr>
          <a:noFill/>
        </p:spPr>
        <p:txBody>
          <a:bodyPr/>
          <a:lstStyle>
            <a:lvl1pPr eaLnBrk="0" hangingPunct="0">
              <a:spcBef>
                <a:spcPct val="20000"/>
              </a:spcBef>
              <a:buChar char="•"/>
              <a:defRPr sz="3200">
                <a:solidFill>
                  <a:schemeClr val="tx1"/>
                </a:solidFill>
                <a:latin typeface="Arial" charset="0"/>
                <a:cs typeface="Arial" charset="0"/>
              </a:defRPr>
            </a:lvl1pPr>
            <a:lvl2pPr marL="742950" indent="-285750" eaLnBrk="0" hangingPunct="0">
              <a:spcBef>
                <a:spcPct val="20000"/>
              </a:spcBef>
              <a:buChar char="–"/>
              <a:defRPr sz="2800">
                <a:solidFill>
                  <a:schemeClr val="tx1"/>
                </a:solidFill>
                <a:latin typeface="Arial" charset="0"/>
                <a:cs typeface="Arial" charset="0"/>
              </a:defRPr>
            </a:lvl2pPr>
            <a:lvl3pPr marL="1143000" indent="-228600" eaLnBrk="0" hangingPunct="0">
              <a:spcBef>
                <a:spcPct val="20000"/>
              </a:spcBef>
              <a:buChar char="•"/>
              <a:defRPr sz="2400">
                <a:solidFill>
                  <a:schemeClr val="tx1"/>
                </a:solidFill>
                <a:latin typeface="Arial" charset="0"/>
                <a:cs typeface="Arial" charset="0"/>
              </a:defRPr>
            </a:lvl3pPr>
            <a:lvl4pPr marL="1600200" indent="-228600" eaLnBrk="0" hangingPunct="0">
              <a:spcBef>
                <a:spcPct val="20000"/>
              </a:spcBef>
              <a:buChar char="–"/>
              <a:defRPr sz="2000">
                <a:solidFill>
                  <a:schemeClr val="tx1"/>
                </a:solidFill>
                <a:latin typeface="Arial" charset="0"/>
                <a:cs typeface="Arial" charset="0"/>
              </a:defRPr>
            </a:lvl4pPr>
            <a:lvl5pPr marL="2057400" indent="-228600" eaLnBrk="0" hangingPunct="0">
              <a:spcBef>
                <a:spcPct val="20000"/>
              </a:spcBef>
              <a:buChar char="»"/>
              <a:defRPr sz="2000">
                <a:solidFill>
                  <a:schemeClr val="tx1"/>
                </a:solidFill>
                <a:latin typeface="Arial" charset="0"/>
                <a:cs typeface="Arial" charset="0"/>
              </a:defRPr>
            </a:lvl5pPr>
            <a:lvl6pPr marL="2514600" indent="-228600" eaLnBrk="0" fontAlgn="base" hangingPunct="0">
              <a:spcBef>
                <a:spcPct val="20000"/>
              </a:spcBef>
              <a:spcAft>
                <a:spcPct val="0"/>
              </a:spcAft>
              <a:buChar char="»"/>
              <a:defRPr sz="2000">
                <a:solidFill>
                  <a:schemeClr val="tx1"/>
                </a:solidFill>
                <a:latin typeface="Arial" charset="0"/>
                <a:cs typeface="Arial" charset="0"/>
              </a:defRPr>
            </a:lvl6pPr>
            <a:lvl7pPr marL="2971800" indent="-228600" eaLnBrk="0" fontAlgn="base" hangingPunct="0">
              <a:spcBef>
                <a:spcPct val="20000"/>
              </a:spcBef>
              <a:spcAft>
                <a:spcPct val="0"/>
              </a:spcAft>
              <a:buChar char="»"/>
              <a:defRPr sz="2000">
                <a:solidFill>
                  <a:schemeClr val="tx1"/>
                </a:solidFill>
                <a:latin typeface="Arial" charset="0"/>
                <a:cs typeface="Arial" charset="0"/>
              </a:defRPr>
            </a:lvl7pPr>
            <a:lvl8pPr marL="3429000" indent="-228600" eaLnBrk="0" fontAlgn="base" hangingPunct="0">
              <a:spcBef>
                <a:spcPct val="20000"/>
              </a:spcBef>
              <a:spcAft>
                <a:spcPct val="0"/>
              </a:spcAft>
              <a:buChar char="»"/>
              <a:defRPr sz="2000">
                <a:solidFill>
                  <a:schemeClr val="tx1"/>
                </a:solidFill>
                <a:latin typeface="Arial" charset="0"/>
                <a:cs typeface="Arial" charset="0"/>
              </a:defRPr>
            </a:lvl8pPr>
            <a:lvl9pPr marL="3886200" indent="-228600" eaLnBrk="0" fontAlgn="base" hangingPunct="0">
              <a:spcBef>
                <a:spcPct val="20000"/>
              </a:spcBef>
              <a:spcAft>
                <a:spcPct val="0"/>
              </a:spcAft>
              <a:buChar char="»"/>
              <a:defRPr sz="2000">
                <a:solidFill>
                  <a:schemeClr val="tx1"/>
                </a:solidFill>
                <a:latin typeface="Arial" charset="0"/>
                <a:cs typeface="Arial" charset="0"/>
              </a:defRPr>
            </a:lvl9pPr>
          </a:lstStyle>
          <a:p>
            <a:pPr eaLnBrk="1" hangingPunct="1">
              <a:spcBef>
                <a:spcPct val="0"/>
              </a:spcBef>
              <a:buFontTx/>
              <a:buNone/>
            </a:pPr>
            <a:fld id="{D3D30416-D8C3-44E8-A80F-CA4C2D55A71A}" type="slidenum">
              <a:rPr lang="en-US" altLang="en-US" sz="1200" smtClean="0">
                <a:solidFill>
                  <a:srgbClr val="000000"/>
                </a:solidFill>
                <a:latin typeface="+mn-lt"/>
              </a:rPr>
              <a:pPr eaLnBrk="1" hangingPunct="1">
                <a:spcBef>
                  <a:spcPct val="0"/>
                </a:spcBef>
                <a:buFontTx/>
                <a:buNone/>
              </a:pPr>
              <a:t>1</a:t>
            </a:fld>
            <a:endParaRPr lang="en-US" altLang="en-US" sz="1200" dirty="0">
              <a:solidFill>
                <a:srgbClr val="000000"/>
              </a:solidFill>
              <a:latin typeface="+mn-lt"/>
            </a:endParaRPr>
          </a:p>
        </p:txBody>
      </p:sp>
      <p:sp>
        <p:nvSpPr>
          <p:cNvPr id="2" name="Date Placeholder 1"/>
          <p:cNvSpPr>
            <a:spLocks noGrp="1"/>
          </p:cNvSpPr>
          <p:nvPr>
            <p:ph type="dt" sz="half" idx="10"/>
          </p:nvPr>
        </p:nvSpPr>
        <p:spPr/>
        <p:txBody>
          <a:bodyPr/>
          <a:lstStyle/>
          <a:p>
            <a:r>
              <a:rPr lang="en-US" dirty="0"/>
              <a:t>11/2/2015</a:t>
            </a:r>
          </a:p>
        </p:txBody>
      </p:sp>
      <p:sp>
        <p:nvSpPr>
          <p:cNvPr id="3" name="Footer Placeholder 2"/>
          <p:cNvSpPr>
            <a:spLocks noGrp="1"/>
          </p:cNvSpPr>
          <p:nvPr>
            <p:ph type="ftr" sz="quarter" idx="11"/>
          </p:nvPr>
        </p:nvSpPr>
        <p:spPr/>
        <p:txBody>
          <a:bodyPr/>
          <a:lstStyle/>
          <a:p>
            <a:r>
              <a:rPr lang="en-US" dirty="0"/>
              <a:t>Hsu group meeting</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45" y="3709987"/>
            <a:ext cx="2800350" cy="162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4595" y="3474027"/>
            <a:ext cx="3809527" cy="1822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descr="http://www.nabr.org/wp-content/uploads/2014/07/Nobel-Prize.jpeg">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34200" y="3474024"/>
            <a:ext cx="1707573" cy="17075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159827" y="4679159"/>
            <a:ext cx="1172757" cy="523220"/>
          </a:xfrm>
          <a:prstGeom prst="rect">
            <a:avLst/>
          </a:prstGeom>
          <a:noFill/>
        </p:spPr>
        <p:txBody>
          <a:bodyPr wrap="none" rtlCol="0">
            <a:spAutoFit/>
          </a:bodyPr>
          <a:lstStyle/>
          <a:p>
            <a:pPr algn="ctr"/>
            <a:r>
              <a:rPr lang="en-US" sz="1400" dirty="0">
                <a:solidFill>
                  <a:schemeClr val="bg1"/>
                </a:solidFill>
              </a:rPr>
              <a:t>Mass </a:t>
            </a:r>
          </a:p>
          <a:p>
            <a:pPr algn="ctr"/>
            <a:r>
              <a:rPr lang="en-US" sz="1400" dirty="0">
                <a:solidFill>
                  <a:schemeClr val="bg1"/>
                </a:solidFill>
              </a:rPr>
              <a:t>spectrometer</a:t>
            </a:r>
          </a:p>
        </p:txBody>
      </p:sp>
    </p:spTree>
    <p:extLst>
      <p:ext uri="{BB962C8B-B14F-4D97-AF65-F5344CB8AC3E}">
        <p14:creationId xmlns:p14="http://schemas.microsoft.com/office/powerpoint/2010/main" val="1046703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4"/>
          <p:cNvSpPr>
            <a:spLocks noGrp="1"/>
          </p:cNvSpPr>
          <p:nvPr>
            <p:ph type="title"/>
          </p:nvPr>
        </p:nvSpPr>
        <p:spPr bwMode="auto">
          <a:xfrm>
            <a:off x="2286000" y="381000"/>
            <a:ext cx="4124638"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t>Research Plan</a:t>
            </a:r>
            <a:endParaRPr lang="en-US" altLang="en-US" sz="2800" dirty="0"/>
          </a:p>
        </p:txBody>
      </p:sp>
      <p:sp>
        <p:nvSpPr>
          <p:cNvPr id="17411" name="Slide Number Placeholder 3"/>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396D308F-FC9B-4CD9-93BF-243CE668D9A1}" type="slidenum">
              <a:rPr lang="en-US" altLang="en-US" smtClean="0">
                <a:solidFill>
                  <a:srgbClr val="000000"/>
                </a:solidFill>
                <a:latin typeface="+mn-lt"/>
              </a:rPr>
              <a:pPr eaLnBrk="1" hangingPunct="1"/>
              <a:t>2</a:t>
            </a:fld>
            <a:endParaRPr lang="en-US" altLang="en-US" dirty="0">
              <a:solidFill>
                <a:srgbClr val="000000"/>
              </a:solidFill>
              <a:latin typeface="+mn-lt"/>
            </a:endParaRPr>
          </a:p>
        </p:txBody>
      </p:sp>
      <p:sp>
        <p:nvSpPr>
          <p:cNvPr id="2" name="Date Placeholder 1"/>
          <p:cNvSpPr>
            <a:spLocks noGrp="1"/>
          </p:cNvSpPr>
          <p:nvPr>
            <p:ph type="dt" sz="half" idx="10"/>
          </p:nvPr>
        </p:nvSpPr>
        <p:spPr/>
        <p:txBody>
          <a:bodyPr/>
          <a:lstStyle/>
          <a:p>
            <a:r>
              <a:rPr lang="en-US"/>
              <a:t>11/2/2015</a:t>
            </a:r>
          </a:p>
        </p:txBody>
      </p:sp>
      <p:sp>
        <p:nvSpPr>
          <p:cNvPr id="3" name="Footer Placeholder 2"/>
          <p:cNvSpPr>
            <a:spLocks noGrp="1"/>
          </p:cNvSpPr>
          <p:nvPr>
            <p:ph type="ftr" sz="quarter" idx="11"/>
          </p:nvPr>
        </p:nvSpPr>
        <p:spPr/>
        <p:txBody>
          <a:bodyPr/>
          <a:lstStyle/>
          <a:p>
            <a:r>
              <a:rPr lang="en-US" dirty="0"/>
              <a:t>Hsu group meeting</a:t>
            </a:r>
          </a:p>
        </p:txBody>
      </p:sp>
      <p:sp>
        <p:nvSpPr>
          <p:cNvPr id="4" name="TextBox 3"/>
          <p:cNvSpPr txBox="1"/>
          <p:nvPr/>
        </p:nvSpPr>
        <p:spPr>
          <a:xfrm>
            <a:off x="761999" y="1676400"/>
            <a:ext cx="7773731" cy="3785652"/>
          </a:xfrm>
          <a:prstGeom prst="rect">
            <a:avLst/>
          </a:prstGeom>
          <a:noFill/>
        </p:spPr>
        <p:txBody>
          <a:bodyPr wrap="none" rtlCol="0">
            <a:spAutoFit/>
          </a:bodyPr>
          <a:lstStyle/>
          <a:p>
            <a:pPr marL="457200" indent="-457200">
              <a:buFont typeface="Arial" panose="020B0604020202020204" pitchFamily="34" charset="0"/>
              <a:buChar char="•"/>
            </a:pPr>
            <a:r>
              <a:rPr lang="en-US" sz="2400" dirty="0"/>
              <a:t>What is the research objective/hypothesis?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What is the experimental strategy and why?</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What are the expected results, new information, impact?</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r>
              <a:rPr lang="en-US" sz="2400" dirty="0"/>
              <a:t>What can go wrong, and what to do when it does?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US" sz="2400" dirty="0"/>
          </a:p>
        </p:txBody>
      </p:sp>
    </p:spTree>
    <p:extLst>
      <p:ext uri="{BB962C8B-B14F-4D97-AF65-F5344CB8AC3E}">
        <p14:creationId xmlns:p14="http://schemas.microsoft.com/office/powerpoint/2010/main" val="51442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bwMode="auto">
          <a:xfrm>
            <a:off x="533400" y="228600"/>
            <a:ext cx="82296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t>Protein Analysis (now Proteomics)</a:t>
            </a:r>
          </a:p>
        </p:txBody>
      </p:sp>
      <p:sp>
        <p:nvSpPr>
          <p:cNvPr id="30724" name="Rectangle 3"/>
          <p:cNvSpPr>
            <a:spLocks noGrp="1" noChangeArrowheads="1"/>
          </p:cNvSpPr>
          <p:nvPr>
            <p:ph idx="1"/>
          </p:nvPr>
        </p:nvSpPr>
        <p:spPr>
          <a:xfrm>
            <a:off x="304800" y="1196975"/>
            <a:ext cx="8229600" cy="1295400"/>
          </a:xfrm>
        </p:spPr>
        <p:txBody>
          <a:bodyPr/>
          <a:lstStyle/>
          <a:p>
            <a:pPr>
              <a:lnSpc>
                <a:spcPct val="80000"/>
              </a:lnSpc>
            </a:pPr>
            <a:r>
              <a:rPr lang="en-US" altLang="en-US" sz="2400" dirty="0"/>
              <a:t>Proteomics (M. Wilkins, 1994) is the study of proteins, for example, identification,  modification, expression, interaction, role in biological processes, and usually on a </a:t>
            </a:r>
            <a:r>
              <a:rPr lang="en-US" altLang="en-US" sz="2400" u="sng" dirty="0"/>
              <a:t>large scale</a:t>
            </a:r>
            <a:r>
              <a:rPr lang="en-US" altLang="en-US" sz="2400" dirty="0"/>
              <a:t> (class, function, organelle, cell, fluid, tissue, species)</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dirty="0"/>
              <a:t>11/2/2015</a:t>
            </a:r>
          </a:p>
        </p:txBody>
      </p:sp>
      <p:sp>
        <p:nvSpPr>
          <p:cNvPr id="3" name="Footer Placeholder 2"/>
          <p:cNvSpPr>
            <a:spLocks noGrp="1"/>
          </p:cNvSpPr>
          <p:nvPr>
            <p:ph type="ftr" sz="quarter" idx="11"/>
          </p:nvPr>
        </p:nvSpPr>
        <p:spPr/>
        <p:txBody>
          <a:bodyPr/>
          <a:lstStyle/>
          <a:p>
            <a:r>
              <a:rPr lang="en-US" dirty="0"/>
              <a:t>Hsu group meeting</a:t>
            </a:r>
          </a:p>
        </p:txBody>
      </p:sp>
      <p:sp>
        <p:nvSpPr>
          <p:cNvPr id="30722" name="Slide Number Placeholder 5"/>
          <p:cNvSpPr>
            <a:spLocks noGrp="1"/>
          </p:cNvSpPr>
          <p:nvPr>
            <p:ph type="sldNum" sz="quarter" idx="12"/>
          </p:nvPr>
        </p:nvSpPr>
        <p:spPr>
          <a:xfrm>
            <a:off x="6553200" y="6245225"/>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9202F83F-BAF0-4FDD-9696-D42BECE7D56E}" type="slidenum">
              <a:rPr lang="en-US" altLang="en-US" b="0" smtClean="0">
                <a:solidFill>
                  <a:srgbClr val="000000"/>
                </a:solidFill>
              </a:rPr>
              <a:pPr eaLnBrk="1" hangingPunct="1"/>
              <a:t>3</a:t>
            </a:fld>
            <a:endParaRPr lang="en-US" altLang="en-US" b="0">
              <a:solidFill>
                <a:srgbClr val="000000"/>
              </a:solidFill>
            </a:endParaRPr>
          </a:p>
        </p:txBody>
      </p:sp>
      <p:pic>
        <p:nvPicPr>
          <p:cNvPr id="3072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2514600"/>
            <a:ext cx="3352800" cy="241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6" name="Text Box 6"/>
          <p:cNvSpPr txBox="1">
            <a:spLocks noChangeArrowheads="1"/>
          </p:cNvSpPr>
          <p:nvPr/>
        </p:nvSpPr>
        <p:spPr bwMode="auto">
          <a:xfrm>
            <a:off x="263525" y="2514600"/>
            <a:ext cx="4749800" cy="261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rPr>
              <a:t>       Genome -&gt; Proteome</a:t>
            </a:r>
            <a:r>
              <a:rPr lang="en-US" altLang="en-US" sz="2000" dirty="0">
                <a:solidFill>
                  <a:srgbClr val="000000"/>
                </a:solidFill>
              </a:rPr>
              <a:t>   </a:t>
            </a:r>
          </a:p>
          <a:p>
            <a:pPr eaLnBrk="1" fontAlgn="base" hangingPunct="1">
              <a:spcBef>
                <a:spcPct val="0"/>
              </a:spcBef>
              <a:spcAft>
                <a:spcPct val="0"/>
              </a:spcAft>
            </a:pPr>
            <a:r>
              <a:rPr lang="en-US" altLang="en-US" dirty="0">
                <a:solidFill>
                  <a:srgbClr val="000000"/>
                </a:solidFill>
              </a:rPr>
              <a:t>   </a:t>
            </a:r>
          </a:p>
          <a:p>
            <a:pPr eaLnBrk="1" fontAlgn="base" hangingPunct="1">
              <a:spcBef>
                <a:spcPct val="0"/>
              </a:spcBef>
              <a:spcAft>
                <a:spcPct val="0"/>
              </a:spcAft>
            </a:pPr>
            <a:r>
              <a:rPr lang="en-US" altLang="en-US" dirty="0">
                <a:solidFill>
                  <a:srgbClr val="000000"/>
                </a:solidFill>
              </a:rPr>
              <a:t>        </a:t>
            </a:r>
            <a:r>
              <a:rPr lang="en-US" altLang="en-US" u="sng" dirty="0">
                <a:solidFill>
                  <a:srgbClr val="000000"/>
                </a:solidFill>
              </a:rPr>
              <a:t>Genome</a:t>
            </a:r>
            <a:r>
              <a:rPr lang="en-US" altLang="en-US" dirty="0">
                <a:solidFill>
                  <a:srgbClr val="000000"/>
                </a:solidFill>
              </a:rPr>
              <a:t>		     </a:t>
            </a:r>
            <a:r>
              <a:rPr lang="en-US" altLang="en-US" u="sng" dirty="0">
                <a:solidFill>
                  <a:srgbClr val="000000"/>
                </a:solidFill>
              </a:rPr>
              <a:t>Proteome</a:t>
            </a:r>
          </a:p>
          <a:p>
            <a:pPr eaLnBrk="1" fontAlgn="base" hangingPunct="1">
              <a:spcBef>
                <a:spcPct val="0"/>
              </a:spcBef>
              <a:spcAft>
                <a:spcPct val="0"/>
              </a:spcAft>
            </a:pPr>
            <a:r>
              <a:rPr lang="en-US" altLang="en-US" dirty="0">
                <a:solidFill>
                  <a:srgbClr val="000000"/>
                </a:solidFill>
              </a:rPr>
              <a:t>20K-30K genes (known)	100Ks (unknown)</a:t>
            </a:r>
          </a:p>
          <a:p>
            <a:pPr eaLnBrk="1" fontAlgn="base" hangingPunct="1">
              <a:spcBef>
                <a:spcPct val="0"/>
              </a:spcBef>
              <a:spcAft>
                <a:spcPct val="0"/>
              </a:spcAft>
            </a:pPr>
            <a:r>
              <a:rPr lang="en-US" altLang="en-US" dirty="0">
                <a:solidFill>
                  <a:srgbClr val="000000"/>
                </a:solidFill>
              </a:rPr>
              <a:t>“Static” (essentially)	Dynamic</a:t>
            </a:r>
          </a:p>
          <a:p>
            <a:pPr eaLnBrk="1" fontAlgn="base" hangingPunct="1">
              <a:spcBef>
                <a:spcPct val="0"/>
              </a:spcBef>
              <a:spcAft>
                <a:spcPct val="0"/>
              </a:spcAft>
            </a:pPr>
            <a:r>
              <a:rPr lang="en-US" altLang="en-US" dirty="0">
                <a:solidFill>
                  <a:srgbClr val="000000"/>
                </a:solidFill>
              </a:rPr>
              <a:t>Not site specific		Site specific</a:t>
            </a:r>
          </a:p>
          <a:p>
            <a:pPr eaLnBrk="1" fontAlgn="base" hangingPunct="1">
              <a:spcBef>
                <a:spcPct val="0"/>
              </a:spcBef>
              <a:spcAft>
                <a:spcPct val="0"/>
              </a:spcAft>
            </a:pPr>
            <a:r>
              <a:rPr lang="en-US" altLang="en-US" dirty="0">
                <a:solidFill>
                  <a:srgbClr val="000000"/>
                </a:solidFill>
              </a:rPr>
              <a:t>Amplification possible	No amplification </a:t>
            </a:r>
          </a:p>
          <a:p>
            <a:pPr eaLnBrk="1" fontAlgn="base" hangingPunct="1">
              <a:spcBef>
                <a:spcPct val="0"/>
              </a:spcBef>
              <a:spcAft>
                <a:spcPct val="0"/>
              </a:spcAft>
            </a:pPr>
            <a:r>
              <a:rPr lang="en-US" altLang="en-US" dirty="0">
                <a:solidFill>
                  <a:srgbClr val="000000"/>
                </a:solidFill>
              </a:rPr>
              <a:t>Instructors		Effectors</a:t>
            </a:r>
          </a:p>
          <a:p>
            <a:pPr eaLnBrk="1" fontAlgn="base" hangingPunct="1">
              <a:spcBef>
                <a:spcPct val="0"/>
              </a:spcBef>
              <a:spcAft>
                <a:spcPct val="0"/>
              </a:spcAft>
            </a:pPr>
            <a:endParaRPr lang="en-US" altLang="en-US" sz="1400" dirty="0">
              <a:solidFill>
                <a:srgbClr val="000000"/>
              </a:solidFill>
            </a:endParaRPr>
          </a:p>
        </p:txBody>
      </p:sp>
      <p:sp>
        <p:nvSpPr>
          <p:cNvPr id="30727" name="Text Box 7"/>
          <p:cNvSpPr txBox="1">
            <a:spLocks noChangeArrowheads="1"/>
          </p:cNvSpPr>
          <p:nvPr/>
        </p:nvSpPr>
        <p:spPr bwMode="auto">
          <a:xfrm>
            <a:off x="304800" y="5105400"/>
            <a:ext cx="86868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rPr>
              <a:t>"Proteomics includes not only the identification and quantification of proteins, but also the determinations of their localization, modifications, interactions, activities, and, ultimately, their function." </a:t>
            </a:r>
          </a:p>
          <a:p>
            <a:pPr eaLnBrk="1" fontAlgn="base" hangingPunct="1">
              <a:spcBef>
                <a:spcPct val="0"/>
              </a:spcBef>
              <a:spcAft>
                <a:spcPct val="0"/>
              </a:spcAft>
            </a:pPr>
            <a:r>
              <a:rPr lang="en-US" altLang="en-US" sz="2000" dirty="0">
                <a:solidFill>
                  <a:srgbClr val="000000"/>
                </a:solidFill>
              </a:rPr>
              <a:t>- Stanley Fields , Science, February 16, 2001.</a:t>
            </a:r>
          </a:p>
        </p:txBody>
      </p:sp>
    </p:spTree>
    <p:extLst>
      <p:ext uri="{BB962C8B-B14F-4D97-AF65-F5344CB8AC3E}">
        <p14:creationId xmlns:p14="http://schemas.microsoft.com/office/powerpoint/2010/main" val="421558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P spid="307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Proteomics Research Plan</a:t>
            </a:r>
          </a:p>
        </p:txBody>
      </p:sp>
      <p:sp>
        <p:nvSpPr>
          <p:cNvPr id="3" name="Date Placeholder 2"/>
          <p:cNvSpPr>
            <a:spLocks noGrp="1"/>
          </p:cNvSpPr>
          <p:nvPr>
            <p:ph type="dt" sz="half" idx="10"/>
          </p:nvPr>
        </p:nvSpPr>
        <p:spPr/>
        <p:txBody>
          <a:bodyPr/>
          <a:lstStyle/>
          <a:p>
            <a:r>
              <a:rPr lang="en-US" dirty="0"/>
              <a:t>11/2/2015</a:t>
            </a:r>
          </a:p>
        </p:txBody>
      </p:sp>
      <p:sp>
        <p:nvSpPr>
          <p:cNvPr id="4" name="Footer Placeholder 3"/>
          <p:cNvSpPr>
            <a:spLocks noGrp="1"/>
          </p:cNvSpPr>
          <p:nvPr>
            <p:ph type="ftr" sz="quarter" idx="11"/>
          </p:nvPr>
        </p:nvSpPr>
        <p:spPr/>
        <p:txBody>
          <a:bodyPr/>
          <a:lstStyle/>
          <a:p>
            <a:r>
              <a:rPr lang="en-US"/>
              <a:t>Hsu group meeting</a:t>
            </a:r>
          </a:p>
        </p:txBody>
      </p:sp>
      <p:sp>
        <p:nvSpPr>
          <p:cNvPr id="5" name="Slide Number Placeholder 4"/>
          <p:cNvSpPr>
            <a:spLocks noGrp="1"/>
          </p:cNvSpPr>
          <p:nvPr>
            <p:ph type="sldNum" sz="quarter" idx="12"/>
          </p:nvPr>
        </p:nvSpPr>
        <p:spPr/>
        <p:txBody>
          <a:bodyPr/>
          <a:lstStyle/>
          <a:p>
            <a:fld id="{69B5BC37-830D-4F1C-891C-DA1C51928656}" type="slidenum">
              <a:rPr lang="en-US" smtClean="0"/>
              <a:t>4</a:t>
            </a:fld>
            <a:endParaRPr lang="en-US"/>
          </a:p>
        </p:txBody>
      </p:sp>
      <p:sp>
        <p:nvSpPr>
          <p:cNvPr id="7" name="TextBox 6"/>
          <p:cNvSpPr txBox="1"/>
          <p:nvPr/>
        </p:nvSpPr>
        <p:spPr>
          <a:xfrm>
            <a:off x="914400" y="1077682"/>
            <a:ext cx="6568401" cy="1077218"/>
          </a:xfrm>
          <a:prstGeom prst="rect">
            <a:avLst/>
          </a:prstGeom>
          <a:noFill/>
        </p:spPr>
        <p:txBody>
          <a:bodyPr wrap="none" rtlCol="0">
            <a:spAutoFit/>
          </a:bodyPr>
          <a:lstStyle/>
          <a:p>
            <a:pPr marL="285750" indent="-285750">
              <a:buFont typeface="Arial" panose="020B0604020202020204" pitchFamily="34" charset="0"/>
              <a:buChar char="•"/>
            </a:pPr>
            <a:r>
              <a:rPr lang="en-US" sz="2400" dirty="0"/>
              <a:t>What is the research objective (“unmet need”)?</a:t>
            </a:r>
          </a:p>
          <a:p>
            <a:pPr marL="742950" lvl="1" indent="-285750">
              <a:buFont typeface="Arial" panose="020B0604020202020204" pitchFamily="34" charset="0"/>
              <a:buChar char="•"/>
            </a:pPr>
            <a:r>
              <a:rPr lang="en-US" sz="2000" dirty="0"/>
              <a:t>Identify and quantify proteins with altered properties </a:t>
            </a:r>
          </a:p>
          <a:p>
            <a:pPr lvl="1"/>
            <a:r>
              <a:rPr lang="en-US" sz="2000" dirty="0"/>
              <a:t>     due to a biochemical perturbation (e.g., cells -/+ drug)</a:t>
            </a:r>
          </a:p>
        </p:txBody>
      </p:sp>
      <p:sp>
        <p:nvSpPr>
          <p:cNvPr id="10" name="TextBox 9"/>
          <p:cNvSpPr txBox="1"/>
          <p:nvPr/>
        </p:nvSpPr>
        <p:spPr>
          <a:xfrm>
            <a:off x="914400" y="2163760"/>
            <a:ext cx="6773073" cy="1661993"/>
          </a:xfrm>
          <a:prstGeom prst="rect">
            <a:avLst/>
          </a:prstGeom>
          <a:noFill/>
        </p:spPr>
        <p:txBody>
          <a:bodyPr wrap="none" rtlCol="0">
            <a:spAutoFit/>
          </a:bodyPr>
          <a:lstStyle/>
          <a:p>
            <a:pPr marL="285750" indent="-285750">
              <a:buFont typeface="Arial" panose="020B0604020202020204" pitchFamily="34" charset="0"/>
              <a:buChar char="•"/>
            </a:pPr>
            <a:r>
              <a:rPr lang="en-US" sz="2400" dirty="0"/>
              <a:t>What is the experimental strategy and why?</a:t>
            </a:r>
          </a:p>
          <a:p>
            <a:pPr marL="742950" lvl="1" indent="-285750">
              <a:buFont typeface="Arial" panose="020B0604020202020204" pitchFamily="34" charset="0"/>
              <a:buChar char="•"/>
            </a:pPr>
            <a:r>
              <a:rPr lang="en-US" sz="2000" dirty="0"/>
              <a:t>Develop and implement a mass spectrometric (MS)</a:t>
            </a:r>
          </a:p>
          <a:p>
            <a:pPr lvl="1"/>
            <a:r>
              <a:rPr lang="en-US" sz="2000" dirty="0"/>
              <a:t>     method (cite similar studies)</a:t>
            </a:r>
          </a:p>
          <a:p>
            <a:pPr marL="800100" lvl="1" indent="-342900">
              <a:buFont typeface="Arial" panose="020B0604020202020204" pitchFamily="34" charset="0"/>
              <a:buChar char="•"/>
            </a:pPr>
            <a:r>
              <a:rPr lang="en-US" sz="2000" dirty="0"/>
              <a:t>Other methods will not provide adequate data</a:t>
            </a:r>
          </a:p>
          <a:p>
            <a:pPr marL="1257300" lvl="2" indent="-342900">
              <a:buFont typeface="Arial" panose="020B0604020202020204" pitchFamily="34" charset="0"/>
              <a:buChar char="•"/>
            </a:pPr>
            <a:r>
              <a:rPr lang="en-US" dirty="0"/>
              <a:t>Sample complexity, sensitivity, specificity, dynamic range</a:t>
            </a:r>
          </a:p>
        </p:txBody>
      </p:sp>
      <p:sp>
        <p:nvSpPr>
          <p:cNvPr id="11" name="TextBox 10"/>
          <p:cNvSpPr txBox="1"/>
          <p:nvPr/>
        </p:nvSpPr>
        <p:spPr>
          <a:xfrm>
            <a:off x="914400" y="3820437"/>
            <a:ext cx="7794121" cy="1384995"/>
          </a:xfrm>
          <a:prstGeom prst="rect">
            <a:avLst/>
          </a:prstGeom>
          <a:noFill/>
        </p:spPr>
        <p:txBody>
          <a:bodyPr wrap="none" rtlCol="0">
            <a:spAutoFit/>
          </a:bodyPr>
          <a:lstStyle/>
          <a:p>
            <a:pPr marL="342900" indent="-342900">
              <a:buFont typeface="Arial" panose="020B0604020202020204" pitchFamily="34" charset="0"/>
              <a:buChar char="•"/>
            </a:pPr>
            <a:r>
              <a:rPr lang="en-US" sz="2400" dirty="0"/>
              <a:t>What are the expected results, new information, impact?</a:t>
            </a:r>
          </a:p>
          <a:p>
            <a:pPr marL="800100" lvl="1" indent="-342900">
              <a:buFont typeface="Arial" panose="020B0604020202020204" pitchFamily="34" charset="0"/>
              <a:buChar char="•"/>
            </a:pPr>
            <a:r>
              <a:rPr lang="en-US" sz="2000" dirty="0"/>
              <a:t>Differentially expressed or modified proteins (phosphorylation)</a:t>
            </a:r>
          </a:p>
          <a:p>
            <a:pPr marL="800100" lvl="1" indent="-342900">
              <a:buFont typeface="Arial" panose="020B0604020202020204" pitchFamily="34" charset="0"/>
              <a:buChar char="•"/>
            </a:pPr>
            <a:r>
              <a:rPr lang="en-US" sz="2000" dirty="0"/>
              <a:t>Insights into a biological process (signaling)</a:t>
            </a:r>
          </a:p>
          <a:p>
            <a:pPr marL="800100" lvl="1" indent="-342900">
              <a:buFont typeface="Arial" panose="020B0604020202020204" pitchFamily="34" charset="0"/>
              <a:buChar char="•"/>
            </a:pPr>
            <a:r>
              <a:rPr lang="en-US" sz="2000" dirty="0"/>
              <a:t>Biomarkers of disease or drug treatment (aberrant signaling) </a:t>
            </a:r>
          </a:p>
        </p:txBody>
      </p:sp>
      <p:sp>
        <p:nvSpPr>
          <p:cNvPr id="15" name="TextBox 14"/>
          <p:cNvSpPr txBox="1"/>
          <p:nvPr/>
        </p:nvSpPr>
        <p:spPr>
          <a:xfrm>
            <a:off x="914400" y="5253739"/>
            <a:ext cx="6651436" cy="1046440"/>
          </a:xfrm>
          <a:prstGeom prst="rect">
            <a:avLst/>
          </a:prstGeom>
          <a:noFill/>
        </p:spPr>
        <p:txBody>
          <a:bodyPr wrap="none" rtlCol="0">
            <a:spAutoFit/>
          </a:bodyPr>
          <a:lstStyle/>
          <a:p>
            <a:pPr marL="342900" indent="-342900">
              <a:buFont typeface="Arial" panose="020B0604020202020204" pitchFamily="34" charset="0"/>
              <a:buChar char="•"/>
            </a:pPr>
            <a:r>
              <a:rPr lang="en-US" sz="2400" dirty="0"/>
              <a:t>What can (will) go wrong, and what to do then?</a:t>
            </a:r>
          </a:p>
          <a:p>
            <a:pPr marL="800100" lvl="1" indent="-342900">
              <a:buFont typeface="Arial" panose="020B0604020202020204" pitchFamily="34" charset="0"/>
              <a:buChar char="•"/>
            </a:pPr>
            <a:r>
              <a:rPr lang="en-US" sz="2000" dirty="0"/>
              <a:t>Limited </a:t>
            </a:r>
            <a:r>
              <a:rPr lang="en-US" sz="2000" dirty="0" err="1"/>
              <a:t>phosphopeptide</a:t>
            </a:r>
            <a:r>
              <a:rPr lang="en-US" sz="2000" dirty="0"/>
              <a:t> identification efficiency</a:t>
            </a:r>
          </a:p>
          <a:p>
            <a:pPr marL="1257300" lvl="2" indent="-342900">
              <a:buFont typeface="Arial" panose="020B0604020202020204" pitchFamily="34" charset="0"/>
              <a:buChar char="•"/>
            </a:pPr>
            <a:r>
              <a:rPr lang="en-US" dirty="0"/>
              <a:t>Try a different enrichment or fragmentation methods</a:t>
            </a:r>
          </a:p>
        </p:txBody>
      </p:sp>
    </p:spTree>
    <p:extLst>
      <p:ext uri="{BB962C8B-B14F-4D97-AF65-F5344CB8AC3E}">
        <p14:creationId xmlns:p14="http://schemas.microsoft.com/office/powerpoint/2010/main" val="101967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bwMode="auto">
          <a:xfrm>
            <a:off x="304800" y="152400"/>
            <a:ext cx="82296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t>A Component of the Research Plan:</a:t>
            </a:r>
            <a:br>
              <a:rPr lang="en-US" altLang="en-US" dirty="0"/>
            </a:br>
            <a:r>
              <a:rPr lang="en-US" altLang="en-US" b="1" dirty="0"/>
              <a:t>Mass Spectrometry</a:t>
            </a:r>
          </a:p>
        </p:txBody>
      </p:sp>
      <p:sp>
        <p:nvSpPr>
          <p:cNvPr id="16388" name="Rectangle 3"/>
          <p:cNvSpPr>
            <a:spLocks noGrp="1" noChangeArrowheads="1"/>
          </p:cNvSpPr>
          <p:nvPr>
            <p:ph idx="1"/>
          </p:nvPr>
        </p:nvSpPr>
        <p:spPr>
          <a:xfrm>
            <a:off x="685800" y="1447800"/>
            <a:ext cx="8001000" cy="4963423"/>
          </a:xfrm>
        </p:spPr>
        <p:txBody>
          <a:bodyPr>
            <a:normAutofit lnSpcReduction="10000"/>
          </a:bodyPr>
          <a:lstStyle/>
          <a:p>
            <a:pPr>
              <a:lnSpc>
                <a:spcPct val="90000"/>
              </a:lnSpc>
            </a:pPr>
            <a:r>
              <a:rPr lang="en-US" altLang="en-US" sz="2400" dirty="0"/>
              <a:t>Why mass spectrometry?</a:t>
            </a:r>
          </a:p>
          <a:p>
            <a:pPr>
              <a:lnSpc>
                <a:spcPct val="90000"/>
              </a:lnSpc>
            </a:pPr>
            <a:endParaRPr lang="en-US" altLang="en-US" sz="2400" dirty="0"/>
          </a:p>
          <a:p>
            <a:pPr>
              <a:lnSpc>
                <a:spcPct val="90000"/>
              </a:lnSpc>
            </a:pPr>
            <a:r>
              <a:rPr lang="en-US" altLang="en-US" sz="2400" dirty="0"/>
              <a:t>What are the advantages/disadvantages v. other methods?</a:t>
            </a:r>
          </a:p>
          <a:p>
            <a:pPr>
              <a:lnSpc>
                <a:spcPct val="90000"/>
              </a:lnSpc>
            </a:pPr>
            <a:endParaRPr lang="en-US" altLang="en-US" sz="2400" dirty="0"/>
          </a:p>
          <a:p>
            <a:pPr>
              <a:lnSpc>
                <a:spcPct val="90000"/>
              </a:lnSpc>
            </a:pPr>
            <a:r>
              <a:rPr lang="en-US" altLang="en-US" sz="2400" dirty="0"/>
              <a:t>What should be understood of the technology?</a:t>
            </a:r>
          </a:p>
          <a:p>
            <a:pPr>
              <a:lnSpc>
                <a:spcPct val="90000"/>
              </a:lnSpc>
            </a:pPr>
            <a:endParaRPr lang="en-US" altLang="en-US" sz="2400" dirty="0"/>
          </a:p>
          <a:p>
            <a:pPr>
              <a:lnSpc>
                <a:spcPct val="90000"/>
              </a:lnSpc>
            </a:pPr>
            <a:r>
              <a:rPr lang="en-US" altLang="en-US" sz="2400" dirty="0"/>
              <a:t>How is instrument/method performance evaluated?</a:t>
            </a:r>
          </a:p>
          <a:p>
            <a:pPr>
              <a:lnSpc>
                <a:spcPct val="90000"/>
              </a:lnSpc>
            </a:pPr>
            <a:endParaRPr lang="en-US" altLang="en-US" sz="2400" dirty="0"/>
          </a:p>
          <a:p>
            <a:pPr>
              <a:lnSpc>
                <a:spcPct val="90000"/>
              </a:lnSpc>
            </a:pPr>
            <a:r>
              <a:rPr lang="en-US" altLang="en-US" sz="2400" dirty="0"/>
              <a:t>How are the data converted to results?</a:t>
            </a:r>
          </a:p>
          <a:p>
            <a:pPr>
              <a:lnSpc>
                <a:spcPct val="90000"/>
              </a:lnSpc>
            </a:pPr>
            <a:endParaRPr lang="en-US" altLang="en-US" sz="2400" dirty="0"/>
          </a:p>
          <a:p>
            <a:pPr>
              <a:lnSpc>
                <a:spcPct val="90000"/>
              </a:lnSpc>
            </a:pPr>
            <a:r>
              <a:rPr lang="en-US" altLang="en-US" sz="2400" dirty="0"/>
              <a:t>How are the results converted to information?</a:t>
            </a:r>
          </a:p>
          <a:p>
            <a:pPr>
              <a:lnSpc>
                <a:spcPct val="90000"/>
              </a:lnSpc>
            </a:pPr>
            <a:endParaRPr lang="en-US" altLang="en-US" sz="2000" dirty="0"/>
          </a:p>
          <a:p>
            <a:pPr lvl="1">
              <a:lnSpc>
                <a:spcPct val="90000"/>
              </a:lnSpc>
            </a:pPr>
            <a:endParaRPr lang="en-US" altLang="en-US" sz="2000" dirty="0"/>
          </a:p>
        </p:txBody>
      </p:sp>
      <p:sp>
        <p:nvSpPr>
          <p:cNvPr id="16386" name="Slide Number Placeholder 5"/>
          <p:cNvSpPr>
            <a:spLocks noGrp="1"/>
          </p:cNvSpPr>
          <p:nvPr>
            <p:ph type="sldNum" sz="quarter" idx="12"/>
          </p:nvPr>
        </p:nvSpPr>
        <p:spPr>
          <a:xfrm>
            <a:off x="8153400" y="6245225"/>
            <a:ext cx="5334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45609FB4-0E61-42F4-B2E0-F76DB1ACB63F}" type="slidenum">
              <a:rPr lang="en-US" altLang="en-US" smtClean="0">
                <a:solidFill>
                  <a:srgbClr val="000000"/>
                </a:solidFill>
              </a:rPr>
              <a:pPr eaLnBrk="1" hangingPunct="1"/>
              <a:t>5</a:t>
            </a:fld>
            <a:endParaRPr lang="en-US" altLang="en-US">
              <a:solidFill>
                <a:srgbClr val="000000"/>
              </a:solidFill>
            </a:endParaRPr>
          </a:p>
        </p:txBody>
      </p:sp>
      <p:sp>
        <p:nvSpPr>
          <p:cNvPr id="2" name="Date Placeholder 1"/>
          <p:cNvSpPr>
            <a:spLocks noGrp="1"/>
          </p:cNvSpPr>
          <p:nvPr>
            <p:ph type="dt" sz="half" idx="10"/>
          </p:nvPr>
        </p:nvSpPr>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Tree>
    <p:extLst>
      <p:ext uri="{BB962C8B-B14F-4D97-AF65-F5344CB8AC3E}">
        <p14:creationId xmlns:p14="http://schemas.microsoft.com/office/powerpoint/2010/main" val="214966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6064" y="1164366"/>
            <a:ext cx="1378454" cy="1015663"/>
          </a:xfrm>
          <a:prstGeom prst="rect">
            <a:avLst/>
          </a:prstGeom>
          <a:noFill/>
          <a:ln>
            <a:solidFill>
              <a:schemeClr val="tx1"/>
            </a:solidFill>
          </a:ln>
        </p:spPr>
        <p:txBody>
          <a:bodyPr wrap="none" rtlCol="0">
            <a:spAutoFit/>
          </a:bodyPr>
          <a:lstStyle/>
          <a:p>
            <a:pPr algn="ctr"/>
            <a:r>
              <a:rPr lang="en-US" u="sng" dirty="0"/>
              <a:t>Source</a:t>
            </a:r>
          </a:p>
          <a:p>
            <a:pPr algn="ctr"/>
            <a:r>
              <a:rPr lang="en-US" sz="1400" dirty="0"/>
              <a:t>EI, CI</a:t>
            </a:r>
          </a:p>
          <a:p>
            <a:pPr algn="ctr"/>
            <a:r>
              <a:rPr lang="en-US" sz="1400" dirty="0"/>
              <a:t>SIMS, FD/FI, FAB</a:t>
            </a:r>
          </a:p>
          <a:p>
            <a:pPr algn="ctr"/>
            <a:r>
              <a:rPr lang="en-US" sz="1400" dirty="0"/>
              <a:t>MALDI, </a:t>
            </a:r>
            <a:r>
              <a:rPr lang="en-US" sz="1400" b="1" u="sng" dirty="0">
                <a:solidFill>
                  <a:srgbClr val="FF0000"/>
                </a:solidFill>
              </a:rPr>
              <a:t>ESI</a:t>
            </a:r>
          </a:p>
        </p:txBody>
      </p:sp>
      <p:sp>
        <p:nvSpPr>
          <p:cNvPr id="4" name="TextBox 3"/>
          <p:cNvSpPr txBox="1"/>
          <p:nvPr/>
        </p:nvSpPr>
        <p:spPr>
          <a:xfrm>
            <a:off x="5089401" y="1359920"/>
            <a:ext cx="1463799" cy="800219"/>
          </a:xfrm>
          <a:prstGeom prst="rect">
            <a:avLst/>
          </a:prstGeom>
          <a:noFill/>
          <a:ln>
            <a:solidFill>
              <a:schemeClr val="tx1"/>
            </a:solidFill>
          </a:ln>
        </p:spPr>
        <p:txBody>
          <a:bodyPr wrap="none" rtlCol="0">
            <a:spAutoFit/>
          </a:bodyPr>
          <a:lstStyle/>
          <a:p>
            <a:pPr algn="ctr"/>
            <a:r>
              <a:rPr lang="en-US" u="sng" dirty="0"/>
              <a:t>Analyzer</a:t>
            </a:r>
          </a:p>
          <a:p>
            <a:pPr algn="ctr"/>
            <a:r>
              <a:rPr lang="en-US" sz="1400" dirty="0"/>
              <a:t>Sector, TOF, Quad</a:t>
            </a:r>
          </a:p>
          <a:p>
            <a:pPr algn="ctr"/>
            <a:r>
              <a:rPr lang="en-US" sz="1400" b="1" u="sng" dirty="0">
                <a:solidFill>
                  <a:srgbClr val="FF0000"/>
                </a:solidFill>
              </a:rPr>
              <a:t>Trap</a:t>
            </a:r>
            <a:r>
              <a:rPr lang="en-US" sz="1400" dirty="0"/>
              <a:t> (Quad, FT)</a:t>
            </a:r>
          </a:p>
        </p:txBody>
      </p:sp>
      <p:sp>
        <p:nvSpPr>
          <p:cNvPr id="5" name="TextBox 4"/>
          <p:cNvSpPr txBox="1"/>
          <p:nvPr/>
        </p:nvSpPr>
        <p:spPr>
          <a:xfrm>
            <a:off x="7053900" y="1371587"/>
            <a:ext cx="1541128" cy="800219"/>
          </a:xfrm>
          <a:prstGeom prst="rect">
            <a:avLst/>
          </a:prstGeom>
          <a:noFill/>
          <a:ln>
            <a:solidFill>
              <a:schemeClr val="tx1"/>
            </a:solidFill>
          </a:ln>
        </p:spPr>
        <p:txBody>
          <a:bodyPr wrap="none" rtlCol="0">
            <a:spAutoFit/>
          </a:bodyPr>
          <a:lstStyle/>
          <a:p>
            <a:pPr algn="ctr"/>
            <a:r>
              <a:rPr lang="en-US" u="sng" dirty="0"/>
              <a:t>Detector</a:t>
            </a:r>
          </a:p>
          <a:p>
            <a:pPr algn="ctr"/>
            <a:r>
              <a:rPr lang="en-US" sz="1400" dirty="0"/>
              <a:t>Electron multiplier</a:t>
            </a:r>
          </a:p>
          <a:p>
            <a:pPr algn="ctr"/>
            <a:r>
              <a:rPr lang="en-US" sz="1400" dirty="0"/>
              <a:t>FT</a:t>
            </a:r>
          </a:p>
        </p:txBody>
      </p:sp>
      <p:sp>
        <p:nvSpPr>
          <p:cNvPr id="6" name="TextBox 5"/>
          <p:cNvSpPr txBox="1"/>
          <p:nvPr/>
        </p:nvSpPr>
        <p:spPr>
          <a:xfrm>
            <a:off x="4035015" y="3454556"/>
            <a:ext cx="1555169" cy="584775"/>
          </a:xfrm>
          <a:prstGeom prst="rect">
            <a:avLst/>
          </a:prstGeom>
          <a:noFill/>
          <a:ln>
            <a:solidFill>
              <a:schemeClr val="tx1"/>
            </a:solidFill>
          </a:ln>
        </p:spPr>
        <p:txBody>
          <a:bodyPr wrap="none" rtlCol="0">
            <a:spAutoFit/>
          </a:bodyPr>
          <a:lstStyle/>
          <a:p>
            <a:pPr algn="ctr"/>
            <a:r>
              <a:rPr lang="en-US" dirty="0"/>
              <a:t>Computer #1</a:t>
            </a:r>
          </a:p>
          <a:p>
            <a:pPr algn="ctr"/>
            <a:r>
              <a:rPr lang="en-US" sz="1400" dirty="0"/>
              <a:t>Instrument control</a:t>
            </a:r>
          </a:p>
        </p:txBody>
      </p:sp>
      <p:sp>
        <p:nvSpPr>
          <p:cNvPr id="7" name="TextBox 6"/>
          <p:cNvSpPr txBox="1"/>
          <p:nvPr/>
        </p:nvSpPr>
        <p:spPr>
          <a:xfrm>
            <a:off x="910818" y="1371587"/>
            <a:ext cx="1787284" cy="800219"/>
          </a:xfrm>
          <a:prstGeom prst="rect">
            <a:avLst/>
          </a:prstGeom>
          <a:noFill/>
          <a:ln>
            <a:solidFill>
              <a:schemeClr val="tx1"/>
            </a:solidFill>
          </a:ln>
        </p:spPr>
        <p:txBody>
          <a:bodyPr wrap="none" rtlCol="0">
            <a:spAutoFit/>
          </a:bodyPr>
          <a:lstStyle/>
          <a:p>
            <a:pPr algn="ctr"/>
            <a:r>
              <a:rPr lang="en-US" u="sng" dirty="0"/>
              <a:t>Fractionation</a:t>
            </a:r>
          </a:p>
          <a:p>
            <a:pPr algn="ctr"/>
            <a:r>
              <a:rPr lang="en-US" sz="1400" b="1" u="sng" dirty="0">
                <a:solidFill>
                  <a:srgbClr val="FF0000"/>
                </a:solidFill>
              </a:rPr>
              <a:t>Peptide</a:t>
            </a:r>
            <a:r>
              <a:rPr lang="en-US" sz="1400" dirty="0"/>
              <a:t>, protein, </a:t>
            </a:r>
            <a:r>
              <a:rPr lang="en-US" sz="1400" b="1" u="sng" dirty="0">
                <a:solidFill>
                  <a:srgbClr val="FF0000"/>
                </a:solidFill>
              </a:rPr>
              <a:t>lipid</a:t>
            </a:r>
          </a:p>
          <a:p>
            <a:pPr algn="ctr"/>
            <a:r>
              <a:rPr lang="en-US" sz="1400" dirty="0"/>
              <a:t>Off-/</a:t>
            </a:r>
            <a:r>
              <a:rPr lang="en-US" sz="1400" b="1" u="sng" dirty="0">
                <a:solidFill>
                  <a:srgbClr val="FF0000"/>
                </a:solidFill>
              </a:rPr>
              <a:t>On-line LC</a:t>
            </a:r>
          </a:p>
        </p:txBody>
      </p:sp>
      <p:sp>
        <p:nvSpPr>
          <p:cNvPr id="8" name="TextBox 7"/>
          <p:cNvSpPr txBox="1"/>
          <p:nvPr/>
        </p:nvSpPr>
        <p:spPr>
          <a:xfrm>
            <a:off x="3856330" y="4922953"/>
            <a:ext cx="1972720" cy="800219"/>
          </a:xfrm>
          <a:prstGeom prst="rect">
            <a:avLst/>
          </a:prstGeom>
          <a:noFill/>
          <a:ln>
            <a:solidFill>
              <a:schemeClr val="tx1"/>
            </a:solidFill>
          </a:ln>
        </p:spPr>
        <p:txBody>
          <a:bodyPr wrap="none" rtlCol="0">
            <a:spAutoFit/>
          </a:bodyPr>
          <a:lstStyle/>
          <a:p>
            <a:pPr algn="ctr"/>
            <a:r>
              <a:rPr lang="en-US" dirty="0"/>
              <a:t>Computer #2, #3,…</a:t>
            </a:r>
          </a:p>
          <a:p>
            <a:pPr algn="ctr"/>
            <a:r>
              <a:rPr lang="en-US" sz="1400" dirty="0"/>
              <a:t>Informatics</a:t>
            </a:r>
          </a:p>
          <a:p>
            <a:pPr algn="ctr"/>
            <a:r>
              <a:rPr lang="en-US" sz="1400" dirty="0"/>
              <a:t>Bioinformatics</a:t>
            </a:r>
          </a:p>
        </p:txBody>
      </p:sp>
      <p:cxnSp>
        <p:nvCxnSpPr>
          <p:cNvPr id="9" name="Straight Connector 8"/>
          <p:cNvCxnSpPr/>
          <p:nvPr/>
        </p:nvCxnSpPr>
        <p:spPr>
          <a:xfrm flipV="1">
            <a:off x="1804460" y="2783186"/>
            <a:ext cx="6020004" cy="253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804460" y="2171806"/>
            <a:ext cx="0" cy="636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3895291" y="2180029"/>
            <a:ext cx="0" cy="636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5818731" y="2171806"/>
            <a:ext cx="0" cy="636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7824464" y="2171806"/>
            <a:ext cx="0" cy="6366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4842689" y="2808502"/>
            <a:ext cx="0" cy="636696"/>
          </a:xfrm>
          <a:prstGeom prst="line">
            <a:avLst/>
          </a:prstGeom>
          <a:ln w="1905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4851006" y="4056978"/>
            <a:ext cx="0" cy="847444"/>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2698102" y="1785874"/>
            <a:ext cx="507962" cy="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4597025" y="1785874"/>
            <a:ext cx="507962" cy="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6553200" y="1906246"/>
            <a:ext cx="507962" cy="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698102" y="233904"/>
            <a:ext cx="4202176" cy="584775"/>
          </a:xfrm>
          <a:prstGeom prst="rect">
            <a:avLst/>
          </a:prstGeom>
          <a:noFill/>
        </p:spPr>
        <p:txBody>
          <a:bodyPr wrap="none" rtlCol="0">
            <a:spAutoFit/>
          </a:bodyPr>
          <a:lstStyle/>
          <a:p>
            <a:r>
              <a:rPr lang="en-US" sz="3200" b="1" dirty="0">
                <a:latin typeface="+mj-lt"/>
              </a:rPr>
              <a:t>Mass Spectrometry 101</a:t>
            </a: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2960902"/>
            <a:ext cx="2638425" cy="1733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9" name="Straight Connector 28"/>
          <p:cNvCxnSpPr>
            <a:stCxn id="30" idx="1"/>
          </p:cNvCxnSpPr>
          <p:nvPr/>
        </p:nvCxnSpPr>
        <p:spPr>
          <a:xfrm flipH="1">
            <a:off x="5816226" y="5430784"/>
            <a:ext cx="249437" cy="10887"/>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065663" y="5169174"/>
            <a:ext cx="2815771" cy="523220"/>
          </a:xfrm>
          <a:prstGeom prst="rect">
            <a:avLst/>
          </a:prstGeom>
          <a:noFill/>
          <a:ln>
            <a:solidFill>
              <a:schemeClr val="tx1"/>
            </a:solidFill>
          </a:ln>
        </p:spPr>
        <p:txBody>
          <a:bodyPr wrap="none" rtlCol="0">
            <a:spAutoFit/>
          </a:bodyPr>
          <a:lstStyle/>
          <a:p>
            <a:r>
              <a:rPr lang="en-US" sz="1400" dirty="0" err="1"/>
              <a:t>Infx</a:t>
            </a:r>
            <a:r>
              <a:rPr lang="en-US" sz="1400" dirty="0"/>
              <a:t>: Qual. (ID – Air); </a:t>
            </a:r>
            <a:r>
              <a:rPr lang="en-US" sz="1400" dirty="0" err="1"/>
              <a:t>Quan</a:t>
            </a:r>
            <a:r>
              <a:rPr lang="en-US" sz="1400" dirty="0"/>
              <a:t>. (%/ppm)</a:t>
            </a:r>
          </a:p>
          <a:p>
            <a:r>
              <a:rPr lang="en-US" sz="1400" dirty="0" err="1"/>
              <a:t>BioInfx</a:t>
            </a:r>
            <a:r>
              <a:rPr lang="en-US" sz="1400" dirty="0"/>
              <a:t>: Function, (re)activity, etc.</a:t>
            </a:r>
          </a:p>
        </p:txBody>
      </p:sp>
      <p:sp>
        <p:nvSpPr>
          <p:cNvPr id="31" name="TextBox 30"/>
          <p:cNvSpPr txBox="1"/>
          <p:nvPr/>
        </p:nvSpPr>
        <p:spPr>
          <a:xfrm>
            <a:off x="283030" y="3052642"/>
            <a:ext cx="3185552" cy="3323987"/>
          </a:xfrm>
          <a:prstGeom prst="rect">
            <a:avLst/>
          </a:prstGeom>
          <a:noFill/>
          <a:ln>
            <a:solidFill>
              <a:schemeClr val="tx1"/>
            </a:solidFill>
          </a:ln>
        </p:spPr>
        <p:txBody>
          <a:bodyPr wrap="none" rtlCol="0">
            <a:spAutoFit/>
          </a:bodyPr>
          <a:lstStyle/>
          <a:p>
            <a:r>
              <a:rPr lang="en-US" sz="1400" dirty="0"/>
              <a:t>1. Sample preparation</a:t>
            </a:r>
          </a:p>
          <a:p>
            <a:r>
              <a:rPr lang="en-US" sz="1400" dirty="0"/>
              <a:t>Complexity, concentration, contaminants</a:t>
            </a:r>
          </a:p>
          <a:p>
            <a:r>
              <a:rPr lang="en-US" sz="1400" dirty="0"/>
              <a:t>Assays (gel)</a:t>
            </a:r>
          </a:p>
          <a:p>
            <a:endParaRPr lang="en-US" sz="1400" dirty="0"/>
          </a:p>
          <a:p>
            <a:r>
              <a:rPr lang="en-US" sz="1400" dirty="0"/>
              <a:t>2. Sample analysis/data acquisition</a:t>
            </a:r>
          </a:p>
          <a:p>
            <a:r>
              <a:rPr lang="en-US" sz="1400" dirty="0"/>
              <a:t>LC: column, solvents, gradient</a:t>
            </a:r>
          </a:p>
          <a:p>
            <a:r>
              <a:rPr lang="en-US" sz="1400" dirty="0"/>
              <a:t>MS: m/z range, mass accuracy/resolution</a:t>
            </a:r>
          </a:p>
          <a:p>
            <a:r>
              <a:rPr lang="en-US" sz="1400" dirty="0"/>
              <a:t>MS</a:t>
            </a:r>
            <a:r>
              <a:rPr lang="en-US" sz="1400" baseline="30000" dirty="0"/>
              <a:t>n</a:t>
            </a:r>
            <a:r>
              <a:rPr lang="en-US" sz="1400" dirty="0"/>
              <a:t>: ion fragmentation (CAD, ETD)</a:t>
            </a:r>
          </a:p>
          <a:p>
            <a:endParaRPr lang="en-US" sz="1400" dirty="0"/>
          </a:p>
          <a:p>
            <a:r>
              <a:rPr lang="en-US" sz="1400" dirty="0"/>
              <a:t>3. Data analysis</a:t>
            </a:r>
          </a:p>
          <a:p>
            <a:r>
              <a:rPr lang="en-US" sz="1400" dirty="0"/>
              <a:t>Qualitative – What is it?</a:t>
            </a:r>
          </a:p>
          <a:p>
            <a:r>
              <a:rPr lang="en-US" sz="1400" dirty="0"/>
              <a:t>Quantitative – How much?</a:t>
            </a:r>
          </a:p>
          <a:p>
            <a:endParaRPr lang="en-US" sz="1400" dirty="0"/>
          </a:p>
          <a:p>
            <a:r>
              <a:rPr lang="en-US" sz="1400" dirty="0"/>
              <a:t>4. Results analysis</a:t>
            </a:r>
          </a:p>
          <a:p>
            <a:r>
              <a:rPr lang="en-US" sz="1400" dirty="0"/>
              <a:t>Information -&gt; New knowledge</a:t>
            </a:r>
          </a:p>
        </p:txBody>
      </p:sp>
      <p:sp>
        <p:nvSpPr>
          <p:cNvPr id="32" name="TextBox 31"/>
          <p:cNvSpPr txBox="1"/>
          <p:nvPr/>
        </p:nvSpPr>
        <p:spPr>
          <a:xfrm rot="16200000">
            <a:off x="5357599" y="3696872"/>
            <a:ext cx="1324402" cy="261610"/>
          </a:xfrm>
          <a:prstGeom prst="rect">
            <a:avLst/>
          </a:prstGeom>
          <a:solidFill>
            <a:schemeClr val="bg1"/>
          </a:solidFill>
          <a:ln>
            <a:solidFill>
              <a:schemeClr val="tx1"/>
            </a:solidFill>
          </a:ln>
        </p:spPr>
        <p:txBody>
          <a:bodyPr wrap="none" rtlCol="0">
            <a:spAutoFit/>
          </a:bodyPr>
          <a:lstStyle/>
          <a:p>
            <a:r>
              <a:rPr lang="en-US" sz="1100" dirty="0"/>
              <a:t>Relative Abundance</a:t>
            </a:r>
          </a:p>
        </p:txBody>
      </p:sp>
      <p:sp>
        <p:nvSpPr>
          <p:cNvPr id="33" name="TextBox 32"/>
          <p:cNvSpPr txBox="1"/>
          <p:nvPr/>
        </p:nvSpPr>
        <p:spPr>
          <a:xfrm>
            <a:off x="7163522" y="4623959"/>
            <a:ext cx="407484" cy="261610"/>
          </a:xfrm>
          <a:prstGeom prst="rect">
            <a:avLst/>
          </a:prstGeom>
          <a:solidFill>
            <a:schemeClr val="bg1"/>
          </a:solidFill>
          <a:ln>
            <a:solidFill>
              <a:schemeClr val="tx1"/>
            </a:solidFill>
          </a:ln>
        </p:spPr>
        <p:txBody>
          <a:bodyPr wrap="none" rtlCol="0">
            <a:spAutoFit/>
          </a:bodyPr>
          <a:lstStyle/>
          <a:p>
            <a:r>
              <a:rPr lang="en-US" sz="1100" dirty="0"/>
              <a:t>m/z</a:t>
            </a:r>
          </a:p>
        </p:txBody>
      </p:sp>
      <p:sp>
        <p:nvSpPr>
          <p:cNvPr id="34" name="TextBox 33"/>
          <p:cNvSpPr txBox="1"/>
          <p:nvPr/>
        </p:nvSpPr>
        <p:spPr>
          <a:xfrm>
            <a:off x="8074834" y="3113302"/>
            <a:ext cx="328936" cy="261610"/>
          </a:xfrm>
          <a:prstGeom prst="rect">
            <a:avLst/>
          </a:prstGeom>
          <a:solidFill>
            <a:schemeClr val="bg1"/>
          </a:solidFill>
          <a:ln>
            <a:noFill/>
          </a:ln>
        </p:spPr>
        <p:txBody>
          <a:bodyPr wrap="none" rtlCol="0">
            <a:spAutoFit/>
          </a:bodyPr>
          <a:lstStyle/>
          <a:p>
            <a:r>
              <a:rPr lang="en-US" sz="1050" dirty="0"/>
              <a:t>44</a:t>
            </a:r>
          </a:p>
        </p:txBody>
      </p:sp>
      <p:sp>
        <p:nvSpPr>
          <p:cNvPr id="35" name="TextBox 34"/>
          <p:cNvSpPr txBox="1"/>
          <p:nvPr/>
        </p:nvSpPr>
        <p:spPr>
          <a:xfrm>
            <a:off x="7824464" y="3080292"/>
            <a:ext cx="328936" cy="261610"/>
          </a:xfrm>
          <a:prstGeom prst="rect">
            <a:avLst/>
          </a:prstGeom>
          <a:solidFill>
            <a:schemeClr val="bg1"/>
          </a:solidFill>
          <a:ln>
            <a:noFill/>
          </a:ln>
        </p:spPr>
        <p:txBody>
          <a:bodyPr wrap="none" rtlCol="0">
            <a:spAutoFit/>
          </a:bodyPr>
          <a:lstStyle/>
          <a:p>
            <a:r>
              <a:rPr lang="en-US" sz="1050" dirty="0"/>
              <a:t>40</a:t>
            </a:r>
          </a:p>
        </p:txBody>
      </p:sp>
      <p:sp>
        <p:nvSpPr>
          <p:cNvPr id="36" name="TextBox 35"/>
          <p:cNvSpPr txBox="1"/>
          <p:nvPr/>
        </p:nvSpPr>
        <p:spPr>
          <a:xfrm>
            <a:off x="7574974" y="3080645"/>
            <a:ext cx="322524" cy="253916"/>
          </a:xfrm>
          <a:prstGeom prst="rect">
            <a:avLst/>
          </a:prstGeom>
          <a:solidFill>
            <a:schemeClr val="bg1"/>
          </a:solidFill>
          <a:ln>
            <a:noFill/>
          </a:ln>
        </p:spPr>
        <p:txBody>
          <a:bodyPr wrap="none" rtlCol="0">
            <a:spAutoFit/>
          </a:bodyPr>
          <a:lstStyle/>
          <a:p>
            <a:r>
              <a:rPr lang="en-US" sz="1050" dirty="0"/>
              <a:t>32</a:t>
            </a:r>
          </a:p>
        </p:txBody>
      </p:sp>
      <p:sp>
        <p:nvSpPr>
          <p:cNvPr id="37" name="TextBox 36"/>
          <p:cNvSpPr txBox="1"/>
          <p:nvPr/>
        </p:nvSpPr>
        <p:spPr>
          <a:xfrm>
            <a:off x="7336972" y="2993206"/>
            <a:ext cx="322524" cy="253916"/>
          </a:xfrm>
          <a:prstGeom prst="rect">
            <a:avLst/>
          </a:prstGeom>
          <a:solidFill>
            <a:schemeClr val="bg1"/>
          </a:solidFill>
          <a:ln>
            <a:noFill/>
          </a:ln>
        </p:spPr>
        <p:txBody>
          <a:bodyPr wrap="none" rtlCol="0">
            <a:spAutoFit/>
          </a:bodyPr>
          <a:lstStyle/>
          <a:p>
            <a:r>
              <a:rPr lang="en-US" sz="1050" dirty="0"/>
              <a:t>28</a:t>
            </a:r>
          </a:p>
        </p:txBody>
      </p:sp>
      <p:sp>
        <p:nvSpPr>
          <p:cNvPr id="38" name="TextBox 37"/>
          <p:cNvSpPr txBox="1"/>
          <p:nvPr/>
        </p:nvSpPr>
        <p:spPr>
          <a:xfrm>
            <a:off x="6942720" y="3080645"/>
            <a:ext cx="322524" cy="253916"/>
          </a:xfrm>
          <a:prstGeom prst="rect">
            <a:avLst/>
          </a:prstGeom>
          <a:solidFill>
            <a:schemeClr val="bg1"/>
          </a:solidFill>
          <a:ln>
            <a:noFill/>
          </a:ln>
        </p:spPr>
        <p:txBody>
          <a:bodyPr wrap="none" rtlCol="0">
            <a:spAutoFit/>
          </a:bodyPr>
          <a:lstStyle/>
          <a:p>
            <a:r>
              <a:rPr lang="en-US" sz="1050" dirty="0"/>
              <a:t>18</a:t>
            </a:r>
          </a:p>
        </p:txBody>
      </p:sp>
      <p:sp>
        <p:nvSpPr>
          <p:cNvPr id="39" name="TextBox 38"/>
          <p:cNvSpPr txBox="1"/>
          <p:nvPr/>
        </p:nvSpPr>
        <p:spPr>
          <a:xfrm>
            <a:off x="7659996" y="2783186"/>
            <a:ext cx="655949" cy="253916"/>
          </a:xfrm>
          <a:prstGeom prst="rect">
            <a:avLst/>
          </a:prstGeom>
          <a:solidFill>
            <a:schemeClr val="bg1"/>
          </a:solidFill>
          <a:ln>
            <a:noFill/>
          </a:ln>
        </p:spPr>
        <p:txBody>
          <a:bodyPr wrap="none" rtlCol="0">
            <a:spAutoFit/>
          </a:bodyPr>
          <a:lstStyle/>
          <a:p>
            <a:r>
              <a:rPr lang="en-US" sz="1050" dirty="0"/>
              <a:t>N</a:t>
            </a:r>
            <a:r>
              <a:rPr lang="en-US" sz="1050" baseline="-25000" dirty="0"/>
              <a:t>2</a:t>
            </a:r>
            <a:r>
              <a:rPr lang="en-US" sz="1050" baseline="30000" dirty="0"/>
              <a:t>+</a:t>
            </a:r>
            <a:r>
              <a:rPr lang="en-US" sz="1050" dirty="0"/>
              <a:t>, CO</a:t>
            </a:r>
            <a:r>
              <a:rPr lang="en-US" sz="1050" baseline="30000" dirty="0"/>
              <a:t>+</a:t>
            </a:r>
          </a:p>
        </p:txBody>
      </p:sp>
      <p:cxnSp>
        <p:nvCxnSpPr>
          <p:cNvPr id="28" name="Straight Arrow Connector 27"/>
          <p:cNvCxnSpPr/>
          <p:nvPr/>
        </p:nvCxnSpPr>
        <p:spPr>
          <a:xfrm flipV="1">
            <a:off x="7574436" y="2953688"/>
            <a:ext cx="161762" cy="8306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flipH="1">
            <a:off x="5614786" y="3746268"/>
            <a:ext cx="274209" cy="0"/>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8212396" y="3485333"/>
            <a:ext cx="875561" cy="523220"/>
          </a:xfrm>
          <a:prstGeom prst="rect">
            <a:avLst/>
          </a:prstGeom>
          <a:solidFill>
            <a:schemeClr val="bg1"/>
          </a:solidFill>
          <a:ln>
            <a:solidFill>
              <a:schemeClr val="tx1"/>
            </a:solidFill>
          </a:ln>
        </p:spPr>
        <p:txBody>
          <a:bodyPr wrap="none" rtlCol="0">
            <a:spAutoFit/>
          </a:bodyPr>
          <a:lstStyle/>
          <a:p>
            <a:pPr algn="ctr"/>
            <a:r>
              <a:rPr lang="en-US" sz="1400" dirty="0"/>
              <a:t>Mass </a:t>
            </a:r>
          </a:p>
          <a:p>
            <a:pPr algn="ctr"/>
            <a:r>
              <a:rPr lang="en-US" sz="1400" dirty="0"/>
              <a:t>spectrum</a:t>
            </a:r>
          </a:p>
        </p:txBody>
      </p:sp>
      <p:sp>
        <p:nvSpPr>
          <p:cNvPr id="3" name="Date Placeholder 2"/>
          <p:cNvSpPr>
            <a:spLocks noGrp="1"/>
          </p:cNvSpPr>
          <p:nvPr>
            <p:ph type="dt" sz="half" idx="10"/>
          </p:nvPr>
        </p:nvSpPr>
        <p:spPr/>
        <p:txBody>
          <a:bodyPr/>
          <a:lstStyle/>
          <a:p>
            <a:r>
              <a:rPr lang="en-US"/>
              <a:t>11/2/2015</a:t>
            </a:r>
          </a:p>
        </p:txBody>
      </p:sp>
      <p:sp>
        <p:nvSpPr>
          <p:cNvPr id="10" name="Footer Placeholder 9"/>
          <p:cNvSpPr>
            <a:spLocks noGrp="1"/>
          </p:cNvSpPr>
          <p:nvPr>
            <p:ph type="ftr" sz="quarter" idx="11"/>
          </p:nvPr>
        </p:nvSpPr>
        <p:spPr/>
        <p:txBody>
          <a:bodyPr/>
          <a:lstStyle/>
          <a:p>
            <a:r>
              <a:rPr lang="en-US"/>
              <a:t>Hsu group meeting</a:t>
            </a:r>
          </a:p>
        </p:txBody>
      </p:sp>
      <p:sp>
        <p:nvSpPr>
          <p:cNvPr id="12" name="Slide Number Placeholder 11"/>
          <p:cNvSpPr>
            <a:spLocks noGrp="1"/>
          </p:cNvSpPr>
          <p:nvPr>
            <p:ph type="sldNum" sz="quarter" idx="12"/>
          </p:nvPr>
        </p:nvSpPr>
        <p:spPr/>
        <p:txBody>
          <a:bodyPr/>
          <a:lstStyle/>
          <a:p>
            <a:fld id="{69B5BC37-830D-4F1C-891C-DA1C51928656}" type="slidenum">
              <a:rPr lang="en-US" smtClean="0"/>
              <a:t>6</a:t>
            </a:fld>
            <a:endParaRPr lang="en-US"/>
          </a:p>
        </p:txBody>
      </p:sp>
      <p:sp>
        <p:nvSpPr>
          <p:cNvPr id="40" name="Text Box 17"/>
          <p:cNvSpPr txBox="1">
            <a:spLocks noChangeArrowheads="1"/>
          </p:cNvSpPr>
          <p:nvPr/>
        </p:nvSpPr>
        <p:spPr bwMode="auto">
          <a:xfrm>
            <a:off x="3463195" y="6024084"/>
            <a:ext cx="5374820" cy="369332"/>
          </a:xfrm>
          <a:prstGeom prst="rect">
            <a:avLst/>
          </a:prstGeom>
          <a:solidFill>
            <a:schemeClr val="bg1"/>
          </a:solidFill>
          <a:ln>
            <a:noFill/>
          </a:ln>
          <a:effectLs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i="1" dirty="0">
                <a:solidFill>
                  <a:srgbClr val="000000"/>
                </a:solidFill>
                <a:latin typeface="Calibri" panose="020F0502020204030204" pitchFamily="34" charset="0"/>
              </a:rPr>
              <a:t>“…in essence, </a:t>
            </a:r>
            <a:r>
              <a:rPr lang="en-US" altLang="en-US" b="1" i="1" u="sng" dirty="0">
                <a:solidFill>
                  <a:srgbClr val="000000"/>
                </a:solidFill>
                <a:latin typeface="Calibri" panose="020F0502020204030204" pitchFamily="34" charset="0"/>
              </a:rPr>
              <a:t>a glorified scale</a:t>
            </a:r>
            <a:r>
              <a:rPr lang="en-US" altLang="en-US" b="1" i="1" dirty="0">
                <a:solidFill>
                  <a:srgbClr val="000000"/>
                </a:solidFill>
                <a:latin typeface="Calibri" panose="020F0502020204030204" pitchFamily="34" charset="0"/>
              </a:rPr>
              <a:t> that weighs molecules." </a:t>
            </a:r>
          </a:p>
        </p:txBody>
      </p:sp>
    </p:spTree>
    <p:extLst>
      <p:ext uri="{BB962C8B-B14F-4D97-AF65-F5344CB8AC3E}">
        <p14:creationId xmlns:p14="http://schemas.microsoft.com/office/powerpoint/2010/main" val="3815990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2" grpId="0" animBg="1"/>
      <p:bldP spid="33" grpId="0" animBg="1"/>
      <p:bldP spid="34" grpId="0" animBg="1"/>
      <p:bldP spid="35" grpId="0" animBg="1"/>
      <p:bldP spid="36" grpId="0" animBg="1"/>
      <p:bldP spid="37" grpId="0" animBg="1"/>
      <p:bldP spid="38" grpId="0" animBg="1"/>
      <p:bldP spid="39" grpId="0" animBg="1"/>
      <p:bldP spid="47" grpId="0" animBg="1"/>
      <p:bldP spid="4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bwMode="auto">
          <a:xfrm>
            <a:off x="2024063" y="228600"/>
            <a:ext cx="31242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t>MS History</a:t>
            </a:r>
          </a:p>
        </p:txBody>
      </p:sp>
      <p:sp>
        <p:nvSpPr>
          <p:cNvPr id="19460" name="Rectangle 3"/>
          <p:cNvSpPr>
            <a:spLocks noGrp="1" noChangeArrowheads="1"/>
          </p:cNvSpPr>
          <p:nvPr>
            <p:ph idx="1"/>
          </p:nvPr>
        </p:nvSpPr>
        <p:spPr>
          <a:xfrm>
            <a:off x="228600" y="914400"/>
            <a:ext cx="4343400" cy="5334000"/>
          </a:xfrm>
        </p:spPr>
        <p:txBody>
          <a:bodyPr>
            <a:normAutofit fontScale="92500" lnSpcReduction="10000"/>
          </a:bodyPr>
          <a:lstStyle/>
          <a:p>
            <a:pPr>
              <a:lnSpc>
                <a:spcPct val="80000"/>
              </a:lnSpc>
            </a:pPr>
            <a:r>
              <a:rPr lang="en-US" altLang="en-US" sz="2000" dirty="0"/>
              <a:t>1900s</a:t>
            </a:r>
          </a:p>
          <a:p>
            <a:pPr lvl="1">
              <a:lnSpc>
                <a:spcPct val="80000"/>
              </a:lnSpc>
            </a:pPr>
            <a:r>
              <a:rPr lang="en-US" altLang="en-US" sz="1800" dirty="0"/>
              <a:t>J.J. Thompson, “Father of MS”</a:t>
            </a:r>
          </a:p>
          <a:p>
            <a:pPr lvl="2">
              <a:lnSpc>
                <a:spcPct val="80000"/>
              </a:lnSpc>
            </a:pPr>
            <a:r>
              <a:rPr lang="en-US" altLang="en-US" sz="1600" dirty="0"/>
              <a:t>1906 NP physics - electron</a:t>
            </a:r>
          </a:p>
          <a:p>
            <a:pPr lvl="1">
              <a:lnSpc>
                <a:spcPct val="80000"/>
              </a:lnSpc>
            </a:pPr>
            <a:r>
              <a:rPr lang="en-US" altLang="en-US" sz="1800" dirty="0"/>
              <a:t>F.W. Aston</a:t>
            </a:r>
          </a:p>
          <a:p>
            <a:pPr lvl="2">
              <a:lnSpc>
                <a:spcPct val="80000"/>
              </a:lnSpc>
            </a:pPr>
            <a:r>
              <a:rPr lang="en-US" altLang="en-US" sz="1600" dirty="0"/>
              <a:t>1922 NP chemistry - isotopes</a:t>
            </a:r>
          </a:p>
          <a:p>
            <a:pPr lvl="1">
              <a:lnSpc>
                <a:spcPct val="80000"/>
              </a:lnSpc>
            </a:pPr>
            <a:r>
              <a:rPr lang="en-US" altLang="en-US" sz="1800" dirty="0" err="1"/>
              <a:t>Mattauch</a:t>
            </a:r>
            <a:r>
              <a:rPr lang="en-US" altLang="en-US" sz="1800" dirty="0"/>
              <a:t>, Herzog</a:t>
            </a:r>
          </a:p>
          <a:p>
            <a:pPr lvl="2">
              <a:lnSpc>
                <a:spcPct val="80000"/>
              </a:lnSpc>
            </a:pPr>
            <a:r>
              <a:rPr lang="en-US" altLang="en-US" sz="1600" dirty="0"/>
              <a:t>Double-focusing MS (B and E)</a:t>
            </a:r>
          </a:p>
          <a:p>
            <a:pPr>
              <a:lnSpc>
                <a:spcPct val="80000"/>
              </a:lnSpc>
            </a:pPr>
            <a:r>
              <a:rPr lang="en-US" altLang="en-US" sz="2000" dirty="0"/>
              <a:t>1940s</a:t>
            </a:r>
          </a:p>
          <a:p>
            <a:pPr lvl="1">
              <a:lnSpc>
                <a:spcPct val="80000"/>
              </a:lnSpc>
            </a:pPr>
            <a:r>
              <a:rPr lang="en-US" altLang="en-US" sz="1800" dirty="0" err="1"/>
              <a:t>Calutron</a:t>
            </a:r>
            <a:r>
              <a:rPr lang="en-US" altLang="en-US" sz="1800" dirty="0"/>
              <a:t> (Lawrence)</a:t>
            </a:r>
          </a:p>
          <a:p>
            <a:pPr lvl="1">
              <a:lnSpc>
                <a:spcPct val="80000"/>
              </a:lnSpc>
            </a:pPr>
            <a:r>
              <a:rPr lang="en-US" altLang="en-US" sz="1800" dirty="0" err="1"/>
              <a:t>Neir</a:t>
            </a:r>
            <a:r>
              <a:rPr lang="en-US" altLang="en-US" sz="1800" dirty="0"/>
              <a:t>, isotope separation</a:t>
            </a:r>
          </a:p>
          <a:p>
            <a:pPr lvl="1">
              <a:lnSpc>
                <a:spcPct val="80000"/>
              </a:lnSpc>
            </a:pPr>
            <a:r>
              <a:rPr lang="en-US" altLang="en-US" sz="1800" dirty="0"/>
              <a:t>First commercial MS – gas analysis</a:t>
            </a:r>
          </a:p>
          <a:p>
            <a:pPr>
              <a:lnSpc>
                <a:spcPct val="80000"/>
              </a:lnSpc>
            </a:pPr>
            <a:r>
              <a:rPr lang="en-US" altLang="en-US" sz="2000" dirty="0"/>
              <a:t>1950s</a:t>
            </a:r>
          </a:p>
          <a:p>
            <a:pPr lvl="1">
              <a:lnSpc>
                <a:spcPct val="80000"/>
              </a:lnSpc>
            </a:pPr>
            <a:r>
              <a:rPr lang="en-US" altLang="en-US" sz="1800" dirty="0"/>
              <a:t>Gas discharge, FI, SIMS</a:t>
            </a:r>
          </a:p>
          <a:p>
            <a:pPr lvl="1">
              <a:lnSpc>
                <a:spcPct val="80000"/>
              </a:lnSpc>
            </a:pPr>
            <a:r>
              <a:rPr lang="en-US" altLang="en-US" sz="1800" dirty="0"/>
              <a:t>First GC-MS (</a:t>
            </a:r>
            <a:r>
              <a:rPr lang="en-US" altLang="en-US" sz="1800" dirty="0" err="1"/>
              <a:t>McLafferty</a:t>
            </a:r>
            <a:r>
              <a:rPr lang="en-US" altLang="en-US" sz="1800" dirty="0"/>
              <a:t>)</a:t>
            </a:r>
          </a:p>
          <a:p>
            <a:pPr lvl="1">
              <a:lnSpc>
                <a:spcPct val="80000"/>
              </a:lnSpc>
            </a:pPr>
            <a:r>
              <a:rPr lang="en-US" altLang="en-US" sz="1800" dirty="0"/>
              <a:t>Increasing technology</a:t>
            </a:r>
          </a:p>
          <a:p>
            <a:pPr>
              <a:lnSpc>
                <a:spcPct val="80000"/>
              </a:lnSpc>
            </a:pPr>
            <a:r>
              <a:rPr lang="en-US" altLang="en-US" sz="2000" dirty="0"/>
              <a:t>1960s</a:t>
            </a:r>
          </a:p>
          <a:p>
            <a:pPr lvl="1">
              <a:lnSpc>
                <a:spcPct val="80000"/>
              </a:lnSpc>
            </a:pPr>
            <a:r>
              <a:rPr lang="en-US" altLang="en-US" sz="1800" dirty="0"/>
              <a:t>High resolution MS (B/E sectors)</a:t>
            </a:r>
          </a:p>
          <a:p>
            <a:pPr lvl="1">
              <a:lnSpc>
                <a:spcPct val="80000"/>
              </a:lnSpc>
            </a:pPr>
            <a:r>
              <a:rPr lang="en-US" altLang="en-US" sz="1800" dirty="0"/>
              <a:t>CI (Munson and Field); ESI (Dole)</a:t>
            </a:r>
          </a:p>
          <a:p>
            <a:pPr lvl="1">
              <a:lnSpc>
                <a:spcPct val="80000"/>
              </a:lnSpc>
            </a:pPr>
            <a:r>
              <a:rPr lang="en-US" altLang="en-US" sz="1800" dirty="0"/>
              <a:t>First commercial </a:t>
            </a:r>
            <a:r>
              <a:rPr lang="en-US" altLang="en-US" sz="1800" dirty="0" err="1"/>
              <a:t>quadrupole</a:t>
            </a:r>
            <a:r>
              <a:rPr lang="en-US" altLang="en-US" sz="1800" dirty="0"/>
              <a:t> MS</a:t>
            </a:r>
          </a:p>
          <a:p>
            <a:pPr lvl="1">
              <a:lnSpc>
                <a:spcPct val="80000"/>
              </a:lnSpc>
            </a:pPr>
            <a:r>
              <a:rPr lang="en-US" altLang="en-US" sz="1800" dirty="0"/>
              <a:t>Peptide sequencing (</a:t>
            </a:r>
            <a:r>
              <a:rPr lang="en-US" altLang="en-US" sz="1800" dirty="0" err="1"/>
              <a:t>Biemann</a:t>
            </a:r>
            <a:r>
              <a:rPr lang="en-US" altLang="en-US" sz="1800" dirty="0"/>
              <a:t>)</a:t>
            </a:r>
          </a:p>
        </p:txBody>
      </p:sp>
      <p:sp>
        <p:nvSpPr>
          <p:cNvPr id="19458" name="Slide Number Placeholder 5"/>
          <p:cNvSpPr>
            <a:spLocks noGrp="1"/>
          </p:cNvSpPr>
          <p:nvPr>
            <p:ph type="sldNum" sz="quarter" idx="12"/>
          </p:nvPr>
        </p:nvSpPr>
        <p:spPr>
          <a:xfrm>
            <a:off x="6553200" y="6245225"/>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66E15EF8-4BDB-4889-911B-2A74990BCFBE}" type="slidenum">
              <a:rPr lang="en-US" altLang="en-US" smtClean="0">
                <a:solidFill>
                  <a:srgbClr val="000000"/>
                </a:solidFill>
              </a:rPr>
              <a:pPr eaLnBrk="1" hangingPunct="1"/>
              <a:t>7</a:t>
            </a:fld>
            <a:endParaRPr lang="en-US" altLang="en-US">
              <a:solidFill>
                <a:srgbClr val="000000"/>
              </a:solidFill>
            </a:endParaRPr>
          </a:p>
        </p:txBody>
      </p:sp>
      <p:pic>
        <p:nvPicPr>
          <p:cNvPr id="1946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0"/>
            <a:ext cx="85407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0"/>
            <a:ext cx="63658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3"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0"/>
            <a:ext cx="952500"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4"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1066800"/>
            <a:ext cx="95250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5" name="Picture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2438400"/>
            <a:ext cx="1000125" cy="133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6" name="Picture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5486400"/>
            <a:ext cx="752475"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7"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05600" y="2133600"/>
            <a:ext cx="2011363" cy="26574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8" name="Picture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38800" y="4800600"/>
            <a:ext cx="2509838"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9" name="Picture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02050" y="3886200"/>
            <a:ext cx="1598613" cy="1287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70" name="Picture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67475" y="1143000"/>
            <a:ext cx="267652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Tree>
    <p:extLst>
      <p:ext uri="{BB962C8B-B14F-4D97-AF65-F5344CB8AC3E}">
        <p14:creationId xmlns:p14="http://schemas.microsoft.com/office/powerpoint/2010/main" val="3527043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bwMode="auto">
          <a:xfrm>
            <a:off x="2151063" y="152400"/>
            <a:ext cx="36576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t>MS History</a:t>
            </a:r>
          </a:p>
        </p:txBody>
      </p:sp>
      <p:sp>
        <p:nvSpPr>
          <p:cNvPr id="20484" name="Rectangle 3"/>
          <p:cNvSpPr>
            <a:spLocks noGrp="1" noChangeArrowheads="1"/>
          </p:cNvSpPr>
          <p:nvPr>
            <p:ph idx="1"/>
          </p:nvPr>
        </p:nvSpPr>
        <p:spPr>
          <a:xfrm>
            <a:off x="152400" y="838200"/>
            <a:ext cx="4800600" cy="4525963"/>
          </a:xfrm>
        </p:spPr>
        <p:txBody>
          <a:bodyPr>
            <a:normAutofit lnSpcReduction="10000"/>
          </a:bodyPr>
          <a:lstStyle/>
          <a:p>
            <a:pPr>
              <a:lnSpc>
                <a:spcPct val="90000"/>
              </a:lnSpc>
            </a:pPr>
            <a:r>
              <a:rPr lang="en-US" altLang="en-US" sz="1800"/>
              <a:t>1970s</a:t>
            </a:r>
          </a:p>
          <a:p>
            <a:pPr lvl="1">
              <a:lnSpc>
                <a:spcPct val="90000"/>
              </a:lnSpc>
            </a:pPr>
            <a:r>
              <a:rPr lang="en-US" altLang="en-US" sz="1600"/>
              <a:t>Desorption ionization (PD, FAB)</a:t>
            </a:r>
          </a:p>
          <a:p>
            <a:pPr lvl="1">
              <a:lnSpc>
                <a:spcPct val="90000"/>
              </a:lnSpc>
            </a:pPr>
            <a:r>
              <a:rPr lang="en-US" altLang="en-US" sz="1600"/>
              <a:t>Fourier transform, TSQ MS</a:t>
            </a:r>
          </a:p>
          <a:p>
            <a:pPr lvl="2">
              <a:lnSpc>
                <a:spcPct val="90000"/>
              </a:lnSpc>
            </a:pPr>
            <a:r>
              <a:rPr lang="en-US" altLang="en-US" sz="1400"/>
              <a:t>Tandem MS (MS/MS)</a:t>
            </a:r>
          </a:p>
          <a:p>
            <a:pPr>
              <a:lnSpc>
                <a:spcPct val="90000"/>
              </a:lnSpc>
            </a:pPr>
            <a:r>
              <a:rPr lang="en-US" altLang="en-US" sz="1800"/>
              <a:t>1980s</a:t>
            </a:r>
          </a:p>
          <a:p>
            <a:pPr lvl="1">
              <a:lnSpc>
                <a:spcPct val="90000"/>
              </a:lnSpc>
            </a:pPr>
            <a:r>
              <a:rPr lang="en-US" altLang="en-US" sz="1600"/>
              <a:t>MALDI, ESI (2002 NP chemistry)</a:t>
            </a:r>
          </a:p>
          <a:p>
            <a:pPr lvl="1">
              <a:lnSpc>
                <a:spcPct val="90000"/>
              </a:lnSpc>
            </a:pPr>
            <a:r>
              <a:rPr lang="en-US" altLang="en-US" sz="1600"/>
              <a:t>TOF, Quadrupole, Sector MS, QTOF</a:t>
            </a:r>
          </a:p>
          <a:p>
            <a:pPr lvl="1">
              <a:lnSpc>
                <a:spcPct val="90000"/>
              </a:lnSpc>
            </a:pPr>
            <a:r>
              <a:rPr lang="en-US" altLang="en-US" sz="1600"/>
              <a:t>Advanced peptide sequencing (MS/MS)</a:t>
            </a:r>
          </a:p>
          <a:p>
            <a:pPr>
              <a:lnSpc>
                <a:spcPct val="90000"/>
              </a:lnSpc>
            </a:pPr>
            <a:r>
              <a:rPr lang="en-US" altLang="en-US" sz="1800"/>
              <a:t>1990s</a:t>
            </a:r>
          </a:p>
          <a:p>
            <a:pPr lvl="1">
              <a:lnSpc>
                <a:spcPct val="90000"/>
              </a:lnSpc>
            </a:pPr>
            <a:r>
              <a:rPr lang="en-US" altLang="en-US" sz="1600"/>
              <a:t>Ion trap MS (W. Paul, 1989 NP physics)</a:t>
            </a:r>
          </a:p>
          <a:p>
            <a:pPr lvl="1">
              <a:lnSpc>
                <a:spcPct val="90000"/>
              </a:lnSpc>
            </a:pPr>
            <a:r>
              <a:rPr lang="en-US" altLang="en-US" sz="1600"/>
              <a:t>Biological applications</a:t>
            </a:r>
          </a:p>
          <a:p>
            <a:pPr lvl="2">
              <a:lnSpc>
                <a:spcPct val="90000"/>
              </a:lnSpc>
            </a:pPr>
            <a:r>
              <a:rPr lang="en-US" altLang="en-US" sz="1400"/>
              <a:t>Proteomics begins</a:t>
            </a:r>
          </a:p>
          <a:p>
            <a:pPr>
              <a:lnSpc>
                <a:spcPct val="90000"/>
              </a:lnSpc>
            </a:pPr>
            <a:r>
              <a:rPr lang="en-US" altLang="en-US" sz="1800"/>
              <a:t>2000s</a:t>
            </a:r>
          </a:p>
          <a:p>
            <a:pPr lvl="1">
              <a:lnSpc>
                <a:spcPct val="90000"/>
              </a:lnSpc>
            </a:pPr>
            <a:r>
              <a:rPr lang="en-US" altLang="en-US" sz="1600"/>
              <a:t>Linear trap MS</a:t>
            </a:r>
          </a:p>
          <a:p>
            <a:pPr lvl="1">
              <a:lnSpc>
                <a:spcPct val="90000"/>
              </a:lnSpc>
            </a:pPr>
            <a:r>
              <a:rPr lang="en-US" altLang="en-US" sz="1600"/>
              <a:t>Orbitrap (A. Makarov)</a:t>
            </a:r>
          </a:p>
          <a:p>
            <a:pPr lvl="1">
              <a:lnSpc>
                <a:spcPct val="90000"/>
              </a:lnSpc>
            </a:pPr>
            <a:r>
              <a:rPr lang="en-US" altLang="en-US" sz="1600"/>
              <a:t>Proteomics</a:t>
            </a:r>
          </a:p>
          <a:p>
            <a:pPr>
              <a:lnSpc>
                <a:spcPct val="90000"/>
              </a:lnSpc>
            </a:pPr>
            <a:endParaRPr lang="en-US" altLang="en-US" sz="1800"/>
          </a:p>
        </p:txBody>
      </p:sp>
      <p:sp>
        <p:nvSpPr>
          <p:cNvPr id="20482" name="Slide Number Placeholder 5"/>
          <p:cNvSpPr>
            <a:spLocks noGrp="1"/>
          </p:cNvSpPr>
          <p:nvPr>
            <p:ph type="sldNum" sz="quarter" idx="12"/>
          </p:nvPr>
        </p:nvSpPr>
        <p:spPr>
          <a:xfrm>
            <a:off x="6553200" y="6245225"/>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B618114F-B5AA-43D0-AD7A-D546A2E49DCF}" type="slidenum">
              <a:rPr lang="en-US" altLang="en-US" smtClean="0">
                <a:solidFill>
                  <a:srgbClr val="000000"/>
                </a:solidFill>
              </a:rPr>
              <a:pPr eaLnBrk="1" hangingPunct="1"/>
              <a:t>8</a:t>
            </a:fld>
            <a:endParaRPr lang="en-US" altLang="en-US">
              <a:solidFill>
                <a:srgbClr val="000000"/>
              </a:solidFill>
            </a:endParaRPr>
          </a:p>
        </p:txBody>
      </p:sp>
      <p:pic>
        <p:nvPicPr>
          <p:cNvPr id="2048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3276600"/>
            <a:ext cx="1296988"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4953000"/>
            <a:ext cx="2857500"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200" y="0"/>
            <a:ext cx="1714500" cy="121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8"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5800" y="5105400"/>
            <a:ext cx="733425"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9"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8200" y="3505200"/>
            <a:ext cx="2971800"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90"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4000" y="1219200"/>
            <a:ext cx="3619500" cy="193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91"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62800" y="5105400"/>
            <a:ext cx="1143000"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92" name="Picture 14" descr="Orbitrap"/>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3400" y="5334000"/>
            <a:ext cx="11239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3" name="Picture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28800" y="5486400"/>
            <a:ext cx="8096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94" name="Rectangle 16"/>
          <p:cNvSpPr>
            <a:spLocks noChangeArrowheads="1"/>
          </p:cNvSpPr>
          <p:nvPr/>
        </p:nvSpPr>
        <p:spPr bwMode="auto">
          <a:xfrm>
            <a:off x="5994400" y="6553200"/>
            <a:ext cx="314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a:solidFill>
                  <a:srgbClr val="0326D7"/>
                </a:solidFill>
              </a:rPr>
              <a:t>http://masspec.scripps.edu/mshistory/</a:t>
            </a:r>
          </a:p>
        </p:txBody>
      </p:sp>
      <p:pic>
        <p:nvPicPr>
          <p:cNvPr id="20495" name="Picture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1800" y="4572000"/>
            <a:ext cx="2900363" cy="201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p:cNvSpPr>
            <a:spLocks noGrp="1"/>
          </p:cNvSpPr>
          <p:nvPr>
            <p:ph type="dt" sz="half" idx="10"/>
          </p:nvPr>
        </p:nvSpPr>
        <p:spPr/>
        <p:txBody>
          <a:bodyPr/>
          <a:lstStyle/>
          <a:p>
            <a:r>
              <a:rPr lang="en-US"/>
              <a:t>11/2/2015</a:t>
            </a:r>
          </a:p>
        </p:txBody>
      </p:sp>
      <p:sp>
        <p:nvSpPr>
          <p:cNvPr id="3" name="Footer Placeholder 2"/>
          <p:cNvSpPr>
            <a:spLocks noGrp="1"/>
          </p:cNvSpPr>
          <p:nvPr>
            <p:ph type="ftr" sz="quarter" idx="11"/>
          </p:nvPr>
        </p:nvSpPr>
        <p:spPr/>
        <p:txBody>
          <a:bodyPr/>
          <a:lstStyle/>
          <a:p>
            <a:r>
              <a:rPr lang="en-US" dirty="0"/>
              <a:t>Hsu group meeting</a:t>
            </a:r>
          </a:p>
        </p:txBody>
      </p:sp>
    </p:spTree>
    <p:extLst>
      <p:ext uri="{BB962C8B-B14F-4D97-AF65-F5344CB8AC3E}">
        <p14:creationId xmlns:p14="http://schemas.microsoft.com/office/powerpoint/2010/main" val="1409235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bwMode="auto">
          <a:xfrm>
            <a:off x="2327189" y="16476"/>
            <a:ext cx="5105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solidFill>
                  <a:schemeClr val="tx1"/>
                </a:solidFill>
              </a:rPr>
              <a:t>MS History and Applications</a:t>
            </a:r>
          </a:p>
        </p:txBody>
      </p:sp>
      <p:sp>
        <p:nvSpPr>
          <p:cNvPr id="148483" name="Rectangle 3"/>
          <p:cNvSpPr>
            <a:spLocks noGrp="1" noChangeArrowheads="1"/>
          </p:cNvSpPr>
          <p:nvPr>
            <p:ph type="body" sz="half" idx="1"/>
          </p:nvPr>
        </p:nvSpPr>
        <p:spPr>
          <a:xfrm>
            <a:off x="5456237" y="787266"/>
            <a:ext cx="3200400" cy="5563254"/>
          </a:xfrm>
        </p:spPr>
        <p:txBody>
          <a:bodyPr>
            <a:normAutofit fontScale="92500" lnSpcReduction="10000"/>
          </a:bodyPr>
          <a:lstStyle/>
          <a:p>
            <a:pPr>
              <a:lnSpc>
                <a:spcPct val="80000"/>
              </a:lnSpc>
            </a:pPr>
            <a:r>
              <a:rPr lang="en-US" altLang="en-US" sz="2400" dirty="0">
                <a:latin typeface="Calibri" panose="020F0502020204030204" pitchFamily="34" charset="0"/>
              </a:rPr>
              <a:t>Biology</a:t>
            </a:r>
          </a:p>
          <a:p>
            <a:pPr>
              <a:lnSpc>
                <a:spcPct val="80000"/>
              </a:lnSpc>
            </a:pPr>
            <a:r>
              <a:rPr lang="en-US" altLang="en-US" sz="2400" dirty="0">
                <a:latin typeface="Calibri" panose="020F0502020204030204" pitchFamily="34" charset="0"/>
              </a:rPr>
              <a:t>Clinical</a:t>
            </a:r>
          </a:p>
          <a:p>
            <a:pPr>
              <a:lnSpc>
                <a:spcPct val="80000"/>
              </a:lnSpc>
            </a:pPr>
            <a:r>
              <a:rPr lang="en-US" altLang="en-US" sz="2400" dirty="0">
                <a:latin typeface="Calibri" panose="020F0502020204030204" pitchFamily="34" charset="0"/>
              </a:rPr>
              <a:t>Defense</a:t>
            </a:r>
          </a:p>
          <a:p>
            <a:pPr>
              <a:lnSpc>
                <a:spcPct val="80000"/>
              </a:lnSpc>
            </a:pPr>
            <a:r>
              <a:rPr lang="en-US" altLang="en-US" sz="2400" dirty="0">
                <a:latin typeface="Calibri" panose="020F0502020204030204" pitchFamily="34" charset="0"/>
              </a:rPr>
              <a:t>Environmental</a:t>
            </a:r>
          </a:p>
          <a:p>
            <a:pPr>
              <a:lnSpc>
                <a:spcPct val="80000"/>
              </a:lnSpc>
            </a:pPr>
            <a:r>
              <a:rPr lang="en-US" altLang="en-US" sz="2400" dirty="0">
                <a:latin typeface="Calibri" panose="020F0502020204030204" pitchFamily="34" charset="0"/>
              </a:rPr>
              <a:t>Food and drug safety </a:t>
            </a:r>
          </a:p>
          <a:p>
            <a:pPr>
              <a:lnSpc>
                <a:spcPct val="80000"/>
              </a:lnSpc>
            </a:pPr>
            <a:r>
              <a:rPr lang="en-US" altLang="en-US" sz="2400" dirty="0">
                <a:latin typeface="Calibri" panose="020F0502020204030204" pitchFamily="34" charset="0"/>
              </a:rPr>
              <a:t>Forensics</a:t>
            </a:r>
          </a:p>
          <a:p>
            <a:pPr>
              <a:lnSpc>
                <a:spcPct val="80000"/>
              </a:lnSpc>
            </a:pPr>
            <a:r>
              <a:rPr lang="en-US" altLang="en-US" sz="2400" dirty="0">
                <a:latin typeface="Calibri" panose="020F0502020204030204" pitchFamily="34" charset="0"/>
              </a:rPr>
              <a:t>Materials</a:t>
            </a:r>
          </a:p>
          <a:p>
            <a:pPr>
              <a:lnSpc>
                <a:spcPct val="80000"/>
              </a:lnSpc>
            </a:pPr>
            <a:r>
              <a:rPr lang="en-US" altLang="en-US" sz="2400" dirty="0">
                <a:latin typeface="Calibri" panose="020F0502020204030204" pitchFamily="34" charset="0"/>
              </a:rPr>
              <a:t>Meteorology</a:t>
            </a:r>
          </a:p>
          <a:p>
            <a:pPr>
              <a:lnSpc>
                <a:spcPct val="80000"/>
              </a:lnSpc>
            </a:pPr>
            <a:r>
              <a:rPr lang="en-US" altLang="en-US" sz="2400" dirty="0">
                <a:latin typeface="Calibri" panose="020F0502020204030204" pitchFamily="34" charset="0"/>
              </a:rPr>
              <a:t>Pharmaceutical</a:t>
            </a:r>
          </a:p>
          <a:p>
            <a:pPr>
              <a:lnSpc>
                <a:spcPct val="80000"/>
              </a:lnSpc>
            </a:pPr>
            <a:r>
              <a:rPr lang="en-US" altLang="en-US" sz="2400" dirty="0">
                <a:latin typeface="Calibri" panose="020F0502020204030204" pitchFamily="34" charset="0"/>
              </a:rPr>
              <a:t>Space exploration</a:t>
            </a:r>
          </a:p>
          <a:p>
            <a:pPr>
              <a:lnSpc>
                <a:spcPct val="80000"/>
              </a:lnSpc>
            </a:pPr>
            <a:endParaRPr lang="en-US" altLang="en-US" sz="2400" dirty="0">
              <a:latin typeface="Calibri" panose="020F0502020204030204" pitchFamily="34" charset="0"/>
            </a:endParaRPr>
          </a:p>
          <a:p>
            <a:pPr>
              <a:lnSpc>
                <a:spcPct val="80000"/>
              </a:lnSpc>
            </a:pPr>
            <a:r>
              <a:rPr lang="en-US" altLang="en-US" sz="2400" dirty="0">
                <a:latin typeface="Calibri" panose="020F0502020204030204" pitchFamily="34" charset="0"/>
              </a:rPr>
              <a:t>Future</a:t>
            </a:r>
          </a:p>
          <a:p>
            <a:pPr lvl="1">
              <a:lnSpc>
                <a:spcPct val="80000"/>
              </a:lnSpc>
            </a:pPr>
            <a:r>
              <a:rPr lang="en-US" altLang="en-US" sz="2400" dirty="0">
                <a:latin typeface="Calibri" panose="020F0502020204030204" pitchFamily="34" charset="0"/>
              </a:rPr>
              <a:t>Miniaturization</a:t>
            </a:r>
          </a:p>
          <a:p>
            <a:pPr lvl="1">
              <a:lnSpc>
                <a:spcPct val="80000"/>
              </a:lnSpc>
            </a:pPr>
            <a:r>
              <a:rPr lang="en-US" altLang="en-US" sz="2400" dirty="0">
                <a:latin typeface="Calibri" panose="020F0502020204030204" pitchFamily="34" charset="0"/>
              </a:rPr>
              <a:t>Sensors</a:t>
            </a:r>
          </a:p>
          <a:p>
            <a:pPr lvl="1">
              <a:lnSpc>
                <a:spcPct val="80000"/>
              </a:lnSpc>
            </a:pPr>
            <a:r>
              <a:rPr lang="en-US" altLang="en-US" sz="2400" dirty="0">
                <a:latin typeface="Calibri" panose="020F0502020204030204" pitchFamily="34" charset="0"/>
              </a:rPr>
              <a:t>Clinical diagnostics</a:t>
            </a:r>
          </a:p>
          <a:p>
            <a:pPr lvl="1">
              <a:lnSpc>
                <a:spcPct val="80000"/>
              </a:lnSpc>
            </a:pPr>
            <a:r>
              <a:rPr lang="en-US" altLang="en-US" sz="2400" dirty="0">
                <a:latin typeface="Calibri" panose="020F0502020204030204" pitchFamily="34" charset="0"/>
              </a:rPr>
              <a:t>?</a:t>
            </a:r>
          </a:p>
        </p:txBody>
      </p:sp>
      <p:sp>
        <p:nvSpPr>
          <p:cNvPr id="21506" name="Slide Number Placeholder 6"/>
          <p:cNvSpPr>
            <a:spLocks noGrp="1"/>
          </p:cNvSpPr>
          <p:nvPr>
            <p:ph type="sldNum" sz="quarter" idx="11"/>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E8C5C6F-5D20-4E73-9BBE-1E3584327167}" type="slidenum">
              <a:rPr lang="en-US" altLang="en-US" smtClean="0">
                <a:solidFill>
                  <a:srgbClr val="000000"/>
                </a:solidFill>
              </a:rPr>
              <a:pPr eaLnBrk="1" hangingPunct="1"/>
              <a:t>9</a:t>
            </a:fld>
            <a:endParaRPr lang="en-US" altLang="en-US">
              <a:solidFill>
                <a:srgbClr val="000000"/>
              </a:solidFill>
            </a:endParaRPr>
          </a:p>
        </p:txBody>
      </p:sp>
      <p:sp>
        <p:nvSpPr>
          <p:cNvPr id="21509" name="Text Box 4"/>
          <p:cNvSpPr txBox="1">
            <a:spLocks noChangeArrowheads="1"/>
          </p:cNvSpPr>
          <p:nvPr/>
        </p:nvSpPr>
        <p:spPr bwMode="auto">
          <a:xfrm>
            <a:off x="5410200" y="1143000"/>
            <a:ext cx="3292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endParaRPr>
          </a:p>
        </p:txBody>
      </p:sp>
      <p:sp>
        <p:nvSpPr>
          <p:cNvPr id="21510" name="Text Box 5"/>
          <p:cNvSpPr txBox="1">
            <a:spLocks noChangeArrowheads="1"/>
          </p:cNvSpPr>
          <p:nvPr/>
        </p:nvSpPr>
        <p:spPr bwMode="auto">
          <a:xfrm>
            <a:off x="304800" y="685800"/>
            <a:ext cx="4648200" cy="132343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u="sng" dirty="0">
                <a:solidFill>
                  <a:srgbClr val="000000"/>
                </a:solidFill>
                <a:latin typeface="Calibri" panose="020F0502020204030204" pitchFamily="34" charset="0"/>
              </a:rPr>
              <a:t>Early 1900s: Physics</a:t>
            </a:r>
          </a:p>
          <a:p>
            <a:pPr eaLnBrk="1" fontAlgn="base" hangingPunct="1">
              <a:spcBef>
                <a:spcPct val="0"/>
              </a:spcBef>
              <a:spcAft>
                <a:spcPct val="0"/>
              </a:spcAft>
              <a:buFontTx/>
              <a:buChar char="-"/>
            </a:pPr>
            <a:r>
              <a:rPr lang="en-US" altLang="en-US" sz="2000" dirty="0">
                <a:solidFill>
                  <a:srgbClr val="000000"/>
                </a:solidFill>
                <a:latin typeface="Calibri" panose="020F0502020204030204" pitchFamily="34" charset="0"/>
              </a:rPr>
              <a:t>Small gaseous atoms/molecules, isotopes</a:t>
            </a:r>
          </a:p>
          <a:p>
            <a:pPr eaLnBrk="1" fontAlgn="base" hangingPunct="1">
              <a:spcBef>
                <a:spcPct val="0"/>
              </a:spcBef>
              <a:spcAft>
                <a:spcPct val="0"/>
              </a:spcAft>
              <a:buFontTx/>
              <a:buChar char="-"/>
            </a:pPr>
            <a:r>
              <a:rPr lang="en-US" altLang="en-US" sz="2000" dirty="0">
                <a:solidFill>
                  <a:srgbClr val="000000"/>
                </a:solidFill>
                <a:latin typeface="Calibri" panose="020F0502020204030204" pitchFamily="34" charset="0"/>
              </a:rPr>
              <a:t>Simple, limited instruments (B, E fields) </a:t>
            </a:r>
          </a:p>
          <a:p>
            <a:pPr eaLnBrk="1" fontAlgn="base" hangingPunct="1">
              <a:spcBef>
                <a:spcPct val="0"/>
              </a:spcBef>
              <a:spcAft>
                <a:spcPct val="0"/>
              </a:spcAft>
              <a:buFontTx/>
              <a:buChar char="-"/>
            </a:pPr>
            <a:r>
              <a:rPr lang="en-US" altLang="en-US" sz="2000" dirty="0">
                <a:solidFill>
                  <a:srgbClr val="000000"/>
                </a:solidFill>
                <a:latin typeface="Calibri" panose="020F0502020204030204" pitchFamily="34" charset="0"/>
              </a:rPr>
              <a:t>J.J. Thompson, F.W. Aston</a:t>
            </a:r>
          </a:p>
        </p:txBody>
      </p:sp>
      <p:sp>
        <p:nvSpPr>
          <p:cNvPr id="148486" name="Text Box 6"/>
          <p:cNvSpPr txBox="1">
            <a:spLocks noChangeArrowheads="1"/>
          </p:cNvSpPr>
          <p:nvPr/>
        </p:nvSpPr>
        <p:spPr bwMode="auto">
          <a:xfrm>
            <a:off x="304800" y="4511675"/>
            <a:ext cx="4648200" cy="19389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u="sng" dirty="0">
                <a:solidFill>
                  <a:srgbClr val="000000"/>
                </a:solidFill>
                <a:latin typeface="Calibri" panose="020F0502020204030204" pitchFamily="34" charset="0"/>
              </a:rPr>
              <a:t>1970s – present: Biology</a:t>
            </a:r>
          </a:p>
          <a:p>
            <a:pPr eaLnBrk="1" fontAlgn="base" hangingPunct="1">
              <a:spcBef>
                <a:spcPct val="0"/>
              </a:spcBef>
              <a:spcAft>
                <a:spcPct val="0"/>
              </a:spcAft>
            </a:pPr>
            <a:r>
              <a:rPr lang="en-US" altLang="en-US" sz="2000" dirty="0">
                <a:solidFill>
                  <a:srgbClr val="000000"/>
                </a:solidFill>
                <a:latin typeface="Calibri" panose="020F0502020204030204" pitchFamily="34" charset="0"/>
              </a:rPr>
              <a:t>-Non-volatile, macro-molecules</a:t>
            </a:r>
          </a:p>
          <a:p>
            <a:pPr eaLnBrk="1" fontAlgn="base" hangingPunct="1">
              <a:spcBef>
                <a:spcPct val="0"/>
              </a:spcBef>
              <a:spcAft>
                <a:spcPct val="0"/>
              </a:spcAft>
            </a:pPr>
            <a:r>
              <a:rPr lang="en-US" altLang="en-US" sz="2000" dirty="0">
                <a:solidFill>
                  <a:srgbClr val="000000"/>
                </a:solidFill>
                <a:latin typeface="Calibri" panose="020F0502020204030204" pitchFamily="34" charset="0"/>
              </a:rPr>
              <a:t>-Peptide sequencing (</a:t>
            </a:r>
            <a:r>
              <a:rPr lang="en-US" altLang="en-US" sz="2000" dirty="0" err="1">
                <a:solidFill>
                  <a:srgbClr val="000000"/>
                </a:solidFill>
                <a:latin typeface="Calibri" panose="020F0502020204030204" pitchFamily="34" charset="0"/>
              </a:rPr>
              <a:t>Biemann</a:t>
            </a:r>
            <a:r>
              <a:rPr lang="en-US" altLang="en-US" sz="2000" dirty="0">
                <a:solidFill>
                  <a:srgbClr val="000000"/>
                </a:solidFill>
                <a:latin typeface="Calibri" panose="020F0502020204030204" pitchFamily="34" charset="0"/>
              </a:rPr>
              <a:t>)</a:t>
            </a:r>
          </a:p>
          <a:p>
            <a:pPr eaLnBrk="1" fontAlgn="base" hangingPunct="1">
              <a:spcBef>
                <a:spcPct val="0"/>
              </a:spcBef>
              <a:spcAft>
                <a:spcPct val="0"/>
              </a:spcAft>
            </a:pPr>
            <a:r>
              <a:rPr lang="en-US" altLang="en-US" sz="2000" dirty="0">
                <a:solidFill>
                  <a:srgbClr val="000000"/>
                </a:solidFill>
                <a:latin typeface="Calibri" panose="020F0502020204030204" pitchFamily="34" charset="0"/>
              </a:rPr>
              <a:t>-Even more (overly) complex instruments</a:t>
            </a:r>
          </a:p>
          <a:p>
            <a:pPr eaLnBrk="1" fontAlgn="base" hangingPunct="1">
              <a:spcBef>
                <a:spcPct val="0"/>
              </a:spcBef>
              <a:spcAft>
                <a:spcPct val="0"/>
              </a:spcAft>
            </a:pPr>
            <a:r>
              <a:rPr lang="en-US" altLang="en-US" sz="2000" dirty="0">
                <a:solidFill>
                  <a:srgbClr val="000000"/>
                </a:solidFill>
                <a:latin typeface="Calibri" panose="020F0502020204030204" pitchFamily="34" charset="0"/>
              </a:rPr>
              <a:t>-Bench-top (simpler?) instruments</a:t>
            </a:r>
          </a:p>
          <a:p>
            <a:pPr eaLnBrk="1" fontAlgn="base" hangingPunct="1">
              <a:spcBef>
                <a:spcPct val="0"/>
              </a:spcBef>
              <a:spcAft>
                <a:spcPct val="0"/>
              </a:spcAft>
            </a:pPr>
            <a:r>
              <a:rPr lang="en-US" altLang="en-US" sz="2000" dirty="0">
                <a:solidFill>
                  <a:srgbClr val="000000"/>
                </a:solidFill>
                <a:latin typeface="Calibri" panose="020F0502020204030204" pitchFamily="34" charset="0"/>
              </a:rPr>
              <a:t>-LC/MS, MALDI, ESI</a:t>
            </a:r>
          </a:p>
        </p:txBody>
      </p:sp>
      <p:sp>
        <p:nvSpPr>
          <p:cNvPr id="148487" name="Text Box 7"/>
          <p:cNvSpPr txBox="1">
            <a:spLocks noChangeArrowheads="1"/>
          </p:cNvSpPr>
          <p:nvPr/>
        </p:nvSpPr>
        <p:spPr bwMode="auto">
          <a:xfrm>
            <a:off x="304800" y="2438400"/>
            <a:ext cx="4648200" cy="163121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u="sng">
                <a:solidFill>
                  <a:srgbClr val="000000"/>
                </a:solidFill>
                <a:latin typeface="Calibri" panose="020F0502020204030204" pitchFamily="34" charset="0"/>
              </a:rPr>
              <a:t>1940s-1970s: Chemistry</a:t>
            </a:r>
          </a:p>
          <a:p>
            <a:pPr eaLnBrk="1" fontAlgn="base" hangingPunct="1">
              <a:spcBef>
                <a:spcPct val="0"/>
              </a:spcBef>
              <a:spcAft>
                <a:spcPct val="0"/>
              </a:spcAft>
            </a:pPr>
            <a:r>
              <a:rPr lang="en-US" altLang="en-US" sz="2000">
                <a:solidFill>
                  <a:srgbClr val="000000"/>
                </a:solidFill>
                <a:latin typeface="Calibri" panose="020F0502020204030204" pitchFamily="34" charset="0"/>
              </a:rPr>
              <a:t>-Larger gases/volatile molecules, surfaces</a:t>
            </a:r>
          </a:p>
          <a:p>
            <a:pPr eaLnBrk="1" fontAlgn="base" hangingPunct="1">
              <a:spcBef>
                <a:spcPct val="0"/>
              </a:spcBef>
              <a:spcAft>
                <a:spcPct val="0"/>
              </a:spcAft>
            </a:pPr>
            <a:r>
              <a:rPr lang="en-US" altLang="en-US" sz="2000">
                <a:solidFill>
                  <a:srgbClr val="000000"/>
                </a:solidFill>
                <a:latin typeface="Calibri" panose="020F0502020204030204" pitchFamily="34" charset="0"/>
              </a:rPr>
              <a:t>-More complex instruments</a:t>
            </a:r>
          </a:p>
          <a:p>
            <a:pPr eaLnBrk="1" fontAlgn="base" hangingPunct="1">
              <a:spcBef>
                <a:spcPct val="0"/>
              </a:spcBef>
              <a:spcAft>
                <a:spcPct val="0"/>
              </a:spcAft>
            </a:pPr>
            <a:r>
              <a:rPr lang="en-US" altLang="en-US" sz="2000">
                <a:solidFill>
                  <a:srgbClr val="000000"/>
                </a:solidFill>
                <a:latin typeface="Calibri" panose="020F0502020204030204" pitchFamily="34" charset="0"/>
              </a:rPr>
              <a:t>-GC/MS, MS/MS</a:t>
            </a:r>
          </a:p>
          <a:p>
            <a:pPr eaLnBrk="1" fontAlgn="base" hangingPunct="1">
              <a:spcBef>
                <a:spcPct val="0"/>
              </a:spcBef>
              <a:spcAft>
                <a:spcPct val="0"/>
              </a:spcAft>
            </a:pPr>
            <a:r>
              <a:rPr lang="en-US" altLang="en-US" sz="2000">
                <a:solidFill>
                  <a:srgbClr val="000000"/>
                </a:solidFill>
                <a:latin typeface="Calibri" panose="020F0502020204030204" pitchFamily="34" charset="0"/>
              </a:rPr>
              <a:t>-Environmental &amp; Petroleum (McLafferty)</a:t>
            </a:r>
          </a:p>
        </p:txBody>
      </p:sp>
      <p:sp>
        <p:nvSpPr>
          <p:cNvPr id="148497" name="AutoShape 17"/>
          <p:cNvSpPr>
            <a:spLocks noChangeArrowheads="1"/>
          </p:cNvSpPr>
          <p:nvPr/>
        </p:nvSpPr>
        <p:spPr bwMode="auto">
          <a:xfrm>
            <a:off x="2133600" y="1997075"/>
            <a:ext cx="457200" cy="457200"/>
          </a:xfrm>
          <a:prstGeom prst="downArrow">
            <a:avLst>
              <a:gd name="adj1" fmla="val 50000"/>
              <a:gd name="adj2" fmla="val 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endParaRPr lang="en-US" altLang="en-US" sz="2000">
              <a:solidFill>
                <a:srgbClr val="000000"/>
              </a:solidFill>
              <a:latin typeface="Calibri" panose="020F0502020204030204" pitchFamily="34" charset="0"/>
            </a:endParaRPr>
          </a:p>
        </p:txBody>
      </p:sp>
      <p:sp>
        <p:nvSpPr>
          <p:cNvPr id="148498" name="AutoShape 18"/>
          <p:cNvSpPr>
            <a:spLocks noChangeArrowheads="1"/>
          </p:cNvSpPr>
          <p:nvPr/>
        </p:nvSpPr>
        <p:spPr bwMode="auto">
          <a:xfrm>
            <a:off x="2133600" y="4038600"/>
            <a:ext cx="457200" cy="457200"/>
          </a:xfrm>
          <a:prstGeom prst="downArrow">
            <a:avLst>
              <a:gd name="adj1" fmla="val 50000"/>
              <a:gd name="adj2" fmla="val 25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endParaRPr lang="en-US" altLang="en-US" sz="2000">
              <a:solidFill>
                <a:srgbClr val="000000"/>
              </a:solidFill>
              <a:latin typeface="Calibri" panose="020F0502020204030204" pitchFamily="34" charset="0"/>
            </a:endParaRPr>
          </a:p>
        </p:txBody>
      </p:sp>
      <p:sp>
        <p:nvSpPr>
          <p:cNvPr id="2" name="Footer Placeholder 1"/>
          <p:cNvSpPr>
            <a:spLocks noGrp="1"/>
          </p:cNvSpPr>
          <p:nvPr>
            <p:ph type="ftr" sz="quarter" idx="10"/>
          </p:nvPr>
        </p:nvSpPr>
        <p:spPr>
          <a:xfrm>
            <a:off x="3200400" y="6381750"/>
            <a:ext cx="2895600" cy="476250"/>
          </a:xfrm>
        </p:spPr>
        <p:txBody>
          <a:bodyPr/>
          <a:lstStyle/>
          <a:p>
            <a:pPr fontAlgn="base">
              <a:spcBef>
                <a:spcPct val="0"/>
              </a:spcBef>
              <a:spcAft>
                <a:spcPct val="0"/>
              </a:spcAft>
              <a:defRPr/>
            </a:pPr>
            <a:r>
              <a:rPr lang="en-US" dirty="0">
                <a:solidFill>
                  <a:srgbClr val="000000"/>
                </a:solidFill>
              </a:rPr>
              <a:t>Hsu group meeting</a:t>
            </a:r>
          </a:p>
        </p:txBody>
      </p:sp>
      <p:sp>
        <p:nvSpPr>
          <p:cNvPr id="12" name="Date Placeholder 1"/>
          <p:cNvSpPr txBox="1">
            <a:spLocks/>
          </p:cNvSpPr>
          <p:nvPr/>
        </p:nvSpPr>
        <p:spPr>
          <a:xfrm>
            <a:off x="628650" y="6492875"/>
            <a:ext cx="2057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1/19/2015</a:t>
            </a:r>
            <a:endParaRPr lang="en-US" dirty="0"/>
          </a:p>
        </p:txBody>
      </p:sp>
    </p:spTree>
    <p:extLst>
      <p:ext uri="{BB962C8B-B14F-4D97-AF65-F5344CB8AC3E}">
        <p14:creationId xmlns:p14="http://schemas.microsoft.com/office/powerpoint/2010/main" val="2017964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8487"/>
                                        </p:tgtEl>
                                        <p:attrNameLst>
                                          <p:attrName>style.visibility</p:attrName>
                                        </p:attrNameLst>
                                      </p:cBhvr>
                                      <p:to>
                                        <p:strVal val="visible"/>
                                      </p:to>
                                    </p:set>
                                    <p:anim calcmode="lin" valueType="num">
                                      <p:cBhvr additive="base">
                                        <p:cTn id="7" dur="500" fill="hold"/>
                                        <p:tgtEl>
                                          <p:spTgt spid="148487"/>
                                        </p:tgtEl>
                                        <p:attrNameLst>
                                          <p:attrName>ppt_x</p:attrName>
                                        </p:attrNameLst>
                                      </p:cBhvr>
                                      <p:tavLst>
                                        <p:tav tm="0">
                                          <p:val>
                                            <p:strVal val="0-#ppt_w/2"/>
                                          </p:val>
                                        </p:tav>
                                        <p:tav tm="100000">
                                          <p:val>
                                            <p:strVal val="#ppt_x"/>
                                          </p:val>
                                        </p:tav>
                                      </p:tavLst>
                                    </p:anim>
                                    <p:anim calcmode="lin" valueType="num">
                                      <p:cBhvr additive="base">
                                        <p:cTn id="8" dur="500" fill="hold"/>
                                        <p:tgtEl>
                                          <p:spTgt spid="14848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48497"/>
                                        </p:tgtEl>
                                        <p:attrNameLst>
                                          <p:attrName>style.visibility</p:attrName>
                                        </p:attrNameLst>
                                      </p:cBhvr>
                                      <p:to>
                                        <p:strVal val="visible"/>
                                      </p:to>
                                    </p:set>
                                    <p:anim calcmode="lin" valueType="num">
                                      <p:cBhvr additive="base">
                                        <p:cTn id="11" dur="500" fill="hold"/>
                                        <p:tgtEl>
                                          <p:spTgt spid="148497"/>
                                        </p:tgtEl>
                                        <p:attrNameLst>
                                          <p:attrName>ppt_x</p:attrName>
                                        </p:attrNameLst>
                                      </p:cBhvr>
                                      <p:tavLst>
                                        <p:tav tm="0">
                                          <p:val>
                                            <p:strVal val="0-#ppt_w/2"/>
                                          </p:val>
                                        </p:tav>
                                        <p:tav tm="100000">
                                          <p:val>
                                            <p:strVal val="#ppt_x"/>
                                          </p:val>
                                        </p:tav>
                                      </p:tavLst>
                                    </p:anim>
                                    <p:anim calcmode="lin" valueType="num">
                                      <p:cBhvr additive="base">
                                        <p:cTn id="12" dur="500" fill="hold"/>
                                        <p:tgtEl>
                                          <p:spTgt spid="148497"/>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48486"/>
                                        </p:tgtEl>
                                        <p:attrNameLst>
                                          <p:attrName>style.visibility</p:attrName>
                                        </p:attrNameLst>
                                      </p:cBhvr>
                                      <p:to>
                                        <p:strVal val="visible"/>
                                      </p:to>
                                    </p:set>
                                    <p:anim calcmode="lin" valueType="num">
                                      <p:cBhvr additive="base">
                                        <p:cTn id="17" dur="500" fill="hold"/>
                                        <p:tgtEl>
                                          <p:spTgt spid="148486"/>
                                        </p:tgtEl>
                                        <p:attrNameLst>
                                          <p:attrName>ppt_x</p:attrName>
                                        </p:attrNameLst>
                                      </p:cBhvr>
                                      <p:tavLst>
                                        <p:tav tm="0">
                                          <p:val>
                                            <p:strVal val="#ppt_x"/>
                                          </p:val>
                                        </p:tav>
                                        <p:tav tm="100000">
                                          <p:val>
                                            <p:strVal val="#ppt_x"/>
                                          </p:val>
                                        </p:tav>
                                      </p:tavLst>
                                    </p:anim>
                                    <p:anim calcmode="lin" valueType="num">
                                      <p:cBhvr additive="base">
                                        <p:cTn id="18" dur="500" fill="hold"/>
                                        <p:tgtEl>
                                          <p:spTgt spid="14848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48498"/>
                                        </p:tgtEl>
                                        <p:attrNameLst>
                                          <p:attrName>style.visibility</p:attrName>
                                        </p:attrNameLst>
                                      </p:cBhvr>
                                      <p:to>
                                        <p:strVal val="visible"/>
                                      </p:to>
                                    </p:set>
                                    <p:anim calcmode="lin" valueType="num">
                                      <p:cBhvr additive="base">
                                        <p:cTn id="21" dur="500" fill="hold"/>
                                        <p:tgtEl>
                                          <p:spTgt spid="148498"/>
                                        </p:tgtEl>
                                        <p:attrNameLst>
                                          <p:attrName>ppt_x</p:attrName>
                                        </p:attrNameLst>
                                      </p:cBhvr>
                                      <p:tavLst>
                                        <p:tav tm="0">
                                          <p:val>
                                            <p:strVal val="#ppt_x"/>
                                          </p:val>
                                        </p:tav>
                                        <p:tav tm="100000">
                                          <p:val>
                                            <p:strVal val="#ppt_x"/>
                                          </p:val>
                                        </p:tav>
                                      </p:tavLst>
                                    </p:anim>
                                    <p:anim calcmode="lin" valueType="num">
                                      <p:cBhvr additive="base">
                                        <p:cTn id="22" dur="500" fill="hold"/>
                                        <p:tgtEl>
                                          <p:spTgt spid="148498"/>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148483"/>
                                        </p:tgtEl>
                                        <p:attrNameLst>
                                          <p:attrName>style.visibility</p:attrName>
                                        </p:attrNameLst>
                                      </p:cBhvr>
                                      <p:to>
                                        <p:strVal val="visible"/>
                                      </p:to>
                                    </p:set>
                                    <p:anim calcmode="lin" valueType="num">
                                      <p:cBhvr additive="base">
                                        <p:cTn id="27" dur="500" fill="hold"/>
                                        <p:tgtEl>
                                          <p:spTgt spid="148483"/>
                                        </p:tgtEl>
                                        <p:attrNameLst>
                                          <p:attrName>ppt_x</p:attrName>
                                        </p:attrNameLst>
                                      </p:cBhvr>
                                      <p:tavLst>
                                        <p:tav tm="0">
                                          <p:val>
                                            <p:strVal val="1+#ppt_w/2"/>
                                          </p:val>
                                        </p:tav>
                                        <p:tav tm="100000">
                                          <p:val>
                                            <p:strVal val="#ppt_x"/>
                                          </p:val>
                                        </p:tav>
                                      </p:tavLst>
                                    </p:anim>
                                    <p:anim calcmode="lin" valueType="num">
                                      <p:cBhvr additive="base">
                                        <p:cTn id="28" dur="500" fill="hold"/>
                                        <p:tgtEl>
                                          <p:spTgt spid="14848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3" grpId="0"/>
      <p:bldP spid="148486" grpId="0" animBg="1"/>
      <p:bldP spid="148487" grpId="0" animBg="1"/>
      <p:bldP spid="148497" grpId="0" animBg="1"/>
      <p:bldP spid="14849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
          <p:cNvSpPr>
            <a:spLocks noGrp="1"/>
          </p:cNvSpPr>
          <p:nvPr>
            <p:ph type="title"/>
          </p:nvPr>
        </p:nvSpPr>
        <p:spPr bwMode="auto">
          <a:xfrm>
            <a:off x="457200" y="304800"/>
            <a:ext cx="8229600" cy="121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z="3600" dirty="0">
                <a:latin typeface="Calibri" panose="020F0502020204030204" pitchFamily="34" charset="0"/>
              </a:rPr>
              <a:t>Proteins</a:t>
            </a:r>
            <a:br>
              <a:rPr lang="en-US" altLang="en-US" sz="3600" dirty="0">
                <a:latin typeface="Calibri" panose="020F0502020204030204" pitchFamily="34" charset="0"/>
              </a:rPr>
            </a:br>
            <a:r>
              <a:rPr lang="en-US" altLang="en-US" sz="3600" dirty="0">
                <a:latin typeface="Calibri" panose="020F0502020204030204" pitchFamily="34" charset="0"/>
              </a:rPr>
              <a:t>Structure, Function, Analysis</a:t>
            </a:r>
            <a:br>
              <a:rPr lang="en-US" altLang="en-US" sz="3200" dirty="0">
                <a:latin typeface="Calibri" panose="020F0502020204030204" pitchFamily="34" charset="0"/>
              </a:rPr>
            </a:br>
            <a:br>
              <a:rPr lang="en-US" altLang="en-US" sz="3200" dirty="0">
                <a:latin typeface="Calibri" panose="020F0502020204030204" pitchFamily="34" charset="0"/>
              </a:rPr>
            </a:br>
            <a:br>
              <a:rPr lang="en-US" altLang="en-US" sz="3200" dirty="0">
                <a:latin typeface="Calibri" panose="020F0502020204030204" pitchFamily="34" charset="0"/>
              </a:rPr>
            </a:br>
            <a:endParaRPr lang="en-US" altLang="en-US" sz="4000" dirty="0">
              <a:latin typeface="Calibri" panose="020F0502020204030204" pitchFamily="34" charset="0"/>
            </a:endParaRPr>
          </a:p>
        </p:txBody>
      </p:sp>
      <p:sp>
        <p:nvSpPr>
          <p:cNvPr id="22531" name="Slide Number Placeholder 4"/>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EA13A8E-CEF2-4210-AB7F-6183A981671A}" type="slidenum">
              <a:rPr lang="en-US" altLang="en-US" smtClean="0">
                <a:solidFill>
                  <a:srgbClr val="000000"/>
                </a:solidFill>
                <a:latin typeface="Calibri" panose="020F0502020204030204" pitchFamily="34" charset="0"/>
              </a:rPr>
              <a:pPr eaLnBrk="1" hangingPunct="1"/>
              <a:t>10</a:t>
            </a:fld>
            <a:endParaRPr lang="en-US" altLang="en-US">
              <a:solidFill>
                <a:srgbClr val="000000"/>
              </a:solidFill>
              <a:latin typeface="Calibri" panose="020F0502020204030204" pitchFamily="34" charset="0"/>
            </a:endParaRPr>
          </a:p>
        </p:txBody>
      </p:sp>
      <p:sp>
        <p:nvSpPr>
          <p:cNvPr id="22532" name="TextBox 6"/>
          <p:cNvSpPr txBox="1">
            <a:spLocks noChangeArrowheads="1"/>
          </p:cNvSpPr>
          <p:nvPr/>
        </p:nvSpPr>
        <p:spPr bwMode="auto">
          <a:xfrm>
            <a:off x="490325" y="1616792"/>
            <a:ext cx="8196475"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[French </a:t>
            </a:r>
            <a:r>
              <a:rPr lang="en-US" altLang="en-US" sz="2400" dirty="0" err="1">
                <a:solidFill>
                  <a:srgbClr val="000000"/>
                </a:solidFill>
                <a:latin typeface="Calibri" panose="020F0502020204030204" pitchFamily="34" charset="0"/>
              </a:rPr>
              <a:t>protéine</a:t>
            </a:r>
            <a:r>
              <a:rPr lang="en-US" altLang="en-US" sz="2400" dirty="0">
                <a:solidFill>
                  <a:srgbClr val="000000"/>
                </a:solidFill>
                <a:latin typeface="Calibri" panose="020F0502020204030204" pitchFamily="34" charset="0"/>
              </a:rPr>
              <a:t>; Late Greek </a:t>
            </a:r>
            <a:r>
              <a:rPr lang="en-US" altLang="en-US" sz="2400" dirty="0" err="1">
                <a:solidFill>
                  <a:srgbClr val="000000"/>
                </a:solidFill>
                <a:latin typeface="Calibri" panose="020F0502020204030204" pitchFamily="34" charset="0"/>
              </a:rPr>
              <a:t>prōteios</a:t>
            </a:r>
            <a:r>
              <a:rPr lang="en-US" altLang="en-US" sz="2400" dirty="0">
                <a:solidFill>
                  <a:srgbClr val="000000"/>
                </a:solidFill>
                <a:latin typeface="Calibri" panose="020F0502020204030204" pitchFamily="34" charset="0"/>
              </a:rPr>
              <a:t>, </a:t>
            </a:r>
            <a:r>
              <a:rPr lang="en-US" altLang="en-US" sz="2400" i="1" dirty="0">
                <a:solidFill>
                  <a:srgbClr val="000000"/>
                </a:solidFill>
                <a:latin typeface="Calibri" panose="020F0502020204030204" pitchFamily="34" charset="0"/>
              </a:rPr>
              <a:t>of the first quality</a:t>
            </a:r>
            <a:r>
              <a:rPr lang="en-US" altLang="en-US" sz="2400" dirty="0">
                <a:solidFill>
                  <a:srgbClr val="000000"/>
                </a:solidFill>
                <a:latin typeface="Calibri" panose="020F0502020204030204" pitchFamily="34" charset="0"/>
              </a:rPr>
              <a:t>; </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Greek </a:t>
            </a:r>
            <a:r>
              <a:rPr lang="en-US" altLang="en-US" sz="2400" dirty="0" err="1">
                <a:solidFill>
                  <a:srgbClr val="000000"/>
                </a:solidFill>
                <a:latin typeface="Calibri" panose="020F0502020204030204" pitchFamily="34" charset="0"/>
              </a:rPr>
              <a:t>prōtos</a:t>
            </a:r>
            <a:r>
              <a:rPr lang="en-US" altLang="en-US" sz="2400" dirty="0">
                <a:solidFill>
                  <a:srgbClr val="000000"/>
                </a:solidFill>
                <a:latin typeface="Calibri" panose="020F0502020204030204" pitchFamily="34" charset="0"/>
              </a:rPr>
              <a:t>, </a:t>
            </a:r>
            <a:r>
              <a:rPr lang="en-US" altLang="en-US" sz="2400" i="1" dirty="0">
                <a:solidFill>
                  <a:srgbClr val="000000"/>
                </a:solidFill>
                <a:latin typeface="Calibri" panose="020F0502020204030204" pitchFamily="34" charset="0"/>
              </a:rPr>
              <a:t>first</a:t>
            </a:r>
            <a:r>
              <a:rPr lang="en-US" altLang="en-US" sz="2400" dirty="0">
                <a:solidFill>
                  <a:srgbClr val="000000"/>
                </a:solidFill>
                <a:latin typeface="Calibri" panose="020F0502020204030204" pitchFamily="34" charset="0"/>
              </a:rPr>
              <a:t>; ]</a:t>
            </a:r>
          </a:p>
          <a:p>
            <a:pPr eaLnBrk="1" fontAlgn="base" hangingPunct="1">
              <a:spcBef>
                <a:spcPct val="0"/>
              </a:spcBef>
              <a:spcAft>
                <a:spcPct val="0"/>
              </a:spcAft>
            </a:pPr>
            <a:endParaRPr lang="en-US" altLang="en-US" sz="2400" dirty="0">
              <a:solidFill>
                <a:srgbClr val="000000"/>
              </a:solidFill>
              <a:latin typeface="Calibri" panose="020F0502020204030204" pitchFamily="34" charset="0"/>
            </a:endParaRPr>
          </a:p>
          <a:p>
            <a:pPr eaLnBrk="1" fontAlgn="base" hangingPunct="1">
              <a:spcBef>
                <a:spcPct val="0"/>
              </a:spcBef>
              <a:spcAft>
                <a:spcPct val="0"/>
              </a:spcAft>
            </a:pPr>
            <a:r>
              <a:rPr lang="en-US" altLang="en-US" sz="2400" dirty="0">
                <a:solidFill>
                  <a:srgbClr val="000000"/>
                </a:solidFill>
                <a:latin typeface="Calibri" panose="020F0502020204030204" pitchFamily="34" charset="0"/>
              </a:rPr>
              <a:t>Any of a group of complex organic macromolecules that contain </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carbon, hydrogen, oxygen, nitrogen, and usually sulfur and are </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Composed of one or more chains of amino acids. </a:t>
            </a:r>
          </a:p>
          <a:p>
            <a:pPr eaLnBrk="1" fontAlgn="base" hangingPunct="1">
              <a:spcBef>
                <a:spcPct val="0"/>
              </a:spcBef>
              <a:spcAft>
                <a:spcPct val="0"/>
              </a:spcAft>
            </a:pPr>
            <a:endParaRPr lang="en-US" altLang="en-US" sz="2400" dirty="0">
              <a:solidFill>
                <a:srgbClr val="000000"/>
              </a:solidFill>
              <a:latin typeface="Calibri" panose="020F0502020204030204" pitchFamily="34" charset="0"/>
            </a:endParaRPr>
          </a:p>
          <a:p>
            <a:pPr eaLnBrk="1" fontAlgn="base" hangingPunct="1">
              <a:spcBef>
                <a:spcPct val="0"/>
              </a:spcBef>
              <a:spcAft>
                <a:spcPct val="0"/>
              </a:spcAft>
            </a:pPr>
            <a:r>
              <a:rPr lang="en-US" altLang="en-US" sz="2400" dirty="0">
                <a:solidFill>
                  <a:srgbClr val="000000"/>
                </a:solidFill>
                <a:latin typeface="Calibri" panose="020F0502020204030204" pitchFamily="34" charset="0"/>
              </a:rPr>
              <a:t>Proteins are fundamental components of all living cells and </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include many substances, such as enzymes, hormones, and </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antibodies, that are  necessary for the proper functioning </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of an organism.</a:t>
            </a:r>
          </a:p>
          <a:p>
            <a:pPr eaLnBrk="1" fontAlgn="base" hangingPunct="1">
              <a:spcBef>
                <a:spcPct val="0"/>
              </a:spcBef>
              <a:spcAft>
                <a:spcPct val="0"/>
              </a:spcAft>
            </a:pPr>
            <a:endParaRPr lang="en-US" altLang="en-US" sz="2400" dirty="0">
              <a:solidFill>
                <a:srgbClr val="000000"/>
              </a:solidFill>
              <a:latin typeface="Calibri" panose="020F0502020204030204" pitchFamily="34" charset="0"/>
            </a:endParaRPr>
          </a:p>
          <a:p>
            <a:pPr eaLnBrk="1" fontAlgn="base" hangingPunct="1">
              <a:spcBef>
                <a:spcPct val="0"/>
              </a:spcBef>
              <a:spcAft>
                <a:spcPct val="0"/>
              </a:spcAft>
            </a:pPr>
            <a:r>
              <a:rPr lang="en-US" altLang="en-US" sz="2400" dirty="0">
                <a:solidFill>
                  <a:srgbClr val="000000"/>
                </a:solidFill>
                <a:latin typeface="Calibri" panose="020F0502020204030204" pitchFamily="34" charset="0"/>
                <a:hlinkClick r:id="rId2"/>
              </a:rPr>
              <a:t>http://www.thefreedictionary.com/protein</a:t>
            </a:r>
            <a:endParaRPr lang="en-US" altLang="en-US" sz="2400" dirty="0">
              <a:solidFill>
                <a:srgbClr val="000000"/>
              </a:solidFill>
              <a:latin typeface="Calibri" panose="020F0502020204030204" pitchFamily="34" charset="0"/>
            </a:endParaRPr>
          </a:p>
          <a:p>
            <a:pPr eaLnBrk="1" fontAlgn="base" hangingPunct="1">
              <a:spcBef>
                <a:spcPct val="0"/>
              </a:spcBef>
              <a:spcAft>
                <a:spcPct val="0"/>
              </a:spcAft>
            </a:pPr>
            <a:endParaRPr lang="en-US" altLang="en-US" sz="2400" dirty="0">
              <a:solidFill>
                <a:srgbClr val="000000"/>
              </a:solidFill>
              <a:latin typeface="Calibri" panose="020F0502020204030204" pitchFamily="34" charset="0"/>
            </a:endParaRPr>
          </a:p>
        </p:txBody>
      </p:sp>
      <p:sp>
        <p:nvSpPr>
          <p:cNvPr id="2" name="Date Placeholder 1"/>
          <p:cNvSpPr>
            <a:spLocks noGrp="1"/>
          </p:cNvSpPr>
          <p:nvPr>
            <p:ph type="dt" sz="half" idx="10"/>
          </p:nvPr>
        </p:nvSpPr>
        <p:spPr/>
        <p:txBody>
          <a:bodyPr/>
          <a:lstStyle/>
          <a:p>
            <a:r>
              <a:rPr lang="en-US"/>
              <a:t>11/2/2015</a:t>
            </a:r>
            <a:endParaRPr lang="en-US" dirty="0"/>
          </a:p>
        </p:txBody>
      </p:sp>
      <p:sp>
        <p:nvSpPr>
          <p:cNvPr id="3" name="Footer Placeholder 2"/>
          <p:cNvSpPr>
            <a:spLocks noGrp="1"/>
          </p:cNvSpPr>
          <p:nvPr>
            <p:ph type="ftr" sz="quarter" idx="11"/>
          </p:nvPr>
        </p:nvSpPr>
        <p:spPr/>
        <p:txBody>
          <a:bodyPr/>
          <a:lstStyle/>
          <a:p>
            <a:r>
              <a:rPr lang="en-US"/>
              <a:t>Hsu group meeting</a:t>
            </a:r>
          </a:p>
        </p:txBody>
      </p:sp>
    </p:spTree>
    <p:extLst>
      <p:ext uri="{BB962C8B-B14F-4D97-AF65-F5344CB8AC3E}">
        <p14:creationId xmlns:p14="http://schemas.microsoft.com/office/powerpoint/2010/main" val="36618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6"/>
          <p:cNvSpPr>
            <a:spLocks noGrp="1"/>
          </p:cNvSpPr>
          <p:nvPr>
            <p:ph type="title"/>
          </p:nvPr>
        </p:nvSpPr>
        <p:spPr bwMode="auto">
          <a:xfrm>
            <a:off x="457200" y="304800"/>
            <a:ext cx="8229600" cy="6397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latin typeface="Calibri" panose="020F0502020204030204" pitchFamily="34" charset="0"/>
              </a:rPr>
              <a:t>Protein Structure</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23555" name="Slide Number Placeholder 5"/>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CDFDE09-EB99-4001-97FB-0834EC14A60F}" type="slidenum">
              <a:rPr lang="en-US" altLang="en-US" smtClean="0">
                <a:solidFill>
                  <a:srgbClr val="000000"/>
                </a:solidFill>
                <a:latin typeface="Calibri" panose="020F0502020204030204" pitchFamily="34" charset="0"/>
              </a:rPr>
              <a:pPr eaLnBrk="1" hangingPunct="1"/>
              <a:t>11</a:t>
            </a:fld>
            <a:endParaRPr lang="en-US" altLang="en-US">
              <a:solidFill>
                <a:srgbClr val="000000"/>
              </a:solidFill>
              <a:latin typeface="Calibri" panose="020F0502020204030204" pitchFamily="34" charset="0"/>
            </a:endParaRPr>
          </a:p>
        </p:txBody>
      </p:sp>
      <p:pic>
        <p:nvPicPr>
          <p:cNvPr id="235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25" y="1574800"/>
            <a:ext cx="5756275" cy="4892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
        <p:nvSpPr>
          <p:cNvPr id="23557" name="TextBox 7"/>
          <p:cNvSpPr txBox="1">
            <a:spLocks noChangeArrowheads="1"/>
          </p:cNvSpPr>
          <p:nvPr/>
        </p:nvSpPr>
        <p:spPr bwMode="auto">
          <a:xfrm>
            <a:off x="5990089" y="914400"/>
            <a:ext cx="2934201" cy="15696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u="sng" dirty="0">
                <a:solidFill>
                  <a:srgbClr val="000000"/>
                </a:solidFill>
                <a:latin typeface="Calibri" panose="020F0502020204030204" pitchFamily="34" charset="0"/>
              </a:rPr>
              <a:t>Primary structure</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Amino acid chain</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(20 common,</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21 </a:t>
            </a:r>
            <a:r>
              <a:rPr lang="en-US" altLang="en-US" sz="2400" dirty="0" err="1">
                <a:solidFill>
                  <a:srgbClr val="000000"/>
                </a:solidFill>
                <a:latin typeface="Calibri" panose="020F0502020204030204" pitchFamily="34" charset="0"/>
              </a:rPr>
              <a:t>proteinogenic</a:t>
            </a:r>
            <a:r>
              <a:rPr lang="en-US" altLang="en-US" sz="2400" dirty="0">
                <a:solidFill>
                  <a:srgbClr val="000000"/>
                </a:solidFill>
                <a:latin typeface="Calibri" panose="020F0502020204030204" pitchFamily="34" charset="0"/>
              </a:rPr>
              <a:t> AAs)</a:t>
            </a:r>
          </a:p>
        </p:txBody>
      </p:sp>
      <p:sp>
        <p:nvSpPr>
          <p:cNvPr id="23558" name="TextBox 9"/>
          <p:cNvSpPr txBox="1">
            <a:spLocks noChangeArrowheads="1"/>
          </p:cNvSpPr>
          <p:nvPr/>
        </p:nvSpPr>
        <p:spPr bwMode="auto">
          <a:xfrm>
            <a:off x="6102593" y="2562225"/>
            <a:ext cx="2766527"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u="sng" dirty="0">
                <a:solidFill>
                  <a:srgbClr val="000000"/>
                </a:solidFill>
                <a:latin typeface="Calibri" panose="020F0502020204030204" pitchFamily="34" charset="0"/>
              </a:rPr>
              <a:t>Secondary structure </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Helices, sheets</a:t>
            </a:r>
          </a:p>
        </p:txBody>
      </p:sp>
      <p:sp>
        <p:nvSpPr>
          <p:cNvPr id="23559" name="TextBox 11"/>
          <p:cNvSpPr txBox="1">
            <a:spLocks noChangeArrowheads="1"/>
          </p:cNvSpPr>
          <p:nvPr/>
        </p:nvSpPr>
        <p:spPr bwMode="auto">
          <a:xfrm>
            <a:off x="6312170" y="3690938"/>
            <a:ext cx="2347373"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u="sng" dirty="0">
                <a:solidFill>
                  <a:srgbClr val="000000"/>
                </a:solidFill>
                <a:latin typeface="Calibri" panose="020F0502020204030204" pitchFamily="34" charset="0"/>
              </a:rPr>
              <a:t>Tertiary structure</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Folded protein</a:t>
            </a:r>
          </a:p>
        </p:txBody>
      </p:sp>
      <p:sp>
        <p:nvSpPr>
          <p:cNvPr id="23560" name="TextBox 12"/>
          <p:cNvSpPr txBox="1">
            <a:spLocks noChangeArrowheads="1"/>
          </p:cNvSpPr>
          <p:nvPr/>
        </p:nvSpPr>
        <p:spPr bwMode="auto">
          <a:xfrm>
            <a:off x="6017599" y="4965700"/>
            <a:ext cx="2825389"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u="sng" dirty="0">
                <a:solidFill>
                  <a:srgbClr val="000000"/>
                </a:solidFill>
                <a:latin typeface="Calibri" panose="020F0502020204030204" pitchFamily="34" charset="0"/>
              </a:rPr>
              <a:t>Quaternary structure</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Globular protein</a:t>
            </a:r>
          </a:p>
        </p:txBody>
      </p:sp>
      <p:sp>
        <p:nvSpPr>
          <p:cNvPr id="23561" name="TextBox 8"/>
          <p:cNvSpPr txBox="1">
            <a:spLocks noChangeArrowheads="1"/>
          </p:cNvSpPr>
          <p:nvPr/>
        </p:nvSpPr>
        <p:spPr bwMode="auto">
          <a:xfrm>
            <a:off x="152400" y="1143000"/>
            <a:ext cx="54825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A-C-D-E-F-G-</a:t>
            </a:r>
            <a:r>
              <a:rPr lang="en-US" altLang="en-US" sz="2400" b="1" dirty="0">
                <a:solidFill>
                  <a:srgbClr val="000000"/>
                </a:solidFill>
                <a:latin typeface="Calibri" panose="020F0502020204030204" pitchFamily="34" charset="0"/>
              </a:rPr>
              <a:t>H</a:t>
            </a:r>
            <a:r>
              <a:rPr lang="en-US" altLang="en-US" sz="2400" dirty="0">
                <a:solidFill>
                  <a:srgbClr val="000000"/>
                </a:solidFill>
                <a:latin typeface="Calibri" panose="020F0502020204030204" pitchFamily="34" charset="0"/>
              </a:rPr>
              <a:t>-</a:t>
            </a:r>
            <a:r>
              <a:rPr lang="en-US" altLang="en-US" sz="2400" b="1" dirty="0">
                <a:solidFill>
                  <a:srgbClr val="000000"/>
                </a:solidFill>
                <a:latin typeface="Calibri" panose="020F0502020204030204" pitchFamily="34" charset="0"/>
              </a:rPr>
              <a:t>I</a:t>
            </a:r>
            <a:r>
              <a:rPr lang="en-US" altLang="en-US" sz="2400" dirty="0">
                <a:solidFill>
                  <a:srgbClr val="000000"/>
                </a:solidFill>
                <a:latin typeface="Calibri" panose="020F0502020204030204" pitchFamily="34" charset="0"/>
              </a:rPr>
              <a:t>-</a:t>
            </a:r>
            <a:r>
              <a:rPr lang="en-US" altLang="en-US" sz="2400" b="1" dirty="0">
                <a:solidFill>
                  <a:srgbClr val="000000"/>
                </a:solidFill>
                <a:latin typeface="Calibri" panose="020F0502020204030204" pitchFamily="34" charset="0"/>
              </a:rPr>
              <a:t>K</a:t>
            </a:r>
            <a:r>
              <a:rPr lang="en-US" altLang="en-US" sz="2400" dirty="0">
                <a:solidFill>
                  <a:srgbClr val="000000"/>
                </a:solidFill>
                <a:latin typeface="Calibri" panose="020F0502020204030204" pitchFamily="34" charset="0"/>
              </a:rPr>
              <a:t>-</a:t>
            </a:r>
            <a:r>
              <a:rPr lang="en-US" altLang="en-US" sz="2400" b="1" dirty="0">
                <a:solidFill>
                  <a:srgbClr val="000000"/>
                </a:solidFill>
                <a:latin typeface="Calibri" panose="020F0502020204030204" pitchFamily="34" charset="0"/>
              </a:rPr>
              <a:t>L</a:t>
            </a:r>
            <a:r>
              <a:rPr lang="en-US" altLang="en-US" sz="2400" dirty="0">
                <a:solidFill>
                  <a:srgbClr val="000000"/>
                </a:solidFill>
                <a:latin typeface="Calibri" panose="020F0502020204030204" pitchFamily="34" charset="0"/>
              </a:rPr>
              <a:t>-</a:t>
            </a:r>
            <a:r>
              <a:rPr lang="en-US" altLang="en-US" sz="2400" b="1" dirty="0">
                <a:solidFill>
                  <a:srgbClr val="000000"/>
                </a:solidFill>
                <a:latin typeface="Calibri" panose="020F0502020204030204" pitchFamily="34" charset="0"/>
              </a:rPr>
              <a:t>M</a:t>
            </a:r>
            <a:r>
              <a:rPr lang="en-US" altLang="en-US" sz="2400" dirty="0">
                <a:solidFill>
                  <a:srgbClr val="000000"/>
                </a:solidFill>
                <a:latin typeface="Calibri" panose="020F0502020204030204" pitchFamily="34" charset="0"/>
              </a:rPr>
              <a:t>-N-</a:t>
            </a:r>
            <a:r>
              <a:rPr lang="en-US" altLang="en-US" sz="2400" b="1" dirty="0">
                <a:solidFill>
                  <a:srgbClr val="000000"/>
                </a:solidFill>
                <a:latin typeface="Calibri" panose="020F0502020204030204" pitchFamily="34" charset="0"/>
              </a:rPr>
              <a:t>P</a:t>
            </a:r>
            <a:r>
              <a:rPr lang="en-US" altLang="en-US" sz="2400" dirty="0">
                <a:solidFill>
                  <a:srgbClr val="000000"/>
                </a:solidFill>
                <a:latin typeface="Calibri" panose="020F0502020204030204" pitchFamily="34" charset="0"/>
              </a:rPr>
              <a:t>-Q-R-S-</a:t>
            </a:r>
            <a:r>
              <a:rPr lang="en-US" altLang="en-US" sz="2400" b="1" dirty="0">
                <a:solidFill>
                  <a:srgbClr val="000000"/>
                </a:solidFill>
                <a:latin typeface="Calibri" panose="020F0502020204030204" pitchFamily="34" charset="0"/>
              </a:rPr>
              <a:t>T</a:t>
            </a:r>
            <a:r>
              <a:rPr lang="en-US" altLang="en-US" sz="2400" dirty="0">
                <a:solidFill>
                  <a:srgbClr val="000000"/>
                </a:solidFill>
                <a:latin typeface="Calibri" panose="020F0502020204030204" pitchFamily="34" charset="0"/>
              </a:rPr>
              <a:t>-</a:t>
            </a:r>
            <a:r>
              <a:rPr lang="en-US" altLang="en-US" sz="2400" b="1" dirty="0">
                <a:solidFill>
                  <a:srgbClr val="000000"/>
                </a:solidFill>
                <a:latin typeface="Calibri" panose="020F0502020204030204" pitchFamily="34" charset="0"/>
              </a:rPr>
              <a:t>V</a:t>
            </a:r>
            <a:r>
              <a:rPr lang="en-US" altLang="en-US" sz="2400" dirty="0">
                <a:solidFill>
                  <a:srgbClr val="000000"/>
                </a:solidFill>
                <a:latin typeface="Calibri" panose="020F0502020204030204" pitchFamily="34" charset="0"/>
              </a:rPr>
              <a:t>-</a:t>
            </a:r>
            <a:r>
              <a:rPr lang="en-US" altLang="en-US" sz="2400" b="1" dirty="0">
                <a:solidFill>
                  <a:srgbClr val="000000"/>
                </a:solidFill>
                <a:latin typeface="Calibri" panose="020F0502020204030204" pitchFamily="34" charset="0"/>
              </a:rPr>
              <a:t>W</a:t>
            </a:r>
            <a:r>
              <a:rPr lang="en-US" altLang="en-US" sz="2400" dirty="0">
                <a:solidFill>
                  <a:srgbClr val="000000"/>
                </a:solidFill>
                <a:latin typeface="Calibri" panose="020F0502020204030204" pitchFamily="34" charset="0"/>
              </a:rPr>
              <a:t>-Y</a:t>
            </a:r>
          </a:p>
        </p:txBody>
      </p:sp>
    </p:spTree>
    <p:extLst>
      <p:ext uri="{BB962C8B-B14F-4D97-AF65-F5344CB8AC3E}">
        <p14:creationId xmlns:p14="http://schemas.microsoft.com/office/powerpoint/2010/main" val="3214754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5"/>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t>Protein Function</a:t>
            </a:r>
          </a:p>
        </p:txBody>
      </p:sp>
      <p:sp>
        <p:nvSpPr>
          <p:cNvPr id="24579" name="Content Placeholder 6"/>
          <p:cNvSpPr>
            <a:spLocks noGrp="1"/>
          </p:cNvSpPr>
          <p:nvPr>
            <p:ph idx="1"/>
          </p:nvPr>
        </p:nvSpPr>
        <p:spPr>
          <a:xfrm>
            <a:off x="771525" y="1219200"/>
            <a:ext cx="7600950" cy="4191000"/>
          </a:xfrm>
        </p:spPr>
        <p:txBody>
          <a:bodyPr/>
          <a:lstStyle/>
          <a:p>
            <a:r>
              <a:rPr lang="en-US" altLang="en-US" dirty="0"/>
              <a:t>Structure – collagen, keratin, elastin</a:t>
            </a:r>
          </a:p>
          <a:p>
            <a:r>
              <a:rPr lang="en-US" altLang="en-US" dirty="0"/>
              <a:t>Metabolism – digestive enzymes</a:t>
            </a:r>
          </a:p>
          <a:p>
            <a:r>
              <a:rPr lang="en-US" altLang="en-US" dirty="0"/>
              <a:t>Defense - antibodies, cell receptors</a:t>
            </a:r>
          </a:p>
          <a:p>
            <a:r>
              <a:rPr lang="en-US" altLang="en-US" dirty="0"/>
              <a:t>Storage/Regulation – ferritin, albumin; minerals, energy, fluid/pH balance, protein turnover</a:t>
            </a:r>
          </a:p>
          <a:p>
            <a:r>
              <a:rPr lang="en-US" altLang="en-US" dirty="0"/>
              <a:t>Transport – hemoglobin/O</a:t>
            </a:r>
            <a:r>
              <a:rPr lang="en-US" altLang="en-US" baseline="-25000" dirty="0"/>
              <a:t>2</a:t>
            </a:r>
            <a:r>
              <a:rPr lang="en-US" altLang="en-US" dirty="0"/>
              <a:t>, </a:t>
            </a:r>
            <a:r>
              <a:rPr lang="en-US" altLang="en-US" dirty="0" err="1"/>
              <a:t>calbindins</a:t>
            </a:r>
            <a:r>
              <a:rPr lang="en-US" altLang="en-US" dirty="0"/>
              <a:t>/Ca</a:t>
            </a:r>
            <a:r>
              <a:rPr lang="en-US" altLang="en-US" baseline="30000" dirty="0"/>
              <a:t>+2</a:t>
            </a:r>
          </a:p>
          <a:p>
            <a:r>
              <a:rPr lang="en-US" altLang="en-US" dirty="0"/>
              <a:t>Receptors – cell entry/exit control; signaling</a:t>
            </a:r>
          </a:p>
          <a:p>
            <a:r>
              <a:rPr lang="en-US" altLang="en-US" dirty="0"/>
              <a:t>Motors – myosin, actin</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24580" name="Slide Number Placeholder 2"/>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FE449C8C-CA79-4CA5-AB19-26FC894FBBB5}" type="slidenum">
              <a:rPr lang="en-US" altLang="en-US" smtClean="0">
                <a:solidFill>
                  <a:srgbClr val="000000"/>
                </a:solidFill>
              </a:rPr>
              <a:pPr eaLnBrk="1" hangingPunct="1"/>
              <a:t>12</a:t>
            </a:fld>
            <a:endParaRPr lang="en-US" altLang="en-US">
              <a:solidFill>
                <a:srgbClr val="000000"/>
              </a:solidFill>
            </a:endParaRPr>
          </a:p>
        </p:txBody>
      </p:sp>
    </p:spTree>
    <p:extLst>
      <p:ext uri="{BB962C8B-B14F-4D97-AF65-F5344CB8AC3E}">
        <p14:creationId xmlns:p14="http://schemas.microsoft.com/office/powerpoint/2010/main" val="1737210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bwMode="auto">
          <a:xfrm>
            <a:off x="304800" y="6178"/>
            <a:ext cx="8229600" cy="83202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z="3600" dirty="0"/>
              <a:t>Protein Analysis </a:t>
            </a:r>
            <a:br>
              <a:rPr lang="en-US" altLang="en-US" dirty="0"/>
            </a:br>
            <a:r>
              <a:rPr lang="en-US" altLang="en-US" sz="3100" b="0" i="1" dirty="0"/>
              <a:t>Pre-Mass Spectrometry</a:t>
            </a:r>
            <a:endParaRPr lang="en-US" altLang="en-US" sz="3200" b="0" i="1" dirty="0">
              <a:solidFill>
                <a:srgbClr val="0033CC"/>
              </a:solidFill>
            </a:endParaRPr>
          </a:p>
        </p:txBody>
      </p:sp>
      <p:sp>
        <p:nvSpPr>
          <p:cNvPr id="113667" name="Rectangle 3"/>
          <p:cNvSpPr>
            <a:spLocks noGrp="1" noChangeArrowheads="1"/>
          </p:cNvSpPr>
          <p:nvPr>
            <p:ph idx="1"/>
          </p:nvPr>
        </p:nvSpPr>
        <p:spPr>
          <a:xfrm>
            <a:off x="457200" y="762000"/>
            <a:ext cx="6629400" cy="5791200"/>
          </a:xfrm>
        </p:spPr>
        <p:txBody>
          <a:bodyPr>
            <a:normAutofit fontScale="92500" lnSpcReduction="20000"/>
          </a:bodyPr>
          <a:lstStyle/>
          <a:p>
            <a:pPr marL="0" indent="0">
              <a:lnSpc>
                <a:spcPct val="80000"/>
              </a:lnSpc>
              <a:buFontTx/>
              <a:buNone/>
              <a:defRPr/>
            </a:pPr>
            <a:r>
              <a:rPr lang="en-US" altLang="en-US" sz="2000" u="sng" dirty="0"/>
              <a:t>pre-1900</a:t>
            </a:r>
          </a:p>
          <a:p>
            <a:pPr marL="0" indent="0">
              <a:lnSpc>
                <a:spcPct val="80000"/>
              </a:lnSpc>
              <a:buFontTx/>
              <a:buNone/>
              <a:defRPr/>
            </a:pPr>
            <a:r>
              <a:rPr lang="en-US" altLang="en-US" sz="1800" dirty="0"/>
              <a:t>- </a:t>
            </a:r>
            <a:r>
              <a:rPr lang="en-US" altLang="en-US" sz="1800" dirty="0" err="1"/>
              <a:t>Vauguelin</a:t>
            </a:r>
            <a:r>
              <a:rPr lang="en-US" altLang="en-US" sz="1800" dirty="0"/>
              <a:t>, </a:t>
            </a:r>
            <a:r>
              <a:rPr lang="en-US" altLang="en-US" sz="1800" dirty="0" err="1"/>
              <a:t>Robiquet</a:t>
            </a:r>
            <a:r>
              <a:rPr lang="en-US" altLang="en-US" sz="1800" dirty="0"/>
              <a:t> (1806): asparagine from asparagus</a:t>
            </a:r>
          </a:p>
          <a:p>
            <a:pPr marL="457200" lvl="1" indent="0">
              <a:lnSpc>
                <a:spcPct val="80000"/>
              </a:lnSpc>
              <a:buFontTx/>
              <a:buNone/>
              <a:defRPr/>
            </a:pPr>
            <a:r>
              <a:rPr lang="en-US" altLang="en-US" sz="1800" dirty="0"/>
              <a:t>Threonine (1930)</a:t>
            </a:r>
          </a:p>
          <a:p>
            <a:pPr marL="0" indent="0">
              <a:lnSpc>
                <a:spcPct val="80000"/>
              </a:lnSpc>
              <a:buFontTx/>
              <a:buNone/>
              <a:defRPr/>
            </a:pPr>
            <a:r>
              <a:rPr lang="en-US" altLang="en-US" sz="1800" dirty="0"/>
              <a:t>- Mulder: </a:t>
            </a:r>
            <a:r>
              <a:rPr lang="en-US" altLang="en-US" sz="1800" dirty="0" err="1"/>
              <a:t>albuminous</a:t>
            </a:r>
            <a:r>
              <a:rPr lang="en-US" altLang="en-US" sz="1800" dirty="0"/>
              <a:t> substances contain proteins</a:t>
            </a:r>
          </a:p>
          <a:p>
            <a:pPr marL="0" indent="0">
              <a:lnSpc>
                <a:spcPct val="80000"/>
              </a:lnSpc>
              <a:buFontTx/>
              <a:buNone/>
              <a:defRPr/>
            </a:pPr>
            <a:r>
              <a:rPr lang="en-US" altLang="en-US" sz="1800" dirty="0"/>
              <a:t>- Berzelius: protein; primitive substance</a:t>
            </a:r>
          </a:p>
          <a:p>
            <a:pPr marL="0" indent="0">
              <a:lnSpc>
                <a:spcPct val="80000"/>
              </a:lnSpc>
              <a:buFontTx/>
              <a:buNone/>
              <a:defRPr/>
            </a:pPr>
            <a:endParaRPr lang="en-US" altLang="en-US" sz="2000" dirty="0"/>
          </a:p>
          <a:p>
            <a:pPr marL="0" indent="0">
              <a:lnSpc>
                <a:spcPct val="80000"/>
              </a:lnSpc>
              <a:buFontTx/>
              <a:buNone/>
              <a:defRPr/>
            </a:pPr>
            <a:r>
              <a:rPr lang="en-US" altLang="en-US" sz="2000" u="sng" dirty="0"/>
              <a:t>1900-1950s  Primary structure analysis</a:t>
            </a:r>
          </a:p>
          <a:p>
            <a:pPr marL="0" indent="0">
              <a:lnSpc>
                <a:spcPct val="80000"/>
              </a:lnSpc>
              <a:buFontTx/>
              <a:buNone/>
              <a:defRPr/>
            </a:pPr>
            <a:r>
              <a:rPr lang="en-US" altLang="en-US" sz="1800" dirty="0"/>
              <a:t>- Centrifugation, purified enzymes, labeling, chromatography</a:t>
            </a:r>
          </a:p>
          <a:p>
            <a:pPr marL="0" indent="0">
              <a:lnSpc>
                <a:spcPct val="80000"/>
              </a:lnSpc>
              <a:buFontTx/>
              <a:buNone/>
              <a:defRPr/>
            </a:pPr>
            <a:r>
              <a:rPr lang="en-US" altLang="en-US" sz="1800" dirty="0"/>
              <a:t>- F. Sanger (Nobel Prize/chemistry) </a:t>
            </a:r>
          </a:p>
          <a:p>
            <a:pPr marL="0" indent="0">
              <a:lnSpc>
                <a:spcPct val="80000"/>
              </a:lnSpc>
              <a:buFontTx/>
              <a:buNone/>
              <a:defRPr/>
            </a:pPr>
            <a:r>
              <a:rPr lang="en-US" altLang="en-US" sz="1800" b="1" dirty="0"/>
              <a:t>	1951; insulin; proteins have definite structure</a:t>
            </a:r>
            <a:endParaRPr lang="en-US" altLang="en-US" sz="1600" b="1" dirty="0"/>
          </a:p>
          <a:p>
            <a:pPr marL="0" indent="0">
              <a:lnSpc>
                <a:spcPct val="80000"/>
              </a:lnSpc>
              <a:buFontTx/>
              <a:buNone/>
              <a:defRPr/>
            </a:pPr>
            <a:r>
              <a:rPr lang="en-US" altLang="en-US" sz="1800" dirty="0"/>
              <a:t>- P. </a:t>
            </a:r>
            <a:r>
              <a:rPr lang="en-US" altLang="en-US" sz="1800" dirty="0" err="1"/>
              <a:t>Edman</a:t>
            </a:r>
            <a:r>
              <a:rPr lang="en-US" altLang="en-US" sz="1800" dirty="0"/>
              <a:t> - </a:t>
            </a:r>
            <a:r>
              <a:rPr lang="en-US" altLang="en-US" sz="1800" dirty="0" err="1"/>
              <a:t>Edman</a:t>
            </a:r>
            <a:r>
              <a:rPr lang="en-US" altLang="en-US" sz="1800" dirty="0"/>
              <a:t> degradation - Amino acid analyzer</a:t>
            </a:r>
          </a:p>
          <a:p>
            <a:pPr>
              <a:lnSpc>
                <a:spcPct val="80000"/>
              </a:lnSpc>
              <a:buFontTx/>
              <a:buChar char="-"/>
              <a:defRPr/>
            </a:pPr>
            <a:endParaRPr lang="en-US" altLang="en-US" sz="1800" dirty="0"/>
          </a:p>
          <a:p>
            <a:pPr marL="0" indent="0">
              <a:lnSpc>
                <a:spcPct val="80000"/>
              </a:lnSpc>
              <a:buFontTx/>
              <a:buNone/>
              <a:defRPr/>
            </a:pPr>
            <a:r>
              <a:rPr lang="en-US" altLang="en-US" sz="2000" u="sng" dirty="0"/>
              <a:t>1930-1970  Secondary and tertiary structure analysis</a:t>
            </a:r>
          </a:p>
          <a:p>
            <a:pPr marL="0" indent="0">
              <a:lnSpc>
                <a:spcPct val="80000"/>
              </a:lnSpc>
              <a:buFontTx/>
              <a:buNone/>
              <a:defRPr/>
            </a:pPr>
            <a:r>
              <a:rPr lang="en-US" altLang="en-US" sz="2000" dirty="0"/>
              <a:t>- </a:t>
            </a:r>
            <a:r>
              <a:rPr lang="en-US" altLang="en-US" sz="1800" dirty="0"/>
              <a:t>X-ray diffraction, spectroscopy</a:t>
            </a:r>
          </a:p>
          <a:p>
            <a:pPr marL="0" indent="0">
              <a:lnSpc>
                <a:spcPct val="80000"/>
              </a:lnSpc>
              <a:buFontTx/>
              <a:buNone/>
              <a:defRPr/>
            </a:pPr>
            <a:endParaRPr lang="en-US" altLang="en-US" sz="2000" dirty="0"/>
          </a:p>
          <a:p>
            <a:pPr marL="0" indent="0">
              <a:lnSpc>
                <a:spcPct val="80000"/>
              </a:lnSpc>
              <a:buFontTx/>
              <a:buNone/>
              <a:defRPr/>
            </a:pPr>
            <a:r>
              <a:rPr lang="en-US" altLang="en-US" sz="2000" u="sng" dirty="0"/>
              <a:t>1970-     Gel-based methods (1D &amp; 2D gel electrophoresis)</a:t>
            </a:r>
          </a:p>
          <a:p>
            <a:pPr marL="0" indent="0">
              <a:lnSpc>
                <a:spcPct val="80000"/>
              </a:lnSpc>
              <a:buFontTx/>
              <a:buNone/>
              <a:defRPr/>
            </a:pPr>
            <a:r>
              <a:rPr lang="en-US" altLang="en-US" sz="1800" dirty="0"/>
              <a:t>- Protein separation based on size and charge</a:t>
            </a:r>
          </a:p>
          <a:p>
            <a:pPr marL="0" indent="0">
              <a:lnSpc>
                <a:spcPct val="80000"/>
              </a:lnSpc>
              <a:buFontTx/>
              <a:buNone/>
              <a:defRPr/>
            </a:pPr>
            <a:r>
              <a:rPr lang="en-US" altLang="en-US" sz="1800" dirty="0"/>
              <a:t>- Dyes for visualization, “quantitation”</a:t>
            </a:r>
          </a:p>
          <a:p>
            <a:pPr marL="0" indent="0">
              <a:lnSpc>
                <a:spcPct val="80000"/>
              </a:lnSpc>
              <a:buFontTx/>
              <a:buNone/>
              <a:defRPr/>
            </a:pPr>
            <a:r>
              <a:rPr lang="en-US" altLang="en-US" sz="1800" dirty="0"/>
              <a:t>- Excise bands for identification (or blot with antibodies)</a:t>
            </a:r>
          </a:p>
          <a:p>
            <a:pPr marL="0" indent="0">
              <a:lnSpc>
                <a:spcPct val="80000"/>
              </a:lnSpc>
              <a:buFontTx/>
              <a:buNone/>
              <a:defRPr/>
            </a:pPr>
            <a:r>
              <a:rPr lang="en-US" altLang="en-US" sz="1800" dirty="0"/>
              <a:t>- “Gold standard” method but has many limitations</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25602" name="Slide Number Placeholder 5"/>
          <p:cNvSpPr>
            <a:spLocks noGrp="1"/>
          </p:cNvSpPr>
          <p:nvPr>
            <p:ph type="sldNum" sz="quarter" idx="12"/>
          </p:nvPr>
        </p:nvSpPr>
        <p:spPr>
          <a:xfrm>
            <a:off x="6723063" y="6381750"/>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0C5781BE-5EE3-4F2E-896F-FED80FB477F3}" type="slidenum">
              <a:rPr lang="en-US" altLang="en-US" smtClean="0">
                <a:solidFill>
                  <a:srgbClr val="000000"/>
                </a:solidFill>
              </a:rPr>
              <a:pPr eaLnBrk="1" hangingPunct="1"/>
              <a:t>13</a:t>
            </a:fld>
            <a:endParaRPr lang="en-US" altLang="en-US" dirty="0">
              <a:solidFill>
                <a:srgbClr val="000000"/>
              </a:solidFill>
            </a:endParaRPr>
          </a:p>
        </p:txBody>
      </p:sp>
      <p:pic>
        <p:nvPicPr>
          <p:cNvPr id="2560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2700" y="1657350"/>
            <a:ext cx="2097088"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7013" y="3998912"/>
            <a:ext cx="1957387"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7" name="Text Box 11"/>
          <p:cNvSpPr txBox="1">
            <a:spLocks noChangeArrowheads="1"/>
          </p:cNvSpPr>
          <p:nvPr/>
        </p:nvSpPr>
        <p:spPr bwMode="auto">
          <a:xfrm>
            <a:off x="6119813" y="4435475"/>
            <a:ext cx="546100"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a:solidFill>
                  <a:srgbClr val="000000"/>
                </a:solidFill>
              </a:rPr>
              <a:t>MW</a:t>
            </a:r>
          </a:p>
        </p:txBody>
      </p:sp>
      <p:sp>
        <p:nvSpPr>
          <p:cNvPr id="25608" name="Text Box 12"/>
          <p:cNvSpPr txBox="1">
            <a:spLocks noChangeArrowheads="1"/>
          </p:cNvSpPr>
          <p:nvPr/>
        </p:nvSpPr>
        <p:spPr bwMode="auto">
          <a:xfrm>
            <a:off x="7491413" y="5980112"/>
            <a:ext cx="354012"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a:solidFill>
                  <a:srgbClr val="000000"/>
                </a:solidFill>
              </a:rPr>
              <a:t>pI</a:t>
            </a:r>
          </a:p>
        </p:txBody>
      </p:sp>
      <p:sp>
        <p:nvSpPr>
          <p:cNvPr id="25609" name="TextBox 1"/>
          <p:cNvSpPr txBox="1">
            <a:spLocks noChangeArrowheads="1"/>
          </p:cNvSpPr>
          <p:nvPr/>
        </p:nvSpPr>
        <p:spPr bwMode="auto">
          <a:xfrm>
            <a:off x="6635750" y="990600"/>
            <a:ext cx="17748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a:solidFill>
                  <a:srgbClr val="000000"/>
                </a:solidFill>
              </a:rPr>
              <a:t>1-D Gel</a:t>
            </a:r>
          </a:p>
          <a:p>
            <a:pPr algn="ctr" eaLnBrk="1" fontAlgn="base" hangingPunct="1">
              <a:spcBef>
                <a:spcPct val="0"/>
              </a:spcBef>
              <a:spcAft>
                <a:spcPct val="0"/>
              </a:spcAft>
            </a:pPr>
            <a:r>
              <a:rPr lang="en-US" altLang="en-US">
                <a:solidFill>
                  <a:srgbClr val="000000"/>
                </a:solidFill>
              </a:rPr>
              <a:t>Electrophoresis</a:t>
            </a:r>
          </a:p>
        </p:txBody>
      </p:sp>
      <p:sp>
        <p:nvSpPr>
          <p:cNvPr id="25610" name="TextBox 13"/>
          <p:cNvSpPr txBox="1">
            <a:spLocks noChangeArrowheads="1"/>
          </p:cNvSpPr>
          <p:nvPr/>
        </p:nvSpPr>
        <p:spPr bwMode="auto">
          <a:xfrm>
            <a:off x="6781800" y="3352800"/>
            <a:ext cx="1774825" cy="646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a:solidFill>
                  <a:srgbClr val="000000"/>
                </a:solidFill>
              </a:rPr>
              <a:t>2-D Gel</a:t>
            </a:r>
          </a:p>
          <a:p>
            <a:pPr algn="ctr" eaLnBrk="1" fontAlgn="base" hangingPunct="1">
              <a:spcBef>
                <a:spcPct val="0"/>
              </a:spcBef>
              <a:spcAft>
                <a:spcPct val="0"/>
              </a:spcAft>
            </a:pPr>
            <a:r>
              <a:rPr lang="en-US" altLang="en-US">
                <a:solidFill>
                  <a:srgbClr val="000000"/>
                </a:solidFill>
              </a:rPr>
              <a:t>Electrophoresis</a:t>
            </a:r>
          </a:p>
        </p:txBody>
      </p:sp>
    </p:spTree>
    <p:extLst>
      <p:ext uri="{BB962C8B-B14F-4D97-AF65-F5344CB8AC3E}">
        <p14:creationId xmlns:p14="http://schemas.microsoft.com/office/powerpoint/2010/main" val="31727190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bwMode="auto">
          <a:xfrm>
            <a:off x="457200" y="76200"/>
            <a:ext cx="82296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z="3600" dirty="0"/>
              <a:t>Protein Analysis</a:t>
            </a:r>
            <a:br>
              <a:rPr lang="en-US" altLang="en-US" dirty="0"/>
            </a:br>
            <a:r>
              <a:rPr lang="en-US" altLang="en-US" sz="3100" b="0" i="1" dirty="0"/>
              <a:t>By Mass Spectrometry?</a:t>
            </a:r>
            <a:endParaRPr lang="en-US" altLang="en-US" b="0" i="1" dirty="0"/>
          </a:p>
        </p:txBody>
      </p:sp>
      <p:sp>
        <p:nvSpPr>
          <p:cNvPr id="3" name="Content Placeholder 2"/>
          <p:cNvSpPr>
            <a:spLocks noGrp="1"/>
          </p:cNvSpPr>
          <p:nvPr>
            <p:ph idx="1"/>
          </p:nvPr>
        </p:nvSpPr>
        <p:spPr>
          <a:xfrm>
            <a:off x="304800" y="1219200"/>
            <a:ext cx="8686800" cy="5181600"/>
          </a:xfrm>
        </p:spPr>
        <p:txBody>
          <a:bodyPr/>
          <a:lstStyle/>
          <a:p>
            <a:pPr marL="0" indent="0">
              <a:buFontTx/>
              <a:buNone/>
              <a:defRPr/>
            </a:pPr>
            <a:r>
              <a:rPr lang="en-US" sz="2400" u="sng" dirty="0"/>
              <a:t>1980-     Mass spectrometry (MS) methods</a:t>
            </a:r>
          </a:p>
          <a:p>
            <a:pPr>
              <a:defRPr/>
            </a:pPr>
            <a:r>
              <a:rPr lang="en-US" sz="2400" dirty="0"/>
              <a:t>How can a protein be analyzed by a method that requires an ion in the gas phase?</a:t>
            </a:r>
          </a:p>
          <a:p>
            <a:pPr lvl="1">
              <a:defRPr/>
            </a:pPr>
            <a:r>
              <a:rPr lang="en-US" sz="2400" dirty="0"/>
              <a:t>Protein size, vapor pressure, complex structure and chemistry</a:t>
            </a:r>
          </a:p>
          <a:p>
            <a:pPr>
              <a:defRPr/>
            </a:pPr>
            <a:r>
              <a:rPr lang="en-US" sz="2400" dirty="0"/>
              <a:t>What means can be used to impart energy to the protein to effect desorption and ionization?</a:t>
            </a:r>
          </a:p>
          <a:p>
            <a:pPr lvl="1">
              <a:defRPr/>
            </a:pPr>
            <a:r>
              <a:rPr lang="en-US" sz="2400" dirty="0"/>
              <a:t>Heat, fast ions/atoms (</a:t>
            </a:r>
            <a:r>
              <a:rPr lang="en-US" sz="2400" dirty="0" err="1"/>
              <a:t>KeV</a:t>
            </a:r>
            <a:r>
              <a:rPr lang="en-US" sz="2400" dirty="0"/>
              <a:t>), nuclear decay fission fragments (MeV), electric field, photons/lasers</a:t>
            </a:r>
          </a:p>
          <a:p>
            <a:pPr>
              <a:defRPr/>
            </a:pPr>
            <a:r>
              <a:rPr lang="en-US" sz="2400" dirty="0"/>
              <a:t>Can protein separation and identification be combined?</a:t>
            </a:r>
          </a:p>
          <a:p>
            <a:pPr lvl="1">
              <a:defRPr/>
            </a:pPr>
            <a:r>
              <a:rPr lang="en-US" sz="2400" dirty="0"/>
              <a:t> Connect an HPLC with a MS (as GC-MS)?</a:t>
            </a:r>
          </a:p>
          <a:p>
            <a:pPr>
              <a:defRPr/>
            </a:pPr>
            <a:r>
              <a:rPr lang="en-US" sz="2400" dirty="0"/>
              <a:t>What analytical performance is required?</a:t>
            </a:r>
          </a:p>
          <a:p>
            <a:pPr lvl="1">
              <a:defRPr/>
            </a:pPr>
            <a:r>
              <a:rPr lang="en-US" sz="2400" dirty="0"/>
              <a:t>Mass resolution, accuracy, sensitivity and throughput</a:t>
            </a:r>
          </a:p>
          <a:p>
            <a:pPr marL="0" indent="0">
              <a:buFontTx/>
              <a:buNone/>
              <a:defRPr/>
            </a:pPr>
            <a:endParaRPr lang="en-US" dirty="0"/>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4" name="Footer Placeholder 3"/>
          <p:cNvSpPr>
            <a:spLocks noGrp="1"/>
          </p:cNvSpPr>
          <p:nvPr>
            <p:ph type="ftr" sz="quarter" idx="11"/>
          </p:nvPr>
        </p:nvSpPr>
        <p:spPr/>
        <p:txBody>
          <a:bodyPr/>
          <a:lstStyle/>
          <a:p>
            <a:r>
              <a:rPr lang="en-US"/>
              <a:t>Hsu group meeting</a:t>
            </a:r>
          </a:p>
        </p:txBody>
      </p:sp>
      <p:sp>
        <p:nvSpPr>
          <p:cNvPr id="26628" name="Slide Number Placeholder 3"/>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76DEFA5-839E-484E-A7DC-F877A3905929}" type="slidenum">
              <a:rPr lang="en-US" altLang="en-US" smtClean="0">
                <a:solidFill>
                  <a:srgbClr val="000000"/>
                </a:solidFill>
              </a:rPr>
              <a:pPr eaLnBrk="1" hangingPunct="1"/>
              <a:t>14</a:t>
            </a:fld>
            <a:endParaRPr lang="en-US" altLang="en-US" dirty="0">
              <a:solidFill>
                <a:srgbClr val="000000"/>
              </a:solidFill>
            </a:endParaRPr>
          </a:p>
        </p:txBody>
      </p:sp>
    </p:spTree>
    <p:extLst>
      <p:ext uri="{BB962C8B-B14F-4D97-AF65-F5344CB8AC3E}">
        <p14:creationId xmlns:p14="http://schemas.microsoft.com/office/powerpoint/2010/main" val="1960386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4000" y="1295400"/>
            <a:ext cx="4506913" cy="197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0" y="3375025"/>
            <a:ext cx="38100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2"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0237" y="5492750"/>
            <a:ext cx="1757363"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3"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4000" y="3505200"/>
            <a:ext cx="4097338" cy="213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654"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4000" y="1739900"/>
            <a:ext cx="1965325" cy="147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655" name="Rectangle 16"/>
          <p:cNvSpPr>
            <a:spLocks noChangeArrowheads="1"/>
          </p:cNvSpPr>
          <p:nvPr/>
        </p:nvSpPr>
        <p:spPr bwMode="auto">
          <a:xfrm>
            <a:off x="1981200" y="228600"/>
            <a:ext cx="5334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3200" b="1" dirty="0">
                <a:solidFill>
                  <a:srgbClr val="000000"/>
                </a:solidFill>
                <a:latin typeface="+mn-lt"/>
              </a:rPr>
              <a:t>MS Biological Revolution - 1</a:t>
            </a:r>
          </a:p>
        </p:txBody>
      </p:sp>
      <p:sp>
        <p:nvSpPr>
          <p:cNvPr id="27656" name="Text Box 17"/>
          <p:cNvSpPr txBox="1">
            <a:spLocks noChangeArrowheads="1"/>
          </p:cNvSpPr>
          <p:nvPr/>
        </p:nvSpPr>
        <p:spPr bwMode="auto">
          <a:xfrm>
            <a:off x="419100" y="1038225"/>
            <a:ext cx="3124200"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600">
                <a:solidFill>
                  <a:srgbClr val="000000"/>
                </a:solidFill>
              </a:rPr>
              <a:t>K. Tanaka, J. Fenn, K. Wuthrich </a:t>
            </a:r>
          </a:p>
          <a:p>
            <a:pPr algn="ctr" eaLnBrk="1" fontAlgn="base" hangingPunct="1">
              <a:spcBef>
                <a:spcPct val="0"/>
              </a:spcBef>
              <a:spcAft>
                <a:spcPct val="0"/>
              </a:spcAft>
            </a:pPr>
            <a:r>
              <a:rPr lang="en-US" altLang="en-US" sz="1600">
                <a:solidFill>
                  <a:srgbClr val="000000"/>
                </a:solidFill>
              </a:rPr>
              <a:t>Nobel Prize, Chemistry, 2002</a:t>
            </a:r>
          </a:p>
        </p:txBody>
      </p:sp>
      <p:sp>
        <p:nvSpPr>
          <p:cNvPr id="27657" name="TextBox 1"/>
          <p:cNvSpPr txBox="1">
            <a:spLocks noChangeArrowheads="1"/>
          </p:cNvSpPr>
          <p:nvPr/>
        </p:nvSpPr>
        <p:spPr bwMode="auto">
          <a:xfrm>
            <a:off x="2219325" y="1876425"/>
            <a:ext cx="16160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a:solidFill>
                  <a:srgbClr val="000000"/>
                </a:solidFill>
              </a:rPr>
              <a:t>Koichi Tanaka</a:t>
            </a:r>
          </a:p>
          <a:p>
            <a:pPr eaLnBrk="1" fontAlgn="base" hangingPunct="1">
              <a:spcBef>
                <a:spcPct val="0"/>
              </a:spcBef>
              <a:spcAft>
                <a:spcPct val="0"/>
              </a:spcAft>
            </a:pPr>
            <a:r>
              <a:rPr lang="en-US" altLang="en-US">
                <a:solidFill>
                  <a:srgbClr val="000000"/>
                </a:solidFill>
              </a:rPr>
              <a:t>Shimadzu</a:t>
            </a:r>
          </a:p>
          <a:p>
            <a:pPr eaLnBrk="1" fontAlgn="base" hangingPunct="1">
              <a:spcBef>
                <a:spcPct val="0"/>
              </a:spcBef>
              <a:spcAft>
                <a:spcPct val="0"/>
              </a:spcAft>
            </a:pPr>
            <a:r>
              <a:rPr lang="en-US" altLang="en-US">
                <a:solidFill>
                  <a:srgbClr val="000000"/>
                </a:solidFill>
              </a:rPr>
              <a:t>“Soft Laser</a:t>
            </a:r>
          </a:p>
          <a:p>
            <a:pPr eaLnBrk="1" fontAlgn="base" hangingPunct="1">
              <a:spcBef>
                <a:spcPct val="0"/>
              </a:spcBef>
              <a:spcAft>
                <a:spcPct val="0"/>
              </a:spcAft>
            </a:pPr>
            <a:r>
              <a:rPr lang="en-US" altLang="en-US">
                <a:solidFill>
                  <a:srgbClr val="000000"/>
                </a:solidFill>
              </a:rPr>
              <a:t>Desorption”</a:t>
            </a:r>
          </a:p>
        </p:txBody>
      </p:sp>
      <p:sp>
        <p:nvSpPr>
          <p:cNvPr id="27658" name="TextBox 17"/>
          <p:cNvSpPr txBox="1">
            <a:spLocks noChangeArrowheads="1"/>
          </p:cNvSpPr>
          <p:nvPr/>
        </p:nvSpPr>
        <p:spPr bwMode="auto">
          <a:xfrm>
            <a:off x="6429375" y="3367088"/>
            <a:ext cx="27432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a:solidFill>
                  <a:srgbClr val="000000"/>
                </a:solidFill>
              </a:rPr>
              <a:t>F. Hillenkamp, M. Karas</a:t>
            </a:r>
          </a:p>
          <a:p>
            <a:pPr eaLnBrk="1" fontAlgn="base" hangingPunct="1">
              <a:spcBef>
                <a:spcPct val="0"/>
              </a:spcBef>
              <a:spcAft>
                <a:spcPct val="0"/>
              </a:spcAft>
            </a:pPr>
            <a:r>
              <a:rPr lang="en-US" altLang="en-US">
                <a:solidFill>
                  <a:srgbClr val="000000"/>
                </a:solidFill>
              </a:rPr>
              <a:t>“Matrix-Assisted</a:t>
            </a:r>
          </a:p>
          <a:p>
            <a:pPr eaLnBrk="1" fontAlgn="base" hangingPunct="1">
              <a:spcBef>
                <a:spcPct val="0"/>
              </a:spcBef>
              <a:spcAft>
                <a:spcPct val="0"/>
              </a:spcAft>
            </a:pPr>
            <a:r>
              <a:rPr lang="en-US" altLang="en-US">
                <a:solidFill>
                  <a:srgbClr val="000000"/>
                </a:solidFill>
              </a:rPr>
              <a:t>Laser Desorption”</a:t>
            </a:r>
          </a:p>
        </p:txBody>
      </p:sp>
      <p:sp>
        <p:nvSpPr>
          <p:cNvPr id="3" name="Date Placeholder 2"/>
          <p:cNvSpPr>
            <a:spLocks noGrp="1"/>
          </p:cNvSpPr>
          <p:nvPr>
            <p:ph type="dt" sz="half" idx="10"/>
          </p:nvPr>
        </p:nvSpPr>
        <p:spPr>
          <a:xfrm>
            <a:off x="0" y="6356350"/>
            <a:ext cx="2057400" cy="365125"/>
          </a:xfrm>
          <a:prstGeom prst="rect">
            <a:avLst/>
          </a:prstGeom>
        </p:spPr>
        <p:txBody>
          <a:bodyPr/>
          <a:lstStyle/>
          <a:p>
            <a:r>
              <a:rPr lang="en-US"/>
              <a:t>11/2/2015</a:t>
            </a:r>
          </a:p>
        </p:txBody>
      </p:sp>
      <p:sp>
        <p:nvSpPr>
          <p:cNvPr id="4" name="Footer Placeholder 3"/>
          <p:cNvSpPr>
            <a:spLocks noGrp="1"/>
          </p:cNvSpPr>
          <p:nvPr>
            <p:ph type="ftr" sz="quarter" idx="11"/>
          </p:nvPr>
        </p:nvSpPr>
        <p:spPr/>
        <p:txBody>
          <a:bodyPr/>
          <a:lstStyle/>
          <a:p>
            <a:r>
              <a:rPr lang="en-US"/>
              <a:t>Hsu group meeting</a:t>
            </a:r>
          </a:p>
        </p:txBody>
      </p:sp>
      <p:sp>
        <p:nvSpPr>
          <p:cNvPr id="2" name="Slide Number Placeholder 1"/>
          <p:cNvSpPr>
            <a:spLocks noGrp="1"/>
          </p:cNvSpPr>
          <p:nvPr>
            <p:ph type="sldNum" sz="quarter" idx="12"/>
          </p:nvPr>
        </p:nvSpPr>
        <p:spPr/>
        <p:txBody>
          <a:bodyPr/>
          <a:lstStyle/>
          <a:p>
            <a:pPr>
              <a:defRPr/>
            </a:pPr>
            <a:fld id="{C8B2AF8C-9BAE-43EE-BCDB-B326E45C4A91}" type="slidenum">
              <a:rPr lang="en-US" smtClean="0">
                <a:solidFill>
                  <a:srgbClr val="000000"/>
                </a:solidFill>
              </a:rPr>
              <a:pPr>
                <a:defRPr/>
              </a:pPr>
              <a:t>15</a:t>
            </a:fld>
            <a:endParaRPr lang="en-US">
              <a:solidFill>
                <a:srgbClr val="000000"/>
              </a:solidFill>
            </a:endParaRPr>
          </a:p>
        </p:txBody>
      </p:sp>
    </p:spTree>
    <p:extLst>
      <p:ext uri="{BB962C8B-B14F-4D97-AF65-F5344CB8AC3E}">
        <p14:creationId xmlns:p14="http://schemas.microsoft.com/office/powerpoint/2010/main" val="117046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28674" name="Slide Number Placeholder 1"/>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03FCE11-429F-4E59-B4A8-08BF95EBC9F2}" type="slidenum">
              <a:rPr lang="en-US" altLang="en-US" b="0" smtClean="0">
                <a:solidFill>
                  <a:srgbClr val="000000"/>
                </a:solidFill>
              </a:rPr>
              <a:pPr eaLnBrk="1" hangingPunct="1"/>
              <a:t>16</a:t>
            </a:fld>
            <a:endParaRPr lang="en-US" altLang="en-US" b="0">
              <a:solidFill>
                <a:srgbClr val="000000"/>
              </a:solidFill>
            </a:endParaRPr>
          </a:p>
        </p:txBody>
      </p:sp>
      <p:pic>
        <p:nvPicPr>
          <p:cNvPr id="2867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143000"/>
            <a:ext cx="4598988"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9588" y="5713413"/>
            <a:ext cx="1990725" cy="11445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7"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1325563"/>
            <a:ext cx="200025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8"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0" y="3352800"/>
            <a:ext cx="4668838"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9" name="Picture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4588" y="3959225"/>
            <a:ext cx="3306762" cy="232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80" name="TextBox 8"/>
          <p:cNvSpPr txBox="1">
            <a:spLocks noChangeArrowheads="1"/>
          </p:cNvSpPr>
          <p:nvPr/>
        </p:nvSpPr>
        <p:spPr bwMode="auto">
          <a:xfrm>
            <a:off x="2574925" y="1600200"/>
            <a:ext cx="1466850"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a:solidFill>
                  <a:srgbClr val="000000"/>
                </a:solidFill>
              </a:rPr>
              <a:t>John Fenn</a:t>
            </a:r>
          </a:p>
          <a:p>
            <a:pPr eaLnBrk="1" fontAlgn="base" hangingPunct="1">
              <a:spcBef>
                <a:spcPct val="0"/>
              </a:spcBef>
              <a:spcAft>
                <a:spcPct val="0"/>
              </a:spcAft>
            </a:pPr>
            <a:r>
              <a:rPr lang="en-US" altLang="en-US">
                <a:solidFill>
                  <a:srgbClr val="000000"/>
                </a:solidFill>
              </a:rPr>
              <a:t>Yale/VCU</a:t>
            </a:r>
          </a:p>
          <a:p>
            <a:pPr eaLnBrk="1" fontAlgn="base" hangingPunct="1">
              <a:spcBef>
                <a:spcPct val="0"/>
              </a:spcBef>
              <a:spcAft>
                <a:spcPct val="0"/>
              </a:spcAft>
            </a:pPr>
            <a:r>
              <a:rPr lang="en-US" altLang="en-US">
                <a:solidFill>
                  <a:srgbClr val="000000"/>
                </a:solidFill>
              </a:rPr>
              <a:t>Electrospray</a:t>
            </a:r>
          </a:p>
          <a:p>
            <a:pPr eaLnBrk="1" fontAlgn="base" hangingPunct="1">
              <a:spcBef>
                <a:spcPct val="0"/>
              </a:spcBef>
              <a:spcAft>
                <a:spcPct val="0"/>
              </a:spcAft>
            </a:pPr>
            <a:r>
              <a:rPr lang="en-US" altLang="en-US">
                <a:solidFill>
                  <a:srgbClr val="000000"/>
                </a:solidFill>
              </a:rPr>
              <a:t>Ionization</a:t>
            </a:r>
          </a:p>
        </p:txBody>
      </p:sp>
      <p:sp>
        <p:nvSpPr>
          <p:cNvPr id="28681" name="Rectangle 16"/>
          <p:cNvSpPr>
            <a:spLocks noChangeArrowheads="1"/>
          </p:cNvSpPr>
          <p:nvPr/>
        </p:nvSpPr>
        <p:spPr bwMode="auto">
          <a:xfrm>
            <a:off x="1981200" y="228600"/>
            <a:ext cx="5334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3200" b="1" dirty="0">
                <a:solidFill>
                  <a:srgbClr val="000000"/>
                </a:solidFill>
                <a:latin typeface="+mn-lt"/>
              </a:rPr>
              <a:t>MS Biological Revolution - 2</a:t>
            </a:r>
          </a:p>
        </p:txBody>
      </p:sp>
      <p:sp>
        <p:nvSpPr>
          <p:cNvPr id="28682" name="TextBox 10"/>
          <p:cNvSpPr txBox="1">
            <a:spLocks noChangeArrowheads="1"/>
          </p:cNvSpPr>
          <p:nvPr/>
        </p:nvSpPr>
        <p:spPr bwMode="auto">
          <a:xfrm>
            <a:off x="4729163" y="6299200"/>
            <a:ext cx="3805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a:solidFill>
                  <a:srgbClr val="000000"/>
                </a:solidFill>
              </a:rPr>
              <a:t>ESI MB (MW~17,000 Da) -&gt; M</a:t>
            </a:r>
            <a:r>
              <a:rPr lang="en-US" altLang="en-US" b="1" baseline="30000">
                <a:solidFill>
                  <a:srgbClr val="000000"/>
                </a:solidFill>
              </a:rPr>
              <a:t>x+</a:t>
            </a:r>
          </a:p>
        </p:txBody>
      </p:sp>
      <p:sp>
        <p:nvSpPr>
          <p:cNvPr id="28683" name="TextBox 11"/>
          <p:cNvSpPr txBox="1">
            <a:spLocks noChangeArrowheads="1"/>
          </p:cNvSpPr>
          <p:nvPr/>
        </p:nvSpPr>
        <p:spPr bwMode="auto">
          <a:xfrm>
            <a:off x="3752850" y="4675188"/>
            <a:ext cx="531813"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a:solidFill>
                  <a:srgbClr val="000000"/>
                </a:solidFill>
              </a:rPr>
              <a:t>MS</a:t>
            </a:r>
          </a:p>
        </p:txBody>
      </p:sp>
      <p:sp>
        <p:nvSpPr>
          <p:cNvPr id="28684" name="TextBox 12"/>
          <p:cNvSpPr txBox="1">
            <a:spLocks noChangeArrowheads="1"/>
          </p:cNvSpPr>
          <p:nvPr/>
        </p:nvSpPr>
        <p:spPr bwMode="auto">
          <a:xfrm>
            <a:off x="228600" y="5138738"/>
            <a:ext cx="992188" cy="646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a:solidFill>
                  <a:srgbClr val="000000"/>
                </a:solidFill>
              </a:rPr>
              <a:t>High</a:t>
            </a:r>
          </a:p>
          <a:p>
            <a:pPr eaLnBrk="1" fontAlgn="base" hangingPunct="1">
              <a:spcBef>
                <a:spcPct val="0"/>
              </a:spcBef>
              <a:spcAft>
                <a:spcPct val="0"/>
              </a:spcAft>
            </a:pPr>
            <a:r>
              <a:rPr lang="en-US" altLang="en-US" b="1">
                <a:solidFill>
                  <a:srgbClr val="000000"/>
                </a:solidFill>
              </a:rPr>
              <a:t>voltage</a:t>
            </a:r>
          </a:p>
        </p:txBody>
      </p:sp>
      <p:sp>
        <p:nvSpPr>
          <p:cNvPr id="28685" name="TextBox 13"/>
          <p:cNvSpPr txBox="1">
            <a:spLocks noChangeArrowheads="1"/>
          </p:cNvSpPr>
          <p:nvPr/>
        </p:nvSpPr>
        <p:spPr bwMode="auto">
          <a:xfrm>
            <a:off x="987425" y="4646613"/>
            <a:ext cx="1350963" cy="646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b="1">
                <a:solidFill>
                  <a:srgbClr val="000000"/>
                </a:solidFill>
              </a:rPr>
              <a:t>Sample</a:t>
            </a:r>
          </a:p>
          <a:p>
            <a:pPr algn="ctr" eaLnBrk="1" fontAlgn="base" hangingPunct="1">
              <a:spcBef>
                <a:spcPct val="0"/>
              </a:spcBef>
              <a:spcAft>
                <a:spcPct val="0"/>
              </a:spcAft>
            </a:pPr>
            <a:r>
              <a:rPr lang="en-US" altLang="en-US" b="1">
                <a:solidFill>
                  <a:srgbClr val="000000"/>
                </a:solidFill>
              </a:rPr>
              <a:t>in solution</a:t>
            </a:r>
          </a:p>
        </p:txBody>
      </p:sp>
      <p:sp>
        <p:nvSpPr>
          <p:cNvPr id="28686" name="TextBox 14"/>
          <p:cNvSpPr txBox="1">
            <a:spLocks noChangeArrowheads="1"/>
          </p:cNvSpPr>
          <p:nvPr/>
        </p:nvSpPr>
        <p:spPr bwMode="auto">
          <a:xfrm>
            <a:off x="-3175" y="3841750"/>
            <a:ext cx="169862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a:solidFill>
                  <a:srgbClr val="000000"/>
                </a:solidFill>
              </a:rPr>
              <a:t>Syringe or LC</a:t>
            </a:r>
          </a:p>
        </p:txBody>
      </p:sp>
      <p:sp>
        <p:nvSpPr>
          <p:cNvPr id="28687" name="TextBox 15"/>
          <p:cNvSpPr txBox="1">
            <a:spLocks noChangeArrowheads="1"/>
          </p:cNvSpPr>
          <p:nvPr/>
        </p:nvSpPr>
        <p:spPr bwMode="auto">
          <a:xfrm>
            <a:off x="1774825" y="3336925"/>
            <a:ext cx="1120775" cy="923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a:solidFill>
                  <a:srgbClr val="000000"/>
                </a:solidFill>
              </a:rPr>
              <a:t>Spray-&gt;</a:t>
            </a:r>
          </a:p>
          <a:p>
            <a:pPr eaLnBrk="1" fontAlgn="base" hangingPunct="1">
              <a:spcBef>
                <a:spcPct val="0"/>
              </a:spcBef>
              <a:spcAft>
                <a:spcPct val="0"/>
              </a:spcAft>
            </a:pPr>
            <a:r>
              <a:rPr lang="en-US" altLang="en-US" b="1">
                <a:solidFill>
                  <a:srgbClr val="000000"/>
                </a:solidFill>
              </a:rPr>
              <a:t>Charged</a:t>
            </a:r>
          </a:p>
          <a:p>
            <a:pPr eaLnBrk="1" fontAlgn="base" hangingPunct="1">
              <a:spcBef>
                <a:spcPct val="0"/>
              </a:spcBef>
              <a:spcAft>
                <a:spcPct val="0"/>
              </a:spcAft>
            </a:pPr>
            <a:r>
              <a:rPr lang="en-US" altLang="en-US" b="1">
                <a:solidFill>
                  <a:srgbClr val="000000"/>
                </a:solidFill>
              </a:rPr>
              <a:t>Droplets</a:t>
            </a:r>
          </a:p>
        </p:txBody>
      </p:sp>
      <p:sp>
        <p:nvSpPr>
          <p:cNvPr id="28688" name="TextBox 16"/>
          <p:cNvSpPr txBox="1">
            <a:spLocks noChangeArrowheads="1"/>
          </p:cNvSpPr>
          <p:nvPr/>
        </p:nvSpPr>
        <p:spPr bwMode="auto">
          <a:xfrm>
            <a:off x="3005138" y="3168650"/>
            <a:ext cx="1485900" cy="646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a:solidFill>
                  <a:srgbClr val="000000"/>
                </a:solidFill>
              </a:rPr>
              <a:t>Desolvate-&gt;</a:t>
            </a:r>
          </a:p>
          <a:p>
            <a:pPr eaLnBrk="1" fontAlgn="base" hangingPunct="1">
              <a:spcBef>
                <a:spcPct val="0"/>
              </a:spcBef>
              <a:spcAft>
                <a:spcPct val="0"/>
              </a:spcAft>
            </a:pPr>
            <a:r>
              <a:rPr lang="en-US" altLang="en-US" b="1">
                <a:solidFill>
                  <a:srgbClr val="000000"/>
                </a:solidFill>
              </a:rPr>
              <a:t>Bare Ions</a:t>
            </a:r>
          </a:p>
        </p:txBody>
      </p:sp>
      <p:sp>
        <p:nvSpPr>
          <p:cNvPr id="28689" name="TextBox 17"/>
          <p:cNvSpPr txBox="1">
            <a:spLocks noChangeArrowheads="1"/>
          </p:cNvSpPr>
          <p:nvPr/>
        </p:nvSpPr>
        <p:spPr bwMode="auto">
          <a:xfrm>
            <a:off x="3000375" y="5224463"/>
            <a:ext cx="1069975"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a:solidFill>
                  <a:srgbClr val="000000"/>
                </a:solidFill>
              </a:rPr>
              <a:t>Vacuum</a:t>
            </a:r>
          </a:p>
        </p:txBody>
      </p:sp>
      <p:sp>
        <p:nvSpPr>
          <p:cNvPr id="28690" name="TextBox 18"/>
          <p:cNvSpPr txBox="1">
            <a:spLocks noChangeArrowheads="1"/>
          </p:cNvSpPr>
          <p:nvPr/>
        </p:nvSpPr>
        <p:spPr bwMode="auto">
          <a:xfrm>
            <a:off x="1306513" y="5229225"/>
            <a:ext cx="1531937"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a:solidFill>
                  <a:srgbClr val="000000"/>
                </a:solidFill>
              </a:rPr>
              <a:t>Atmosphere</a:t>
            </a:r>
          </a:p>
        </p:txBody>
      </p:sp>
    </p:spTree>
    <p:extLst>
      <p:ext uri="{BB962C8B-B14F-4D97-AF65-F5344CB8AC3E}">
        <p14:creationId xmlns:p14="http://schemas.microsoft.com/office/powerpoint/2010/main" val="2704599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bwMode="auto">
          <a:xfrm>
            <a:off x="457200" y="228600"/>
            <a:ext cx="82296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t>Protein Analysis by Mass Spectrometry</a:t>
            </a:r>
          </a:p>
        </p:txBody>
      </p:sp>
      <p:sp>
        <p:nvSpPr>
          <p:cNvPr id="3" name="Content Placeholder 2"/>
          <p:cNvSpPr>
            <a:spLocks noGrp="1"/>
          </p:cNvSpPr>
          <p:nvPr>
            <p:ph idx="1"/>
          </p:nvPr>
        </p:nvSpPr>
        <p:spPr>
          <a:xfrm>
            <a:off x="533400" y="1219200"/>
            <a:ext cx="8229600" cy="5105400"/>
          </a:xfrm>
        </p:spPr>
        <p:txBody>
          <a:bodyPr/>
          <a:lstStyle/>
          <a:p>
            <a:pPr marL="0" indent="0">
              <a:buFontTx/>
              <a:buNone/>
              <a:defRPr/>
            </a:pPr>
            <a:r>
              <a:rPr lang="en-US" sz="2400" u="sng" dirty="0"/>
              <a:t>1980-     Mass spectrometry methods</a:t>
            </a:r>
          </a:p>
          <a:p>
            <a:pPr>
              <a:defRPr/>
            </a:pPr>
            <a:r>
              <a:rPr lang="en-US" sz="2400" dirty="0"/>
              <a:t>MALDI and ESI</a:t>
            </a:r>
          </a:p>
          <a:p>
            <a:pPr>
              <a:defRPr/>
            </a:pPr>
            <a:r>
              <a:rPr lang="en-US" sz="2400" dirty="0"/>
              <a:t>MS technology advances</a:t>
            </a:r>
          </a:p>
          <a:p>
            <a:pPr>
              <a:defRPr/>
            </a:pPr>
            <a:r>
              <a:rPr lang="en-US" sz="2400" dirty="0"/>
              <a:t>Coupling of HPLC and MS</a:t>
            </a:r>
          </a:p>
          <a:p>
            <a:pPr>
              <a:defRPr/>
            </a:pPr>
            <a:r>
              <a:rPr lang="en-US" sz="2400" dirty="0"/>
              <a:t>High-resolution, -sensitivity and –throughput instruments</a:t>
            </a:r>
          </a:p>
          <a:p>
            <a:pPr lvl="1">
              <a:defRPr/>
            </a:pPr>
            <a:r>
              <a:rPr lang="en-US" sz="2400" dirty="0"/>
              <a:t>e.g., MALDI/TOF, Q-TOFMS, ion traps (linear and </a:t>
            </a:r>
            <a:r>
              <a:rPr lang="en-US" sz="2400" dirty="0" err="1"/>
              <a:t>Orbitrap</a:t>
            </a:r>
            <a:r>
              <a:rPr lang="en-US" sz="2400" dirty="0"/>
              <a:t>)</a:t>
            </a:r>
          </a:p>
          <a:p>
            <a:pPr>
              <a:defRPr/>
            </a:pPr>
            <a:r>
              <a:rPr lang="en-US" sz="2400" dirty="0"/>
              <a:t>MS – high accuracy molecular weight, relative abundance</a:t>
            </a:r>
          </a:p>
          <a:p>
            <a:pPr>
              <a:defRPr/>
            </a:pPr>
            <a:r>
              <a:rPr lang="en-US" sz="2400" dirty="0" err="1"/>
              <a:t>MS</a:t>
            </a:r>
            <a:r>
              <a:rPr lang="en-US" sz="2400" baseline="30000" dirty="0" err="1"/>
              <a:t>n</a:t>
            </a:r>
            <a:r>
              <a:rPr lang="en-US" sz="2400" dirty="0"/>
              <a:t> – primary sequence, post-translational modifications</a:t>
            </a:r>
          </a:p>
          <a:p>
            <a:pPr>
              <a:defRPr/>
            </a:pPr>
            <a:r>
              <a:rPr lang="en-US" sz="2400" dirty="0"/>
              <a:t>Ideal technology for large-scale protein analysis research</a:t>
            </a:r>
          </a:p>
          <a:p>
            <a:pPr>
              <a:defRPr/>
            </a:pPr>
            <a:r>
              <a:rPr lang="en-US" sz="2400" dirty="0"/>
              <a:t>Identification and quantitation</a:t>
            </a:r>
          </a:p>
          <a:p>
            <a:pPr>
              <a:defRPr/>
            </a:pPr>
            <a:r>
              <a:rPr lang="en-US" sz="2400" dirty="0"/>
              <a:t>Initial application: SDS-PAGE fractionation and MS analysis</a:t>
            </a:r>
          </a:p>
          <a:p>
            <a:pPr>
              <a:defRPr/>
            </a:pPr>
            <a:endParaRPr lang="en-US" sz="3200" dirty="0"/>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4" name="Footer Placeholder 3"/>
          <p:cNvSpPr>
            <a:spLocks noGrp="1"/>
          </p:cNvSpPr>
          <p:nvPr>
            <p:ph type="ftr" sz="quarter" idx="11"/>
          </p:nvPr>
        </p:nvSpPr>
        <p:spPr/>
        <p:txBody>
          <a:bodyPr/>
          <a:lstStyle/>
          <a:p>
            <a:r>
              <a:rPr lang="en-US"/>
              <a:t>Hsu group meeting</a:t>
            </a:r>
          </a:p>
        </p:txBody>
      </p:sp>
      <p:sp>
        <p:nvSpPr>
          <p:cNvPr id="29700" name="Slide Number Placeholder 3"/>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9CB05A70-452A-4D88-9A3F-04AB11431F38}" type="slidenum">
              <a:rPr lang="en-US" altLang="en-US" b="0" smtClean="0">
                <a:solidFill>
                  <a:srgbClr val="000000"/>
                </a:solidFill>
              </a:rPr>
              <a:pPr eaLnBrk="1" hangingPunct="1"/>
              <a:t>17</a:t>
            </a:fld>
            <a:endParaRPr lang="en-US" altLang="en-US" b="0">
              <a:solidFill>
                <a:srgbClr val="000000"/>
              </a:solidFill>
            </a:endParaRPr>
          </a:p>
        </p:txBody>
      </p:sp>
    </p:spTree>
    <p:extLst>
      <p:ext uri="{BB962C8B-B14F-4D97-AF65-F5344CB8AC3E}">
        <p14:creationId xmlns:p14="http://schemas.microsoft.com/office/powerpoint/2010/main" val="2222208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bwMode="auto">
          <a:xfrm>
            <a:off x="381000" y="1905000"/>
            <a:ext cx="8229600" cy="2971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t>Mass Spectrometry</a:t>
            </a:r>
            <a:br>
              <a:rPr lang="en-US" altLang="en-US" dirty="0"/>
            </a:br>
            <a:r>
              <a:rPr lang="en-US" altLang="en-US" dirty="0"/>
              <a:t>Applied to</a:t>
            </a:r>
            <a:br>
              <a:rPr lang="en-US" altLang="en-US" dirty="0"/>
            </a:br>
            <a:r>
              <a:rPr lang="en-US" altLang="en-US" dirty="0"/>
              <a:t>Protein Analysis</a:t>
            </a:r>
            <a:br>
              <a:rPr lang="en-US" altLang="en-US" dirty="0"/>
            </a:br>
            <a:r>
              <a:rPr lang="en-US" altLang="en-US" dirty="0"/>
              <a:t>(Proteomics)</a:t>
            </a:r>
            <a:br>
              <a:rPr lang="en-US" altLang="en-US" dirty="0"/>
            </a:br>
            <a:r>
              <a:rPr lang="en-US" altLang="en-US" dirty="0"/>
              <a:t>Methods</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31747" name="Slide Number Placeholder 3"/>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12BBD142-8002-47E5-8BD4-E146F8AE9564}" type="slidenum">
              <a:rPr lang="en-US" altLang="en-US" b="0" smtClean="0">
                <a:solidFill>
                  <a:srgbClr val="000000"/>
                </a:solidFill>
              </a:rPr>
              <a:pPr eaLnBrk="1" hangingPunct="1"/>
              <a:t>18</a:t>
            </a:fld>
            <a:endParaRPr lang="en-US" altLang="en-US" b="0" dirty="0">
              <a:solidFill>
                <a:srgbClr val="000000"/>
              </a:solidFill>
            </a:endParaRPr>
          </a:p>
        </p:txBody>
      </p:sp>
    </p:spTree>
    <p:extLst>
      <p:ext uri="{BB962C8B-B14F-4D97-AF65-F5344CB8AC3E}">
        <p14:creationId xmlns:p14="http://schemas.microsoft.com/office/powerpoint/2010/main" val="3850399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bwMode="auto">
          <a:xfrm>
            <a:off x="457200" y="304800"/>
            <a:ext cx="82296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t>MS Proteomics</a:t>
            </a:r>
          </a:p>
        </p:txBody>
      </p:sp>
      <p:sp>
        <p:nvSpPr>
          <p:cNvPr id="32771" name="Content Placeholder 2"/>
          <p:cNvSpPr>
            <a:spLocks noGrp="1"/>
          </p:cNvSpPr>
          <p:nvPr>
            <p:ph idx="1"/>
          </p:nvPr>
        </p:nvSpPr>
        <p:spPr>
          <a:xfrm>
            <a:off x="838200" y="1219200"/>
            <a:ext cx="7315200" cy="4648200"/>
          </a:xfrm>
        </p:spPr>
        <p:txBody>
          <a:bodyPr/>
          <a:lstStyle/>
          <a:p>
            <a:r>
              <a:rPr lang="en-US" altLang="en-US" sz="2400" dirty="0"/>
              <a:t>Proteomics is possible because of advances in:</a:t>
            </a:r>
          </a:p>
          <a:p>
            <a:pPr lvl="1"/>
            <a:r>
              <a:rPr lang="en-US" altLang="en-US" sz="2400" dirty="0"/>
              <a:t>Genomics </a:t>
            </a:r>
          </a:p>
          <a:p>
            <a:pPr lvl="2"/>
            <a:r>
              <a:rPr lang="en-US" altLang="en-US" dirty="0"/>
              <a:t>Gene databases;</a:t>
            </a:r>
            <a:r>
              <a:rPr lang="en-US" altLang="en-US" dirty="0">
                <a:sym typeface="Wingdings" pitchFamily="2" charset="2"/>
              </a:rPr>
              <a:t> protein databases</a:t>
            </a:r>
          </a:p>
          <a:p>
            <a:pPr lvl="1"/>
            <a:r>
              <a:rPr lang="en-US" altLang="en-US" sz="2400" dirty="0">
                <a:sym typeface="Wingdings" pitchFamily="2" charset="2"/>
              </a:rPr>
              <a:t>Computer hardware and software</a:t>
            </a:r>
          </a:p>
          <a:p>
            <a:pPr lvl="2"/>
            <a:r>
              <a:rPr lang="en-US" altLang="en-US" dirty="0">
                <a:sym typeface="Wingdings" pitchFamily="2" charset="2"/>
              </a:rPr>
              <a:t>Informatics, bioinformatics</a:t>
            </a:r>
          </a:p>
          <a:p>
            <a:pPr lvl="1"/>
            <a:r>
              <a:rPr lang="en-US" altLang="en-US" sz="2400" dirty="0"/>
              <a:t>Protein/peptide preparation methods</a:t>
            </a:r>
          </a:p>
          <a:p>
            <a:pPr lvl="2"/>
            <a:r>
              <a:rPr lang="en-US" altLang="en-US" dirty="0"/>
              <a:t>Isolation, enrichment, fractionation</a:t>
            </a:r>
          </a:p>
          <a:p>
            <a:pPr lvl="1"/>
            <a:r>
              <a:rPr lang="en-US" altLang="en-US" sz="2400" dirty="0"/>
              <a:t>Mass spectrometry technology</a:t>
            </a:r>
          </a:p>
          <a:p>
            <a:pPr lvl="2"/>
            <a:r>
              <a:rPr lang="en-US" altLang="en-US" dirty="0"/>
              <a:t>Ion production, separation, transmission, detection</a:t>
            </a:r>
          </a:p>
          <a:p>
            <a:pPr lvl="2"/>
            <a:r>
              <a:rPr lang="en-US" altLang="en-US" dirty="0"/>
              <a:t>Sensitivity, mass measurement accuracy &amp; resolution</a:t>
            </a:r>
          </a:p>
          <a:p>
            <a:pPr lvl="2"/>
            <a:r>
              <a:rPr lang="en-US" altLang="en-US" dirty="0"/>
              <a:t>MS: mass (m/z) and abundance</a:t>
            </a:r>
          </a:p>
          <a:p>
            <a:pPr lvl="2"/>
            <a:r>
              <a:rPr lang="en-US" altLang="en-US" dirty="0"/>
              <a:t>MS/MS: peptide amino acid sequence</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32772" name="Slide Number Placeholder 3"/>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FAFEA9B0-4473-491D-912D-467F19EF3D60}" type="slidenum">
              <a:rPr lang="en-US" altLang="en-US" b="0" smtClean="0">
                <a:solidFill>
                  <a:srgbClr val="000000"/>
                </a:solidFill>
              </a:rPr>
              <a:pPr eaLnBrk="1" hangingPunct="1"/>
              <a:t>19</a:t>
            </a:fld>
            <a:endParaRPr lang="en-US" altLang="en-US" b="0" dirty="0">
              <a:solidFill>
                <a:srgbClr val="000000"/>
              </a:solidFill>
            </a:endParaRPr>
          </a:p>
        </p:txBody>
      </p:sp>
    </p:spTree>
    <p:extLst>
      <p:ext uri="{BB962C8B-B14F-4D97-AF65-F5344CB8AC3E}">
        <p14:creationId xmlns:p14="http://schemas.microsoft.com/office/powerpoint/2010/main" val="3515949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1766786" y="111783"/>
            <a:ext cx="5334000" cy="685800"/>
          </a:xfrm>
        </p:spPr>
        <p:txBody>
          <a:bodyPr>
            <a:normAutofit/>
          </a:bodyPr>
          <a:lstStyle/>
          <a:p>
            <a:r>
              <a:rPr lang="en-US" altLang="en-US" dirty="0">
                <a:solidFill>
                  <a:schemeClr val="tx1"/>
                </a:solidFill>
              </a:rPr>
              <a:t>Proteomics History</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4" name="Footer Placeholder 3"/>
          <p:cNvSpPr>
            <a:spLocks noGrp="1"/>
          </p:cNvSpPr>
          <p:nvPr>
            <p:ph type="ftr" sz="quarter" idx="11"/>
          </p:nvPr>
        </p:nvSpPr>
        <p:spPr/>
        <p:txBody>
          <a:bodyPr/>
          <a:lstStyle/>
          <a:p>
            <a:r>
              <a:rPr lang="en-US"/>
              <a:t>Hsu group meeting</a:t>
            </a:r>
          </a:p>
        </p:txBody>
      </p:sp>
      <p:sp>
        <p:nvSpPr>
          <p:cNvPr id="13" name="Slide Number Placeholder 5"/>
          <p:cNvSpPr>
            <a:spLocks noGrp="1"/>
          </p:cNvSpPr>
          <p:nvPr>
            <p:ph type="sldNum" sz="quarter" idx="12"/>
          </p:nvPr>
        </p:nvSpPr>
        <p:spPr>
          <a:xfrm>
            <a:off x="6553200" y="6245225"/>
            <a:ext cx="2133600" cy="476250"/>
          </a:xfrm>
          <a:prstGeom prst="rect">
            <a:avLst/>
          </a:prstGeom>
        </p:spPr>
        <p:txBody>
          <a:bodyPr/>
          <a:lstStyle/>
          <a:p>
            <a:fld id="{E3A487CD-6CAB-40FD-997E-3CB4F4EEAE28}" type="slidenum">
              <a:rPr lang="en-US" altLang="en-US">
                <a:solidFill>
                  <a:srgbClr val="000000"/>
                </a:solidFill>
                <a:latin typeface="Calibri" panose="020F0502020204030204" pitchFamily="34" charset="0"/>
              </a:rPr>
              <a:pPr/>
              <a:t>20</a:t>
            </a:fld>
            <a:endParaRPr lang="en-US" altLang="en-US" dirty="0">
              <a:solidFill>
                <a:srgbClr val="000000"/>
              </a:solidFill>
              <a:latin typeface="Calibri" panose="020F0502020204030204" pitchFamily="34" charset="0"/>
            </a:endParaRPr>
          </a:p>
        </p:txBody>
      </p:sp>
      <p:pic>
        <p:nvPicPr>
          <p:cNvPr id="145426"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8629" y="999719"/>
            <a:ext cx="3105540" cy="3038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5427"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4330697"/>
            <a:ext cx="3505200" cy="243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5439" name="Picture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9432" y="3487841"/>
            <a:ext cx="3080284" cy="2988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13413" y="2062321"/>
            <a:ext cx="2355645" cy="1698927"/>
          </a:xfrm>
          <a:prstGeom prst="rect">
            <a:avLst/>
          </a:prstGeom>
          <a:noFill/>
        </p:spPr>
        <p:txBody>
          <a:bodyPr wrap="none" rtlCol="0">
            <a:spAutoFit/>
          </a:bodyPr>
          <a:lstStyle/>
          <a:p>
            <a:pPr fontAlgn="base">
              <a:spcBef>
                <a:spcPct val="20000"/>
              </a:spcBef>
              <a:spcAft>
                <a:spcPct val="0"/>
              </a:spcAft>
            </a:pPr>
            <a:r>
              <a:rPr lang="en-US" altLang="en-US" u="sng" dirty="0">
                <a:solidFill>
                  <a:srgbClr val="000000"/>
                </a:solidFill>
                <a:latin typeface="Calibri" panose="020F0502020204030204" pitchFamily="34" charset="0"/>
              </a:rPr>
              <a:t>Method</a:t>
            </a:r>
          </a:p>
          <a:p>
            <a:pPr fontAlgn="base">
              <a:spcBef>
                <a:spcPct val="20000"/>
              </a:spcBef>
              <a:spcAft>
                <a:spcPct val="0"/>
              </a:spcAft>
            </a:pPr>
            <a:r>
              <a:rPr lang="en-US" altLang="en-US" dirty="0">
                <a:solidFill>
                  <a:srgbClr val="000000"/>
                </a:solidFill>
                <a:latin typeface="Calibri" panose="020F0502020204030204" pitchFamily="34" charset="0"/>
              </a:rPr>
              <a:t>-</a:t>
            </a:r>
            <a:r>
              <a:rPr lang="en-US" altLang="en-US" dirty="0" err="1">
                <a:solidFill>
                  <a:srgbClr val="000000"/>
                </a:solidFill>
                <a:latin typeface="Calibri" panose="020F0502020204030204" pitchFamily="34" charset="0"/>
              </a:rPr>
              <a:t>CNBr</a:t>
            </a:r>
            <a:r>
              <a:rPr lang="en-US" altLang="en-US" dirty="0">
                <a:solidFill>
                  <a:srgbClr val="000000"/>
                </a:solidFill>
                <a:latin typeface="Calibri" panose="020F0502020204030204" pitchFamily="34" charset="0"/>
              </a:rPr>
              <a:t>/trypsin digest</a:t>
            </a:r>
          </a:p>
          <a:p>
            <a:pPr fontAlgn="base">
              <a:spcBef>
                <a:spcPct val="20000"/>
              </a:spcBef>
              <a:spcAft>
                <a:spcPct val="0"/>
              </a:spcAft>
            </a:pPr>
            <a:r>
              <a:rPr lang="en-US" altLang="en-US" dirty="0">
                <a:solidFill>
                  <a:srgbClr val="000000"/>
                </a:solidFill>
                <a:latin typeface="Calibri" panose="020F0502020204030204" pitchFamily="34" charset="0"/>
              </a:rPr>
              <a:t>-HPLC</a:t>
            </a:r>
          </a:p>
          <a:p>
            <a:pPr fontAlgn="base">
              <a:spcBef>
                <a:spcPct val="20000"/>
              </a:spcBef>
              <a:spcAft>
                <a:spcPct val="0"/>
              </a:spcAft>
            </a:pPr>
            <a:r>
              <a:rPr lang="en-US" altLang="en-US" dirty="0">
                <a:solidFill>
                  <a:srgbClr val="000000"/>
                </a:solidFill>
                <a:latin typeface="Calibri" panose="020F0502020204030204" pitchFamily="34" charset="0"/>
              </a:rPr>
              <a:t>-FAB-CID/MS/MS (TSQ)</a:t>
            </a:r>
          </a:p>
          <a:p>
            <a:pPr fontAlgn="base">
              <a:spcBef>
                <a:spcPct val="20000"/>
              </a:spcBef>
              <a:spcAft>
                <a:spcPct val="0"/>
              </a:spcAft>
            </a:pPr>
            <a:r>
              <a:rPr lang="en-US" altLang="en-US" dirty="0">
                <a:solidFill>
                  <a:srgbClr val="000000"/>
                </a:solidFill>
                <a:latin typeface="Calibri" panose="020F0502020204030204" pitchFamily="34" charset="0"/>
              </a:rPr>
              <a:t>-</a:t>
            </a:r>
            <a:r>
              <a:rPr lang="en-US" altLang="en-US" dirty="0" err="1">
                <a:solidFill>
                  <a:srgbClr val="000000"/>
                </a:solidFill>
                <a:latin typeface="Calibri" panose="020F0502020204030204" pitchFamily="34" charset="0"/>
              </a:rPr>
              <a:t>Edman</a:t>
            </a:r>
            <a:endParaRPr lang="en-US" dirty="0">
              <a:solidFill>
                <a:srgbClr val="000000"/>
              </a:solidFill>
              <a:latin typeface="Calibri" panose="020F0502020204030204" pitchFamily="34" charset="0"/>
            </a:endParaRPr>
          </a:p>
        </p:txBody>
      </p:sp>
      <p:sp>
        <p:nvSpPr>
          <p:cNvPr id="16" name="TextBox 15"/>
          <p:cNvSpPr txBox="1"/>
          <p:nvPr/>
        </p:nvSpPr>
        <p:spPr>
          <a:xfrm>
            <a:off x="16415" y="3981306"/>
            <a:ext cx="1062342" cy="923330"/>
          </a:xfrm>
          <a:prstGeom prst="rect">
            <a:avLst/>
          </a:prstGeom>
          <a:noFill/>
        </p:spPr>
        <p:txBody>
          <a:bodyPr wrap="none" rtlCol="0">
            <a:spAutoFit/>
          </a:bodyPr>
          <a:lstStyle/>
          <a:p>
            <a:pPr algn="ctr" fontAlgn="base">
              <a:spcBef>
                <a:spcPct val="0"/>
              </a:spcBef>
              <a:spcAft>
                <a:spcPct val="0"/>
              </a:spcAft>
            </a:pPr>
            <a:r>
              <a:rPr lang="en-US" b="1" dirty="0">
                <a:solidFill>
                  <a:srgbClr val="000000"/>
                </a:solidFill>
                <a:latin typeface="Calibri" panose="020F0502020204030204" pitchFamily="34" charset="0"/>
              </a:rPr>
              <a:t>b-type</a:t>
            </a:r>
          </a:p>
          <a:p>
            <a:pPr algn="ctr" fontAlgn="base">
              <a:spcBef>
                <a:spcPct val="0"/>
              </a:spcBef>
              <a:spcAft>
                <a:spcPct val="0"/>
              </a:spcAft>
            </a:pPr>
            <a:r>
              <a:rPr lang="en-US" b="1" dirty="0">
                <a:solidFill>
                  <a:srgbClr val="000000"/>
                </a:solidFill>
                <a:latin typeface="Calibri" panose="020F0502020204030204" pitchFamily="34" charset="0"/>
              </a:rPr>
              <a:t>fragment</a:t>
            </a:r>
          </a:p>
          <a:p>
            <a:pPr algn="ctr" fontAlgn="base">
              <a:spcBef>
                <a:spcPct val="0"/>
              </a:spcBef>
              <a:spcAft>
                <a:spcPct val="0"/>
              </a:spcAft>
            </a:pPr>
            <a:r>
              <a:rPr lang="en-US" b="1" dirty="0">
                <a:solidFill>
                  <a:srgbClr val="000000"/>
                </a:solidFill>
                <a:latin typeface="Calibri" panose="020F0502020204030204" pitchFamily="34" charset="0"/>
              </a:rPr>
              <a:t>ions</a:t>
            </a:r>
          </a:p>
        </p:txBody>
      </p:sp>
      <p:sp>
        <p:nvSpPr>
          <p:cNvPr id="17" name="TextBox 16"/>
          <p:cNvSpPr txBox="1"/>
          <p:nvPr/>
        </p:nvSpPr>
        <p:spPr>
          <a:xfrm>
            <a:off x="3902615" y="3968216"/>
            <a:ext cx="1062342" cy="923330"/>
          </a:xfrm>
          <a:prstGeom prst="rect">
            <a:avLst/>
          </a:prstGeom>
          <a:noFill/>
        </p:spPr>
        <p:txBody>
          <a:bodyPr wrap="none" rtlCol="0">
            <a:spAutoFit/>
          </a:bodyPr>
          <a:lstStyle/>
          <a:p>
            <a:pPr algn="ctr" fontAlgn="base">
              <a:spcBef>
                <a:spcPct val="0"/>
              </a:spcBef>
              <a:spcAft>
                <a:spcPct val="0"/>
              </a:spcAft>
            </a:pPr>
            <a:r>
              <a:rPr lang="en-US" b="1" dirty="0">
                <a:solidFill>
                  <a:srgbClr val="000000"/>
                </a:solidFill>
                <a:latin typeface="Calibri" panose="020F0502020204030204" pitchFamily="34" charset="0"/>
              </a:rPr>
              <a:t>y-type</a:t>
            </a:r>
          </a:p>
          <a:p>
            <a:pPr algn="ctr" fontAlgn="base">
              <a:spcBef>
                <a:spcPct val="0"/>
              </a:spcBef>
              <a:spcAft>
                <a:spcPct val="0"/>
              </a:spcAft>
            </a:pPr>
            <a:r>
              <a:rPr lang="en-US" b="1" dirty="0">
                <a:solidFill>
                  <a:srgbClr val="000000"/>
                </a:solidFill>
                <a:latin typeface="Calibri" panose="020F0502020204030204" pitchFamily="34" charset="0"/>
              </a:rPr>
              <a:t>fragment</a:t>
            </a:r>
          </a:p>
          <a:p>
            <a:pPr algn="ctr" fontAlgn="base">
              <a:spcBef>
                <a:spcPct val="0"/>
              </a:spcBef>
              <a:spcAft>
                <a:spcPct val="0"/>
              </a:spcAft>
            </a:pPr>
            <a:r>
              <a:rPr lang="en-US" b="1" dirty="0">
                <a:solidFill>
                  <a:srgbClr val="000000"/>
                </a:solidFill>
                <a:latin typeface="Calibri" panose="020F0502020204030204" pitchFamily="34" charset="0"/>
              </a:rPr>
              <a:t>ions</a:t>
            </a:r>
          </a:p>
        </p:txBody>
      </p:sp>
      <p:sp>
        <p:nvSpPr>
          <p:cNvPr id="18" name="TextBox 17"/>
          <p:cNvSpPr txBox="1"/>
          <p:nvPr/>
        </p:nvSpPr>
        <p:spPr>
          <a:xfrm>
            <a:off x="5193609" y="3984625"/>
            <a:ext cx="3633582" cy="400110"/>
          </a:xfrm>
          <a:prstGeom prst="rect">
            <a:avLst/>
          </a:prstGeom>
          <a:noFill/>
        </p:spPr>
        <p:txBody>
          <a:bodyPr wrap="square" rtlCol="0">
            <a:spAutoFit/>
          </a:bodyPr>
          <a:lstStyle/>
          <a:p>
            <a:pPr fontAlgn="base">
              <a:spcBef>
                <a:spcPct val="0"/>
              </a:spcBef>
              <a:spcAft>
                <a:spcPct val="0"/>
              </a:spcAft>
            </a:pPr>
            <a:r>
              <a:rPr lang="en-US" b="1" dirty="0">
                <a:solidFill>
                  <a:srgbClr val="000000"/>
                </a:solidFill>
                <a:latin typeface="Calibri" panose="020F0502020204030204" pitchFamily="34" charset="0"/>
              </a:rPr>
              <a:t>Full protein sequence </a:t>
            </a:r>
            <a:r>
              <a:rPr lang="en-US" sz="2000" b="1" dirty="0">
                <a:solidFill>
                  <a:srgbClr val="000000"/>
                </a:solidFill>
                <a:latin typeface="Calibri" panose="020F0502020204030204" pitchFamily="34" charset="0"/>
              </a:rPr>
              <a:t>determined</a:t>
            </a:r>
            <a:endParaRPr lang="en-US" b="1" dirty="0">
              <a:solidFill>
                <a:srgbClr val="000000"/>
              </a:solidFill>
              <a:latin typeface="Calibri" panose="020F0502020204030204" pitchFamily="34" charset="0"/>
            </a:endParaRPr>
          </a:p>
        </p:txBody>
      </p:sp>
      <p:sp>
        <p:nvSpPr>
          <p:cNvPr id="19" name="TextBox 18"/>
          <p:cNvSpPr txBox="1"/>
          <p:nvPr/>
        </p:nvSpPr>
        <p:spPr>
          <a:xfrm>
            <a:off x="475642" y="6376521"/>
            <a:ext cx="4085477" cy="369332"/>
          </a:xfrm>
          <a:prstGeom prst="rect">
            <a:avLst/>
          </a:prstGeom>
          <a:solidFill>
            <a:schemeClr val="bg1"/>
          </a:solidFill>
        </p:spPr>
        <p:txBody>
          <a:bodyPr wrap="none" rtlCol="0">
            <a:spAutoFit/>
          </a:bodyPr>
          <a:lstStyle/>
          <a:p>
            <a:pPr fontAlgn="base">
              <a:spcBef>
                <a:spcPct val="0"/>
              </a:spcBef>
              <a:spcAft>
                <a:spcPct val="0"/>
              </a:spcAft>
            </a:pPr>
            <a:r>
              <a:rPr lang="en-US" b="1" dirty="0">
                <a:solidFill>
                  <a:srgbClr val="000000"/>
                </a:solidFill>
                <a:latin typeface="Calibri" panose="020F0502020204030204" pitchFamily="34" charset="0"/>
              </a:rPr>
              <a:t>Manual interpretation of MS/MS spectra</a:t>
            </a:r>
          </a:p>
        </p:txBody>
      </p:sp>
      <p:sp>
        <p:nvSpPr>
          <p:cNvPr id="20" name="Rectangle 3"/>
          <p:cNvSpPr txBox="1">
            <a:spLocks noChangeArrowheads="1"/>
          </p:cNvSpPr>
          <p:nvPr/>
        </p:nvSpPr>
        <p:spPr bwMode="auto">
          <a:xfrm>
            <a:off x="199103" y="894071"/>
            <a:ext cx="5887065" cy="10004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2800" baseline="0">
                <a:solidFill>
                  <a:schemeClr val="tx1"/>
                </a:solidFill>
                <a:latin typeface="Calibri" panose="020F0502020204030204" pitchFamily="34"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Calibri" panose="020F0502020204030204" pitchFamily="34" charset="0"/>
                <a:cs typeface="+mn-cs"/>
              </a:defRPr>
            </a:lvl2pPr>
            <a:lvl3pPr marL="1143000" indent="-228600" algn="l" rtl="0" eaLnBrk="0" fontAlgn="base" hangingPunct="0">
              <a:spcBef>
                <a:spcPct val="20000"/>
              </a:spcBef>
              <a:spcAft>
                <a:spcPct val="0"/>
              </a:spcAft>
              <a:buChar char="•"/>
              <a:defRPr sz="2400">
                <a:solidFill>
                  <a:schemeClr val="tx1"/>
                </a:solidFill>
                <a:latin typeface="Calibri" panose="020F0502020204030204" pitchFamily="34" charset="0"/>
                <a:cs typeface="+mn-cs"/>
              </a:defRPr>
            </a:lvl3pPr>
            <a:lvl4pPr marL="1600200" indent="-228600" algn="l" rtl="0" eaLnBrk="0" fontAlgn="base" hangingPunct="0">
              <a:spcBef>
                <a:spcPct val="20000"/>
              </a:spcBef>
              <a:spcAft>
                <a:spcPct val="0"/>
              </a:spcAft>
              <a:buChar char="–"/>
              <a:defRPr sz="2000">
                <a:solidFill>
                  <a:schemeClr val="tx1"/>
                </a:solidFill>
                <a:latin typeface="Calibri" panose="020F0502020204030204" pitchFamily="34" charset="0"/>
                <a:cs typeface="+mn-cs"/>
              </a:defRPr>
            </a:lvl4pPr>
            <a:lvl5pPr marL="2057400" indent="-228600" algn="l" rtl="0" eaLnBrk="0" fontAlgn="base" hangingPunct="0">
              <a:spcBef>
                <a:spcPct val="20000"/>
              </a:spcBef>
              <a:spcAft>
                <a:spcPct val="0"/>
              </a:spcAft>
              <a:buChar char="»"/>
              <a:defRPr sz="2000">
                <a:solidFill>
                  <a:schemeClr val="tx1"/>
                </a:solidFill>
                <a:latin typeface="Calibri" panose="020F0502020204030204" pitchFamily="34" charset="0"/>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a:lnSpc>
                <a:spcPct val="80000"/>
              </a:lnSpc>
              <a:buFontTx/>
              <a:buNone/>
              <a:defRPr/>
            </a:pPr>
            <a:r>
              <a:rPr lang="en-US" altLang="en-US" sz="2400" kern="0" dirty="0">
                <a:solidFill>
                  <a:srgbClr val="000000"/>
                </a:solidFill>
              </a:rPr>
              <a:t>D.F. Hunt, J.R. Yates </a:t>
            </a:r>
            <a:r>
              <a:rPr lang="en-US" altLang="en-US" sz="2400" i="1" kern="0" dirty="0">
                <a:solidFill>
                  <a:srgbClr val="000000"/>
                </a:solidFill>
              </a:rPr>
              <a:t>et al.</a:t>
            </a:r>
          </a:p>
          <a:p>
            <a:pPr>
              <a:lnSpc>
                <a:spcPct val="80000"/>
              </a:lnSpc>
              <a:buFontTx/>
              <a:buNone/>
              <a:defRPr/>
            </a:pPr>
            <a:r>
              <a:rPr lang="en-US" altLang="en-US" sz="2400" kern="0" dirty="0">
                <a:solidFill>
                  <a:srgbClr val="000000"/>
                </a:solidFill>
              </a:rPr>
              <a:t>“Protein sequencing by mass spectrometry”</a:t>
            </a:r>
          </a:p>
          <a:p>
            <a:pPr>
              <a:lnSpc>
                <a:spcPct val="80000"/>
              </a:lnSpc>
              <a:buFontTx/>
              <a:buNone/>
              <a:defRPr/>
            </a:pPr>
            <a:r>
              <a:rPr lang="en-US" altLang="en-US" sz="2400" i="1" kern="0" dirty="0">
                <a:solidFill>
                  <a:srgbClr val="000000"/>
                </a:solidFill>
              </a:rPr>
              <a:t>Proc. Natl. Acad. Sci. 83, 6233 (1986)</a:t>
            </a:r>
          </a:p>
        </p:txBody>
      </p:sp>
      <p:sp>
        <p:nvSpPr>
          <p:cNvPr id="21" name="TextBox 20"/>
          <p:cNvSpPr txBox="1"/>
          <p:nvPr/>
        </p:nvSpPr>
        <p:spPr>
          <a:xfrm>
            <a:off x="3548559" y="2419281"/>
            <a:ext cx="2091919" cy="1138773"/>
          </a:xfrm>
          <a:prstGeom prst="rect">
            <a:avLst/>
          </a:prstGeom>
          <a:noFill/>
        </p:spPr>
        <p:txBody>
          <a:bodyPr wrap="none" rtlCol="0">
            <a:spAutoFit/>
          </a:bodyPr>
          <a:lstStyle/>
          <a:p>
            <a:pPr algn="ctr" fontAlgn="base">
              <a:spcBef>
                <a:spcPct val="20000"/>
              </a:spcBef>
              <a:spcAft>
                <a:spcPct val="0"/>
              </a:spcAft>
            </a:pPr>
            <a:r>
              <a:rPr lang="en-US" sz="2000" b="1" dirty="0">
                <a:solidFill>
                  <a:srgbClr val="000000"/>
                </a:solidFill>
                <a:latin typeface="Calibri" panose="020F0502020204030204" pitchFamily="34" charset="0"/>
              </a:rPr>
              <a:t>Low-energy CID</a:t>
            </a:r>
          </a:p>
          <a:p>
            <a:pPr algn="ctr" fontAlgn="base">
              <a:spcBef>
                <a:spcPct val="20000"/>
              </a:spcBef>
              <a:spcAft>
                <a:spcPct val="0"/>
              </a:spcAft>
            </a:pPr>
            <a:r>
              <a:rPr lang="en-US" sz="2000" b="1" dirty="0">
                <a:solidFill>
                  <a:srgbClr val="000000"/>
                </a:solidFill>
                <a:latin typeface="Calibri" panose="020F0502020204030204" pitchFamily="34" charset="0"/>
              </a:rPr>
              <a:t>Peptide Sequence</a:t>
            </a:r>
          </a:p>
          <a:p>
            <a:pPr algn="ctr" fontAlgn="base">
              <a:spcBef>
                <a:spcPct val="20000"/>
              </a:spcBef>
              <a:spcAft>
                <a:spcPct val="0"/>
              </a:spcAft>
            </a:pPr>
            <a:r>
              <a:rPr lang="en-US" sz="2000" b="1" dirty="0">
                <a:solidFill>
                  <a:srgbClr val="000000"/>
                </a:solidFill>
                <a:latin typeface="Calibri" panose="020F0502020204030204" pitchFamily="34" charset="0"/>
              </a:rPr>
              <a:t>Identification</a:t>
            </a:r>
          </a:p>
        </p:txBody>
      </p:sp>
    </p:spTree>
    <p:extLst>
      <p:ext uri="{BB962C8B-B14F-4D97-AF65-F5344CB8AC3E}">
        <p14:creationId xmlns:p14="http://schemas.microsoft.com/office/powerpoint/2010/main" val="2234952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bwMode="auto">
          <a:xfrm>
            <a:off x="457200" y="228600"/>
            <a:ext cx="82296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solidFill>
                  <a:schemeClr val="tx1"/>
                </a:solidFill>
              </a:rPr>
              <a:t>Proteomics History</a:t>
            </a:r>
          </a:p>
        </p:txBody>
      </p:sp>
      <p:sp>
        <p:nvSpPr>
          <p:cNvPr id="4" name="Date Placeholder 3"/>
          <p:cNvSpPr>
            <a:spLocks noGrp="1"/>
          </p:cNvSpPr>
          <p:nvPr>
            <p:ph type="dt" sz="half" idx="10"/>
          </p:nvPr>
        </p:nvSpPr>
        <p:spPr>
          <a:xfrm>
            <a:off x="0" y="6356350"/>
            <a:ext cx="2057400" cy="365125"/>
          </a:xfrm>
          <a:prstGeom prst="rect">
            <a:avLst/>
          </a:prstGeom>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34818" name="Slide Number Placeholder 3"/>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22F71B41-0B41-476A-9076-C38A3F9B20A8}" type="slidenum">
              <a:rPr lang="en-US" altLang="en-US" smtClean="0">
                <a:solidFill>
                  <a:srgbClr val="000000"/>
                </a:solidFill>
              </a:rPr>
              <a:pPr eaLnBrk="1" hangingPunct="1"/>
              <a:t>21</a:t>
            </a:fld>
            <a:endParaRPr lang="en-US" altLang="en-US">
              <a:solidFill>
                <a:srgbClr val="000000"/>
              </a:solidFill>
            </a:endParaRPr>
          </a:p>
        </p:txBody>
      </p:sp>
      <p:sp>
        <p:nvSpPr>
          <p:cNvPr id="7" name="Rectangle 3"/>
          <p:cNvSpPr txBox="1">
            <a:spLocks noChangeArrowheads="1"/>
          </p:cNvSpPr>
          <p:nvPr/>
        </p:nvSpPr>
        <p:spPr bwMode="auto">
          <a:xfrm>
            <a:off x="228600" y="1209365"/>
            <a:ext cx="8915400" cy="1371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har char="•"/>
              <a:defRPr sz="2800" baseline="0">
                <a:solidFill>
                  <a:schemeClr val="tx1"/>
                </a:solidFill>
                <a:latin typeface="Calibri" panose="020F0502020204030204" pitchFamily="34"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Calibri" panose="020F0502020204030204" pitchFamily="34" charset="0"/>
                <a:cs typeface="+mn-cs"/>
              </a:defRPr>
            </a:lvl2pPr>
            <a:lvl3pPr marL="1143000" indent="-228600" algn="l" rtl="0" eaLnBrk="0" fontAlgn="base" hangingPunct="0">
              <a:spcBef>
                <a:spcPct val="20000"/>
              </a:spcBef>
              <a:spcAft>
                <a:spcPct val="0"/>
              </a:spcAft>
              <a:buChar char="•"/>
              <a:defRPr sz="2400">
                <a:solidFill>
                  <a:schemeClr val="tx1"/>
                </a:solidFill>
                <a:latin typeface="Calibri" panose="020F0502020204030204" pitchFamily="34" charset="0"/>
                <a:cs typeface="+mn-cs"/>
              </a:defRPr>
            </a:lvl3pPr>
            <a:lvl4pPr marL="1600200" indent="-228600" algn="l" rtl="0" eaLnBrk="0" fontAlgn="base" hangingPunct="0">
              <a:spcBef>
                <a:spcPct val="20000"/>
              </a:spcBef>
              <a:spcAft>
                <a:spcPct val="0"/>
              </a:spcAft>
              <a:buChar char="–"/>
              <a:defRPr sz="2000">
                <a:solidFill>
                  <a:schemeClr val="tx1"/>
                </a:solidFill>
                <a:latin typeface="Calibri" panose="020F0502020204030204" pitchFamily="34" charset="0"/>
                <a:cs typeface="+mn-cs"/>
              </a:defRPr>
            </a:lvl4pPr>
            <a:lvl5pPr marL="2057400" indent="-228600" algn="l" rtl="0" eaLnBrk="0" fontAlgn="base" hangingPunct="0">
              <a:spcBef>
                <a:spcPct val="20000"/>
              </a:spcBef>
              <a:spcAft>
                <a:spcPct val="0"/>
              </a:spcAft>
              <a:buChar char="»"/>
              <a:defRPr sz="2000">
                <a:solidFill>
                  <a:schemeClr val="tx1"/>
                </a:solidFill>
                <a:latin typeface="Calibri" panose="020F0502020204030204" pitchFamily="34" charset="0"/>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a:lnSpc>
                <a:spcPct val="80000"/>
              </a:lnSpc>
              <a:buFontTx/>
              <a:buNone/>
              <a:defRPr/>
            </a:pPr>
            <a:r>
              <a:rPr lang="en-US" altLang="en-US" sz="2400" kern="0" dirty="0">
                <a:solidFill>
                  <a:srgbClr val="000000"/>
                </a:solidFill>
              </a:rPr>
              <a:t>W.J. </a:t>
            </a:r>
            <a:r>
              <a:rPr lang="en-US" altLang="en-US" sz="2400" kern="0" dirty="0" err="1">
                <a:solidFill>
                  <a:srgbClr val="000000"/>
                </a:solidFill>
              </a:rPr>
              <a:t>Henzel</a:t>
            </a:r>
            <a:r>
              <a:rPr lang="en-US" altLang="en-US" sz="2400" kern="0" dirty="0">
                <a:solidFill>
                  <a:srgbClr val="000000"/>
                </a:solidFill>
              </a:rPr>
              <a:t>, J.T. </a:t>
            </a:r>
            <a:r>
              <a:rPr lang="en-US" altLang="en-US" sz="2400" kern="0" dirty="0" err="1">
                <a:solidFill>
                  <a:srgbClr val="000000"/>
                </a:solidFill>
              </a:rPr>
              <a:t>Stults</a:t>
            </a:r>
            <a:r>
              <a:rPr lang="en-US" altLang="en-US" sz="2400" kern="0" dirty="0">
                <a:solidFill>
                  <a:srgbClr val="000000"/>
                </a:solidFill>
              </a:rPr>
              <a:t> and C. Watanabe</a:t>
            </a:r>
          </a:p>
          <a:p>
            <a:pPr>
              <a:lnSpc>
                <a:spcPct val="80000"/>
              </a:lnSpc>
              <a:buFontTx/>
              <a:buNone/>
              <a:defRPr/>
            </a:pPr>
            <a:r>
              <a:rPr lang="en-US" altLang="en-US" sz="2400" kern="0" dirty="0">
                <a:solidFill>
                  <a:srgbClr val="000000"/>
                </a:solidFill>
              </a:rPr>
              <a:t>“Identifying proteins from two-dimensional gels by molecular</a:t>
            </a:r>
          </a:p>
          <a:p>
            <a:pPr>
              <a:lnSpc>
                <a:spcPct val="80000"/>
              </a:lnSpc>
              <a:buFontTx/>
              <a:buNone/>
              <a:defRPr/>
            </a:pPr>
            <a:r>
              <a:rPr lang="en-US" altLang="en-US" sz="2400" kern="0" dirty="0">
                <a:solidFill>
                  <a:srgbClr val="000000"/>
                </a:solidFill>
              </a:rPr>
              <a:t>mass searching of peptide fragments in protein sequence databases”</a:t>
            </a:r>
          </a:p>
          <a:p>
            <a:pPr>
              <a:lnSpc>
                <a:spcPct val="80000"/>
              </a:lnSpc>
              <a:buFontTx/>
              <a:buNone/>
              <a:defRPr/>
            </a:pPr>
            <a:r>
              <a:rPr lang="en-US" altLang="en-US" sz="2400" i="1" kern="0" dirty="0">
                <a:solidFill>
                  <a:srgbClr val="000000"/>
                </a:solidFill>
              </a:rPr>
              <a:t>Proc. Natl. Acad. Sci. 90, 5011 (</a:t>
            </a:r>
            <a:r>
              <a:rPr lang="en-US" altLang="en-US" sz="2400" kern="0" dirty="0">
                <a:solidFill>
                  <a:srgbClr val="000000"/>
                </a:solidFill>
              </a:rPr>
              <a:t>1993)</a:t>
            </a:r>
          </a:p>
        </p:txBody>
      </p:sp>
      <p:pic>
        <p:nvPicPr>
          <p:cNvPr id="34821"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2600630"/>
            <a:ext cx="5181600"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228600" y="3288876"/>
            <a:ext cx="3563476" cy="2677656"/>
          </a:xfrm>
          <a:prstGeom prst="rect">
            <a:avLst/>
          </a:prstGeom>
          <a:noFill/>
        </p:spPr>
        <p:txBody>
          <a:bodyPr wrap="none" rtlCol="0">
            <a:spAutoFit/>
          </a:bodyPr>
          <a:lstStyle/>
          <a:p>
            <a:pPr fontAlgn="base">
              <a:spcBef>
                <a:spcPct val="0"/>
              </a:spcBef>
              <a:spcAft>
                <a:spcPct val="0"/>
              </a:spcAft>
            </a:pPr>
            <a:r>
              <a:rPr lang="en-US" sz="2400" u="sng" dirty="0">
                <a:solidFill>
                  <a:srgbClr val="000000"/>
                </a:solidFill>
                <a:latin typeface="Calibri" panose="020F0502020204030204" pitchFamily="34" charset="0"/>
              </a:rPr>
              <a:t>MALDI Method</a:t>
            </a:r>
          </a:p>
          <a:p>
            <a:pPr fontAlgn="base">
              <a:spcBef>
                <a:spcPct val="0"/>
              </a:spcBef>
              <a:spcAft>
                <a:spcPct val="0"/>
              </a:spcAft>
            </a:pPr>
            <a:r>
              <a:rPr lang="en-US" sz="2400" dirty="0">
                <a:solidFill>
                  <a:srgbClr val="000000"/>
                </a:solidFill>
                <a:latin typeface="Calibri" panose="020F0502020204030204" pitchFamily="34" charset="0"/>
              </a:rPr>
              <a:t>-1D gel band or 2D gel spot</a:t>
            </a:r>
          </a:p>
          <a:p>
            <a:pPr fontAlgn="base">
              <a:spcBef>
                <a:spcPct val="0"/>
              </a:spcBef>
              <a:spcAft>
                <a:spcPct val="0"/>
              </a:spcAft>
            </a:pPr>
            <a:r>
              <a:rPr lang="en-US" sz="2400" dirty="0">
                <a:solidFill>
                  <a:srgbClr val="000000"/>
                </a:solidFill>
                <a:latin typeface="Calibri" panose="020F0502020204030204" pitchFamily="34" charset="0"/>
              </a:rPr>
              <a:t>-Trypsin digest</a:t>
            </a:r>
          </a:p>
          <a:p>
            <a:pPr fontAlgn="base">
              <a:spcBef>
                <a:spcPct val="0"/>
              </a:spcBef>
              <a:spcAft>
                <a:spcPct val="0"/>
              </a:spcAft>
            </a:pPr>
            <a:r>
              <a:rPr lang="en-US" sz="2400" dirty="0">
                <a:solidFill>
                  <a:srgbClr val="000000"/>
                </a:solidFill>
                <a:latin typeface="Calibri" panose="020F0502020204030204" pitchFamily="34" charset="0"/>
              </a:rPr>
              <a:t>-Mix with matrix</a:t>
            </a:r>
          </a:p>
          <a:p>
            <a:pPr fontAlgn="base">
              <a:spcBef>
                <a:spcPct val="0"/>
              </a:spcBef>
              <a:spcAft>
                <a:spcPct val="0"/>
              </a:spcAft>
            </a:pPr>
            <a:r>
              <a:rPr lang="en-US" sz="2400" dirty="0">
                <a:solidFill>
                  <a:srgbClr val="000000"/>
                </a:solidFill>
                <a:latin typeface="Calibri" panose="020F0502020204030204" pitchFamily="34" charset="0"/>
              </a:rPr>
              <a:t>-Match measured masses</a:t>
            </a:r>
          </a:p>
          <a:p>
            <a:pPr fontAlgn="base">
              <a:spcBef>
                <a:spcPct val="0"/>
              </a:spcBef>
              <a:spcAft>
                <a:spcPct val="0"/>
              </a:spcAft>
            </a:pPr>
            <a:r>
              <a:rPr lang="en-US" sz="2400" dirty="0">
                <a:solidFill>
                  <a:srgbClr val="000000"/>
                </a:solidFill>
                <a:latin typeface="Calibri" panose="020F0502020204030204" pitchFamily="34" charset="0"/>
              </a:rPr>
              <a:t> to peptide fragments </a:t>
            </a:r>
          </a:p>
          <a:p>
            <a:pPr fontAlgn="base">
              <a:spcBef>
                <a:spcPct val="0"/>
              </a:spcBef>
              <a:spcAft>
                <a:spcPct val="0"/>
              </a:spcAft>
            </a:pPr>
            <a:r>
              <a:rPr lang="en-US" sz="2400" dirty="0">
                <a:solidFill>
                  <a:srgbClr val="000000"/>
                </a:solidFill>
                <a:latin typeface="Calibri" panose="020F0502020204030204" pitchFamily="34" charset="0"/>
              </a:rPr>
              <a:t> from database proteins</a:t>
            </a:r>
          </a:p>
        </p:txBody>
      </p:sp>
      <p:sp>
        <p:nvSpPr>
          <p:cNvPr id="3" name="TextBox 2"/>
          <p:cNvSpPr txBox="1"/>
          <p:nvPr/>
        </p:nvSpPr>
        <p:spPr>
          <a:xfrm>
            <a:off x="6327060" y="2580965"/>
            <a:ext cx="1369734" cy="400110"/>
          </a:xfrm>
          <a:prstGeom prst="rect">
            <a:avLst/>
          </a:prstGeom>
          <a:noFill/>
        </p:spPr>
        <p:txBody>
          <a:bodyPr wrap="none" rtlCol="0">
            <a:spAutoFit/>
          </a:bodyPr>
          <a:lstStyle/>
          <a:p>
            <a:pPr fontAlgn="base">
              <a:spcBef>
                <a:spcPct val="0"/>
              </a:spcBef>
              <a:spcAft>
                <a:spcPct val="0"/>
              </a:spcAft>
            </a:pPr>
            <a:r>
              <a:rPr lang="en-US" sz="2000" b="1" dirty="0">
                <a:solidFill>
                  <a:srgbClr val="000000"/>
                </a:solidFill>
                <a:latin typeface="Calibri" panose="020F0502020204030204" pitchFamily="34" charset="0"/>
              </a:rPr>
              <a:t>2D gel spot</a:t>
            </a:r>
          </a:p>
        </p:txBody>
      </p:sp>
      <p:sp>
        <p:nvSpPr>
          <p:cNvPr id="8" name="TextBox 7"/>
          <p:cNvSpPr txBox="1"/>
          <p:nvPr/>
        </p:nvSpPr>
        <p:spPr>
          <a:xfrm>
            <a:off x="6541755" y="3472266"/>
            <a:ext cx="1982306" cy="778675"/>
          </a:xfrm>
          <a:prstGeom prst="rect">
            <a:avLst/>
          </a:prstGeom>
          <a:noFill/>
        </p:spPr>
        <p:txBody>
          <a:bodyPr wrap="none" rtlCol="0">
            <a:spAutoFit/>
          </a:bodyPr>
          <a:lstStyle/>
          <a:p>
            <a:pPr fontAlgn="base">
              <a:spcBef>
                <a:spcPct val="0"/>
              </a:spcBef>
              <a:spcAft>
                <a:spcPct val="0"/>
              </a:spcAft>
            </a:pPr>
            <a:r>
              <a:rPr lang="en-US" sz="2000" b="1" dirty="0">
                <a:solidFill>
                  <a:srgbClr val="000000"/>
                </a:solidFill>
                <a:latin typeface="Calibri" panose="020F0502020204030204" pitchFamily="34" charset="0"/>
              </a:rPr>
              <a:t>MALDI</a:t>
            </a:r>
          </a:p>
          <a:p>
            <a:pPr fontAlgn="base">
              <a:spcBef>
                <a:spcPct val="0"/>
              </a:spcBef>
              <a:spcAft>
                <a:spcPct val="0"/>
              </a:spcAft>
            </a:pPr>
            <a:r>
              <a:rPr lang="en-US" sz="2000" b="1" dirty="0">
                <a:solidFill>
                  <a:srgbClr val="000000"/>
                </a:solidFill>
                <a:latin typeface="Calibri" panose="020F0502020204030204" pitchFamily="34" charset="0"/>
              </a:rPr>
              <a:t>Mass spectrum</a:t>
            </a:r>
          </a:p>
        </p:txBody>
      </p:sp>
    </p:spTree>
    <p:extLst>
      <p:ext uri="{BB962C8B-B14F-4D97-AF65-F5344CB8AC3E}">
        <p14:creationId xmlns:p14="http://schemas.microsoft.com/office/powerpoint/2010/main" val="114270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540460"/>
            <a:ext cx="5638800" cy="427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797" name="Text Box 5"/>
          <p:cNvSpPr txBox="1">
            <a:spLocks noChangeArrowheads="1"/>
          </p:cNvSpPr>
          <p:nvPr/>
        </p:nvSpPr>
        <p:spPr bwMode="auto">
          <a:xfrm>
            <a:off x="152400" y="1143000"/>
            <a:ext cx="88392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a:solidFill>
                  <a:schemeClr val="tx1"/>
                </a:solidFill>
                <a:latin typeface="Arial" charset="0"/>
                <a:cs typeface="Arial" charset="0"/>
              </a:defRPr>
            </a:lvl1pPr>
            <a:lvl2pPr marL="800100" indent="-342900" eaLnBrk="0" hangingPunct="0">
              <a:defRPr>
                <a:solidFill>
                  <a:schemeClr val="tx1"/>
                </a:solidFill>
                <a:latin typeface="Arial" charset="0"/>
                <a:cs typeface="Arial" charset="0"/>
              </a:defRPr>
            </a:lvl2pPr>
            <a:lvl3pPr marL="1257300" indent="-342900" eaLnBrk="0" hangingPunct="0">
              <a:defRPr>
                <a:solidFill>
                  <a:schemeClr val="tx1"/>
                </a:solidFill>
                <a:latin typeface="Arial" charset="0"/>
                <a:cs typeface="Arial" charset="0"/>
              </a:defRPr>
            </a:lvl3pPr>
            <a:lvl4pPr marL="1714500" indent="-342900" eaLnBrk="0" hangingPunct="0">
              <a:defRPr>
                <a:solidFill>
                  <a:schemeClr val="tx1"/>
                </a:solidFill>
                <a:latin typeface="Arial" charset="0"/>
                <a:cs typeface="Arial" charset="0"/>
              </a:defRPr>
            </a:lvl4pPr>
            <a:lvl5pPr marL="2171700" indent="-342900" eaLnBrk="0" hangingPunct="0">
              <a:defRPr>
                <a:solidFill>
                  <a:schemeClr val="tx1"/>
                </a:solidFill>
                <a:latin typeface="Arial" charset="0"/>
                <a:cs typeface="Arial" charset="0"/>
              </a:defRPr>
            </a:lvl5pPr>
            <a:lvl6pPr marL="2628900" indent="-342900" eaLnBrk="0" fontAlgn="base" hangingPunct="0">
              <a:spcBef>
                <a:spcPct val="0"/>
              </a:spcBef>
              <a:spcAft>
                <a:spcPct val="0"/>
              </a:spcAft>
              <a:defRPr>
                <a:solidFill>
                  <a:schemeClr val="tx1"/>
                </a:solidFill>
                <a:latin typeface="Arial" charset="0"/>
                <a:cs typeface="Arial" charset="0"/>
              </a:defRPr>
            </a:lvl6pPr>
            <a:lvl7pPr marL="3086100" indent="-342900" eaLnBrk="0" fontAlgn="base" hangingPunct="0">
              <a:spcBef>
                <a:spcPct val="0"/>
              </a:spcBef>
              <a:spcAft>
                <a:spcPct val="0"/>
              </a:spcAft>
              <a:defRPr>
                <a:solidFill>
                  <a:schemeClr val="tx1"/>
                </a:solidFill>
                <a:latin typeface="Arial" charset="0"/>
                <a:cs typeface="Arial" charset="0"/>
              </a:defRPr>
            </a:lvl7pPr>
            <a:lvl8pPr marL="3543300" indent="-342900" eaLnBrk="0" fontAlgn="base" hangingPunct="0">
              <a:spcBef>
                <a:spcPct val="0"/>
              </a:spcBef>
              <a:spcAft>
                <a:spcPct val="0"/>
              </a:spcAft>
              <a:defRPr>
                <a:solidFill>
                  <a:schemeClr val="tx1"/>
                </a:solidFill>
                <a:latin typeface="Arial" charset="0"/>
                <a:cs typeface="Arial" charset="0"/>
              </a:defRPr>
            </a:lvl8pPr>
            <a:lvl9pPr marL="4000500" indent="-3429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J. </a:t>
            </a:r>
            <a:r>
              <a:rPr lang="en-US" altLang="en-US" sz="2400" dirty="0" err="1">
                <a:solidFill>
                  <a:srgbClr val="000000"/>
                </a:solidFill>
                <a:latin typeface="Calibri" panose="020F0502020204030204" pitchFamily="34" charset="0"/>
              </a:rPr>
              <a:t>Eng</a:t>
            </a:r>
            <a:r>
              <a:rPr lang="en-US" altLang="en-US" sz="2400" dirty="0">
                <a:solidFill>
                  <a:srgbClr val="000000"/>
                </a:solidFill>
                <a:latin typeface="Calibri" panose="020F0502020204030204" pitchFamily="34" charset="0"/>
              </a:rPr>
              <a:t>, J.R. Yates, R. </a:t>
            </a:r>
            <a:r>
              <a:rPr lang="en-US" altLang="en-US" sz="2400" dirty="0" err="1">
                <a:solidFill>
                  <a:srgbClr val="000000"/>
                </a:solidFill>
                <a:latin typeface="Calibri" panose="020F0502020204030204" pitchFamily="34" charset="0"/>
              </a:rPr>
              <a:t>Aebersold</a:t>
            </a:r>
            <a:endParaRPr lang="en-US" altLang="en-US" sz="2400" dirty="0">
              <a:solidFill>
                <a:srgbClr val="000000"/>
              </a:solidFill>
              <a:latin typeface="Calibri" panose="020F0502020204030204" pitchFamily="34" charset="0"/>
            </a:endParaRPr>
          </a:p>
          <a:p>
            <a:pPr eaLnBrk="1" fontAlgn="base" hangingPunct="1">
              <a:spcBef>
                <a:spcPct val="0"/>
              </a:spcBef>
              <a:spcAft>
                <a:spcPct val="0"/>
              </a:spcAft>
            </a:pPr>
            <a:r>
              <a:rPr lang="en-US" altLang="en-US" sz="2400" dirty="0">
                <a:solidFill>
                  <a:srgbClr val="000000"/>
                </a:solidFill>
                <a:latin typeface="Calibri" panose="020F0502020204030204" pitchFamily="34" charset="0"/>
              </a:rPr>
              <a:t>“High throughput protein characterization by automated reverse</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Phase chromatography/electrospray tandem mass spectrometry”,</a:t>
            </a:r>
          </a:p>
          <a:p>
            <a:pPr eaLnBrk="1" fontAlgn="base" hangingPunct="1">
              <a:spcBef>
                <a:spcPct val="0"/>
              </a:spcBef>
              <a:spcAft>
                <a:spcPct val="0"/>
              </a:spcAft>
            </a:pPr>
            <a:r>
              <a:rPr lang="en-US" altLang="en-US" sz="2400" i="1" dirty="0">
                <a:solidFill>
                  <a:srgbClr val="000000"/>
                </a:solidFill>
                <a:latin typeface="Calibri" panose="020F0502020204030204" pitchFamily="34" charset="0"/>
              </a:rPr>
              <a:t>Prot. Sci. </a:t>
            </a:r>
            <a:r>
              <a:rPr lang="en-US" altLang="en-US" sz="2400" dirty="0">
                <a:solidFill>
                  <a:srgbClr val="000000"/>
                </a:solidFill>
                <a:latin typeface="Calibri" panose="020F0502020204030204" pitchFamily="34" charset="0"/>
              </a:rPr>
              <a:t>7, 706 (1998)</a:t>
            </a:r>
            <a:endParaRPr lang="en-US" altLang="en-US" sz="2400" i="1" dirty="0">
              <a:solidFill>
                <a:srgbClr val="000000"/>
              </a:solidFill>
              <a:latin typeface="Calibri" panose="020F0502020204030204" pitchFamily="34" charset="0"/>
            </a:endParaRPr>
          </a:p>
        </p:txBody>
      </p:sp>
      <p:sp>
        <p:nvSpPr>
          <p:cNvPr id="27" name="Rectangle 2"/>
          <p:cNvSpPr>
            <a:spLocks noGrp="1" noChangeArrowheads="1"/>
          </p:cNvSpPr>
          <p:nvPr>
            <p:ph type="title"/>
          </p:nvPr>
        </p:nvSpPr>
        <p:spPr bwMode="auto">
          <a:xfrm>
            <a:off x="457200" y="228600"/>
            <a:ext cx="82296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a:solidFill>
                  <a:schemeClr val="tx1"/>
                </a:solidFill>
              </a:rPr>
              <a:t>Proteomics History</a:t>
            </a:r>
          </a:p>
        </p:txBody>
      </p:sp>
      <p:sp>
        <p:nvSpPr>
          <p:cNvPr id="4" name="Date Placeholder 3"/>
          <p:cNvSpPr>
            <a:spLocks noGrp="1"/>
          </p:cNvSpPr>
          <p:nvPr>
            <p:ph type="dt" sz="half" idx="10"/>
          </p:nvPr>
        </p:nvSpPr>
        <p:spPr>
          <a:xfrm>
            <a:off x="0" y="6356350"/>
            <a:ext cx="2057400" cy="365125"/>
          </a:xfrm>
          <a:prstGeom prst="rect">
            <a:avLst/>
          </a:prstGeom>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2" name="Slide Number Placeholder 1"/>
          <p:cNvSpPr>
            <a:spLocks noGrp="1"/>
          </p:cNvSpPr>
          <p:nvPr>
            <p:ph type="sldNum" sz="quarter" idx="12"/>
          </p:nvPr>
        </p:nvSpPr>
        <p:spPr/>
        <p:txBody>
          <a:bodyPr/>
          <a:lstStyle/>
          <a:p>
            <a:pPr>
              <a:defRPr/>
            </a:pPr>
            <a:fld id="{01D328C1-7B20-4E01-9630-CCC817AFFEC5}" type="slidenum">
              <a:rPr lang="en-US" smtClean="0">
                <a:solidFill>
                  <a:srgbClr val="000000"/>
                </a:solidFill>
              </a:rPr>
              <a:pPr>
                <a:defRPr/>
              </a:pPr>
              <a:t>22</a:t>
            </a:fld>
            <a:endParaRPr lang="en-US" dirty="0">
              <a:solidFill>
                <a:srgbClr val="000000"/>
              </a:solidFill>
            </a:endParaRPr>
          </a:p>
        </p:txBody>
      </p:sp>
      <p:sp>
        <p:nvSpPr>
          <p:cNvPr id="3" name="TextBox 2"/>
          <p:cNvSpPr txBox="1"/>
          <p:nvPr/>
        </p:nvSpPr>
        <p:spPr>
          <a:xfrm>
            <a:off x="152400" y="3077594"/>
            <a:ext cx="3322513" cy="3477875"/>
          </a:xfrm>
          <a:prstGeom prst="rect">
            <a:avLst/>
          </a:prstGeom>
          <a:noFill/>
        </p:spPr>
        <p:txBody>
          <a:bodyPr wrap="none" rtlCol="0">
            <a:spAutoFit/>
          </a:bodyPr>
          <a:lstStyle/>
          <a:p>
            <a:pPr fontAlgn="base">
              <a:spcBef>
                <a:spcPct val="0"/>
              </a:spcBef>
              <a:spcAft>
                <a:spcPct val="0"/>
              </a:spcAft>
            </a:pPr>
            <a:r>
              <a:rPr lang="en-US" altLang="en-US" sz="2000" u="sng" dirty="0">
                <a:solidFill>
                  <a:srgbClr val="000000"/>
                </a:solidFill>
                <a:latin typeface="Calibri" panose="020F0502020204030204" pitchFamily="34" charset="0"/>
              </a:rPr>
              <a:t>Method</a:t>
            </a:r>
          </a:p>
          <a:p>
            <a:pPr fontAlgn="base">
              <a:spcBef>
                <a:spcPct val="0"/>
              </a:spcBef>
              <a:spcAft>
                <a:spcPct val="0"/>
              </a:spcAft>
            </a:pPr>
            <a:r>
              <a:rPr lang="en-US" altLang="en-US" sz="2000" dirty="0">
                <a:solidFill>
                  <a:srgbClr val="000000"/>
                </a:solidFill>
                <a:latin typeface="Calibri" panose="020F0502020204030204" pitchFamily="34" charset="0"/>
              </a:rPr>
              <a:t>-Gel spots</a:t>
            </a:r>
          </a:p>
          <a:p>
            <a:pPr fontAlgn="base">
              <a:spcBef>
                <a:spcPct val="0"/>
              </a:spcBef>
              <a:spcAft>
                <a:spcPct val="0"/>
              </a:spcAft>
            </a:pPr>
            <a:r>
              <a:rPr lang="en-US" altLang="en-US" sz="2000" dirty="0">
                <a:solidFill>
                  <a:srgbClr val="000000"/>
                </a:solidFill>
                <a:latin typeface="Calibri" panose="020F0502020204030204" pitchFamily="34" charset="0"/>
              </a:rPr>
              <a:t>-Digest</a:t>
            </a:r>
          </a:p>
          <a:p>
            <a:pPr fontAlgn="base">
              <a:spcBef>
                <a:spcPct val="0"/>
              </a:spcBef>
              <a:spcAft>
                <a:spcPct val="0"/>
              </a:spcAft>
            </a:pPr>
            <a:r>
              <a:rPr lang="en-US" altLang="en-US" sz="2000" dirty="0">
                <a:solidFill>
                  <a:srgbClr val="000000"/>
                </a:solidFill>
                <a:latin typeface="Calibri" panose="020F0502020204030204" pitchFamily="34" charset="0"/>
              </a:rPr>
              <a:t>-HPLC-ESI-MS/MS (TSQ)</a:t>
            </a:r>
          </a:p>
          <a:p>
            <a:pPr fontAlgn="base">
              <a:spcBef>
                <a:spcPct val="0"/>
              </a:spcBef>
              <a:spcAft>
                <a:spcPct val="0"/>
              </a:spcAft>
            </a:pPr>
            <a:r>
              <a:rPr lang="en-US" altLang="en-US" sz="2000" dirty="0">
                <a:solidFill>
                  <a:srgbClr val="000000"/>
                </a:solidFill>
                <a:latin typeface="Calibri" panose="020F0502020204030204" pitchFamily="34" charset="0"/>
              </a:rPr>
              <a:t>-SEQUEST</a:t>
            </a:r>
          </a:p>
          <a:p>
            <a:pPr fontAlgn="base">
              <a:spcBef>
                <a:spcPct val="0"/>
              </a:spcBef>
              <a:spcAft>
                <a:spcPct val="0"/>
              </a:spcAft>
            </a:pPr>
            <a:endParaRPr lang="en-US" altLang="en-US" sz="2000" b="1" dirty="0">
              <a:solidFill>
                <a:srgbClr val="000000"/>
              </a:solidFill>
              <a:latin typeface="Calibri" panose="020F0502020204030204" pitchFamily="34" charset="0"/>
            </a:endParaRPr>
          </a:p>
          <a:p>
            <a:pPr fontAlgn="base">
              <a:spcBef>
                <a:spcPct val="0"/>
              </a:spcBef>
              <a:spcAft>
                <a:spcPct val="0"/>
              </a:spcAft>
            </a:pPr>
            <a:r>
              <a:rPr lang="en-US" altLang="en-US" sz="2000" dirty="0">
                <a:solidFill>
                  <a:srgbClr val="000000"/>
                </a:solidFill>
                <a:latin typeface="Calibri" panose="020F0502020204030204" pitchFamily="34" charset="0"/>
              </a:rPr>
              <a:t>-Increased throughput</a:t>
            </a:r>
          </a:p>
          <a:p>
            <a:pPr fontAlgn="base">
              <a:spcBef>
                <a:spcPct val="0"/>
              </a:spcBef>
              <a:spcAft>
                <a:spcPct val="0"/>
              </a:spcAft>
            </a:pPr>
            <a:r>
              <a:rPr lang="en-US" altLang="en-US" sz="2000" dirty="0">
                <a:solidFill>
                  <a:srgbClr val="000000"/>
                </a:solidFill>
                <a:latin typeface="Calibri" panose="020F0502020204030204" pitchFamily="34" charset="0"/>
              </a:rPr>
              <a:t> with automation </a:t>
            </a:r>
          </a:p>
          <a:p>
            <a:pPr fontAlgn="base">
              <a:spcBef>
                <a:spcPct val="0"/>
              </a:spcBef>
              <a:spcAft>
                <a:spcPct val="0"/>
              </a:spcAft>
            </a:pPr>
            <a:r>
              <a:rPr lang="en-US" altLang="en-US" sz="2000" dirty="0">
                <a:solidFill>
                  <a:srgbClr val="000000"/>
                </a:solidFill>
                <a:latin typeface="Calibri" panose="020F0502020204030204" pitchFamily="34" charset="0"/>
              </a:rPr>
              <a:t>-Database-MS/MS searches</a:t>
            </a:r>
          </a:p>
          <a:p>
            <a:pPr fontAlgn="base">
              <a:spcBef>
                <a:spcPct val="0"/>
              </a:spcBef>
              <a:spcAft>
                <a:spcPct val="0"/>
              </a:spcAft>
            </a:pPr>
            <a:endParaRPr lang="en-US" altLang="en-US" sz="2000" dirty="0">
              <a:solidFill>
                <a:srgbClr val="000000"/>
              </a:solidFill>
              <a:latin typeface="Calibri" panose="020F0502020204030204" pitchFamily="34" charset="0"/>
            </a:endParaRPr>
          </a:p>
          <a:p>
            <a:pPr fontAlgn="base">
              <a:spcBef>
                <a:spcPct val="0"/>
              </a:spcBef>
              <a:spcAft>
                <a:spcPct val="0"/>
              </a:spcAft>
            </a:pPr>
            <a:r>
              <a:rPr lang="en-US" altLang="en-US" sz="2000" dirty="0">
                <a:solidFill>
                  <a:srgbClr val="000000"/>
                </a:solidFill>
                <a:latin typeface="Calibri" panose="020F0502020204030204" pitchFamily="34" charset="0"/>
              </a:rPr>
              <a:t>-90 yeast proteins “identified”</a:t>
            </a:r>
          </a:p>
        </p:txBody>
      </p:sp>
    </p:spTree>
    <p:extLst>
      <p:ext uri="{BB962C8B-B14F-4D97-AF65-F5344CB8AC3E}">
        <p14:creationId xmlns:p14="http://schemas.microsoft.com/office/powerpoint/2010/main" val="206795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15548" y="228600"/>
            <a:ext cx="8229600" cy="563562"/>
          </a:xfrm>
        </p:spPr>
        <p:txBody>
          <a:bodyPr>
            <a:normAutofit fontScale="90000"/>
          </a:bodyPr>
          <a:lstStyle/>
          <a:p>
            <a:r>
              <a:rPr lang="en-US" altLang="en-US" sz="3600" dirty="0">
                <a:solidFill>
                  <a:schemeClr val="tx1"/>
                </a:solidFill>
              </a:rPr>
              <a:t>Proteomics History</a:t>
            </a:r>
            <a:endParaRPr lang="en-US" sz="3600" dirty="0"/>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4" name="Slide Number Placeholder 3"/>
          <p:cNvSpPr>
            <a:spLocks noGrp="1"/>
          </p:cNvSpPr>
          <p:nvPr>
            <p:ph type="sldNum" sz="quarter" idx="12"/>
          </p:nvPr>
        </p:nvSpPr>
        <p:spPr/>
        <p:txBody>
          <a:bodyPr/>
          <a:lstStyle/>
          <a:p>
            <a:pPr>
              <a:defRPr/>
            </a:pPr>
            <a:fld id="{01D328C1-7B20-4E01-9630-CCC817AFFEC5}" type="slidenum">
              <a:rPr lang="en-US" smtClean="0">
                <a:solidFill>
                  <a:srgbClr val="000000"/>
                </a:solidFill>
              </a:rPr>
              <a:pPr>
                <a:defRPr/>
              </a:pPr>
              <a:t>23</a:t>
            </a:fld>
            <a:endParaRPr lang="en-US" dirty="0">
              <a:solidFill>
                <a:srgbClr val="000000"/>
              </a:solidFill>
            </a:endParaRPr>
          </a:p>
        </p:txBody>
      </p:sp>
      <p:sp>
        <p:nvSpPr>
          <p:cNvPr id="6" name="Text Box 6"/>
          <p:cNvSpPr txBox="1">
            <a:spLocks noChangeArrowheads="1"/>
          </p:cNvSpPr>
          <p:nvPr/>
        </p:nvSpPr>
        <p:spPr bwMode="auto">
          <a:xfrm>
            <a:off x="381000" y="1140731"/>
            <a:ext cx="770831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rPr>
              <a:t>D. </a:t>
            </a:r>
            <a:r>
              <a:rPr lang="en-US" altLang="en-US" sz="2000" dirty="0" err="1">
                <a:solidFill>
                  <a:srgbClr val="000000"/>
                </a:solidFill>
              </a:rPr>
              <a:t>Wolters</a:t>
            </a:r>
            <a:r>
              <a:rPr lang="en-US" altLang="en-US" sz="2000" dirty="0">
                <a:solidFill>
                  <a:srgbClr val="000000"/>
                </a:solidFill>
              </a:rPr>
              <a:t>, M.P. Washburn, J.R. Yates </a:t>
            </a:r>
          </a:p>
          <a:p>
            <a:pPr eaLnBrk="1" fontAlgn="base" hangingPunct="1">
              <a:spcBef>
                <a:spcPct val="0"/>
              </a:spcBef>
              <a:spcAft>
                <a:spcPct val="0"/>
              </a:spcAft>
            </a:pPr>
            <a:r>
              <a:rPr lang="en-US" altLang="en-US" sz="2000" dirty="0">
                <a:solidFill>
                  <a:srgbClr val="000000"/>
                </a:solidFill>
              </a:rPr>
              <a:t>“An automated multidimensional protein identification technology for shotgun proteomics”, </a:t>
            </a:r>
            <a:r>
              <a:rPr lang="en-US" altLang="en-US" sz="2000" i="1" dirty="0">
                <a:solidFill>
                  <a:srgbClr val="000000"/>
                </a:solidFill>
              </a:rPr>
              <a:t>Anal. Chem.,</a:t>
            </a:r>
            <a:r>
              <a:rPr lang="en-US" altLang="en-US" sz="2000" dirty="0">
                <a:solidFill>
                  <a:srgbClr val="000000"/>
                </a:solidFill>
              </a:rPr>
              <a:t> 73 (23), 5683, (2001)</a:t>
            </a:r>
          </a:p>
          <a:p>
            <a:pPr eaLnBrk="1" fontAlgn="base" hangingPunct="1">
              <a:spcBef>
                <a:spcPct val="0"/>
              </a:spcBef>
              <a:spcAft>
                <a:spcPct val="0"/>
              </a:spcAft>
            </a:pPr>
            <a:r>
              <a:rPr lang="en-US" altLang="en-US" sz="2000" dirty="0">
                <a:solidFill>
                  <a:srgbClr val="000000"/>
                </a:solidFill>
              </a:rPr>
              <a:t>“Large-scale analysis of the yeast proteome by multidimensional protein identification technology” </a:t>
            </a:r>
            <a:r>
              <a:rPr lang="en-US" altLang="en-US" sz="2000" i="1" dirty="0">
                <a:solidFill>
                  <a:srgbClr val="000000"/>
                </a:solidFill>
              </a:rPr>
              <a:t>Nat </a:t>
            </a:r>
            <a:r>
              <a:rPr lang="en-US" altLang="en-US" sz="2000" i="1" dirty="0" err="1">
                <a:solidFill>
                  <a:srgbClr val="000000"/>
                </a:solidFill>
              </a:rPr>
              <a:t>Biotechnol</a:t>
            </a:r>
            <a:r>
              <a:rPr lang="en-US" altLang="en-US" sz="2000" i="1" dirty="0">
                <a:solidFill>
                  <a:srgbClr val="000000"/>
                </a:solidFill>
              </a:rPr>
              <a:t>.</a:t>
            </a:r>
            <a:r>
              <a:rPr lang="en-US" altLang="en-US" sz="2000" dirty="0">
                <a:solidFill>
                  <a:srgbClr val="000000"/>
                </a:solidFill>
              </a:rPr>
              <a:t> 19(3):242 (2001)</a:t>
            </a:r>
          </a:p>
        </p:txBody>
      </p:sp>
      <p:pic>
        <p:nvPicPr>
          <p:cNvPr id="7"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4859" y="2780333"/>
            <a:ext cx="4511921" cy="3851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28"/>
          <p:cNvSpPr txBox="1">
            <a:spLocks noChangeArrowheads="1"/>
          </p:cNvSpPr>
          <p:nvPr/>
        </p:nvSpPr>
        <p:spPr bwMode="auto">
          <a:xfrm>
            <a:off x="457200" y="3048000"/>
            <a:ext cx="398711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u="sng" dirty="0">
                <a:solidFill>
                  <a:srgbClr val="000000"/>
                </a:solidFill>
                <a:latin typeface="Calibri" panose="020F0502020204030204" pitchFamily="34" charset="0"/>
              </a:rPr>
              <a:t>Method</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-Gel free</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-No pre-MS fractionation</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-2D (SCX/HPLC) online peptide</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   fractionation</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-ESI-MS/MS (ion trap)</a:t>
            </a:r>
          </a:p>
          <a:p>
            <a:pPr eaLnBrk="1" fontAlgn="base" hangingPunct="1">
              <a:spcBef>
                <a:spcPct val="0"/>
              </a:spcBef>
              <a:spcAft>
                <a:spcPct val="0"/>
              </a:spcAft>
            </a:pPr>
            <a:r>
              <a:rPr lang="en-US" altLang="en-US" sz="2400" dirty="0">
                <a:solidFill>
                  <a:srgbClr val="000000"/>
                </a:solidFill>
                <a:latin typeface="Calibri" panose="020F0502020204030204" pitchFamily="34" charset="0"/>
              </a:rPr>
              <a:t>-Database search</a:t>
            </a:r>
          </a:p>
          <a:p>
            <a:pPr eaLnBrk="1" fontAlgn="base" hangingPunct="1">
              <a:spcBef>
                <a:spcPct val="0"/>
              </a:spcBef>
              <a:spcAft>
                <a:spcPct val="0"/>
              </a:spcAft>
            </a:pPr>
            <a:endParaRPr lang="en-US" altLang="en-US" sz="2400" dirty="0">
              <a:solidFill>
                <a:srgbClr val="000000"/>
              </a:solidFill>
              <a:latin typeface="Calibri" panose="020F0502020204030204" pitchFamily="34" charset="0"/>
            </a:endParaRPr>
          </a:p>
          <a:p>
            <a:pPr eaLnBrk="1" fontAlgn="base" hangingPunct="1">
              <a:spcBef>
                <a:spcPct val="0"/>
              </a:spcBef>
              <a:spcAft>
                <a:spcPct val="0"/>
              </a:spcAft>
            </a:pPr>
            <a:r>
              <a:rPr lang="en-US" altLang="en-US" sz="2400" dirty="0">
                <a:solidFill>
                  <a:srgbClr val="000000"/>
                </a:solidFill>
                <a:latin typeface="Calibri" panose="020F0502020204030204" pitchFamily="34" charset="0"/>
              </a:rPr>
              <a:t>-1,484 proteins “identified”</a:t>
            </a:r>
          </a:p>
        </p:txBody>
      </p:sp>
    </p:spTree>
    <p:extLst>
      <p:ext uri="{BB962C8B-B14F-4D97-AF65-F5344CB8AC3E}">
        <p14:creationId xmlns:p14="http://schemas.microsoft.com/office/powerpoint/2010/main" val="2955878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685800"/>
          </a:xfrm>
        </p:spPr>
        <p:txBody>
          <a:bodyPr>
            <a:normAutofit/>
          </a:bodyPr>
          <a:lstStyle/>
          <a:p>
            <a:r>
              <a:rPr lang="en-US" dirty="0">
                <a:latin typeface="Calibri" panose="020F0502020204030204" pitchFamily="34" charset="0"/>
              </a:rPr>
              <a:t>Proteomics Strategy</a:t>
            </a:r>
          </a:p>
        </p:txBody>
      </p:sp>
      <p:sp>
        <p:nvSpPr>
          <p:cNvPr id="5" name="Date Placeholder 4"/>
          <p:cNvSpPr>
            <a:spLocks noGrp="1"/>
          </p:cNvSpPr>
          <p:nvPr>
            <p:ph type="dt" sz="half" idx="10"/>
          </p:nvPr>
        </p:nvSpPr>
        <p:spPr>
          <a:xfrm>
            <a:off x="0" y="6356350"/>
            <a:ext cx="2057400" cy="365125"/>
          </a:xfrm>
          <a:prstGeom prst="rect">
            <a:avLst/>
          </a:prstGeom>
        </p:spPr>
        <p:txBody>
          <a:bodyPr/>
          <a:lstStyle/>
          <a:p>
            <a:r>
              <a:rPr lang="en-US"/>
              <a:t>11/2/2015</a:t>
            </a:r>
          </a:p>
        </p:txBody>
      </p:sp>
      <p:sp>
        <p:nvSpPr>
          <p:cNvPr id="6" name="Footer Placeholder 5"/>
          <p:cNvSpPr>
            <a:spLocks noGrp="1"/>
          </p:cNvSpPr>
          <p:nvPr>
            <p:ph type="ftr" sz="quarter" idx="11"/>
          </p:nvPr>
        </p:nvSpPr>
        <p:spPr/>
        <p:txBody>
          <a:bodyPr/>
          <a:lstStyle/>
          <a:p>
            <a:r>
              <a:rPr lang="en-US"/>
              <a:t>Hsu group meeting</a:t>
            </a:r>
          </a:p>
        </p:txBody>
      </p:sp>
      <p:sp>
        <p:nvSpPr>
          <p:cNvPr id="3" name="Slide Number Placeholder 2"/>
          <p:cNvSpPr>
            <a:spLocks noGrp="1"/>
          </p:cNvSpPr>
          <p:nvPr>
            <p:ph type="sldNum" sz="quarter" idx="12"/>
          </p:nvPr>
        </p:nvSpPr>
        <p:spPr/>
        <p:txBody>
          <a:bodyPr/>
          <a:lstStyle/>
          <a:p>
            <a:pPr>
              <a:defRPr/>
            </a:pPr>
            <a:fld id="{B5B8AF97-DBDA-4407-8853-6C3ADAC38AB6}" type="slidenum">
              <a:rPr lang="en-US" smtClean="0">
                <a:solidFill>
                  <a:srgbClr val="000000"/>
                </a:solidFill>
              </a:rPr>
              <a:pPr>
                <a:defRPr/>
              </a:pPr>
              <a:t>24</a:t>
            </a:fld>
            <a:endParaRPr lang="en-US">
              <a:solidFill>
                <a:srgbClr val="000000"/>
              </a:solidFill>
            </a:endParaRPr>
          </a:p>
        </p:txBody>
      </p:sp>
      <p:sp>
        <p:nvSpPr>
          <p:cNvPr id="4" name="Rectangle 3"/>
          <p:cNvSpPr txBox="1">
            <a:spLocks noChangeArrowheads="1"/>
          </p:cNvSpPr>
          <p:nvPr/>
        </p:nvSpPr>
        <p:spPr>
          <a:xfrm>
            <a:off x="914400" y="762000"/>
            <a:ext cx="7543800" cy="5638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a:lstStyle>
          <a:p>
            <a:pPr marL="0" indent="0">
              <a:lnSpc>
                <a:spcPct val="90000"/>
              </a:lnSpc>
              <a:buFontTx/>
              <a:buNone/>
            </a:pPr>
            <a:r>
              <a:rPr lang="en-US" altLang="en-US" sz="2400" kern="0" dirty="0">
                <a:solidFill>
                  <a:srgbClr val="000000"/>
                </a:solidFill>
                <a:latin typeface="Calibri" panose="020F0502020204030204" pitchFamily="34" charset="0"/>
              </a:rPr>
              <a:t>Global Proteomics (Untargeted analysis)</a:t>
            </a:r>
          </a:p>
          <a:p>
            <a:pPr>
              <a:lnSpc>
                <a:spcPct val="90000"/>
              </a:lnSpc>
            </a:pPr>
            <a:r>
              <a:rPr lang="en-US" altLang="en-US" sz="2400" kern="0" dirty="0">
                <a:solidFill>
                  <a:srgbClr val="000000"/>
                </a:solidFill>
                <a:latin typeface="Calibri" panose="020F0502020204030204" pitchFamily="34" charset="0"/>
              </a:rPr>
              <a:t>Sample preparation</a:t>
            </a:r>
          </a:p>
          <a:p>
            <a:pPr lvl="1">
              <a:lnSpc>
                <a:spcPct val="90000"/>
              </a:lnSpc>
            </a:pPr>
            <a:r>
              <a:rPr lang="en-US" altLang="en-US" sz="2400" kern="0" dirty="0">
                <a:solidFill>
                  <a:srgbClr val="000000"/>
                </a:solidFill>
                <a:latin typeface="Calibri" panose="020F0502020204030204" pitchFamily="34" charset="0"/>
              </a:rPr>
              <a:t>Protein isolation</a:t>
            </a:r>
          </a:p>
          <a:p>
            <a:pPr lvl="1">
              <a:lnSpc>
                <a:spcPct val="90000"/>
              </a:lnSpc>
            </a:pPr>
            <a:r>
              <a:rPr lang="en-US" altLang="en-US" sz="2400" kern="0" dirty="0">
                <a:solidFill>
                  <a:srgbClr val="000000"/>
                </a:solidFill>
                <a:latin typeface="Calibri" panose="020F0502020204030204" pitchFamily="34" charset="0"/>
              </a:rPr>
              <a:t>Reduce </a:t>
            </a:r>
            <a:r>
              <a:rPr lang="en-US" altLang="en-US" sz="2400" kern="0" dirty="0" err="1">
                <a:solidFill>
                  <a:srgbClr val="000000"/>
                </a:solidFill>
                <a:latin typeface="Calibri" panose="020F0502020204030204" pitchFamily="34" charset="0"/>
              </a:rPr>
              <a:t>Cys-Cys</a:t>
            </a:r>
            <a:r>
              <a:rPr lang="en-US" altLang="en-US" sz="2400" kern="0" dirty="0">
                <a:solidFill>
                  <a:srgbClr val="000000"/>
                </a:solidFill>
                <a:latin typeface="Calibri" panose="020F0502020204030204" pitchFamily="34" charset="0"/>
              </a:rPr>
              <a:t> bonds and alkylate</a:t>
            </a:r>
          </a:p>
          <a:p>
            <a:pPr lvl="1">
              <a:lnSpc>
                <a:spcPct val="90000"/>
              </a:lnSpc>
            </a:pPr>
            <a:r>
              <a:rPr lang="en-US" altLang="en-US" sz="2400" kern="0" dirty="0">
                <a:solidFill>
                  <a:srgbClr val="000000"/>
                </a:solidFill>
                <a:latin typeface="Calibri" panose="020F0502020204030204" pitchFamily="34" charset="0"/>
              </a:rPr>
              <a:t>Protein digestion</a:t>
            </a:r>
          </a:p>
          <a:p>
            <a:pPr>
              <a:lnSpc>
                <a:spcPct val="90000"/>
              </a:lnSpc>
            </a:pPr>
            <a:r>
              <a:rPr lang="en-US" altLang="en-US" sz="2400" kern="0" dirty="0">
                <a:solidFill>
                  <a:srgbClr val="000000"/>
                </a:solidFill>
                <a:latin typeface="Calibri" panose="020F0502020204030204" pitchFamily="34" charset="0"/>
              </a:rPr>
              <a:t>Sample analysis/data acquisition</a:t>
            </a:r>
          </a:p>
          <a:p>
            <a:pPr lvl="1">
              <a:lnSpc>
                <a:spcPct val="90000"/>
              </a:lnSpc>
            </a:pPr>
            <a:r>
              <a:rPr lang="en-US" altLang="en-US" sz="2400" kern="0" dirty="0">
                <a:solidFill>
                  <a:srgbClr val="000000"/>
                </a:solidFill>
                <a:latin typeface="Calibri" panose="020F0502020204030204" pitchFamily="34" charset="0"/>
              </a:rPr>
              <a:t>LC-ESI-MS/MS</a:t>
            </a:r>
          </a:p>
          <a:p>
            <a:pPr>
              <a:lnSpc>
                <a:spcPct val="90000"/>
              </a:lnSpc>
            </a:pPr>
            <a:r>
              <a:rPr lang="en-US" altLang="en-US" sz="2400" kern="0" dirty="0">
                <a:solidFill>
                  <a:srgbClr val="000000"/>
                </a:solidFill>
                <a:latin typeface="Calibri" panose="020F0502020204030204" pitchFamily="34" charset="0"/>
              </a:rPr>
              <a:t>Data analysis </a:t>
            </a:r>
          </a:p>
          <a:p>
            <a:pPr lvl="1">
              <a:lnSpc>
                <a:spcPct val="90000"/>
              </a:lnSpc>
            </a:pPr>
            <a:r>
              <a:rPr lang="en-US" altLang="en-US" sz="2400" kern="0" dirty="0">
                <a:solidFill>
                  <a:srgbClr val="000000"/>
                </a:solidFill>
                <a:latin typeface="Calibri" panose="020F0502020204030204" pitchFamily="34" charset="0"/>
              </a:rPr>
              <a:t>Informatics (MS, MS/MS)</a:t>
            </a:r>
          </a:p>
          <a:p>
            <a:pPr lvl="2">
              <a:lnSpc>
                <a:spcPct val="90000"/>
              </a:lnSpc>
            </a:pPr>
            <a:r>
              <a:rPr lang="en-US" altLang="en-US" kern="0" dirty="0">
                <a:solidFill>
                  <a:srgbClr val="000000"/>
                </a:solidFill>
                <a:latin typeface="Calibri" panose="020F0502020204030204" pitchFamily="34" charset="0"/>
              </a:rPr>
              <a:t>Peptide identification</a:t>
            </a:r>
          </a:p>
          <a:p>
            <a:pPr lvl="2">
              <a:lnSpc>
                <a:spcPct val="90000"/>
              </a:lnSpc>
            </a:pPr>
            <a:r>
              <a:rPr lang="en-US" altLang="en-US" kern="0" dirty="0">
                <a:solidFill>
                  <a:srgbClr val="000000"/>
                </a:solidFill>
                <a:latin typeface="Calibri" panose="020F0502020204030204" pitchFamily="34" charset="0"/>
              </a:rPr>
              <a:t>Protein inference</a:t>
            </a:r>
          </a:p>
          <a:p>
            <a:pPr lvl="1">
              <a:lnSpc>
                <a:spcPct val="90000"/>
              </a:lnSpc>
            </a:pPr>
            <a:r>
              <a:rPr lang="en-US" altLang="en-US" sz="2400" kern="0" dirty="0">
                <a:solidFill>
                  <a:srgbClr val="000000"/>
                </a:solidFill>
                <a:latin typeface="Calibri" panose="020F0502020204030204" pitchFamily="34" charset="0"/>
              </a:rPr>
              <a:t>Bioinformatics (PTMs, interactions, regulation)</a:t>
            </a:r>
          </a:p>
          <a:p>
            <a:pPr lvl="2">
              <a:lnSpc>
                <a:spcPct val="90000"/>
              </a:lnSpc>
            </a:pPr>
            <a:r>
              <a:rPr lang="en-US" altLang="en-US" kern="0" dirty="0">
                <a:solidFill>
                  <a:srgbClr val="000000"/>
                </a:solidFill>
                <a:latin typeface="Calibri" panose="020F0502020204030204" pitchFamily="34" charset="0"/>
              </a:rPr>
              <a:t>Determine biological relevance</a:t>
            </a:r>
          </a:p>
          <a:p>
            <a:pPr lvl="3">
              <a:lnSpc>
                <a:spcPct val="90000"/>
              </a:lnSpc>
            </a:pPr>
            <a:r>
              <a:rPr lang="en-US" altLang="en-US" sz="2400" kern="0" dirty="0">
                <a:solidFill>
                  <a:srgbClr val="000000"/>
                </a:solidFill>
                <a:latin typeface="Calibri" panose="020F0502020204030204" pitchFamily="34" charset="0"/>
              </a:rPr>
              <a:t>Cellular location, function, association</a:t>
            </a:r>
          </a:p>
          <a:p>
            <a:pPr>
              <a:lnSpc>
                <a:spcPct val="90000"/>
              </a:lnSpc>
            </a:pPr>
            <a:endParaRPr lang="en-US" altLang="en-US" sz="1800" kern="0" dirty="0">
              <a:solidFill>
                <a:srgbClr val="000000"/>
              </a:solidFill>
            </a:endParaRPr>
          </a:p>
        </p:txBody>
      </p:sp>
    </p:spTree>
    <p:extLst>
      <p:ext uri="{BB962C8B-B14F-4D97-AF65-F5344CB8AC3E}">
        <p14:creationId xmlns:p14="http://schemas.microsoft.com/office/powerpoint/2010/main" val="203735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itle 1"/>
          <p:cNvSpPr>
            <a:spLocks noGrp="1"/>
          </p:cNvSpPr>
          <p:nvPr>
            <p:ph type="title"/>
          </p:nvPr>
        </p:nvSpPr>
        <p:spPr>
          <a:xfrm>
            <a:off x="517196" y="228600"/>
            <a:ext cx="8229600" cy="792162"/>
          </a:xfrm>
        </p:spPr>
        <p:txBody>
          <a:bodyPr>
            <a:normAutofit/>
          </a:bodyPr>
          <a:lstStyle/>
          <a:p>
            <a:r>
              <a:rPr lang="en-US" dirty="0">
                <a:latin typeface="Calibri" panose="020F0502020204030204" pitchFamily="34" charset="0"/>
              </a:rPr>
              <a:t>Proteomics Method Steps</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4" name="Slide Number Placeholder 3"/>
          <p:cNvSpPr>
            <a:spLocks noGrp="1"/>
          </p:cNvSpPr>
          <p:nvPr>
            <p:ph type="sldNum" sz="quarter" idx="12"/>
          </p:nvPr>
        </p:nvSpPr>
        <p:spPr>
          <a:xfrm>
            <a:off x="6492260" y="6248400"/>
            <a:ext cx="2133600" cy="476250"/>
          </a:xfrm>
        </p:spPr>
        <p:txBody>
          <a:bodyPr/>
          <a:lstStyle/>
          <a:p>
            <a:pPr>
              <a:defRPr/>
            </a:pPr>
            <a:fld id="{01D328C1-7B20-4E01-9630-CCC817AFFEC5}" type="slidenum">
              <a:rPr lang="en-US" smtClean="0">
                <a:solidFill>
                  <a:srgbClr val="000000"/>
                </a:solidFill>
              </a:rPr>
              <a:pPr>
                <a:defRPr/>
              </a:pPr>
              <a:t>25</a:t>
            </a:fld>
            <a:endParaRPr lang="en-US" dirty="0">
              <a:solidFill>
                <a:srgbClr val="000000"/>
              </a:solidFill>
            </a:endParaRP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4283" y="1316781"/>
            <a:ext cx="1374107" cy="1115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90" y="3032497"/>
            <a:ext cx="379413"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noChangeArrowheads="1"/>
          </p:cNvPicPr>
          <p:nvPr/>
        </p:nvPicPr>
        <p:blipFill>
          <a:blip r:embed="rId4">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5321340" y="3137272"/>
            <a:ext cx="3810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4028" y="3524622"/>
            <a:ext cx="37941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02253" y="3657972"/>
            <a:ext cx="37941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68978" y="2849934"/>
            <a:ext cx="379412"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0"/>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40365" y="3213472"/>
            <a:ext cx="381000"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75253" y="2765797"/>
            <a:ext cx="3810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0303" y="3292847"/>
            <a:ext cx="3810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94340" y="2780084"/>
            <a:ext cx="379413"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4"/>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70490" y="3362697"/>
            <a:ext cx="377825"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Line 17"/>
          <p:cNvSpPr>
            <a:spLocks noChangeShapeType="1"/>
          </p:cNvSpPr>
          <p:nvPr/>
        </p:nvSpPr>
        <p:spPr bwMode="auto">
          <a:xfrm flipH="1">
            <a:off x="5234027" y="2432696"/>
            <a:ext cx="3176" cy="471213"/>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18" name="Line 18"/>
          <p:cNvSpPr>
            <a:spLocks noChangeShapeType="1"/>
          </p:cNvSpPr>
          <p:nvPr/>
        </p:nvSpPr>
        <p:spPr bwMode="auto">
          <a:xfrm flipH="1">
            <a:off x="4507581" y="3730997"/>
            <a:ext cx="462922" cy="34131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19" name="Line 19"/>
          <p:cNvSpPr>
            <a:spLocks noChangeShapeType="1"/>
          </p:cNvSpPr>
          <p:nvPr/>
        </p:nvSpPr>
        <p:spPr bwMode="auto">
          <a:xfrm>
            <a:off x="5562640" y="3730997"/>
            <a:ext cx="395288" cy="369887"/>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20" name="Text Box 20"/>
          <p:cNvSpPr txBox="1">
            <a:spLocks noChangeArrowheads="1"/>
          </p:cNvSpPr>
          <p:nvPr/>
        </p:nvSpPr>
        <p:spPr bwMode="auto">
          <a:xfrm>
            <a:off x="5719546" y="1601536"/>
            <a:ext cx="136428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Cell culture</a:t>
            </a:r>
          </a:p>
        </p:txBody>
      </p:sp>
      <p:sp>
        <p:nvSpPr>
          <p:cNvPr id="21" name="Text Box 21"/>
          <p:cNvSpPr txBox="1">
            <a:spLocks noChangeArrowheads="1"/>
          </p:cNvSpPr>
          <p:nvPr/>
        </p:nvSpPr>
        <p:spPr bwMode="auto">
          <a:xfrm>
            <a:off x="5685936" y="2432696"/>
            <a:ext cx="205614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Protein extraction</a:t>
            </a:r>
          </a:p>
        </p:txBody>
      </p:sp>
      <p:sp>
        <p:nvSpPr>
          <p:cNvPr id="22" name="Text Box 22"/>
          <p:cNvSpPr txBox="1">
            <a:spLocks noChangeArrowheads="1"/>
          </p:cNvSpPr>
          <p:nvPr/>
        </p:nvSpPr>
        <p:spPr bwMode="auto">
          <a:xfrm>
            <a:off x="5864474" y="3005479"/>
            <a:ext cx="10450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Proteins</a:t>
            </a:r>
          </a:p>
        </p:txBody>
      </p:sp>
      <p:sp>
        <p:nvSpPr>
          <p:cNvPr id="23" name="Text Box 23"/>
          <p:cNvSpPr txBox="1">
            <a:spLocks noChangeArrowheads="1"/>
          </p:cNvSpPr>
          <p:nvPr/>
        </p:nvSpPr>
        <p:spPr bwMode="auto">
          <a:xfrm>
            <a:off x="5765346" y="3557959"/>
            <a:ext cx="272029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Digestion (</a:t>
            </a:r>
            <a:r>
              <a:rPr lang="en-US" altLang="en-US" sz="2000" b="1" u="sng" dirty="0">
                <a:solidFill>
                  <a:srgbClr val="000000"/>
                </a:solidFill>
                <a:latin typeface="Calibri" panose="020F0502020204030204" pitchFamily="34" charset="0"/>
              </a:rPr>
              <a:t>trypsin; -K/R</a:t>
            </a:r>
            <a:r>
              <a:rPr lang="en-US" altLang="en-US" sz="2000" dirty="0">
                <a:solidFill>
                  <a:srgbClr val="000000"/>
                </a:solidFill>
                <a:latin typeface="Calibri" panose="020F0502020204030204" pitchFamily="34" charset="0"/>
              </a:rPr>
              <a:t>)</a:t>
            </a:r>
          </a:p>
        </p:txBody>
      </p:sp>
      <p:sp>
        <p:nvSpPr>
          <p:cNvPr id="24" name="Text Box 24"/>
          <p:cNvSpPr txBox="1">
            <a:spLocks noChangeArrowheads="1"/>
          </p:cNvSpPr>
          <p:nvPr/>
        </p:nvSpPr>
        <p:spPr bwMode="auto">
          <a:xfrm>
            <a:off x="2663690" y="3334560"/>
            <a:ext cx="153157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Protein </a:t>
            </a:r>
          </a:p>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fractionation</a:t>
            </a:r>
          </a:p>
        </p:txBody>
      </p:sp>
      <p:grpSp>
        <p:nvGrpSpPr>
          <p:cNvPr id="25" name="Group 34"/>
          <p:cNvGrpSpPr>
            <a:grpSpLocks/>
          </p:cNvGrpSpPr>
          <p:nvPr/>
        </p:nvGrpSpPr>
        <p:grpSpPr bwMode="auto">
          <a:xfrm>
            <a:off x="5939726" y="4186609"/>
            <a:ext cx="461962" cy="631825"/>
            <a:chOff x="3797" y="1846"/>
            <a:chExt cx="433" cy="523"/>
          </a:xfrm>
        </p:grpSpPr>
        <p:pic>
          <p:nvPicPr>
            <p:cNvPr id="26" name="Picture 35"/>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861" y="1846"/>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3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3801" y="207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37"/>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3849" y="201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38"/>
            <p:cNvPicPr>
              <a:picLocks noChangeAspect="1" noChangeArrowheads="1"/>
            </p:cNvPicPr>
            <p:nvPr/>
          </p:nvPicPr>
          <p:blipFill>
            <a:blip r:embed="rId1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97" y="1892"/>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0" name="Line 39"/>
          <p:cNvSpPr>
            <a:spLocks noChangeShapeType="1"/>
          </p:cNvSpPr>
          <p:nvPr/>
        </p:nvSpPr>
        <p:spPr bwMode="auto">
          <a:xfrm>
            <a:off x="6057201" y="4065959"/>
            <a:ext cx="0" cy="6683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1" name="Line 40"/>
          <p:cNvSpPr>
            <a:spLocks noChangeShapeType="1"/>
          </p:cNvSpPr>
          <p:nvPr/>
        </p:nvSpPr>
        <p:spPr bwMode="auto">
          <a:xfrm>
            <a:off x="6258813" y="4065959"/>
            <a:ext cx="3175" cy="669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2" name="Arc 41"/>
          <p:cNvSpPr>
            <a:spLocks/>
          </p:cNvSpPr>
          <p:nvPr/>
        </p:nvSpPr>
        <p:spPr bwMode="auto">
          <a:xfrm rot="10661270">
            <a:off x="6055613" y="4554909"/>
            <a:ext cx="203200" cy="279400"/>
          </a:xfrm>
          <a:custGeom>
            <a:avLst/>
            <a:gdLst>
              <a:gd name="T0" fmla="*/ 0 w 34145"/>
              <a:gd name="T1" fmla="*/ 102615 h 21600"/>
              <a:gd name="T2" fmla="*/ 203200 w 34145"/>
              <a:gd name="T3" fmla="*/ 114179 h 21600"/>
              <a:gd name="T4" fmla="*/ 99544 w 34145"/>
              <a:gd name="T5" fmla="*/ 279400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3" name="Oval 42"/>
          <p:cNvSpPr>
            <a:spLocks noChangeArrowheads="1"/>
          </p:cNvSpPr>
          <p:nvPr/>
        </p:nvSpPr>
        <p:spPr bwMode="auto">
          <a:xfrm>
            <a:off x="6057201" y="4043734"/>
            <a:ext cx="203200" cy="5715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grpSp>
        <p:nvGrpSpPr>
          <p:cNvPr id="34" name="Group 64"/>
          <p:cNvGrpSpPr>
            <a:grpSpLocks/>
          </p:cNvGrpSpPr>
          <p:nvPr/>
        </p:nvGrpSpPr>
        <p:grpSpPr bwMode="auto">
          <a:xfrm>
            <a:off x="3353239" y="4211031"/>
            <a:ext cx="1504551" cy="795337"/>
            <a:chOff x="2778" y="1593"/>
            <a:chExt cx="1146" cy="689"/>
          </a:xfrm>
        </p:grpSpPr>
        <p:sp>
          <p:nvSpPr>
            <p:cNvPr id="35" name="Text Box 44"/>
            <p:cNvSpPr txBox="1">
              <a:spLocks noChangeArrowheads="1"/>
            </p:cNvSpPr>
            <p:nvPr/>
          </p:nvSpPr>
          <p:spPr bwMode="auto">
            <a:xfrm>
              <a:off x="3156" y="1729"/>
              <a:ext cx="768"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b="1">
                  <a:solidFill>
                    <a:srgbClr val="000000"/>
                  </a:solidFill>
                  <a:latin typeface="Calibri" panose="020F0502020204030204" pitchFamily="34" charset="0"/>
                </a:rPr>
                <a:t>State 2</a:t>
              </a:r>
            </a:p>
          </p:txBody>
        </p:sp>
        <p:pic>
          <p:nvPicPr>
            <p:cNvPr id="36" name="Picture 4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78" y="1936"/>
              <a:ext cx="38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84" y="1642"/>
              <a:ext cx="38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4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08" y="1661"/>
              <a:ext cx="386" cy="311"/>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Line 48"/>
            <p:cNvSpPr>
              <a:spLocks noChangeShapeType="1"/>
            </p:cNvSpPr>
            <p:nvPr/>
          </p:nvSpPr>
          <p:spPr bwMode="auto">
            <a:xfrm>
              <a:off x="2883" y="1606"/>
              <a:ext cx="1" cy="5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 name="Line 49"/>
            <p:cNvSpPr>
              <a:spLocks noChangeShapeType="1"/>
            </p:cNvSpPr>
            <p:nvPr/>
          </p:nvSpPr>
          <p:spPr bwMode="auto">
            <a:xfrm>
              <a:off x="3072" y="1606"/>
              <a:ext cx="2" cy="5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1" name="Arc 50"/>
            <p:cNvSpPr>
              <a:spLocks/>
            </p:cNvSpPr>
            <p:nvPr/>
          </p:nvSpPr>
          <p:spPr bwMode="auto">
            <a:xfrm rot="10661270">
              <a:off x="2873" y="2074"/>
              <a:ext cx="197" cy="197"/>
            </a:xfrm>
            <a:custGeom>
              <a:avLst/>
              <a:gdLst>
                <a:gd name="T0" fmla="*/ 0 w 34145"/>
                <a:gd name="T1" fmla="*/ 72 h 21600"/>
                <a:gd name="T2" fmla="*/ 197 w 34145"/>
                <a:gd name="T3" fmla="*/ 81 h 21600"/>
                <a:gd name="T4" fmla="*/ 97 w 34145"/>
                <a:gd name="T5" fmla="*/ 197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2" name="Oval 51"/>
            <p:cNvSpPr>
              <a:spLocks noChangeArrowheads="1"/>
            </p:cNvSpPr>
            <p:nvPr/>
          </p:nvSpPr>
          <p:spPr bwMode="auto">
            <a:xfrm>
              <a:off x="2875" y="1616"/>
              <a:ext cx="198" cy="4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grpSp>
          <p:nvGrpSpPr>
            <p:cNvPr id="43" name="Group 52"/>
            <p:cNvGrpSpPr>
              <a:grpSpLocks/>
            </p:cNvGrpSpPr>
            <p:nvPr/>
          </p:nvGrpSpPr>
          <p:grpSpPr bwMode="auto">
            <a:xfrm>
              <a:off x="3420" y="1593"/>
              <a:ext cx="383" cy="689"/>
              <a:chOff x="1337" y="1740"/>
              <a:chExt cx="369" cy="654"/>
            </a:xfrm>
          </p:grpSpPr>
          <p:pic>
            <p:nvPicPr>
              <p:cNvPr id="50" name="Picture 5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337" y="2089"/>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Line 54"/>
              <p:cNvSpPr>
                <a:spLocks noChangeShapeType="1"/>
              </p:cNvSpPr>
              <p:nvPr/>
            </p:nvSpPr>
            <p:spPr bwMode="auto">
              <a:xfrm>
                <a:off x="1424" y="1758"/>
                <a:ext cx="0" cy="5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52" name="Line 55"/>
              <p:cNvSpPr>
                <a:spLocks noChangeShapeType="1"/>
              </p:cNvSpPr>
              <p:nvPr/>
            </p:nvSpPr>
            <p:spPr bwMode="auto">
              <a:xfrm>
                <a:off x="1613" y="1758"/>
                <a:ext cx="2" cy="5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53" name="Arc 56"/>
              <p:cNvSpPr>
                <a:spLocks/>
              </p:cNvSpPr>
              <p:nvPr/>
            </p:nvSpPr>
            <p:spPr bwMode="auto">
              <a:xfrm rot="10661270">
                <a:off x="1422" y="2163"/>
                <a:ext cx="190" cy="231"/>
              </a:xfrm>
              <a:custGeom>
                <a:avLst/>
                <a:gdLst>
                  <a:gd name="T0" fmla="*/ 0 w 34145"/>
                  <a:gd name="T1" fmla="*/ 85 h 21600"/>
                  <a:gd name="T2" fmla="*/ 190 w 34145"/>
                  <a:gd name="T3" fmla="*/ 94 h 21600"/>
                  <a:gd name="T4" fmla="*/ 93 w 34145"/>
                  <a:gd name="T5" fmla="*/ 231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54" name="Oval 57"/>
              <p:cNvSpPr>
                <a:spLocks noChangeArrowheads="1"/>
              </p:cNvSpPr>
              <p:nvPr/>
            </p:nvSpPr>
            <p:spPr bwMode="auto">
              <a:xfrm>
                <a:off x="1423" y="1740"/>
                <a:ext cx="191" cy="4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grpSp>
        <p:pic>
          <p:nvPicPr>
            <p:cNvPr id="44" name="Picture 58"/>
            <p:cNvPicPr>
              <a:picLocks noChangeAspect="1" noChangeArrowheads="1"/>
            </p:cNvPicPr>
            <p:nvPr/>
          </p:nvPicPr>
          <p:blipFill>
            <a:blip r:embed="rId20">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3115" y="1650"/>
              <a:ext cx="38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59"/>
            <p:cNvPicPr>
              <a:picLocks noChangeAspect="1" noChangeArrowheads="1"/>
            </p:cNvPicPr>
            <p:nvPr/>
          </p:nvPicPr>
          <p:blipFill>
            <a:blip r:embed="rId20">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3107" y="1938"/>
              <a:ext cx="38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Line 60"/>
            <p:cNvSpPr>
              <a:spLocks noChangeShapeType="1"/>
            </p:cNvSpPr>
            <p:nvPr/>
          </p:nvSpPr>
          <p:spPr bwMode="auto">
            <a:xfrm>
              <a:off x="3207" y="1616"/>
              <a:ext cx="1" cy="5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7" name="Line 61"/>
            <p:cNvSpPr>
              <a:spLocks noChangeShapeType="1"/>
            </p:cNvSpPr>
            <p:nvPr/>
          </p:nvSpPr>
          <p:spPr bwMode="auto">
            <a:xfrm>
              <a:off x="3396" y="1616"/>
              <a:ext cx="2" cy="5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8" name="Arc 62"/>
            <p:cNvSpPr>
              <a:spLocks/>
            </p:cNvSpPr>
            <p:nvPr/>
          </p:nvSpPr>
          <p:spPr bwMode="auto">
            <a:xfrm rot="10661270">
              <a:off x="3197" y="2084"/>
              <a:ext cx="197" cy="197"/>
            </a:xfrm>
            <a:custGeom>
              <a:avLst/>
              <a:gdLst>
                <a:gd name="T0" fmla="*/ 0 w 34145"/>
                <a:gd name="T1" fmla="*/ 72 h 21600"/>
                <a:gd name="T2" fmla="*/ 197 w 34145"/>
                <a:gd name="T3" fmla="*/ 81 h 21600"/>
                <a:gd name="T4" fmla="*/ 97 w 34145"/>
                <a:gd name="T5" fmla="*/ 197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9" name="Oval 63"/>
            <p:cNvSpPr>
              <a:spLocks noChangeArrowheads="1"/>
            </p:cNvSpPr>
            <p:nvPr/>
          </p:nvSpPr>
          <p:spPr bwMode="auto">
            <a:xfrm>
              <a:off x="3199" y="1626"/>
              <a:ext cx="198" cy="49"/>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grpSp>
      <p:sp>
        <p:nvSpPr>
          <p:cNvPr id="55" name="Text Box 65"/>
          <p:cNvSpPr txBox="1">
            <a:spLocks noChangeArrowheads="1"/>
          </p:cNvSpPr>
          <p:nvPr/>
        </p:nvSpPr>
        <p:spPr bwMode="auto">
          <a:xfrm>
            <a:off x="2428450" y="4364800"/>
            <a:ext cx="104503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Proteins</a:t>
            </a:r>
            <a:endParaRPr lang="en-US" altLang="en-US" sz="1400" dirty="0">
              <a:solidFill>
                <a:srgbClr val="000000"/>
              </a:solidFill>
              <a:latin typeface="Calibri" panose="020F0502020204030204" pitchFamily="34" charset="0"/>
            </a:endParaRPr>
          </a:p>
        </p:txBody>
      </p:sp>
      <p:sp>
        <p:nvSpPr>
          <p:cNvPr id="56" name="Line 67"/>
          <p:cNvSpPr>
            <a:spLocks noChangeShapeType="1"/>
          </p:cNvSpPr>
          <p:nvPr/>
        </p:nvSpPr>
        <p:spPr bwMode="auto">
          <a:xfrm flipH="1">
            <a:off x="5562640" y="4542993"/>
            <a:ext cx="432564" cy="42943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57" name="Text Box 69"/>
          <p:cNvSpPr txBox="1">
            <a:spLocks noChangeArrowheads="1"/>
          </p:cNvSpPr>
          <p:nvPr/>
        </p:nvSpPr>
        <p:spPr bwMode="auto">
          <a:xfrm>
            <a:off x="2950965" y="5265064"/>
            <a:ext cx="11607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Digestion</a:t>
            </a:r>
          </a:p>
        </p:txBody>
      </p:sp>
      <p:sp>
        <p:nvSpPr>
          <p:cNvPr id="58" name="Text Box 70"/>
          <p:cNvSpPr txBox="1">
            <a:spLocks noChangeArrowheads="1"/>
          </p:cNvSpPr>
          <p:nvPr/>
        </p:nvSpPr>
        <p:spPr bwMode="auto">
          <a:xfrm>
            <a:off x="6541790" y="4242181"/>
            <a:ext cx="108407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Peptides</a:t>
            </a:r>
            <a:endParaRPr lang="en-US" altLang="en-US" sz="1400" dirty="0">
              <a:solidFill>
                <a:srgbClr val="000000"/>
              </a:solidFill>
              <a:latin typeface="Calibri" panose="020F0502020204030204" pitchFamily="34" charset="0"/>
            </a:endParaRPr>
          </a:p>
        </p:txBody>
      </p:sp>
      <p:grpSp>
        <p:nvGrpSpPr>
          <p:cNvPr id="59" name="Group 93"/>
          <p:cNvGrpSpPr>
            <a:grpSpLocks/>
          </p:cNvGrpSpPr>
          <p:nvPr/>
        </p:nvGrpSpPr>
        <p:grpSpPr bwMode="auto">
          <a:xfrm>
            <a:off x="4722853" y="5040684"/>
            <a:ext cx="395287" cy="690563"/>
            <a:chOff x="2301" y="2660"/>
            <a:chExt cx="374" cy="654"/>
          </a:xfrm>
        </p:grpSpPr>
        <p:pic>
          <p:nvPicPr>
            <p:cNvPr id="60" name="Picture 9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06" y="2725"/>
              <a:ext cx="369" cy="29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95"/>
            <p:cNvSpPr>
              <a:spLocks noChangeArrowheads="1"/>
            </p:cNvSpPr>
            <p:nvPr/>
          </p:nvSpPr>
          <p:spPr bwMode="auto">
            <a:xfrm>
              <a:off x="2393" y="2660"/>
              <a:ext cx="191" cy="4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pic>
          <p:nvPicPr>
            <p:cNvPr id="62" name="Picture 96"/>
            <p:cNvPicPr>
              <a:picLocks noChangeAspect="1" noChangeArrowheads="1"/>
            </p:cNvPicPr>
            <p:nvPr/>
          </p:nvPicPr>
          <p:blipFill>
            <a:blip r:embed="rId22">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2301" y="2882"/>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Picture 9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06" y="299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Line 98"/>
            <p:cNvSpPr>
              <a:spLocks noChangeShapeType="1"/>
            </p:cNvSpPr>
            <p:nvPr/>
          </p:nvSpPr>
          <p:spPr bwMode="auto">
            <a:xfrm>
              <a:off x="2394" y="2678"/>
              <a:ext cx="0" cy="5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65" name="Line 99"/>
            <p:cNvSpPr>
              <a:spLocks noChangeShapeType="1"/>
            </p:cNvSpPr>
            <p:nvPr/>
          </p:nvSpPr>
          <p:spPr bwMode="auto">
            <a:xfrm>
              <a:off x="2583" y="2678"/>
              <a:ext cx="2" cy="5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66" name="Arc 100"/>
            <p:cNvSpPr>
              <a:spLocks/>
            </p:cNvSpPr>
            <p:nvPr/>
          </p:nvSpPr>
          <p:spPr bwMode="auto">
            <a:xfrm rot="10661270">
              <a:off x="2392" y="3083"/>
              <a:ext cx="190" cy="231"/>
            </a:xfrm>
            <a:custGeom>
              <a:avLst/>
              <a:gdLst>
                <a:gd name="T0" fmla="*/ 0 w 34145"/>
                <a:gd name="T1" fmla="*/ 85 h 21600"/>
                <a:gd name="T2" fmla="*/ 190 w 34145"/>
                <a:gd name="T3" fmla="*/ 94 h 21600"/>
                <a:gd name="T4" fmla="*/ 93 w 34145"/>
                <a:gd name="T5" fmla="*/ 231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grpSp>
      <p:grpSp>
        <p:nvGrpSpPr>
          <p:cNvPr id="67" name="Group 101"/>
          <p:cNvGrpSpPr>
            <a:grpSpLocks/>
          </p:cNvGrpSpPr>
          <p:nvPr/>
        </p:nvGrpSpPr>
        <p:grpSpPr bwMode="auto">
          <a:xfrm>
            <a:off x="5143540" y="5040684"/>
            <a:ext cx="395288" cy="690563"/>
            <a:chOff x="2301" y="2660"/>
            <a:chExt cx="374" cy="654"/>
          </a:xfrm>
        </p:grpSpPr>
        <p:pic>
          <p:nvPicPr>
            <p:cNvPr id="68" name="Picture 10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06" y="2725"/>
              <a:ext cx="369" cy="29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Oval 103"/>
            <p:cNvSpPr>
              <a:spLocks noChangeArrowheads="1"/>
            </p:cNvSpPr>
            <p:nvPr/>
          </p:nvSpPr>
          <p:spPr bwMode="auto">
            <a:xfrm>
              <a:off x="2393" y="2660"/>
              <a:ext cx="191" cy="4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pic>
          <p:nvPicPr>
            <p:cNvPr id="70" name="Picture 104"/>
            <p:cNvPicPr>
              <a:picLocks noChangeAspect="1" noChangeArrowheads="1"/>
            </p:cNvPicPr>
            <p:nvPr/>
          </p:nvPicPr>
          <p:blipFill>
            <a:blip r:embed="rId22">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2301" y="2882"/>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Picture 105"/>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06" y="299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Line 106"/>
            <p:cNvSpPr>
              <a:spLocks noChangeShapeType="1"/>
            </p:cNvSpPr>
            <p:nvPr/>
          </p:nvSpPr>
          <p:spPr bwMode="auto">
            <a:xfrm>
              <a:off x="2394" y="2678"/>
              <a:ext cx="0" cy="5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73" name="Line 107"/>
            <p:cNvSpPr>
              <a:spLocks noChangeShapeType="1"/>
            </p:cNvSpPr>
            <p:nvPr/>
          </p:nvSpPr>
          <p:spPr bwMode="auto">
            <a:xfrm>
              <a:off x="2583" y="2678"/>
              <a:ext cx="2" cy="5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74" name="Arc 108"/>
            <p:cNvSpPr>
              <a:spLocks/>
            </p:cNvSpPr>
            <p:nvPr/>
          </p:nvSpPr>
          <p:spPr bwMode="auto">
            <a:xfrm rot="10661270">
              <a:off x="2392" y="3083"/>
              <a:ext cx="190" cy="231"/>
            </a:xfrm>
            <a:custGeom>
              <a:avLst/>
              <a:gdLst>
                <a:gd name="T0" fmla="*/ 0 w 34145"/>
                <a:gd name="T1" fmla="*/ 85 h 21600"/>
                <a:gd name="T2" fmla="*/ 190 w 34145"/>
                <a:gd name="T3" fmla="*/ 94 h 21600"/>
                <a:gd name="T4" fmla="*/ 93 w 34145"/>
                <a:gd name="T5" fmla="*/ 231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grpSp>
      <p:grpSp>
        <p:nvGrpSpPr>
          <p:cNvPr id="75" name="Group 109"/>
          <p:cNvGrpSpPr>
            <a:grpSpLocks/>
          </p:cNvGrpSpPr>
          <p:nvPr/>
        </p:nvGrpSpPr>
        <p:grpSpPr bwMode="auto">
          <a:xfrm>
            <a:off x="5562640" y="5040684"/>
            <a:ext cx="395288" cy="690563"/>
            <a:chOff x="2301" y="2660"/>
            <a:chExt cx="374" cy="654"/>
          </a:xfrm>
        </p:grpSpPr>
        <p:pic>
          <p:nvPicPr>
            <p:cNvPr id="76" name="Picture 11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06" y="2725"/>
              <a:ext cx="369" cy="29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Oval 111"/>
            <p:cNvSpPr>
              <a:spLocks noChangeArrowheads="1"/>
            </p:cNvSpPr>
            <p:nvPr/>
          </p:nvSpPr>
          <p:spPr bwMode="auto">
            <a:xfrm>
              <a:off x="2393" y="2660"/>
              <a:ext cx="191" cy="4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pic>
          <p:nvPicPr>
            <p:cNvPr id="78" name="Picture 112"/>
            <p:cNvPicPr>
              <a:picLocks noChangeAspect="1" noChangeArrowheads="1"/>
            </p:cNvPicPr>
            <p:nvPr/>
          </p:nvPicPr>
          <p:blipFill>
            <a:blip r:embed="rId22">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2301" y="2882"/>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Picture 1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306" y="299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 name="Line 114"/>
            <p:cNvSpPr>
              <a:spLocks noChangeShapeType="1"/>
            </p:cNvSpPr>
            <p:nvPr/>
          </p:nvSpPr>
          <p:spPr bwMode="auto">
            <a:xfrm>
              <a:off x="2394" y="2678"/>
              <a:ext cx="0" cy="5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81" name="Line 115"/>
            <p:cNvSpPr>
              <a:spLocks noChangeShapeType="1"/>
            </p:cNvSpPr>
            <p:nvPr/>
          </p:nvSpPr>
          <p:spPr bwMode="auto">
            <a:xfrm>
              <a:off x="2583" y="2678"/>
              <a:ext cx="2" cy="5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82" name="Arc 116"/>
            <p:cNvSpPr>
              <a:spLocks/>
            </p:cNvSpPr>
            <p:nvPr/>
          </p:nvSpPr>
          <p:spPr bwMode="auto">
            <a:xfrm rot="10661270">
              <a:off x="2392" y="3083"/>
              <a:ext cx="190" cy="231"/>
            </a:xfrm>
            <a:custGeom>
              <a:avLst/>
              <a:gdLst>
                <a:gd name="T0" fmla="*/ 0 w 34145"/>
                <a:gd name="T1" fmla="*/ 85 h 21600"/>
                <a:gd name="T2" fmla="*/ 190 w 34145"/>
                <a:gd name="T3" fmla="*/ 94 h 21600"/>
                <a:gd name="T4" fmla="*/ 93 w 34145"/>
                <a:gd name="T5" fmla="*/ 231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grpSp>
      <p:sp>
        <p:nvSpPr>
          <p:cNvPr id="83" name="Text Box 118"/>
          <p:cNvSpPr txBox="1">
            <a:spLocks noChangeArrowheads="1"/>
          </p:cNvSpPr>
          <p:nvPr/>
        </p:nvSpPr>
        <p:spPr bwMode="auto">
          <a:xfrm>
            <a:off x="6107349" y="4785744"/>
            <a:ext cx="153157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Peptide</a:t>
            </a:r>
          </a:p>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fractionation</a:t>
            </a:r>
          </a:p>
        </p:txBody>
      </p:sp>
      <p:pic>
        <p:nvPicPr>
          <p:cNvPr id="84" name="Picture 1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55242" y="2668302"/>
            <a:ext cx="1797790" cy="1577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 name="Text Box 151"/>
          <p:cNvSpPr txBox="1">
            <a:spLocks noChangeArrowheads="1"/>
          </p:cNvSpPr>
          <p:nvPr/>
        </p:nvSpPr>
        <p:spPr bwMode="auto">
          <a:xfrm>
            <a:off x="1816313" y="1386092"/>
            <a:ext cx="1652632" cy="830997"/>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1. Sample</a:t>
            </a:r>
          </a:p>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Preparation</a:t>
            </a:r>
          </a:p>
        </p:txBody>
      </p:sp>
      <p:sp>
        <p:nvSpPr>
          <p:cNvPr id="88" name="Line 18"/>
          <p:cNvSpPr>
            <a:spLocks noChangeShapeType="1"/>
          </p:cNvSpPr>
          <p:nvPr/>
        </p:nvSpPr>
        <p:spPr bwMode="auto">
          <a:xfrm>
            <a:off x="2281893" y="3914969"/>
            <a:ext cx="519070" cy="35401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89" name="Line 18"/>
          <p:cNvSpPr>
            <a:spLocks noChangeShapeType="1"/>
          </p:cNvSpPr>
          <p:nvPr/>
        </p:nvSpPr>
        <p:spPr bwMode="auto">
          <a:xfrm>
            <a:off x="4087774" y="5089681"/>
            <a:ext cx="599342" cy="30367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90" name="Text Box 65"/>
          <p:cNvSpPr txBox="1">
            <a:spLocks noChangeArrowheads="1"/>
          </p:cNvSpPr>
          <p:nvPr/>
        </p:nvSpPr>
        <p:spPr bwMode="auto">
          <a:xfrm>
            <a:off x="1031622" y="4400921"/>
            <a:ext cx="6351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Gels</a:t>
            </a:r>
            <a:endParaRPr lang="en-US" altLang="en-US" sz="1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0474108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7196" y="304800"/>
            <a:ext cx="8229600" cy="792162"/>
          </a:xfrm>
        </p:spPr>
        <p:txBody>
          <a:bodyPr>
            <a:normAutofit/>
          </a:bodyPr>
          <a:lstStyle/>
          <a:p>
            <a:r>
              <a:rPr lang="en-US" dirty="0">
                <a:latin typeface="Calibri" panose="020F0502020204030204" pitchFamily="34" charset="0"/>
              </a:rPr>
              <a:t>Proteomics Method Steps</a:t>
            </a:r>
          </a:p>
        </p:txBody>
      </p:sp>
      <p:sp>
        <p:nvSpPr>
          <p:cNvPr id="30" name="Date Placeholder 29"/>
          <p:cNvSpPr>
            <a:spLocks noGrp="1"/>
          </p:cNvSpPr>
          <p:nvPr>
            <p:ph type="dt" sz="half" idx="10"/>
          </p:nvPr>
        </p:nvSpPr>
        <p:spPr>
          <a:xfrm>
            <a:off x="0" y="6356350"/>
            <a:ext cx="2057400" cy="365125"/>
          </a:xfrm>
          <a:prstGeom prst="rect">
            <a:avLst/>
          </a:prstGeom>
        </p:spPr>
        <p:txBody>
          <a:bodyPr/>
          <a:lstStyle/>
          <a:p>
            <a:r>
              <a:rPr lang="en-US"/>
              <a:t>11/2/2015</a:t>
            </a:r>
          </a:p>
        </p:txBody>
      </p:sp>
      <p:sp>
        <p:nvSpPr>
          <p:cNvPr id="31" name="Footer Placeholder 30"/>
          <p:cNvSpPr>
            <a:spLocks noGrp="1"/>
          </p:cNvSpPr>
          <p:nvPr>
            <p:ph type="ftr" sz="quarter" idx="11"/>
          </p:nvPr>
        </p:nvSpPr>
        <p:spPr/>
        <p:txBody>
          <a:bodyPr/>
          <a:lstStyle/>
          <a:p>
            <a:r>
              <a:rPr lang="en-US"/>
              <a:t>Hsu group meeting</a:t>
            </a:r>
          </a:p>
        </p:txBody>
      </p:sp>
      <p:sp>
        <p:nvSpPr>
          <p:cNvPr id="3" name="Slide Number Placeholder 2"/>
          <p:cNvSpPr>
            <a:spLocks noGrp="1"/>
          </p:cNvSpPr>
          <p:nvPr>
            <p:ph type="sldNum" sz="quarter" idx="12"/>
          </p:nvPr>
        </p:nvSpPr>
        <p:spPr/>
        <p:txBody>
          <a:bodyPr/>
          <a:lstStyle/>
          <a:p>
            <a:pPr>
              <a:defRPr/>
            </a:pPr>
            <a:fld id="{B5B8AF97-DBDA-4407-8853-6C3ADAC38AB6}" type="slidenum">
              <a:rPr lang="en-US" smtClean="0">
                <a:solidFill>
                  <a:srgbClr val="000000"/>
                </a:solidFill>
                <a:latin typeface="Calibri" panose="020F0502020204030204" pitchFamily="34" charset="0"/>
              </a:rPr>
              <a:pPr>
                <a:defRPr/>
              </a:pPr>
              <a:t>26</a:t>
            </a:fld>
            <a:endParaRPr lang="en-US">
              <a:solidFill>
                <a:srgbClr val="000000"/>
              </a:solidFill>
              <a:latin typeface="Calibri" panose="020F0502020204030204" pitchFamily="34" charset="0"/>
            </a:endParaRPr>
          </a:p>
        </p:txBody>
      </p:sp>
      <p:sp>
        <p:nvSpPr>
          <p:cNvPr id="4" name="Text Box 71"/>
          <p:cNvSpPr txBox="1">
            <a:spLocks noChangeArrowheads="1"/>
          </p:cNvSpPr>
          <p:nvPr/>
        </p:nvSpPr>
        <p:spPr bwMode="auto">
          <a:xfrm>
            <a:off x="4303991" y="2583350"/>
            <a:ext cx="283422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LC-MS &amp; MS/MS</a:t>
            </a:r>
          </a:p>
        </p:txBody>
      </p:sp>
      <p:grpSp>
        <p:nvGrpSpPr>
          <p:cNvPr id="5" name="Group 93"/>
          <p:cNvGrpSpPr>
            <a:grpSpLocks/>
          </p:cNvGrpSpPr>
          <p:nvPr/>
        </p:nvGrpSpPr>
        <p:grpSpPr bwMode="auto">
          <a:xfrm>
            <a:off x="2887474" y="1737174"/>
            <a:ext cx="395287" cy="690563"/>
            <a:chOff x="2301" y="2660"/>
            <a:chExt cx="374" cy="654"/>
          </a:xfrm>
        </p:grpSpPr>
        <p:pic>
          <p:nvPicPr>
            <p:cNvPr id="6" name="Picture 9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6" y="2725"/>
              <a:ext cx="369" cy="29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val 95"/>
            <p:cNvSpPr>
              <a:spLocks noChangeArrowheads="1"/>
            </p:cNvSpPr>
            <p:nvPr/>
          </p:nvSpPr>
          <p:spPr bwMode="auto">
            <a:xfrm>
              <a:off x="2393" y="2660"/>
              <a:ext cx="191" cy="4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pic>
          <p:nvPicPr>
            <p:cNvPr id="8" name="Picture 96"/>
            <p:cNvPicPr>
              <a:picLocks noChangeAspect="1" noChangeArrowheads="1"/>
            </p:cNvPicPr>
            <p:nvPr/>
          </p:nvPicPr>
          <p:blipFill>
            <a:blip r:embed="rId3">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2301" y="2882"/>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6" y="299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98"/>
            <p:cNvSpPr>
              <a:spLocks noChangeShapeType="1"/>
            </p:cNvSpPr>
            <p:nvPr/>
          </p:nvSpPr>
          <p:spPr bwMode="auto">
            <a:xfrm>
              <a:off x="2394" y="2678"/>
              <a:ext cx="0" cy="5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11" name="Line 99"/>
            <p:cNvSpPr>
              <a:spLocks noChangeShapeType="1"/>
            </p:cNvSpPr>
            <p:nvPr/>
          </p:nvSpPr>
          <p:spPr bwMode="auto">
            <a:xfrm>
              <a:off x="2583" y="2678"/>
              <a:ext cx="2" cy="5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12" name="Arc 100"/>
            <p:cNvSpPr>
              <a:spLocks/>
            </p:cNvSpPr>
            <p:nvPr/>
          </p:nvSpPr>
          <p:spPr bwMode="auto">
            <a:xfrm rot="10661270">
              <a:off x="2392" y="3083"/>
              <a:ext cx="190" cy="231"/>
            </a:xfrm>
            <a:custGeom>
              <a:avLst/>
              <a:gdLst>
                <a:gd name="T0" fmla="*/ 0 w 34145"/>
                <a:gd name="T1" fmla="*/ 85 h 21600"/>
                <a:gd name="T2" fmla="*/ 190 w 34145"/>
                <a:gd name="T3" fmla="*/ 94 h 21600"/>
                <a:gd name="T4" fmla="*/ 93 w 34145"/>
                <a:gd name="T5" fmla="*/ 231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grpSp>
      <p:grpSp>
        <p:nvGrpSpPr>
          <p:cNvPr id="13" name="Group 101"/>
          <p:cNvGrpSpPr>
            <a:grpSpLocks/>
          </p:cNvGrpSpPr>
          <p:nvPr/>
        </p:nvGrpSpPr>
        <p:grpSpPr bwMode="auto">
          <a:xfrm>
            <a:off x="3308161" y="1737174"/>
            <a:ext cx="395288" cy="690563"/>
            <a:chOff x="2301" y="2660"/>
            <a:chExt cx="374" cy="654"/>
          </a:xfrm>
        </p:grpSpPr>
        <p:pic>
          <p:nvPicPr>
            <p:cNvPr id="14" name="Picture 1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6" y="2725"/>
              <a:ext cx="369" cy="29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Oval 103"/>
            <p:cNvSpPr>
              <a:spLocks noChangeArrowheads="1"/>
            </p:cNvSpPr>
            <p:nvPr/>
          </p:nvSpPr>
          <p:spPr bwMode="auto">
            <a:xfrm>
              <a:off x="2393" y="2660"/>
              <a:ext cx="191" cy="4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pic>
          <p:nvPicPr>
            <p:cNvPr id="16" name="Picture 104"/>
            <p:cNvPicPr>
              <a:picLocks noChangeAspect="1" noChangeArrowheads="1"/>
            </p:cNvPicPr>
            <p:nvPr/>
          </p:nvPicPr>
          <p:blipFill>
            <a:blip r:embed="rId3">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2301" y="2882"/>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6" y="299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Line 106"/>
            <p:cNvSpPr>
              <a:spLocks noChangeShapeType="1"/>
            </p:cNvSpPr>
            <p:nvPr/>
          </p:nvSpPr>
          <p:spPr bwMode="auto">
            <a:xfrm>
              <a:off x="2394" y="2678"/>
              <a:ext cx="0" cy="5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19" name="Line 107"/>
            <p:cNvSpPr>
              <a:spLocks noChangeShapeType="1"/>
            </p:cNvSpPr>
            <p:nvPr/>
          </p:nvSpPr>
          <p:spPr bwMode="auto">
            <a:xfrm>
              <a:off x="2583" y="2678"/>
              <a:ext cx="2" cy="5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20" name="Arc 108"/>
            <p:cNvSpPr>
              <a:spLocks/>
            </p:cNvSpPr>
            <p:nvPr/>
          </p:nvSpPr>
          <p:spPr bwMode="auto">
            <a:xfrm rot="10661270">
              <a:off x="2392" y="3083"/>
              <a:ext cx="190" cy="231"/>
            </a:xfrm>
            <a:custGeom>
              <a:avLst/>
              <a:gdLst>
                <a:gd name="T0" fmla="*/ 0 w 34145"/>
                <a:gd name="T1" fmla="*/ 85 h 21600"/>
                <a:gd name="T2" fmla="*/ 190 w 34145"/>
                <a:gd name="T3" fmla="*/ 94 h 21600"/>
                <a:gd name="T4" fmla="*/ 93 w 34145"/>
                <a:gd name="T5" fmla="*/ 231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grpSp>
      <p:grpSp>
        <p:nvGrpSpPr>
          <p:cNvPr id="21" name="Group 109"/>
          <p:cNvGrpSpPr>
            <a:grpSpLocks/>
          </p:cNvGrpSpPr>
          <p:nvPr/>
        </p:nvGrpSpPr>
        <p:grpSpPr bwMode="auto">
          <a:xfrm>
            <a:off x="3727261" y="1737174"/>
            <a:ext cx="395288" cy="690563"/>
            <a:chOff x="2301" y="2660"/>
            <a:chExt cx="374" cy="654"/>
          </a:xfrm>
        </p:grpSpPr>
        <p:pic>
          <p:nvPicPr>
            <p:cNvPr id="22" name="Picture 1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6" y="2725"/>
              <a:ext cx="369" cy="29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Oval 111"/>
            <p:cNvSpPr>
              <a:spLocks noChangeArrowheads="1"/>
            </p:cNvSpPr>
            <p:nvPr/>
          </p:nvSpPr>
          <p:spPr bwMode="auto">
            <a:xfrm>
              <a:off x="2393" y="2660"/>
              <a:ext cx="191" cy="47"/>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pic>
          <p:nvPicPr>
            <p:cNvPr id="24" name="Picture 112"/>
            <p:cNvPicPr>
              <a:picLocks noChangeAspect="1" noChangeArrowheads="1"/>
            </p:cNvPicPr>
            <p:nvPr/>
          </p:nvPicPr>
          <p:blipFill>
            <a:blip r:embed="rId3">
              <a:clrChange>
                <a:clrFrom>
                  <a:srgbClr val="27EC27"/>
                </a:clrFrom>
                <a:clrTo>
                  <a:srgbClr val="27EC27">
                    <a:alpha val="0"/>
                  </a:srgbClr>
                </a:clrTo>
              </a:clrChange>
              <a:extLst>
                <a:ext uri="{28A0092B-C50C-407E-A947-70E740481C1C}">
                  <a14:useLocalDpi xmlns:a14="http://schemas.microsoft.com/office/drawing/2010/main" val="0"/>
                </a:ext>
              </a:extLst>
            </a:blip>
            <a:srcRect/>
            <a:stretch>
              <a:fillRect/>
            </a:stretch>
          </p:blipFill>
          <p:spPr bwMode="auto">
            <a:xfrm>
              <a:off x="2301" y="2882"/>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6" y="299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Line 114"/>
            <p:cNvSpPr>
              <a:spLocks noChangeShapeType="1"/>
            </p:cNvSpPr>
            <p:nvPr/>
          </p:nvSpPr>
          <p:spPr bwMode="auto">
            <a:xfrm>
              <a:off x="2394" y="2678"/>
              <a:ext cx="0" cy="55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27" name="Line 115"/>
            <p:cNvSpPr>
              <a:spLocks noChangeShapeType="1"/>
            </p:cNvSpPr>
            <p:nvPr/>
          </p:nvSpPr>
          <p:spPr bwMode="auto">
            <a:xfrm>
              <a:off x="2583" y="2678"/>
              <a:ext cx="2" cy="5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28" name="Arc 116"/>
            <p:cNvSpPr>
              <a:spLocks/>
            </p:cNvSpPr>
            <p:nvPr/>
          </p:nvSpPr>
          <p:spPr bwMode="auto">
            <a:xfrm rot="10661270">
              <a:off x="2392" y="3083"/>
              <a:ext cx="190" cy="231"/>
            </a:xfrm>
            <a:custGeom>
              <a:avLst/>
              <a:gdLst>
                <a:gd name="T0" fmla="*/ 0 w 34145"/>
                <a:gd name="T1" fmla="*/ 85 h 21600"/>
                <a:gd name="T2" fmla="*/ 190 w 34145"/>
                <a:gd name="T3" fmla="*/ 94 h 21600"/>
                <a:gd name="T4" fmla="*/ 93 w 34145"/>
                <a:gd name="T5" fmla="*/ 231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grpSp>
      <p:sp>
        <p:nvSpPr>
          <p:cNvPr id="29" name="Line 117"/>
          <p:cNvSpPr>
            <a:spLocks noChangeShapeType="1"/>
          </p:cNvSpPr>
          <p:nvPr/>
        </p:nvSpPr>
        <p:spPr bwMode="auto">
          <a:xfrm flipH="1">
            <a:off x="4319020" y="2571835"/>
            <a:ext cx="0" cy="704765"/>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pic>
        <p:nvPicPr>
          <p:cNvPr id="32" name="Picture 13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16528" y="4828800"/>
            <a:ext cx="1735832" cy="1153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13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67745" y="3187062"/>
            <a:ext cx="1621597" cy="1075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13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67885" y="4767721"/>
            <a:ext cx="1850069" cy="1231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14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007027" y="4807952"/>
            <a:ext cx="1735832" cy="1212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14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83956" y="4688144"/>
            <a:ext cx="1833352" cy="1331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Text Box 153"/>
          <p:cNvSpPr txBox="1">
            <a:spLocks noChangeArrowheads="1"/>
          </p:cNvSpPr>
          <p:nvPr/>
        </p:nvSpPr>
        <p:spPr bwMode="auto">
          <a:xfrm>
            <a:off x="660094" y="1354557"/>
            <a:ext cx="1574470" cy="156966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2. Sample</a:t>
            </a:r>
          </a:p>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Analysis/</a:t>
            </a:r>
          </a:p>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Data</a:t>
            </a:r>
          </a:p>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Acquisition</a:t>
            </a:r>
          </a:p>
        </p:txBody>
      </p:sp>
      <p:grpSp>
        <p:nvGrpSpPr>
          <p:cNvPr id="40" name="Group 34"/>
          <p:cNvGrpSpPr>
            <a:grpSpLocks/>
          </p:cNvGrpSpPr>
          <p:nvPr/>
        </p:nvGrpSpPr>
        <p:grpSpPr bwMode="auto">
          <a:xfrm>
            <a:off x="4576518" y="1835650"/>
            <a:ext cx="461962" cy="631825"/>
            <a:chOff x="3797" y="1846"/>
            <a:chExt cx="433" cy="523"/>
          </a:xfrm>
        </p:grpSpPr>
        <p:pic>
          <p:nvPicPr>
            <p:cNvPr id="41" name="Picture 3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861" y="1846"/>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3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801" y="207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37"/>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849" y="2014"/>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38"/>
            <p:cNvPicPr>
              <a:picLocks noChangeAspect="1" noChangeArrowheads="1"/>
            </p:cNvPicPr>
            <p:nvPr/>
          </p:nvPicPr>
          <p:blipFill>
            <a:blip r:embed="rId1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97" y="1892"/>
              <a:ext cx="36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5" name="Line 39"/>
          <p:cNvSpPr>
            <a:spLocks noChangeShapeType="1"/>
          </p:cNvSpPr>
          <p:nvPr/>
        </p:nvSpPr>
        <p:spPr bwMode="auto">
          <a:xfrm>
            <a:off x="4693993" y="1715000"/>
            <a:ext cx="0" cy="66833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6" name="Line 40"/>
          <p:cNvSpPr>
            <a:spLocks noChangeShapeType="1"/>
          </p:cNvSpPr>
          <p:nvPr/>
        </p:nvSpPr>
        <p:spPr bwMode="auto">
          <a:xfrm>
            <a:off x="4895605" y="1715000"/>
            <a:ext cx="3175" cy="669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7" name="Arc 41"/>
          <p:cNvSpPr>
            <a:spLocks/>
          </p:cNvSpPr>
          <p:nvPr/>
        </p:nvSpPr>
        <p:spPr bwMode="auto">
          <a:xfrm rot="10661270">
            <a:off x="4692405" y="2203950"/>
            <a:ext cx="203200" cy="279400"/>
          </a:xfrm>
          <a:custGeom>
            <a:avLst/>
            <a:gdLst>
              <a:gd name="T0" fmla="*/ 0 w 34145"/>
              <a:gd name="T1" fmla="*/ 102615 h 21600"/>
              <a:gd name="T2" fmla="*/ 203200 w 34145"/>
              <a:gd name="T3" fmla="*/ 114179 h 21600"/>
              <a:gd name="T4" fmla="*/ 99544 w 34145"/>
              <a:gd name="T5" fmla="*/ 279400 h 21600"/>
              <a:gd name="T6" fmla="*/ 0 60000 65536"/>
              <a:gd name="T7" fmla="*/ 0 60000 65536"/>
              <a:gd name="T8" fmla="*/ 0 60000 65536"/>
            </a:gdLst>
            <a:ahLst/>
            <a:cxnLst>
              <a:cxn ang="T6">
                <a:pos x="T0" y="T1"/>
              </a:cxn>
              <a:cxn ang="T7">
                <a:pos x="T2" y="T3"/>
              </a:cxn>
              <a:cxn ang="T8">
                <a:pos x="T4" y="T5"/>
              </a:cxn>
            </a:cxnLst>
            <a:rect l="0" t="0" r="r" b="b"/>
            <a:pathLst>
              <a:path w="34145" h="21600" fill="none" extrusionOk="0">
                <a:moveTo>
                  <a:pt x="0" y="7933"/>
                </a:moveTo>
                <a:cubicBezTo>
                  <a:pt x="4102" y="2912"/>
                  <a:pt x="10243" y="-1"/>
                  <a:pt x="16727" y="0"/>
                </a:cubicBezTo>
                <a:cubicBezTo>
                  <a:pt x="23607" y="0"/>
                  <a:pt x="30076" y="3278"/>
                  <a:pt x="34145" y="8826"/>
                </a:cubicBezTo>
              </a:path>
              <a:path w="34145" h="21600" stroke="0" extrusionOk="0">
                <a:moveTo>
                  <a:pt x="0" y="7933"/>
                </a:moveTo>
                <a:cubicBezTo>
                  <a:pt x="4102" y="2912"/>
                  <a:pt x="10243" y="-1"/>
                  <a:pt x="16727" y="0"/>
                </a:cubicBezTo>
                <a:cubicBezTo>
                  <a:pt x="23607" y="0"/>
                  <a:pt x="30076" y="3278"/>
                  <a:pt x="34145" y="8826"/>
                </a:cubicBezTo>
                <a:lnTo>
                  <a:pt x="16727" y="21600"/>
                </a:lnTo>
                <a:lnTo>
                  <a:pt x="0" y="7933"/>
                </a:lnTo>
                <a:close/>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8" name="Oval 42"/>
          <p:cNvSpPr>
            <a:spLocks noChangeArrowheads="1"/>
          </p:cNvSpPr>
          <p:nvPr/>
        </p:nvSpPr>
        <p:spPr bwMode="auto">
          <a:xfrm>
            <a:off x="4693993" y="1692775"/>
            <a:ext cx="203200" cy="57150"/>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sp>
        <p:nvSpPr>
          <p:cNvPr id="49" name="Text Box 70"/>
          <p:cNvSpPr txBox="1">
            <a:spLocks noChangeArrowheads="1"/>
          </p:cNvSpPr>
          <p:nvPr/>
        </p:nvSpPr>
        <p:spPr bwMode="auto">
          <a:xfrm>
            <a:off x="5223177" y="1805808"/>
            <a:ext cx="126079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Peptides</a:t>
            </a:r>
          </a:p>
        </p:txBody>
      </p:sp>
      <p:sp>
        <p:nvSpPr>
          <p:cNvPr id="50" name="Text Box 70"/>
          <p:cNvSpPr txBox="1">
            <a:spLocks noChangeArrowheads="1"/>
          </p:cNvSpPr>
          <p:nvPr/>
        </p:nvSpPr>
        <p:spPr bwMode="auto">
          <a:xfrm>
            <a:off x="4268383" y="3276600"/>
            <a:ext cx="43607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MS (peptide m/z and abundance)</a:t>
            </a:r>
          </a:p>
        </p:txBody>
      </p:sp>
      <p:sp>
        <p:nvSpPr>
          <p:cNvPr id="51" name="Text Box 70"/>
          <p:cNvSpPr txBox="1">
            <a:spLocks noChangeArrowheads="1"/>
          </p:cNvSpPr>
          <p:nvPr/>
        </p:nvSpPr>
        <p:spPr bwMode="auto">
          <a:xfrm>
            <a:off x="1571304" y="6172200"/>
            <a:ext cx="60104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MS/MS (peptide fragmentation – sequence ID)</a:t>
            </a:r>
          </a:p>
        </p:txBody>
      </p:sp>
      <p:sp>
        <p:nvSpPr>
          <p:cNvPr id="52" name="Line 117"/>
          <p:cNvSpPr>
            <a:spLocks noChangeShapeType="1"/>
          </p:cNvSpPr>
          <p:nvPr/>
        </p:nvSpPr>
        <p:spPr bwMode="auto">
          <a:xfrm flipH="1">
            <a:off x="2234564" y="4090647"/>
            <a:ext cx="1042912" cy="597497"/>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53" name="Line 117"/>
          <p:cNvSpPr>
            <a:spLocks noChangeShapeType="1"/>
          </p:cNvSpPr>
          <p:nvPr/>
        </p:nvSpPr>
        <p:spPr bwMode="auto">
          <a:xfrm flipH="1">
            <a:off x="4117264" y="4232509"/>
            <a:ext cx="0" cy="704765"/>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54" name="Line 117"/>
          <p:cNvSpPr>
            <a:spLocks noChangeShapeType="1"/>
          </p:cNvSpPr>
          <p:nvPr/>
        </p:nvSpPr>
        <p:spPr bwMode="auto">
          <a:xfrm>
            <a:off x="4970199" y="4090647"/>
            <a:ext cx="576460" cy="494245"/>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55" name="Line 117"/>
          <p:cNvSpPr>
            <a:spLocks noChangeShapeType="1"/>
          </p:cNvSpPr>
          <p:nvPr/>
        </p:nvSpPr>
        <p:spPr bwMode="auto">
          <a:xfrm>
            <a:off x="5550582" y="3953044"/>
            <a:ext cx="898174" cy="704765"/>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56" name="Text Box 71"/>
          <p:cNvSpPr txBox="1">
            <a:spLocks noChangeArrowheads="1"/>
          </p:cNvSpPr>
          <p:nvPr/>
        </p:nvSpPr>
        <p:spPr bwMode="auto">
          <a:xfrm>
            <a:off x="172800" y="3352800"/>
            <a:ext cx="283422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4 MS/MS of the</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top 4 more abundant peptides in MS</a:t>
            </a:r>
          </a:p>
        </p:txBody>
      </p:sp>
    </p:spTree>
    <p:extLst>
      <p:ext uri="{BB962C8B-B14F-4D97-AF65-F5344CB8AC3E}">
        <p14:creationId xmlns:p14="http://schemas.microsoft.com/office/powerpoint/2010/main" val="3794362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025" y="304800"/>
            <a:ext cx="8229600" cy="639762"/>
          </a:xfrm>
        </p:spPr>
        <p:txBody>
          <a:bodyPr>
            <a:normAutofit/>
          </a:bodyPr>
          <a:lstStyle/>
          <a:p>
            <a:r>
              <a:rPr lang="en-US" dirty="0">
                <a:latin typeface="Calibri" panose="020F0502020204030204" pitchFamily="34" charset="0"/>
              </a:rPr>
              <a:t>Proteomics Method Steps</a:t>
            </a:r>
          </a:p>
        </p:txBody>
      </p:sp>
      <p:sp>
        <p:nvSpPr>
          <p:cNvPr id="5" name="Date Placeholder 4"/>
          <p:cNvSpPr>
            <a:spLocks noGrp="1"/>
          </p:cNvSpPr>
          <p:nvPr>
            <p:ph type="dt" sz="half" idx="10"/>
          </p:nvPr>
        </p:nvSpPr>
        <p:spPr>
          <a:xfrm>
            <a:off x="0" y="6356350"/>
            <a:ext cx="2057400" cy="365125"/>
          </a:xfrm>
          <a:prstGeom prst="rect">
            <a:avLst/>
          </a:prstGeom>
        </p:spPr>
        <p:txBody>
          <a:bodyPr/>
          <a:lstStyle/>
          <a:p>
            <a:r>
              <a:rPr lang="en-US"/>
              <a:t>11/2/2015</a:t>
            </a:r>
          </a:p>
        </p:txBody>
      </p:sp>
      <p:sp>
        <p:nvSpPr>
          <p:cNvPr id="10" name="Footer Placeholder 9"/>
          <p:cNvSpPr>
            <a:spLocks noGrp="1"/>
          </p:cNvSpPr>
          <p:nvPr>
            <p:ph type="ftr" sz="quarter" idx="11"/>
          </p:nvPr>
        </p:nvSpPr>
        <p:spPr/>
        <p:txBody>
          <a:bodyPr/>
          <a:lstStyle/>
          <a:p>
            <a:r>
              <a:rPr lang="en-US"/>
              <a:t>Hsu group meeting</a:t>
            </a:r>
          </a:p>
        </p:txBody>
      </p:sp>
      <p:sp>
        <p:nvSpPr>
          <p:cNvPr id="3" name="Slide Number Placeholder 2"/>
          <p:cNvSpPr>
            <a:spLocks noGrp="1"/>
          </p:cNvSpPr>
          <p:nvPr>
            <p:ph type="sldNum" sz="quarter" idx="12"/>
          </p:nvPr>
        </p:nvSpPr>
        <p:spPr/>
        <p:txBody>
          <a:bodyPr/>
          <a:lstStyle/>
          <a:p>
            <a:pPr>
              <a:defRPr/>
            </a:pPr>
            <a:fld id="{B5B8AF97-DBDA-4407-8853-6C3ADAC38AB6}" type="slidenum">
              <a:rPr lang="en-US" smtClean="0">
                <a:solidFill>
                  <a:srgbClr val="000000"/>
                </a:solidFill>
                <a:latin typeface="Calibri" panose="020F0502020204030204" pitchFamily="34" charset="0"/>
              </a:rPr>
              <a:pPr>
                <a:defRPr/>
              </a:pPr>
              <a:t>27</a:t>
            </a:fld>
            <a:endParaRPr lang="en-US">
              <a:solidFill>
                <a:srgbClr val="000000"/>
              </a:solidFill>
              <a:latin typeface="Calibri" panose="020F0502020204030204" pitchFamily="34" charset="0"/>
            </a:endParaRPr>
          </a:p>
        </p:txBody>
      </p:sp>
      <p:sp>
        <p:nvSpPr>
          <p:cNvPr id="4" name="Text Box 121"/>
          <p:cNvSpPr txBox="1">
            <a:spLocks noChangeArrowheads="1"/>
          </p:cNvSpPr>
          <p:nvPr/>
        </p:nvSpPr>
        <p:spPr bwMode="auto">
          <a:xfrm>
            <a:off x="957341" y="5638800"/>
            <a:ext cx="7391400" cy="830997"/>
          </a:xfrm>
          <a:prstGeom prst="rect">
            <a:avLst/>
          </a:prstGeom>
          <a:solidFill>
            <a:schemeClr val="bg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Current MS proteomics capabilities:</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10,000s peptides/1,000s proteins measured/sample</a:t>
            </a:r>
          </a:p>
        </p:txBody>
      </p:sp>
      <p:pic>
        <p:nvPicPr>
          <p:cNvPr id="6" name="Picture 1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2438694"/>
            <a:ext cx="1580175" cy="199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125"/>
          <p:cNvSpPr txBox="1">
            <a:spLocks noChangeArrowheads="1"/>
          </p:cNvSpPr>
          <p:nvPr/>
        </p:nvSpPr>
        <p:spPr bwMode="auto">
          <a:xfrm>
            <a:off x="381000" y="1873933"/>
            <a:ext cx="1196459" cy="156966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3. Data</a:t>
            </a:r>
          </a:p>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and results</a:t>
            </a:r>
          </a:p>
          <a:p>
            <a:pPr algn="ctr" eaLnBrk="1" fontAlgn="base" hangingPunct="1">
              <a:spcBef>
                <a:spcPct val="0"/>
              </a:spcBef>
              <a:spcAft>
                <a:spcPct val="0"/>
              </a:spcAft>
            </a:pPr>
            <a:r>
              <a:rPr lang="en-US" altLang="en-US" sz="2400" dirty="0">
                <a:solidFill>
                  <a:srgbClr val="FF0000"/>
                </a:solidFill>
                <a:latin typeface="Calibri" panose="020F0502020204030204" pitchFamily="34" charset="0"/>
              </a:rPr>
              <a:t>analysis</a:t>
            </a:r>
          </a:p>
        </p:txBody>
      </p:sp>
      <p:sp>
        <p:nvSpPr>
          <p:cNvPr id="8" name="Text Box 126"/>
          <p:cNvSpPr txBox="1">
            <a:spLocks noChangeArrowheads="1"/>
          </p:cNvSpPr>
          <p:nvPr/>
        </p:nvSpPr>
        <p:spPr bwMode="auto">
          <a:xfrm>
            <a:off x="2683942" y="4654329"/>
            <a:ext cx="3499026" cy="461665"/>
          </a:xfrm>
          <a:prstGeom prst="rect">
            <a:avLst/>
          </a:prstGeom>
          <a:solidFill>
            <a:schemeClr val="bg1"/>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New biological insights</a:t>
            </a:r>
          </a:p>
        </p:txBody>
      </p:sp>
      <p:sp>
        <p:nvSpPr>
          <p:cNvPr id="9" name="Line 127"/>
          <p:cNvSpPr>
            <a:spLocks noChangeShapeType="1"/>
          </p:cNvSpPr>
          <p:nvPr/>
        </p:nvSpPr>
        <p:spPr bwMode="auto">
          <a:xfrm>
            <a:off x="4270786" y="1937518"/>
            <a:ext cx="0" cy="76741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12" name="Text Box 156"/>
          <p:cNvSpPr txBox="1">
            <a:spLocks noChangeArrowheads="1"/>
          </p:cNvSpPr>
          <p:nvPr/>
        </p:nvSpPr>
        <p:spPr bwMode="auto">
          <a:xfrm>
            <a:off x="2785769" y="2821749"/>
            <a:ext cx="297003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Peptide identification</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Protein inference</a:t>
            </a:r>
          </a:p>
        </p:txBody>
      </p:sp>
      <p:sp>
        <p:nvSpPr>
          <p:cNvPr id="13" name="Text Box 157"/>
          <p:cNvSpPr txBox="1">
            <a:spLocks noChangeArrowheads="1"/>
          </p:cNvSpPr>
          <p:nvPr/>
        </p:nvSpPr>
        <p:spPr bwMode="auto">
          <a:xfrm>
            <a:off x="1591703" y="3842322"/>
            <a:ext cx="23881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Bioinformatics</a:t>
            </a:r>
          </a:p>
        </p:txBody>
      </p:sp>
      <p:sp>
        <p:nvSpPr>
          <p:cNvPr id="15" name="Text Box 125"/>
          <p:cNvSpPr txBox="1">
            <a:spLocks noChangeArrowheads="1"/>
          </p:cNvSpPr>
          <p:nvPr/>
        </p:nvSpPr>
        <p:spPr bwMode="auto">
          <a:xfrm>
            <a:off x="2559927" y="1458434"/>
            <a:ext cx="37470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MS and MS/MS Data</a:t>
            </a:r>
          </a:p>
        </p:txBody>
      </p:sp>
      <p:sp>
        <p:nvSpPr>
          <p:cNvPr id="16" name="Text Box 125"/>
          <p:cNvSpPr txBox="1">
            <a:spLocks noChangeArrowheads="1"/>
          </p:cNvSpPr>
          <p:nvPr/>
        </p:nvSpPr>
        <p:spPr bwMode="auto">
          <a:xfrm>
            <a:off x="4304430" y="2064214"/>
            <a:ext cx="26297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Database search</a:t>
            </a:r>
          </a:p>
        </p:txBody>
      </p:sp>
      <p:sp>
        <p:nvSpPr>
          <p:cNvPr id="17" name="Line 127"/>
          <p:cNvSpPr>
            <a:spLocks noChangeShapeType="1"/>
          </p:cNvSpPr>
          <p:nvPr/>
        </p:nvSpPr>
        <p:spPr bwMode="auto">
          <a:xfrm>
            <a:off x="4307657" y="3689450"/>
            <a:ext cx="0" cy="76741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18" name="Text Box 157"/>
          <p:cNvSpPr txBox="1">
            <a:spLocks noChangeArrowheads="1"/>
          </p:cNvSpPr>
          <p:nvPr/>
        </p:nvSpPr>
        <p:spPr bwMode="auto">
          <a:xfrm>
            <a:off x="1639906" y="2058598"/>
            <a:ext cx="238813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Informatics</a:t>
            </a:r>
          </a:p>
        </p:txBody>
      </p:sp>
      <p:sp>
        <p:nvSpPr>
          <p:cNvPr id="19" name="Text Box 125"/>
          <p:cNvSpPr txBox="1">
            <a:spLocks noChangeArrowheads="1"/>
          </p:cNvSpPr>
          <p:nvPr/>
        </p:nvSpPr>
        <p:spPr bwMode="auto">
          <a:xfrm>
            <a:off x="4308185" y="3659954"/>
            <a:ext cx="262977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Pathway, signaling,</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interactions</a:t>
            </a:r>
          </a:p>
        </p:txBody>
      </p:sp>
    </p:spTree>
    <p:extLst>
      <p:ext uri="{BB962C8B-B14F-4D97-AF65-F5344CB8AC3E}">
        <p14:creationId xmlns:p14="http://schemas.microsoft.com/office/powerpoint/2010/main" val="35655702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4"/>
          <p:cNvSpPr>
            <a:spLocks noGrp="1" noChangeArrowheads="1"/>
          </p:cNvSpPr>
          <p:nvPr>
            <p:ph type="title"/>
          </p:nvPr>
        </p:nvSpPr>
        <p:spPr bwMode="auto">
          <a:xfrm>
            <a:off x="319088" y="376211"/>
            <a:ext cx="3581400" cy="52710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z="3600" dirty="0">
                <a:solidFill>
                  <a:schemeClr val="tx1"/>
                </a:solidFill>
                <a:latin typeface="Calibri" panose="020F0502020204030204" pitchFamily="34" charset="0"/>
              </a:rPr>
              <a:t>MS Data Example</a:t>
            </a:r>
            <a:endParaRPr lang="en-US" altLang="en-US" sz="3200" b="1" i="1" dirty="0">
              <a:solidFill>
                <a:schemeClr val="tx1"/>
              </a:solidFill>
              <a:latin typeface="Calibri" panose="020F0502020204030204" pitchFamily="34" charset="0"/>
            </a:endParaRP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36866" name="Slide Number Placeholder 4"/>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3D19B87-7D0B-4ACF-9352-7B53D9712B5E}" type="slidenum">
              <a:rPr lang="en-US" altLang="en-US" smtClean="0">
                <a:solidFill>
                  <a:srgbClr val="000000"/>
                </a:solidFill>
                <a:latin typeface="Calibri" panose="020F0502020204030204" pitchFamily="34" charset="0"/>
              </a:rPr>
              <a:pPr eaLnBrk="1" hangingPunct="1"/>
              <a:t>28</a:t>
            </a:fld>
            <a:endParaRPr lang="en-US" altLang="en-US">
              <a:solidFill>
                <a:srgbClr val="000000"/>
              </a:solidFill>
              <a:latin typeface="Calibri" panose="020F0502020204030204" pitchFamily="34" charset="0"/>
            </a:endParaRPr>
          </a:p>
        </p:txBody>
      </p:sp>
      <p:sp>
        <p:nvSpPr>
          <p:cNvPr id="36868" name="AutoShape 6"/>
          <p:cNvSpPr>
            <a:spLocks noChangeAspect="1" noChangeArrowheads="1" noTextEdit="1"/>
          </p:cNvSpPr>
          <p:nvPr/>
        </p:nvSpPr>
        <p:spPr bwMode="auto">
          <a:xfrm>
            <a:off x="990600" y="1447800"/>
            <a:ext cx="7239000" cy="460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69" name="Line 14"/>
          <p:cNvSpPr>
            <a:spLocks noChangeShapeType="1"/>
          </p:cNvSpPr>
          <p:nvPr/>
        </p:nvSpPr>
        <p:spPr bwMode="auto">
          <a:xfrm>
            <a:off x="1268413" y="3549650"/>
            <a:ext cx="65865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0" name="Line 15"/>
          <p:cNvSpPr>
            <a:spLocks noChangeShapeType="1"/>
          </p:cNvSpPr>
          <p:nvPr/>
        </p:nvSpPr>
        <p:spPr bwMode="auto">
          <a:xfrm>
            <a:off x="127952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1" name="Line 16"/>
          <p:cNvSpPr>
            <a:spLocks noChangeShapeType="1"/>
          </p:cNvSpPr>
          <p:nvPr/>
        </p:nvSpPr>
        <p:spPr bwMode="auto">
          <a:xfrm>
            <a:off x="134302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2" name="Line 17"/>
          <p:cNvSpPr>
            <a:spLocks noChangeShapeType="1"/>
          </p:cNvSpPr>
          <p:nvPr/>
        </p:nvSpPr>
        <p:spPr bwMode="auto">
          <a:xfrm>
            <a:off x="14620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3" name="Line 18"/>
          <p:cNvSpPr>
            <a:spLocks noChangeShapeType="1"/>
          </p:cNvSpPr>
          <p:nvPr/>
        </p:nvSpPr>
        <p:spPr bwMode="auto">
          <a:xfrm>
            <a:off x="15255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4" name="Line 19"/>
          <p:cNvSpPr>
            <a:spLocks noChangeShapeType="1"/>
          </p:cNvSpPr>
          <p:nvPr/>
        </p:nvSpPr>
        <p:spPr bwMode="auto">
          <a:xfrm>
            <a:off x="158432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5" name="Line 20"/>
          <p:cNvSpPr>
            <a:spLocks noChangeShapeType="1"/>
          </p:cNvSpPr>
          <p:nvPr/>
        </p:nvSpPr>
        <p:spPr bwMode="auto">
          <a:xfrm>
            <a:off x="16494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6" name="Line 21"/>
          <p:cNvSpPr>
            <a:spLocks noChangeShapeType="1"/>
          </p:cNvSpPr>
          <p:nvPr/>
        </p:nvSpPr>
        <p:spPr bwMode="auto">
          <a:xfrm>
            <a:off x="17668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7" name="Line 22"/>
          <p:cNvSpPr>
            <a:spLocks noChangeShapeType="1"/>
          </p:cNvSpPr>
          <p:nvPr/>
        </p:nvSpPr>
        <p:spPr bwMode="auto">
          <a:xfrm>
            <a:off x="18303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8" name="Line 23"/>
          <p:cNvSpPr>
            <a:spLocks noChangeShapeType="1"/>
          </p:cNvSpPr>
          <p:nvPr/>
        </p:nvSpPr>
        <p:spPr bwMode="auto">
          <a:xfrm>
            <a:off x="188912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79" name="Line 24"/>
          <p:cNvSpPr>
            <a:spLocks noChangeShapeType="1"/>
          </p:cNvSpPr>
          <p:nvPr/>
        </p:nvSpPr>
        <p:spPr bwMode="auto">
          <a:xfrm>
            <a:off x="19542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0" name="Line 25"/>
          <p:cNvSpPr>
            <a:spLocks noChangeShapeType="1"/>
          </p:cNvSpPr>
          <p:nvPr/>
        </p:nvSpPr>
        <p:spPr bwMode="auto">
          <a:xfrm>
            <a:off x="20716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1" name="Line 26"/>
          <p:cNvSpPr>
            <a:spLocks noChangeShapeType="1"/>
          </p:cNvSpPr>
          <p:nvPr/>
        </p:nvSpPr>
        <p:spPr bwMode="auto">
          <a:xfrm>
            <a:off x="21351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2" name="Line 27"/>
          <p:cNvSpPr>
            <a:spLocks noChangeShapeType="1"/>
          </p:cNvSpPr>
          <p:nvPr/>
        </p:nvSpPr>
        <p:spPr bwMode="auto">
          <a:xfrm>
            <a:off x="219392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3" name="Line 28"/>
          <p:cNvSpPr>
            <a:spLocks noChangeShapeType="1"/>
          </p:cNvSpPr>
          <p:nvPr/>
        </p:nvSpPr>
        <p:spPr bwMode="auto">
          <a:xfrm>
            <a:off x="225266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4" name="Line 29"/>
          <p:cNvSpPr>
            <a:spLocks noChangeShapeType="1"/>
          </p:cNvSpPr>
          <p:nvPr/>
        </p:nvSpPr>
        <p:spPr bwMode="auto">
          <a:xfrm>
            <a:off x="23764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5" name="Line 30"/>
          <p:cNvSpPr>
            <a:spLocks noChangeShapeType="1"/>
          </p:cNvSpPr>
          <p:nvPr/>
        </p:nvSpPr>
        <p:spPr bwMode="auto">
          <a:xfrm>
            <a:off x="24399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6" name="Line 31"/>
          <p:cNvSpPr>
            <a:spLocks noChangeShapeType="1"/>
          </p:cNvSpPr>
          <p:nvPr/>
        </p:nvSpPr>
        <p:spPr bwMode="auto">
          <a:xfrm>
            <a:off x="249872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7" name="Line 32"/>
          <p:cNvSpPr>
            <a:spLocks noChangeShapeType="1"/>
          </p:cNvSpPr>
          <p:nvPr/>
        </p:nvSpPr>
        <p:spPr bwMode="auto">
          <a:xfrm>
            <a:off x="255746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8" name="Line 33"/>
          <p:cNvSpPr>
            <a:spLocks noChangeShapeType="1"/>
          </p:cNvSpPr>
          <p:nvPr/>
        </p:nvSpPr>
        <p:spPr bwMode="auto">
          <a:xfrm>
            <a:off x="26812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89" name="Line 34"/>
          <p:cNvSpPr>
            <a:spLocks noChangeShapeType="1"/>
          </p:cNvSpPr>
          <p:nvPr/>
        </p:nvSpPr>
        <p:spPr bwMode="auto">
          <a:xfrm>
            <a:off x="27447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0" name="Line 35"/>
          <p:cNvSpPr>
            <a:spLocks noChangeShapeType="1"/>
          </p:cNvSpPr>
          <p:nvPr/>
        </p:nvSpPr>
        <p:spPr bwMode="auto">
          <a:xfrm>
            <a:off x="28051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1" name="Line 36"/>
          <p:cNvSpPr>
            <a:spLocks noChangeShapeType="1"/>
          </p:cNvSpPr>
          <p:nvPr/>
        </p:nvSpPr>
        <p:spPr bwMode="auto">
          <a:xfrm>
            <a:off x="28638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2" name="Line 37"/>
          <p:cNvSpPr>
            <a:spLocks noChangeShapeType="1"/>
          </p:cNvSpPr>
          <p:nvPr/>
        </p:nvSpPr>
        <p:spPr bwMode="auto">
          <a:xfrm>
            <a:off x="29860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3" name="Line 38"/>
          <p:cNvSpPr>
            <a:spLocks noChangeShapeType="1"/>
          </p:cNvSpPr>
          <p:nvPr/>
        </p:nvSpPr>
        <p:spPr bwMode="auto">
          <a:xfrm>
            <a:off x="30511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4" name="Line 39"/>
          <p:cNvSpPr>
            <a:spLocks noChangeShapeType="1"/>
          </p:cNvSpPr>
          <p:nvPr/>
        </p:nvSpPr>
        <p:spPr bwMode="auto">
          <a:xfrm>
            <a:off x="31099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5" name="Line 40"/>
          <p:cNvSpPr>
            <a:spLocks noChangeShapeType="1"/>
          </p:cNvSpPr>
          <p:nvPr/>
        </p:nvSpPr>
        <p:spPr bwMode="auto">
          <a:xfrm>
            <a:off x="31686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6" name="Line 41"/>
          <p:cNvSpPr>
            <a:spLocks noChangeShapeType="1"/>
          </p:cNvSpPr>
          <p:nvPr/>
        </p:nvSpPr>
        <p:spPr bwMode="auto">
          <a:xfrm>
            <a:off x="32908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7" name="Line 42"/>
          <p:cNvSpPr>
            <a:spLocks noChangeShapeType="1"/>
          </p:cNvSpPr>
          <p:nvPr/>
        </p:nvSpPr>
        <p:spPr bwMode="auto">
          <a:xfrm>
            <a:off x="33559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8" name="Line 43"/>
          <p:cNvSpPr>
            <a:spLocks noChangeShapeType="1"/>
          </p:cNvSpPr>
          <p:nvPr/>
        </p:nvSpPr>
        <p:spPr bwMode="auto">
          <a:xfrm>
            <a:off x="34147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899" name="Line 44"/>
          <p:cNvSpPr>
            <a:spLocks noChangeShapeType="1"/>
          </p:cNvSpPr>
          <p:nvPr/>
        </p:nvSpPr>
        <p:spPr bwMode="auto">
          <a:xfrm>
            <a:off x="34734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0" name="Line 45"/>
          <p:cNvSpPr>
            <a:spLocks noChangeShapeType="1"/>
          </p:cNvSpPr>
          <p:nvPr/>
        </p:nvSpPr>
        <p:spPr bwMode="auto">
          <a:xfrm>
            <a:off x="35956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1" name="Line 46"/>
          <p:cNvSpPr>
            <a:spLocks noChangeShapeType="1"/>
          </p:cNvSpPr>
          <p:nvPr/>
        </p:nvSpPr>
        <p:spPr bwMode="auto">
          <a:xfrm>
            <a:off x="36607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2" name="Line 47"/>
          <p:cNvSpPr>
            <a:spLocks noChangeShapeType="1"/>
          </p:cNvSpPr>
          <p:nvPr/>
        </p:nvSpPr>
        <p:spPr bwMode="auto">
          <a:xfrm>
            <a:off x="37195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3" name="Line 48"/>
          <p:cNvSpPr>
            <a:spLocks noChangeShapeType="1"/>
          </p:cNvSpPr>
          <p:nvPr/>
        </p:nvSpPr>
        <p:spPr bwMode="auto">
          <a:xfrm>
            <a:off x="37782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4" name="Line 49"/>
          <p:cNvSpPr>
            <a:spLocks noChangeShapeType="1"/>
          </p:cNvSpPr>
          <p:nvPr/>
        </p:nvSpPr>
        <p:spPr bwMode="auto">
          <a:xfrm>
            <a:off x="390048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5" name="Line 50"/>
          <p:cNvSpPr>
            <a:spLocks noChangeShapeType="1"/>
          </p:cNvSpPr>
          <p:nvPr/>
        </p:nvSpPr>
        <p:spPr bwMode="auto">
          <a:xfrm>
            <a:off x="39655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6" name="Line 51"/>
          <p:cNvSpPr>
            <a:spLocks noChangeShapeType="1"/>
          </p:cNvSpPr>
          <p:nvPr/>
        </p:nvSpPr>
        <p:spPr bwMode="auto">
          <a:xfrm>
            <a:off x="40243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7" name="Line 52"/>
          <p:cNvSpPr>
            <a:spLocks noChangeShapeType="1"/>
          </p:cNvSpPr>
          <p:nvPr/>
        </p:nvSpPr>
        <p:spPr bwMode="auto">
          <a:xfrm>
            <a:off x="40830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8" name="Line 53"/>
          <p:cNvSpPr>
            <a:spLocks noChangeShapeType="1"/>
          </p:cNvSpPr>
          <p:nvPr/>
        </p:nvSpPr>
        <p:spPr bwMode="auto">
          <a:xfrm>
            <a:off x="42068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09" name="Line 54"/>
          <p:cNvSpPr>
            <a:spLocks noChangeShapeType="1"/>
          </p:cNvSpPr>
          <p:nvPr/>
        </p:nvSpPr>
        <p:spPr bwMode="auto">
          <a:xfrm>
            <a:off x="42703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0" name="Line 55"/>
          <p:cNvSpPr>
            <a:spLocks noChangeShapeType="1"/>
          </p:cNvSpPr>
          <p:nvPr/>
        </p:nvSpPr>
        <p:spPr bwMode="auto">
          <a:xfrm>
            <a:off x="43291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1" name="Line 56"/>
          <p:cNvSpPr>
            <a:spLocks noChangeShapeType="1"/>
          </p:cNvSpPr>
          <p:nvPr/>
        </p:nvSpPr>
        <p:spPr bwMode="auto">
          <a:xfrm>
            <a:off x="43878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2" name="Line 57"/>
          <p:cNvSpPr>
            <a:spLocks noChangeShapeType="1"/>
          </p:cNvSpPr>
          <p:nvPr/>
        </p:nvSpPr>
        <p:spPr bwMode="auto">
          <a:xfrm>
            <a:off x="45116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3" name="Line 58"/>
          <p:cNvSpPr>
            <a:spLocks noChangeShapeType="1"/>
          </p:cNvSpPr>
          <p:nvPr/>
        </p:nvSpPr>
        <p:spPr bwMode="auto">
          <a:xfrm>
            <a:off x="45751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4" name="Line 59"/>
          <p:cNvSpPr>
            <a:spLocks noChangeShapeType="1"/>
          </p:cNvSpPr>
          <p:nvPr/>
        </p:nvSpPr>
        <p:spPr bwMode="auto">
          <a:xfrm>
            <a:off x="46339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5" name="Line 60"/>
          <p:cNvSpPr>
            <a:spLocks noChangeShapeType="1"/>
          </p:cNvSpPr>
          <p:nvPr/>
        </p:nvSpPr>
        <p:spPr bwMode="auto">
          <a:xfrm>
            <a:off x="46926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6" name="Line 61"/>
          <p:cNvSpPr>
            <a:spLocks noChangeShapeType="1"/>
          </p:cNvSpPr>
          <p:nvPr/>
        </p:nvSpPr>
        <p:spPr bwMode="auto">
          <a:xfrm>
            <a:off x="48164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7" name="Line 62"/>
          <p:cNvSpPr>
            <a:spLocks noChangeShapeType="1"/>
          </p:cNvSpPr>
          <p:nvPr/>
        </p:nvSpPr>
        <p:spPr bwMode="auto">
          <a:xfrm>
            <a:off x="48799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8" name="Line 63"/>
          <p:cNvSpPr>
            <a:spLocks noChangeShapeType="1"/>
          </p:cNvSpPr>
          <p:nvPr/>
        </p:nvSpPr>
        <p:spPr bwMode="auto">
          <a:xfrm>
            <a:off x="49387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19" name="Line 64"/>
          <p:cNvSpPr>
            <a:spLocks noChangeShapeType="1"/>
          </p:cNvSpPr>
          <p:nvPr/>
        </p:nvSpPr>
        <p:spPr bwMode="auto">
          <a:xfrm>
            <a:off x="49974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0" name="Line 65"/>
          <p:cNvSpPr>
            <a:spLocks noChangeShapeType="1"/>
          </p:cNvSpPr>
          <p:nvPr/>
        </p:nvSpPr>
        <p:spPr bwMode="auto">
          <a:xfrm>
            <a:off x="51212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1" name="Line 66"/>
          <p:cNvSpPr>
            <a:spLocks noChangeShapeType="1"/>
          </p:cNvSpPr>
          <p:nvPr/>
        </p:nvSpPr>
        <p:spPr bwMode="auto">
          <a:xfrm>
            <a:off x="51800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2" name="Line 67"/>
          <p:cNvSpPr>
            <a:spLocks noChangeShapeType="1"/>
          </p:cNvSpPr>
          <p:nvPr/>
        </p:nvSpPr>
        <p:spPr bwMode="auto">
          <a:xfrm>
            <a:off x="52435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3" name="Line 68"/>
          <p:cNvSpPr>
            <a:spLocks noChangeShapeType="1"/>
          </p:cNvSpPr>
          <p:nvPr/>
        </p:nvSpPr>
        <p:spPr bwMode="auto">
          <a:xfrm>
            <a:off x="530225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4" name="Line 69"/>
          <p:cNvSpPr>
            <a:spLocks noChangeShapeType="1"/>
          </p:cNvSpPr>
          <p:nvPr/>
        </p:nvSpPr>
        <p:spPr bwMode="auto">
          <a:xfrm>
            <a:off x="54260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5" name="Line 70"/>
          <p:cNvSpPr>
            <a:spLocks noChangeShapeType="1"/>
          </p:cNvSpPr>
          <p:nvPr/>
        </p:nvSpPr>
        <p:spPr bwMode="auto">
          <a:xfrm>
            <a:off x="54848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6" name="Line 71"/>
          <p:cNvSpPr>
            <a:spLocks noChangeShapeType="1"/>
          </p:cNvSpPr>
          <p:nvPr/>
        </p:nvSpPr>
        <p:spPr bwMode="auto">
          <a:xfrm>
            <a:off x="55483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7" name="Line 72"/>
          <p:cNvSpPr>
            <a:spLocks noChangeShapeType="1"/>
          </p:cNvSpPr>
          <p:nvPr/>
        </p:nvSpPr>
        <p:spPr bwMode="auto">
          <a:xfrm>
            <a:off x="560863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8" name="Line 73"/>
          <p:cNvSpPr>
            <a:spLocks noChangeShapeType="1"/>
          </p:cNvSpPr>
          <p:nvPr/>
        </p:nvSpPr>
        <p:spPr bwMode="auto">
          <a:xfrm>
            <a:off x="57308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29" name="Line 74"/>
          <p:cNvSpPr>
            <a:spLocks noChangeShapeType="1"/>
          </p:cNvSpPr>
          <p:nvPr/>
        </p:nvSpPr>
        <p:spPr bwMode="auto">
          <a:xfrm>
            <a:off x="57896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0" name="Line 75"/>
          <p:cNvSpPr>
            <a:spLocks noChangeShapeType="1"/>
          </p:cNvSpPr>
          <p:nvPr/>
        </p:nvSpPr>
        <p:spPr bwMode="auto">
          <a:xfrm>
            <a:off x="58547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1" name="Line 76"/>
          <p:cNvSpPr>
            <a:spLocks noChangeShapeType="1"/>
          </p:cNvSpPr>
          <p:nvPr/>
        </p:nvSpPr>
        <p:spPr bwMode="auto">
          <a:xfrm>
            <a:off x="591343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2" name="Line 77"/>
          <p:cNvSpPr>
            <a:spLocks noChangeShapeType="1"/>
          </p:cNvSpPr>
          <p:nvPr/>
        </p:nvSpPr>
        <p:spPr bwMode="auto">
          <a:xfrm>
            <a:off x="60356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3" name="Line 78"/>
          <p:cNvSpPr>
            <a:spLocks noChangeShapeType="1"/>
          </p:cNvSpPr>
          <p:nvPr/>
        </p:nvSpPr>
        <p:spPr bwMode="auto">
          <a:xfrm>
            <a:off x="60944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4" name="Line 79"/>
          <p:cNvSpPr>
            <a:spLocks noChangeShapeType="1"/>
          </p:cNvSpPr>
          <p:nvPr/>
        </p:nvSpPr>
        <p:spPr bwMode="auto">
          <a:xfrm>
            <a:off x="61595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5" name="Line 80"/>
          <p:cNvSpPr>
            <a:spLocks noChangeShapeType="1"/>
          </p:cNvSpPr>
          <p:nvPr/>
        </p:nvSpPr>
        <p:spPr bwMode="auto">
          <a:xfrm>
            <a:off x="621823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6" name="Line 81"/>
          <p:cNvSpPr>
            <a:spLocks noChangeShapeType="1"/>
          </p:cNvSpPr>
          <p:nvPr/>
        </p:nvSpPr>
        <p:spPr bwMode="auto">
          <a:xfrm>
            <a:off x="63404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7" name="Line 82"/>
          <p:cNvSpPr>
            <a:spLocks noChangeShapeType="1"/>
          </p:cNvSpPr>
          <p:nvPr/>
        </p:nvSpPr>
        <p:spPr bwMode="auto">
          <a:xfrm>
            <a:off x="63992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8" name="Line 83"/>
          <p:cNvSpPr>
            <a:spLocks noChangeShapeType="1"/>
          </p:cNvSpPr>
          <p:nvPr/>
        </p:nvSpPr>
        <p:spPr bwMode="auto">
          <a:xfrm>
            <a:off x="64643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39" name="Line 84"/>
          <p:cNvSpPr>
            <a:spLocks noChangeShapeType="1"/>
          </p:cNvSpPr>
          <p:nvPr/>
        </p:nvSpPr>
        <p:spPr bwMode="auto">
          <a:xfrm>
            <a:off x="652303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0" name="Line 85"/>
          <p:cNvSpPr>
            <a:spLocks noChangeShapeType="1"/>
          </p:cNvSpPr>
          <p:nvPr/>
        </p:nvSpPr>
        <p:spPr bwMode="auto">
          <a:xfrm>
            <a:off x="6645275"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1" name="Line 86"/>
          <p:cNvSpPr>
            <a:spLocks noChangeShapeType="1"/>
          </p:cNvSpPr>
          <p:nvPr/>
        </p:nvSpPr>
        <p:spPr bwMode="auto">
          <a:xfrm>
            <a:off x="670401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2" name="Line 87"/>
          <p:cNvSpPr>
            <a:spLocks noChangeShapeType="1"/>
          </p:cNvSpPr>
          <p:nvPr/>
        </p:nvSpPr>
        <p:spPr bwMode="auto">
          <a:xfrm>
            <a:off x="67691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3" name="Line 88"/>
          <p:cNvSpPr>
            <a:spLocks noChangeShapeType="1"/>
          </p:cNvSpPr>
          <p:nvPr/>
        </p:nvSpPr>
        <p:spPr bwMode="auto">
          <a:xfrm>
            <a:off x="682783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4" name="Line 89"/>
          <p:cNvSpPr>
            <a:spLocks noChangeShapeType="1"/>
          </p:cNvSpPr>
          <p:nvPr/>
        </p:nvSpPr>
        <p:spPr bwMode="auto">
          <a:xfrm>
            <a:off x="695166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5" name="Line 90"/>
          <p:cNvSpPr>
            <a:spLocks noChangeShapeType="1"/>
          </p:cNvSpPr>
          <p:nvPr/>
        </p:nvSpPr>
        <p:spPr bwMode="auto">
          <a:xfrm>
            <a:off x="70104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6" name="Line 91"/>
          <p:cNvSpPr>
            <a:spLocks noChangeShapeType="1"/>
          </p:cNvSpPr>
          <p:nvPr/>
        </p:nvSpPr>
        <p:spPr bwMode="auto">
          <a:xfrm>
            <a:off x="70739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7" name="Line 92"/>
          <p:cNvSpPr>
            <a:spLocks noChangeShapeType="1"/>
          </p:cNvSpPr>
          <p:nvPr/>
        </p:nvSpPr>
        <p:spPr bwMode="auto">
          <a:xfrm>
            <a:off x="713263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8" name="Line 93"/>
          <p:cNvSpPr>
            <a:spLocks noChangeShapeType="1"/>
          </p:cNvSpPr>
          <p:nvPr/>
        </p:nvSpPr>
        <p:spPr bwMode="auto">
          <a:xfrm>
            <a:off x="725646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49" name="Line 94"/>
          <p:cNvSpPr>
            <a:spLocks noChangeShapeType="1"/>
          </p:cNvSpPr>
          <p:nvPr/>
        </p:nvSpPr>
        <p:spPr bwMode="auto">
          <a:xfrm>
            <a:off x="73152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0" name="Line 95"/>
          <p:cNvSpPr>
            <a:spLocks noChangeShapeType="1"/>
          </p:cNvSpPr>
          <p:nvPr/>
        </p:nvSpPr>
        <p:spPr bwMode="auto">
          <a:xfrm>
            <a:off x="73787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1" name="Line 96"/>
          <p:cNvSpPr>
            <a:spLocks noChangeShapeType="1"/>
          </p:cNvSpPr>
          <p:nvPr/>
        </p:nvSpPr>
        <p:spPr bwMode="auto">
          <a:xfrm>
            <a:off x="743743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2" name="Line 97"/>
          <p:cNvSpPr>
            <a:spLocks noChangeShapeType="1"/>
          </p:cNvSpPr>
          <p:nvPr/>
        </p:nvSpPr>
        <p:spPr bwMode="auto">
          <a:xfrm>
            <a:off x="7561263"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3" name="Line 98"/>
          <p:cNvSpPr>
            <a:spLocks noChangeShapeType="1"/>
          </p:cNvSpPr>
          <p:nvPr/>
        </p:nvSpPr>
        <p:spPr bwMode="auto">
          <a:xfrm>
            <a:off x="76200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4" name="Line 99"/>
          <p:cNvSpPr>
            <a:spLocks noChangeShapeType="1"/>
          </p:cNvSpPr>
          <p:nvPr/>
        </p:nvSpPr>
        <p:spPr bwMode="auto">
          <a:xfrm>
            <a:off x="7683500" y="3549650"/>
            <a:ext cx="1588"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5" name="Line 100"/>
          <p:cNvSpPr>
            <a:spLocks noChangeShapeType="1"/>
          </p:cNvSpPr>
          <p:nvPr/>
        </p:nvSpPr>
        <p:spPr bwMode="auto">
          <a:xfrm>
            <a:off x="7742238" y="3549650"/>
            <a:ext cx="1587" cy="333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6" name="Line 101"/>
          <p:cNvSpPr>
            <a:spLocks noChangeShapeType="1"/>
          </p:cNvSpPr>
          <p:nvPr/>
        </p:nvSpPr>
        <p:spPr bwMode="auto">
          <a:xfrm>
            <a:off x="14033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7" name="Rectangle 102"/>
          <p:cNvSpPr>
            <a:spLocks noChangeArrowheads="1"/>
          </p:cNvSpPr>
          <p:nvPr/>
        </p:nvSpPr>
        <p:spPr bwMode="auto">
          <a:xfrm>
            <a:off x="13255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30.0</a:t>
            </a:r>
            <a:endParaRPr lang="en-US" altLang="en-US">
              <a:solidFill>
                <a:srgbClr val="000000"/>
              </a:solidFill>
              <a:latin typeface="Calibri" panose="020F0502020204030204" pitchFamily="34" charset="0"/>
            </a:endParaRPr>
          </a:p>
        </p:txBody>
      </p:sp>
      <p:sp>
        <p:nvSpPr>
          <p:cNvPr id="36958" name="Line 103"/>
          <p:cNvSpPr>
            <a:spLocks noChangeShapeType="1"/>
          </p:cNvSpPr>
          <p:nvPr/>
        </p:nvSpPr>
        <p:spPr bwMode="auto">
          <a:xfrm>
            <a:off x="17081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59" name="Rectangle 104"/>
          <p:cNvSpPr>
            <a:spLocks noChangeArrowheads="1"/>
          </p:cNvSpPr>
          <p:nvPr/>
        </p:nvSpPr>
        <p:spPr bwMode="auto">
          <a:xfrm>
            <a:off x="16303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30.1</a:t>
            </a:r>
            <a:endParaRPr lang="en-US" altLang="en-US">
              <a:solidFill>
                <a:srgbClr val="000000"/>
              </a:solidFill>
              <a:latin typeface="Calibri" panose="020F0502020204030204" pitchFamily="34" charset="0"/>
            </a:endParaRPr>
          </a:p>
        </p:txBody>
      </p:sp>
      <p:sp>
        <p:nvSpPr>
          <p:cNvPr id="36960" name="Line 105"/>
          <p:cNvSpPr>
            <a:spLocks noChangeShapeType="1"/>
          </p:cNvSpPr>
          <p:nvPr/>
        </p:nvSpPr>
        <p:spPr bwMode="auto">
          <a:xfrm>
            <a:off x="20129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61" name="Rectangle 106"/>
          <p:cNvSpPr>
            <a:spLocks noChangeArrowheads="1"/>
          </p:cNvSpPr>
          <p:nvPr/>
        </p:nvSpPr>
        <p:spPr bwMode="auto">
          <a:xfrm>
            <a:off x="19351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30.2</a:t>
            </a:r>
            <a:endParaRPr lang="en-US" altLang="en-US">
              <a:solidFill>
                <a:srgbClr val="000000"/>
              </a:solidFill>
              <a:latin typeface="Calibri" panose="020F0502020204030204" pitchFamily="34" charset="0"/>
            </a:endParaRPr>
          </a:p>
        </p:txBody>
      </p:sp>
      <p:sp>
        <p:nvSpPr>
          <p:cNvPr id="36962" name="Line 107"/>
          <p:cNvSpPr>
            <a:spLocks noChangeShapeType="1"/>
          </p:cNvSpPr>
          <p:nvPr/>
        </p:nvSpPr>
        <p:spPr bwMode="auto">
          <a:xfrm>
            <a:off x="23177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63" name="Rectangle 108"/>
          <p:cNvSpPr>
            <a:spLocks noChangeArrowheads="1"/>
          </p:cNvSpPr>
          <p:nvPr/>
        </p:nvSpPr>
        <p:spPr bwMode="auto">
          <a:xfrm>
            <a:off x="22399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30.3</a:t>
            </a:r>
            <a:endParaRPr lang="en-US" altLang="en-US">
              <a:solidFill>
                <a:srgbClr val="000000"/>
              </a:solidFill>
              <a:latin typeface="Calibri" panose="020F0502020204030204" pitchFamily="34" charset="0"/>
            </a:endParaRPr>
          </a:p>
        </p:txBody>
      </p:sp>
      <p:sp>
        <p:nvSpPr>
          <p:cNvPr id="36964" name="Line 109"/>
          <p:cNvSpPr>
            <a:spLocks noChangeShapeType="1"/>
          </p:cNvSpPr>
          <p:nvPr/>
        </p:nvSpPr>
        <p:spPr bwMode="auto">
          <a:xfrm>
            <a:off x="26225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65" name="Rectangle 110"/>
          <p:cNvSpPr>
            <a:spLocks noChangeArrowheads="1"/>
          </p:cNvSpPr>
          <p:nvPr/>
        </p:nvSpPr>
        <p:spPr bwMode="auto">
          <a:xfrm>
            <a:off x="25447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30.4</a:t>
            </a:r>
            <a:endParaRPr lang="en-US" altLang="en-US">
              <a:solidFill>
                <a:srgbClr val="000000"/>
              </a:solidFill>
              <a:latin typeface="Calibri" panose="020F0502020204030204" pitchFamily="34" charset="0"/>
            </a:endParaRPr>
          </a:p>
        </p:txBody>
      </p:sp>
      <p:sp>
        <p:nvSpPr>
          <p:cNvPr id="36966" name="Line 111"/>
          <p:cNvSpPr>
            <a:spLocks noChangeShapeType="1"/>
          </p:cNvSpPr>
          <p:nvPr/>
        </p:nvSpPr>
        <p:spPr bwMode="auto">
          <a:xfrm>
            <a:off x="29273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67" name="Rectangle 112"/>
          <p:cNvSpPr>
            <a:spLocks noChangeArrowheads="1"/>
          </p:cNvSpPr>
          <p:nvPr/>
        </p:nvSpPr>
        <p:spPr bwMode="auto">
          <a:xfrm>
            <a:off x="28495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30.5</a:t>
            </a:r>
            <a:endParaRPr lang="en-US" altLang="en-US">
              <a:solidFill>
                <a:srgbClr val="000000"/>
              </a:solidFill>
              <a:latin typeface="Calibri" panose="020F0502020204030204" pitchFamily="34" charset="0"/>
            </a:endParaRPr>
          </a:p>
        </p:txBody>
      </p:sp>
      <p:sp>
        <p:nvSpPr>
          <p:cNvPr id="36968" name="Line 113"/>
          <p:cNvSpPr>
            <a:spLocks noChangeShapeType="1"/>
          </p:cNvSpPr>
          <p:nvPr/>
        </p:nvSpPr>
        <p:spPr bwMode="auto">
          <a:xfrm>
            <a:off x="32321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69" name="Rectangle 114"/>
          <p:cNvSpPr>
            <a:spLocks noChangeArrowheads="1"/>
          </p:cNvSpPr>
          <p:nvPr/>
        </p:nvSpPr>
        <p:spPr bwMode="auto">
          <a:xfrm>
            <a:off x="31543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30.6</a:t>
            </a:r>
            <a:endParaRPr lang="en-US" altLang="en-US">
              <a:solidFill>
                <a:srgbClr val="000000"/>
              </a:solidFill>
              <a:latin typeface="Calibri" panose="020F0502020204030204" pitchFamily="34" charset="0"/>
            </a:endParaRPr>
          </a:p>
        </p:txBody>
      </p:sp>
      <p:sp>
        <p:nvSpPr>
          <p:cNvPr id="36970" name="Line 115"/>
          <p:cNvSpPr>
            <a:spLocks noChangeShapeType="1"/>
          </p:cNvSpPr>
          <p:nvPr/>
        </p:nvSpPr>
        <p:spPr bwMode="auto">
          <a:xfrm>
            <a:off x="35369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71" name="Rectangle 116"/>
          <p:cNvSpPr>
            <a:spLocks noChangeArrowheads="1"/>
          </p:cNvSpPr>
          <p:nvPr/>
        </p:nvSpPr>
        <p:spPr bwMode="auto">
          <a:xfrm>
            <a:off x="34591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30.7</a:t>
            </a:r>
            <a:endParaRPr lang="en-US" altLang="en-US">
              <a:solidFill>
                <a:srgbClr val="000000"/>
              </a:solidFill>
              <a:latin typeface="Calibri" panose="020F0502020204030204" pitchFamily="34" charset="0"/>
            </a:endParaRPr>
          </a:p>
        </p:txBody>
      </p:sp>
      <p:sp>
        <p:nvSpPr>
          <p:cNvPr id="36972" name="Line 117"/>
          <p:cNvSpPr>
            <a:spLocks noChangeShapeType="1"/>
          </p:cNvSpPr>
          <p:nvPr/>
        </p:nvSpPr>
        <p:spPr bwMode="auto">
          <a:xfrm>
            <a:off x="38417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73" name="Rectangle 118"/>
          <p:cNvSpPr>
            <a:spLocks noChangeArrowheads="1"/>
          </p:cNvSpPr>
          <p:nvPr/>
        </p:nvSpPr>
        <p:spPr bwMode="auto">
          <a:xfrm>
            <a:off x="37639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30.8</a:t>
            </a:r>
            <a:endParaRPr lang="en-US" altLang="en-US">
              <a:solidFill>
                <a:srgbClr val="000000"/>
              </a:solidFill>
              <a:latin typeface="Calibri" panose="020F0502020204030204" pitchFamily="34" charset="0"/>
            </a:endParaRPr>
          </a:p>
        </p:txBody>
      </p:sp>
      <p:sp>
        <p:nvSpPr>
          <p:cNvPr id="36974" name="Line 119"/>
          <p:cNvSpPr>
            <a:spLocks noChangeShapeType="1"/>
          </p:cNvSpPr>
          <p:nvPr/>
        </p:nvSpPr>
        <p:spPr bwMode="auto">
          <a:xfrm>
            <a:off x="4146550"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75" name="Rectangle 120"/>
          <p:cNvSpPr>
            <a:spLocks noChangeArrowheads="1"/>
          </p:cNvSpPr>
          <p:nvPr/>
        </p:nvSpPr>
        <p:spPr bwMode="auto">
          <a:xfrm>
            <a:off x="4068763"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30.9</a:t>
            </a:r>
            <a:endParaRPr lang="en-US" altLang="en-US">
              <a:solidFill>
                <a:srgbClr val="000000"/>
              </a:solidFill>
              <a:latin typeface="Calibri" panose="020F0502020204030204" pitchFamily="34" charset="0"/>
            </a:endParaRPr>
          </a:p>
        </p:txBody>
      </p:sp>
      <p:sp>
        <p:nvSpPr>
          <p:cNvPr id="36976" name="Line 121"/>
          <p:cNvSpPr>
            <a:spLocks noChangeShapeType="1"/>
          </p:cNvSpPr>
          <p:nvPr/>
        </p:nvSpPr>
        <p:spPr bwMode="auto">
          <a:xfrm>
            <a:off x="44529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77" name="Rectangle 122"/>
          <p:cNvSpPr>
            <a:spLocks noChangeArrowheads="1"/>
          </p:cNvSpPr>
          <p:nvPr/>
        </p:nvSpPr>
        <p:spPr bwMode="auto">
          <a:xfrm>
            <a:off x="43751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31.0</a:t>
            </a:r>
            <a:endParaRPr lang="en-US" altLang="en-US">
              <a:solidFill>
                <a:srgbClr val="000000"/>
              </a:solidFill>
              <a:latin typeface="Calibri" panose="020F0502020204030204" pitchFamily="34" charset="0"/>
            </a:endParaRPr>
          </a:p>
        </p:txBody>
      </p:sp>
      <p:sp>
        <p:nvSpPr>
          <p:cNvPr id="36978" name="Line 123"/>
          <p:cNvSpPr>
            <a:spLocks noChangeShapeType="1"/>
          </p:cNvSpPr>
          <p:nvPr/>
        </p:nvSpPr>
        <p:spPr bwMode="auto">
          <a:xfrm>
            <a:off x="47577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79" name="Rectangle 124"/>
          <p:cNvSpPr>
            <a:spLocks noChangeArrowheads="1"/>
          </p:cNvSpPr>
          <p:nvPr/>
        </p:nvSpPr>
        <p:spPr bwMode="auto">
          <a:xfrm>
            <a:off x="46799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31.1</a:t>
            </a:r>
            <a:endParaRPr lang="en-US" altLang="en-US">
              <a:solidFill>
                <a:srgbClr val="000000"/>
              </a:solidFill>
              <a:latin typeface="Calibri" panose="020F0502020204030204" pitchFamily="34" charset="0"/>
            </a:endParaRPr>
          </a:p>
        </p:txBody>
      </p:sp>
      <p:sp>
        <p:nvSpPr>
          <p:cNvPr id="36980" name="Line 125"/>
          <p:cNvSpPr>
            <a:spLocks noChangeShapeType="1"/>
          </p:cNvSpPr>
          <p:nvPr/>
        </p:nvSpPr>
        <p:spPr bwMode="auto">
          <a:xfrm>
            <a:off x="50625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81" name="Rectangle 126"/>
          <p:cNvSpPr>
            <a:spLocks noChangeArrowheads="1"/>
          </p:cNvSpPr>
          <p:nvPr/>
        </p:nvSpPr>
        <p:spPr bwMode="auto">
          <a:xfrm>
            <a:off x="49847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31.2</a:t>
            </a:r>
            <a:endParaRPr lang="en-US" altLang="en-US">
              <a:solidFill>
                <a:srgbClr val="000000"/>
              </a:solidFill>
              <a:latin typeface="Calibri" panose="020F0502020204030204" pitchFamily="34" charset="0"/>
            </a:endParaRPr>
          </a:p>
        </p:txBody>
      </p:sp>
      <p:sp>
        <p:nvSpPr>
          <p:cNvPr id="36982" name="Line 127"/>
          <p:cNvSpPr>
            <a:spLocks noChangeShapeType="1"/>
          </p:cNvSpPr>
          <p:nvPr/>
        </p:nvSpPr>
        <p:spPr bwMode="auto">
          <a:xfrm>
            <a:off x="53673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83" name="Rectangle 128"/>
          <p:cNvSpPr>
            <a:spLocks noChangeArrowheads="1"/>
          </p:cNvSpPr>
          <p:nvPr/>
        </p:nvSpPr>
        <p:spPr bwMode="auto">
          <a:xfrm>
            <a:off x="52895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31.3</a:t>
            </a:r>
            <a:endParaRPr lang="en-US" altLang="en-US">
              <a:solidFill>
                <a:srgbClr val="000000"/>
              </a:solidFill>
              <a:latin typeface="Calibri" panose="020F0502020204030204" pitchFamily="34" charset="0"/>
            </a:endParaRPr>
          </a:p>
        </p:txBody>
      </p:sp>
      <p:sp>
        <p:nvSpPr>
          <p:cNvPr id="36984" name="Line 129"/>
          <p:cNvSpPr>
            <a:spLocks noChangeShapeType="1"/>
          </p:cNvSpPr>
          <p:nvPr/>
        </p:nvSpPr>
        <p:spPr bwMode="auto">
          <a:xfrm>
            <a:off x="56721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85" name="Rectangle 130"/>
          <p:cNvSpPr>
            <a:spLocks noChangeArrowheads="1"/>
          </p:cNvSpPr>
          <p:nvPr/>
        </p:nvSpPr>
        <p:spPr bwMode="auto">
          <a:xfrm>
            <a:off x="55943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31.4</a:t>
            </a:r>
            <a:endParaRPr lang="en-US" altLang="en-US">
              <a:solidFill>
                <a:srgbClr val="000000"/>
              </a:solidFill>
              <a:latin typeface="Calibri" panose="020F0502020204030204" pitchFamily="34" charset="0"/>
            </a:endParaRPr>
          </a:p>
        </p:txBody>
      </p:sp>
      <p:sp>
        <p:nvSpPr>
          <p:cNvPr id="36986" name="Line 131"/>
          <p:cNvSpPr>
            <a:spLocks noChangeShapeType="1"/>
          </p:cNvSpPr>
          <p:nvPr/>
        </p:nvSpPr>
        <p:spPr bwMode="auto">
          <a:xfrm>
            <a:off x="59769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87" name="Rectangle 132"/>
          <p:cNvSpPr>
            <a:spLocks noChangeArrowheads="1"/>
          </p:cNvSpPr>
          <p:nvPr/>
        </p:nvSpPr>
        <p:spPr bwMode="auto">
          <a:xfrm>
            <a:off x="58991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31.5</a:t>
            </a:r>
            <a:endParaRPr lang="en-US" altLang="en-US">
              <a:solidFill>
                <a:srgbClr val="000000"/>
              </a:solidFill>
              <a:latin typeface="Calibri" panose="020F0502020204030204" pitchFamily="34" charset="0"/>
            </a:endParaRPr>
          </a:p>
        </p:txBody>
      </p:sp>
      <p:sp>
        <p:nvSpPr>
          <p:cNvPr id="36988" name="Line 133"/>
          <p:cNvSpPr>
            <a:spLocks noChangeShapeType="1"/>
          </p:cNvSpPr>
          <p:nvPr/>
        </p:nvSpPr>
        <p:spPr bwMode="auto">
          <a:xfrm>
            <a:off x="62817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89" name="Rectangle 134"/>
          <p:cNvSpPr>
            <a:spLocks noChangeArrowheads="1"/>
          </p:cNvSpPr>
          <p:nvPr/>
        </p:nvSpPr>
        <p:spPr bwMode="auto">
          <a:xfrm>
            <a:off x="62039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31.6</a:t>
            </a:r>
            <a:endParaRPr lang="en-US" altLang="en-US">
              <a:solidFill>
                <a:srgbClr val="000000"/>
              </a:solidFill>
              <a:latin typeface="Calibri" panose="020F0502020204030204" pitchFamily="34" charset="0"/>
            </a:endParaRPr>
          </a:p>
        </p:txBody>
      </p:sp>
      <p:sp>
        <p:nvSpPr>
          <p:cNvPr id="36990" name="Line 135"/>
          <p:cNvSpPr>
            <a:spLocks noChangeShapeType="1"/>
          </p:cNvSpPr>
          <p:nvPr/>
        </p:nvSpPr>
        <p:spPr bwMode="auto">
          <a:xfrm>
            <a:off x="65865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91" name="Rectangle 136"/>
          <p:cNvSpPr>
            <a:spLocks noChangeArrowheads="1"/>
          </p:cNvSpPr>
          <p:nvPr/>
        </p:nvSpPr>
        <p:spPr bwMode="auto">
          <a:xfrm>
            <a:off x="65087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31.7</a:t>
            </a:r>
            <a:endParaRPr lang="en-US" altLang="en-US">
              <a:solidFill>
                <a:srgbClr val="000000"/>
              </a:solidFill>
              <a:latin typeface="Calibri" panose="020F0502020204030204" pitchFamily="34" charset="0"/>
            </a:endParaRPr>
          </a:p>
        </p:txBody>
      </p:sp>
      <p:sp>
        <p:nvSpPr>
          <p:cNvPr id="36992" name="Line 137"/>
          <p:cNvSpPr>
            <a:spLocks noChangeShapeType="1"/>
          </p:cNvSpPr>
          <p:nvPr/>
        </p:nvSpPr>
        <p:spPr bwMode="auto">
          <a:xfrm>
            <a:off x="6891338" y="3549650"/>
            <a:ext cx="1587"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93" name="Rectangle 138"/>
          <p:cNvSpPr>
            <a:spLocks noChangeArrowheads="1"/>
          </p:cNvSpPr>
          <p:nvPr/>
        </p:nvSpPr>
        <p:spPr bwMode="auto">
          <a:xfrm>
            <a:off x="6813550"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31.8</a:t>
            </a:r>
            <a:endParaRPr lang="en-US" altLang="en-US">
              <a:solidFill>
                <a:srgbClr val="000000"/>
              </a:solidFill>
              <a:latin typeface="Calibri" panose="020F0502020204030204" pitchFamily="34" charset="0"/>
            </a:endParaRPr>
          </a:p>
        </p:txBody>
      </p:sp>
      <p:sp>
        <p:nvSpPr>
          <p:cNvPr id="36994" name="Line 139"/>
          <p:cNvSpPr>
            <a:spLocks noChangeShapeType="1"/>
          </p:cNvSpPr>
          <p:nvPr/>
        </p:nvSpPr>
        <p:spPr bwMode="auto">
          <a:xfrm>
            <a:off x="7197725"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95" name="Rectangle 140"/>
          <p:cNvSpPr>
            <a:spLocks noChangeArrowheads="1"/>
          </p:cNvSpPr>
          <p:nvPr/>
        </p:nvSpPr>
        <p:spPr bwMode="auto">
          <a:xfrm>
            <a:off x="7119938"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31.9</a:t>
            </a:r>
            <a:endParaRPr lang="en-US" altLang="en-US">
              <a:solidFill>
                <a:srgbClr val="000000"/>
              </a:solidFill>
              <a:latin typeface="Calibri" panose="020F0502020204030204" pitchFamily="34" charset="0"/>
            </a:endParaRPr>
          </a:p>
        </p:txBody>
      </p:sp>
      <p:sp>
        <p:nvSpPr>
          <p:cNvPr id="36996" name="Line 141"/>
          <p:cNvSpPr>
            <a:spLocks noChangeShapeType="1"/>
          </p:cNvSpPr>
          <p:nvPr/>
        </p:nvSpPr>
        <p:spPr bwMode="auto">
          <a:xfrm>
            <a:off x="7502525"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97" name="Rectangle 142"/>
          <p:cNvSpPr>
            <a:spLocks noChangeArrowheads="1"/>
          </p:cNvSpPr>
          <p:nvPr/>
        </p:nvSpPr>
        <p:spPr bwMode="auto">
          <a:xfrm>
            <a:off x="7424738"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32.0</a:t>
            </a:r>
            <a:endParaRPr lang="en-US" altLang="en-US">
              <a:solidFill>
                <a:srgbClr val="000000"/>
              </a:solidFill>
              <a:latin typeface="Calibri" panose="020F0502020204030204" pitchFamily="34" charset="0"/>
            </a:endParaRPr>
          </a:p>
        </p:txBody>
      </p:sp>
      <p:sp>
        <p:nvSpPr>
          <p:cNvPr id="36998" name="Line 143"/>
          <p:cNvSpPr>
            <a:spLocks noChangeShapeType="1"/>
          </p:cNvSpPr>
          <p:nvPr/>
        </p:nvSpPr>
        <p:spPr bwMode="auto">
          <a:xfrm>
            <a:off x="7807325" y="3549650"/>
            <a:ext cx="1588" cy="492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6999" name="Rectangle 144"/>
          <p:cNvSpPr>
            <a:spLocks noChangeArrowheads="1"/>
          </p:cNvSpPr>
          <p:nvPr/>
        </p:nvSpPr>
        <p:spPr bwMode="auto">
          <a:xfrm>
            <a:off x="7729538" y="3598863"/>
            <a:ext cx="1122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32.1</a:t>
            </a:r>
            <a:endParaRPr lang="en-US" altLang="en-US">
              <a:solidFill>
                <a:srgbClr val="000000"/>
              </a:solidFill>
              <a:latin typeface="Calibri" panose="020F0502020204030204" pitchFamily="34" charset="0"/>
            </a:endParaRPr>
          </a:p>
        </p:txBody>
      </p:sp>
      <p:sp>
        <p:nvSpPr>
          <p:cNvPr id="37000" name="Rectangle 145"/>
          <p:cNvSpPr>
            <a:spLocks noChangeArrowheads="1"/>
          </p:cNvSpPr>
          <p:nvPr/>
        </p:nvSpPr>
        <p:spPr bwMode="auto">
          <a:xfrm>
            <a:off x="4386263" y="3689350"/>
            <a:ext cx="562655"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Time (min)</a:t>
            </a:r>
          </a:p>
        </p:txBody>
      </p:sp>
      <p:sp>
        <p:nvSpPr>
          <p:cNvPr id="37001" name="Line 146"/>
          <p:cNvSpPr>
            <a:spLocks noChangeShapeType="1"/>
          </p:cNvSpPr>
          <p:nvPr/>
        </p:nvSpPr>
        <p:spPr bwMode="auto">
          <a:xfrm flipV="1">
            <a:off x="1268413" y="2811463"/>
            <a:ext cx="1587" cy="733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02" name="Line 147"/>
          <p:cNvSpPr>
            <a:spLocks noChangeShapeType="1"/>
          </p:cNvSpPr>
          <p:nvPr/>
        </p:nvSpPr>
        <p:spPr bwMode="auto">
          <a:xfrm flipH="1">
            <a:off x="1236663" y="35131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03" name="Line 148"/>
          <p:cNvSpPr>
            <a:spLocks noChangeShapeType="1"/>
          </p:cNvSpPr>
          <p:nvPr/>
        </p:nvSpPr>
        <p:spPr bwMode="auto">
          <a:xfrm flipH="1">
            <a:off x="1236663" y="34750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04" name="Line 149"/>
          <p:cNvSpPr>
            <a:spLocks noChangeShapeType="1"/>
          </p:cNvSpPr>
          <p:nvPr/>
        </p:nvSpPr>
        <p:spPr bwMode="auto">
          <a:xfrm flipH="1">
            <a:off x="1236663" y="343852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05" name="Line 150"/>
          <p:cNvSpPr>
            <a:spLocks noChangeShapeType="1"/>
          </p:cNvSpPr>
          <p:nvPr/>
        </p:nvSpPr>
        <p:spPr bwMode="auto">
          <a:xfrm flipH="1">
            <a:off x="1236663" y="336232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06" name="Line 151"/>
          <p:cNvSpPr>
            <a:spLocks noChangeShapeType="1"/>
          </p:cNvSpPr>
          <p:nvPr/>
        </p:nvSpPr>
        <p:spPr bwMode="auto">
          <a:xfrm flipH="1">
            <a:off x="1236663" y="332581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07" name="Line 152"/>
          <p:cNvSpPr>
            <a:spLocks noChangeShapeType="1"/>
          </p:cNvSpPr>
          <p:nvPr/>
        </p:nvSpPr>
        <p:spPr bwMode="auto">
          <a:xfrm flipH="1">
            <a:off x="1236663" y="32940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08" name="Line 153"/>
          <p:cNvSpPr>
            <a:spLocks noChangeShapeType="1"/>
          </p:cNvSpPr>
          <p:nvPr/>
        </p:nvSpPr>
        <p:spPr bwMode="auto">
          <a:xfrm flipH="1">
            <a:off x="1236663" y="32178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09" name="Line 154"/>
          <p:cNvSpPr>
            <a:spLocks noChangeShapeType="1"/>
          </p:cNvSpPr>
          <p:nvPr/>
        </p:nvSpPr>
        <p:spPr bwMode="auto">
          <a:xfrm flipH="1">
            <a:off x="1236663" y="31813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0" name="Line 155"/>
          <p:cNvSpPr>
            <a:spLocks noChangeShapeType="1"/>
          </p:cNvSpPr>
          <p:nvPr/>
        </p:nvSpPr>
        <p:spPr bwMode="auto">
          <a:xfrm flipH="1">
            <a:off x="1236663" y="31432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1" name="Line 156"/>
          <p:cNvSpPr>
            <a:spLocks noChangeShapeType="1"/>
          </p:cNvSpPr>
          <p:nvPr/>
        </p:nvSpPr>
        <p:spPr bwMode="auto">
          <a:xfrm flipH="1">
            <a:off x="1236663" y="30686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2" name="Line 157"/>
          <p:cNvSpPr>
            <a:spLocks noChangeShapeType="1"/>
          </p:cNvSpPr>
          <p:nvPr/>
        </p:nvSpPr>
        <p:spPr bwMode="auto">
          <a:xfrm flipH="1">
            <a:off x="1236663" y="30368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3" name="Line 158"/>
          <p:cNvSpPr>
            <a:spLocks noChangeShapeType="1"/>
          </p:cNvSpPr>
          <p:nvPr/>
        </p:nvSpPr>
        <p:spPr bwMode="auto">
          <a:xfrm flipH="1">
            <a:off x="1236663" y="29987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4" name="Line 159"/>
          <p:cNvSpPr>
            <a:spLocks noChangeShapeType="1"/>
          </p:cNvSpPr>
          <p:nvPr/>
        </p:nvSpPr>
        <p:spPr bwMode="auto">
          <a:xfrm flipH="1">
            <a:off x="1236663" y="29241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5" name="Line 160"/>
          <p:cNvSpPr>
            <a:spLocks noChangeShapeType="1"/>
          </p:cNvSpPr>
          <p:nvPr/>
        </p:nvSpPr>
        <p:spPr bwMode="auto">
          <a:xfrm flipH="1">
            <a:off x="1236663" y="28860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6" name="Line 161"/>
          <p:cNvSpPr>
            <a:spLocks noChangeShapeType="1"/>
          </p:cNvSpPr>
          <p:nvPr/>
        </p:nvSpPr>
        <p:spPr bwMode="auto">
          <a:xfrm flipH="1">
            <a:off x="1236663" y="28495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7" name="Line 162"/>
          <p:cNvSpPr>
            <a:spLocks noChangeShapeType="1"/>
          </p:cNvSpPr>
          <p:nvPr/>
        </p:nvSpPr>
        <p:spPr bwMode="auto">
          <a:xfrm flipH="1">
            <a:off x="1220788" y="3544888"/>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18" name="Rectangle 163"/>
          <p:cNvSpPr>
            <a:spLocks noChangeArrowheads="1"/>
          </p:cNvSpPr>
          <p:nvPr/>
        </p:nvSpPr>
        <p:spPr bwMode="auto">
          <a:xfrm>
            <a:off x="1157288" y="3508375"/>
            <a:ext cx="320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0</a:t>
            </a:r>
            <a:endParaRPr lang="en-US" altLang="en-US">
              <a:solidFill>
                <a:srgbClr val="000000"/>
              </a:solidFill>
              <a:latin typeface="Calibri" panose="020F0502020204030204" pitchFamily="34" charset="0"/>
            </a:endParaRPr>
          </a:p>
        </p:txBody>
      </p:sp>
      <p:sp>
        <p:nvSpPr>
          <p:cNvPr id="37019" name="Line 164"/>
          <p:cNvSpPr>
            <a:spLocks noChangeShapeType="1"/>
          </p:cNvSpPr>
          <p:nvPr/>
        </p:nvSpPr>
        <p:spPr bwMode="auto">
          <a:xfrm flipH="1">
            <a:off x="1220788" y="3400425"/>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20" name="Rectangle 165"/>
          <p:cNvSpPr>
            <a:spLocks noChangeArrowheads="1"/>
          </p:cNvSpPr>
          <p:nvPr/>
        </p:nvSpPr>
        <p:spPr bwMode="auto">
          <a:xfrm>
            <a:off x="1119188" y="3363913"/>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20</a:t>
            </a:r>
            <a:endParaRPr lang="en-US" altLang="en-US">
              <a:solidFill>
                <a:srgbClr val="000000"/>
              </a:solidFill>
              <a:latin typeface="Calibri" panose="020F0502020204030204" pitchFamily="34" charset="0"/>
            </a:endParaRPr>
          </a:p>
        </p:txBody>
      </p:sp>
      <p:sp>
        <p:nvSpPr>
          <p:cNvPr id="37021" name="Line 166"/>
          <p:cNvSpPr>
            <a:spLocks noChangeShapeType="1"/>
          </p:cNvSpPr>
          <p:nvPr/>
        </p:nvSpPr>
        <p:spPr bwMode="auto">
          <a:xfrm flipH="1">
            <a:off x="1220788" y="3255963"/>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22" name="Rectangle 167"/>
          <p:cNvSpPr>
            <a:spLocks noChangeArrowheads="1"/>
          </p:cNvSpPr>
          <p:nvPr/>
        </p:nvSpPr>
        <p:spPr bwMode="auto">
          <a:xfrm>
            <a:off x="1119188" y="321945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40</a:t>
            </a:r>
            <a:endParaRPr lang="en-US" altLang="en-US">
              <a:solidFill>
                <a:srgbClr val="000000"/>
              </a:solidFill>
              <a:latin typeface="Calibri" panose="020F0502020204030204" pitchFamily="34" charset="0"/>
            </a:endParaRPr>
          </a:p>
        </p:txBody>
      </p:sp>
      <p:sp>
        <p:nvSpPr>
          <p:cNvPr id="37023" name="Line 168"/>
          <p:cNvSpPr>
            <a:spLocks noChangeShapeType="1"/>
          </p:cNvSpPr>
          <p:nvPr/>
        </p:nvSpPr>
        <p:spPr bwMode="auto">
          <a:xfrm flipH="1">
            <a:off x="1220788" y="3106738"/>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24" name="Rectangle 169"/>
          <p:cNvSpPr>
            <a:spLocks noChangeArrowheads="1"/>
          </p:cNvSpPr>
          <p:nvPr/>
        </p:nvSpPr>
        <p:spPr bwMode="auto">
          <a:xfrm>
            <a:off x="1119188" y="3068638"/>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60</a:t>
            </a:r>
            <a:endParaRPr lang="en-US" altLang="en-US">
              <a:solidFill>
                <a:srgbClr val="000000"/>
              </a:solidFill>
              <a:latin typeface="Calibri" panose="020F0502020204030204" pitchFamily="34" charset="0"/>
            </a:endParaRPr>
          </a:p>
        </p:txBody>
      </p:sp>
      <p:sp>
        <p:nvSpPr>
          <p:cNvPr id="37025" name="Line 170"/>
          <p:cNvSpPr>
            <a:spLocks noChangeShapeType="1"/>
          </p:cNvSpPr>
          <p:nvPr/>
        </p:nvSpPr>
        <p:spPr bwMode="auto">
          <a:xfrm flipH="1">
            <a:off x="1220788" y="2962275"/>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26" name="Rectangle 171"/>
          <p:cNvSpPr>
            <a:spLocks noChangeArrowheads="1"/>
          </p:cNvSpPr>
          <p:nvPr/>
        </p:nvSpPr>
        <p:spPr bwMode="auto">
          <a:xfrm>
            <a:off x="1119188" y="292417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80</a:t>
            </a:r>
            <a:endParaRPr lang="en-US" altLang="en-US">
              <a:solidFill>
                <a:srgbClr val="000000"/>
              </a:solidFill>
              <a:latin typeface="Calibri" panose="020F0502020204030204" pitchFamily="34" charset="0"/>
            </a:endParaRPr>
          </a:p>
        </p:txBody>
      </p:sp>
      <p:sp>
        <p:nvSpPr>
          <p:cNvPr id="37027" name="Line 172"/>
          <p:cNvSpPr>
            <a:spLocks noChangeShapeType="1"/>
          </p:cNvSpPr>
          <p:nvPr/>
        </p:nvSpPr>
        <p:spPr bwMode="auto">
          <a:xfrm flipH="1">
            <a:off x="1220788" y="2811463"/>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28" name="Rectangle 173"/>
          <p:cNvSpPr>
            <a:spLocks noChangeArrowheads="1"/>
          </p:cNvSpPr>
          <p:nvPr/>
        </p:nvSpPr>
        <p:spPr bwMode="auto">
          <a:xfrm>
            <a:off x="1081088" y="2774950"/>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100</a:t>
            </a:r>
            <a:endParaRPr lang="en-US" altLang="en-US">
              <a:solidFill>
                <a:srgbClr val="000000"/>
              </a:solidFill>
              <a:latin typeface="Calibri" panose="020F0502020204030204" pitchFamily="34" charset="0"/>
            </a:endParaRPr>
          </a:p>
        </p:txBody>
      </p:sp>
      <p:sp>
        <p:nvSpPr>
          <p:cNvPr id="37029" name="Line 174"/>
          <p:cNvSpPr>
            <a:spLocks noChangeShapeType="1"/>
          </p:cNvSpPr>
          <p:nvPr/>
        </p:nvSpPr>
        <p:spPr bwMode="auto">
          <a:xfrm flipV="1">
            <a:off x="1268413" y="1908175"/>
            <a:ext cx="1587" cy="731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0" name="Line 175"/>
          <p:cNvSpPr>
            <a:spLocks noChangeShapeType="1"/>
          </p:cNvSpPr>
          <p:nvPr/>
        </p:nvSpPr>
        <p:spPr bwMode="auto">
          <a:xfrm flipH="1">
            <a:off x="1236663" y="26082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1" name="Line 176"/>
          <p:cNvSpPr>
            <a:spLocks noChangeShapeType="1"/>
          </p:cNvSpPr>
          <p:nvPr/>
        </p:nvSpPr>
        <p:spPr bwMode="auto">
          <a:xfrm flipH="1">
            <a:off x="1236663" y="25717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2" name="Line 177"/>
          <p:cNvSpPr>
            <a:spLocks noChangeShapeType="1"/>
          </p:cNvSpPr>
          <p:nvPr/>
        </p:nvSpPr>
        <p:spPr bwMode="auto">
          <a:xfrm flipH="1">
            <a:off x="1236663" y="25336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3" name="Line 178"/>
          <p:cNvSpPr>
            <a:spLocks noChangeShapeType="1"/>
          </p:cNvSpPr>
          <p:nvPr/>
        </p:nvSpPr>
        <p:spPr bwMode="auto">
          <a:xfrm flipH="1">
            <a:off x="1236663" y="24590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4" name="Line 179"/>
          <p:cNvSpPr>
            <a:spLocks noChangeShapeType="1"/>
          </p:cNvSpPr>
          <p:nvPr/>
        </p:nvSpPr>
        <p:spPr bwMode="auto">
          <a:xfrm flipH="1">
            <a:off x="1236663" y="24209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5" name="Line 180"/>
          <p:cNvSpPr>
            <a:spLocks noChangeShapeType="1"/>
          </p:cNvSpPr>
          <p:nvPr/>
        </p:nvSpPr>
        <p:spPr bwMode="auto">
          <a:xfrm flipH="1">
            <a:off x="1236663" y="23891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6" name="Line 181"/>
          <p:cNvSpPr>
            <a:spLocks noChangeShapeType="1"/>
          </p:cNvSpPr>
          <p:nvPr/>
        </p:nvSpPr>
        <p:spPr bwMode="auto">
          <a:xfrm flipH="1">
            <a:off x="1236663" y="23145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7" name="Line 182"/>
          <p:cNvSpPr>
            <a:spLocks noChangeShapeType="1"/>
          </p:cNvSpPr>
          <p:nvPr/>
        </p:nvSpPr>
        <p:spPr bwMode="auto">
          <a:xfrm flipH="1">
            <a:off x="1236663" y="22764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8" name="Line 183"/>
          <p:cNvSpPr>
            <a:spLocks noChangeShapeType="1"/>
          </p:cNvSpPr>
          <p:nvPr/>
        </p:nvSpPr>
        <p:spPr bwMode="auto">
          <a:xfrm flipH="1">
            <a:off x="1236663" y="22399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39" name="Line 184"/>
          <p:cNvSpPr>
            <a:spLocks noChangeShapeType="1"/>
          </p:cNvSpPr>
          <p:nvPr/>
        </p:nvSpPr>
        <p:spPr bwMode="auto">
          <a:xfrm flipH="1">
            <a:off x="1236663" y="21653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40" name="Line 185"/>
          <p:cNvSpPr>
            <a:spLocks noChangeShapeType="1"/>
          </p:cNvSpPr>
          <p:nvPr/>
        </p:nvSpPr>
        <p:spPr bwMode="auto">
          <a:xfrm flipH="1">
            <a:off x="1236663" y="213201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41" name="Line 186"/>
          <p:cNvSpPr>
            <a:spLocks noChangeShapeType="1"/>
          </p:cNvSpPr>
          <p:nvPr/>
        </p:nvSpPr>
        <p:spPr bwMode="auto">
          <a:xfrm flipH="1">
            <a:off x="1236663" y="209550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42" name="Line 187"/>
          <p:cNvSpPr>
            <a:spLocks noChangeShapeType="1"/>
          </p:cNvSpPr>
          <p:nvPr/>
        </p:nvSpPr>
        <p:spPr bwMode="auto">
          <a:xfrm flipH="1">
            <a:off x="1236663" y="20208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43" name="Line 188"/>
          <p:cNvSpPr>
            <a:spLocks noChangeShapeType="1"/>
          </p:cNvSpPr>
          <p:nvPr/>
        </p:nvSpPr>
        <p:spPr bwMode="auto">
          <a:xfrm flipH="1">
            <a:off x="1236663" y="19827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44" name="Line 189"/>
          <p:cNvSpPr>
            <a:spLocks noChangeShapeType="1"/>
          </p:cNvSpPr>
          <p:nvPr/>
        </p:nvSpPr>
        <p:spPr bwMode="auto">
          <a:xfrm flipH="1">
            <a:off x="1236663" y="19446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45" name="Line 190"/>
          <p:cNvSpPr>
            <a:spLocks noChangeShapeType="1"/>
          </p:cNvSpPr>
          <p:nvPr/>
        </p:nvSpPr>
        <p:spPr bwMode="auto">
          <a:xfrm flipH="1">
            <a:off x="1220788" y="2640013"/>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46" name="Rectangle 191"/>
          <p:cNvSpPr>
            <a:spLocks noChangeArrowheads="1"/>
          </p:cNvSpPr>
          <p:nvPr/>
        </p:nvSpPr>
        <p:spPr bwMode="auto">
          <a:xfrm>
            <a:off x="1157288" y="2603500"/>
            <a:ext cx="320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0</a:t>
            </a:r>
            <a:endParaRPr lang="en-US" altLang="en-US">
              <a:solidFill>
                <a:srgbClr val="000000"/>
              </a:solidFill>
              <a:latin typeface="Calibri" panose="020F0502020204030204" pitchFamily="34" charset="0"/>
            </a:endParaRPr>
          </a:p>
        </p:txBody>
      </p:sp>
      <p:sp>
        <p:nvSpPr>
          <p:cNvPr id="37047" name="Line 192"/>
          <p:cNvSpPr>
            <a:spLocks noChangeShapeType="1"/>
          </p:cNvSpPr>
          <p:nvPr/>
        </p:nvSpPr>
        <p:spPr bwMode="auto">
          <a:xfrm flipH="1">
            <a:off x="1220788" y="2495550"/>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48" name="Rectangle 193"/>
          <p:cNvSpPr>
            <a:spLocks noChangeArrowheads="1"/>
          </p:cNvSpPr>
          <p:nvPr/>
        </p:nvSpPr>
        <p:spPr bwMode="auto">
          <a:xfrm>
            <a:off x="1119188" y="2459038"/>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20</a:t>
            </a:r>
            <a:endParaRPr lang="en-US" altLang="en-US">
              <a:solidFill>
                <a:srgbClr val="000000"/>
              </a:solidFill>
              <a:latin typeface="Calibri" panose="020F0502020204030204" pitchFamily="34" charset="0"/>
            </a:endParaRPr>
          </a:p>
        </p:txBody>
      </p:sp>
      <p:sp>
        <p:nvSpPr>
          <p:cNvPr id="37049" name="Line 194"/>
          <p:cNvSpPr>
            <a:spLocks noChangeShapeType="1"/>
          </p:cNvSpPr>
          <p:nvPr/>
        </p:nvSpPr>
        <p:spPr bwMode="auto">
          <a:xfrm flipH="1">
            <a:off x="1220788" y="2351088"/>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50" name="Rectangle 195"/>
          <p:cNvSpPr>
            <a:spLocks noChangeArrowheads="1"/>
          </p:cNvSpPr>
          <p:nvPr/>
        </p:nvSpPr>
        <p:spPr bwMode="auto">
          <a:xfrm>
            <a:off x="1119188" y="231457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40</a:t>
            </a:r>
            <a:endParaRPr lang="en-US" altLang="en-US">
              <a:solidFill>
                <a:srgbClr val="000000"/>
              </a:solidFill>
              <a:latin typeface="Calibri" panose="020F0502020204030204" pitchFamily="34" charset="0"/>
            </a:endParaRPr>
          </a:p>
        </p:txBody>
      </p:sp>
      <p:sp>
        <p:nvSpPr>
          <p:cNvPr id="37051" name="Line 196"/>
          <p:cNvSpPr>
            <a:spLocks noChangeShapeType="1"/>
          </p:cNvSpPr>
          <p:nvPr/>
        </p:nvSpPr>
        <p:spPr bwMode="auto">
          <a:xfrm flipH="1">
            <a:off x="1220788" y="2201863"/>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52" name="Rectangle 197"/>
          <p:cNvSpPr>
            <a:spLocks noChangeArrowheads="1"/>
          </p:cNvSpPr>
          <p:nvPr/>
        </p:nvSpPr>
        <p:spPr bwMode="auto">
          <a:xfrm>
            <a:off x="1119188" y="216535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60</a:t>
            </a:r>
            <a:endParaRPr lang="en-US" altLang="en-US">
              <a:solidFill>
                <a:srgbClr val="000000"/>
              </a:solidFill>
              <a:latin typeface="Calibri" panose="020F0502020204030204" pitchFamily="34" charset="0"/>
            </a:endParaRPr>
          </a:p>
        </p:txBody>
      </p:sp>
      <p:sp>
        <p:nvSpPr>
          <p:cNvPr id="37053" name="Line 198"/>
          <p:cNvSpPr>
            <a:spLocks noChangeShapeType="1"/>
          </p:cNvSpPr>
          <p:nvPr/>
        </p:nvSpPr>
        <p:spPr bwMode="auto">
          <a:xfrm flipH="1">
            <a:off x="1220788" y="2057400"/>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54" name="Rectangle 199"/>
          <p:cNvSpPr>
            <a:spLocks noChangeArrowheads="1"/>
          </p:cNvSpPr>
          <p:nvPr/>
        </p:nvSpPr>
        <p:spPr bwMode="auto">
          <a:xfrm>
            <a:off x="1119188" y="2020888"/>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80</a:t>
            </a:r>
            <a:endParaRPr lang="en-US" altLang="en-US">
              <a:solidFill>
                <a:srgbClr val="000000"/>
              </a:solidFill>
              <a:latin typeface="Calibri" panose="020F0502020204030204" pitchFamily="34" charset="0"/>
            </a:endParaRPr>
          </a:p>
        </p:txBody>
      </p:sp>
      <p:sp>
        <p:nvSpPr>
          <p:cNvPr id="37055" name="Line 200"/>
          <p:cNvSpPr>
            <a:spLocks noChangeShapeType="1"/>
          </p:cNvSpPr>
          <p:nvPr/>
        </p:nvSpPr>
        <p:spPr bwMode="auto">
          <a:xfrm flipH="1">
            <a:off x="1220788" y="1908175"/>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56" name="Rectangle 201"/>
          <p:cNvSpPr>
            <a:spLocks noChangeArrowheads="1"/>
          </p:cNvSpPr>
          <p:nvPr/>
        </p:nvSpPr>
        <p:spPr bwMode="auto">
          <a:xfrm>
            <a:off x="1081088" y="1871663"/>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100</a:t>
            </a:r>
            <a:endParaRPr lang="en-US" altLang="en-US">
              <a:solidFill>
                <a:srgbClr val="000000"/>
              </a:solidFill>
              <a:latin typeface="Calibri" panose="020F0502020204030204" pitchFamily="34" charset="0"/>
            </a:endParaRPr>
          </a:p>
        </p:txBody>
      </p:sp>
      <p:sp>
        <p:nvSpPr>
          <p:cNvPr id="37057" name="Line 203"/>
          <p:cNvSpPr>
            <a:spLocks noChangeShapeType="1"/>
          </p:cNvSpPr>
          <p:nvPr/>
        </p:nvSpPr>
        <p:spPr bwMode="auto">
          <a:xfrm>
            <a:off x="1268413" y="2646363"/>
            <a:ext cx="65865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58" name="Freeform 204"/>
          <p:cNvSpPr>
            <a:spLocks/>
          </p:cNvSpPr>
          <p:nvPr/>
        </p:nvSpPr>
        <p:spPr bwMode="auto">
          <a:xfrm>
            <a:off x="1268413" y="1908175"/>
            <a:ext cx="6586537" cy="731838"/>
          </a:xfrm>
          <a:custGeom>
            <a:avLst/>
            <a:gdLst>
              <a:gd name="T0" fmla="*/ 85609 w 1231"/>
              <a:gd name="T1" fmla="*/ 731838 h 137"/>
              <a:gd name="T2" fmla="*/ 187270 w 1231"/>
              <a:gd name="T3" fmla="*/ 58761 h 137"/>
              <a:gd name="T4" fmla="*/ 304982 w 1231"/>
              <a:gd name="T5" fmla="*/ 731838 h 137"/>
              <a:gd name="T6" fmla="*/ 411993 w 1231"/>
              <a:gd name="T7" fmla="*/ 731838 h 137"/>
              <a:gd name="T8" fmla="*/ 513654 w 1231"/>
              <a:gd name="T9" fmla="*/ 85470 h 137"/>
              <a:gd name="T10" fmla="*/ 636716 w 1231"/>
              <a:gd name="T11" fmla="*/ 731838 h 137"/>
              <a:gd name="T12" fmla="*/ 738377 w 1231"/>
              <a:gd name="T13" fmla="*/ 731838 h 137"/>
              <a:gd name="T14" fmla="*/ 856089 w 1231"/>
              <a:gd name="T15" fmla="*/ 112180 h 137"/>
              <a:gd name="T16" fmla="*/ 979152 w 1231"/>
              <a:gd name="T17" fmla="*/ 731838 h 137"/>
              <a:gd name="T18" fmla="*/ 1080813 w 1231"/>
              <a:gd name="T19" fmla="*/ 731838 h 137"/>
              <a:gd name="T20" fmla="*/ 1187824 w 1231"/>
              <a:gd name="T21" fmla="*/ 197650 h 137"/>
              <a:gd name="T22" fmla="*/ 1305536 w 1231"/>
              <a:gd name="T23" fmla="*/ 731838 h 137"/>
              <a:gd name="T24" fmla="*/ 1428599 w 1231"/>
              <a:gd name="T25" fmla="*/ 731838 h 137"/>
              <a:gd name="T26" fmla="*/ 1540961 w 1231"/>
              <a:gd name="T27" fmla="*/ 283120 h 137"/>
              <a:gd name="T28" fmla="*/ 1664024 w 1231"/>
              <a:gd name="T29" fmla="*/ 731838 h 137"/>
              <a:gd name="T30" fmla="*/ 1771035 w 1231"/>
              <a:gd name="T31" fmla="*/ 731838 h 137"/>
              <a:gd name="T32" fmla="*/ 1872695 w 1231"/>
              <a:gd name="T33" fmla="*/ 320513 h 137"/>
              <a:gd name="T34" fmla="*/ 2001109 w 1231"/>
              <a:gd name="T35" fmla="*/ 731838 h 137"/>
              <a:gd name="T36" fmla="*/ 2118821 w 1231"/>
              <a:gd name="T37" fmla="*/ 731838 h 137"/>
              <a:gd name="T38" fmla="*/ 2231183 w 1231"/>
              <a:gd name="T39" fmla="*/ 422009 h 137"/>
              <a:gd name="T40" fmla="*/ 2359596 w 1231"/>
              <a:gd name="T41" fmla="*/ 731838 h 137"/>
              <a:gd name="T42" fmla="*/ 2471958 w 1231"/>
              <a:gd name="T43" fmla="*/ 731838 h 137"/>
              <a:gd name="T44" fmla="*/ 2578969 w 1231"/>
              <a:gd name="T45" fmla="*/ 331197 h 137"/>
              <a:gd name="T46" fmla="*/ 2702032 w 1231"/>
              <a:gd name="T47" fmla="*/ 731838 h 137"/>
              <a:gd name="T48" fmla="*/ 2814394 w 1231"/>
              <a:gd name="T49" fmla="*/ 731838 h 137"/>
              <a:gd name="T50" fmla="*/ 2926755 w 1231"/>
              <a:gd name="T51" fmla="*/ 299145 h 137"/>
              <a:gd name="T52" fmla="*/ 3044468 w 1231"/>
              <a:gd name="T53" fmla="*/ 731838 h 137"/>
              <a:gd name="T54" fmla="*/ 3156829 w 1231"/>
              <a:gd name="T55" fmla="*/ 731838 h 137"/>
              <a:gd name="T56" fmla="*/ 3263840 w 1231"/>
              <a:gd name="T57" fmla="*/ 261752 h 137"/>
              <a:gd name="T58" fmla="*/ 3386903 w 1231"/>
              <a:gd name="T59" fmla="*/ 731838 h 137"/>
              <a:gd name="T60" fmla="*/ 3499265 w 1231"/>
              <a:gd name="T61" fmla="*/ 731838 h 137"/>
              <a:gd name="T62" fmla="*/ 3606276 w 1231"/>
              <a:gd name="T63" fmla="*/ 261752 h 137"/>
              <a:gd name="T64" fmla="*/ 3729339 w 1231"/>
              <a:gd name="T65" fmla="*/ 731838 h 137"/>
              <a:gd name="T66" fmla="*/ 3847051 w 1231"/>
              <a:gd name="T67" fmla="*/ 731838 h 137"/>
              <a:gd name="T68" fmla="*/ 3954062 w 1231"/>
              <a:gd name="T69" fmla="*/ 315171 h 137"/>
              <a:gd name="T70" fmla="*/ 4077125 w 1231"/>
              <a:gd name="T71" fmla="*/ 731838 h 137"/>
              <a:gd name="T72" fmla="*/ 4189487 w 1231"/>
              <a:gd name="T73" fmla="*/ 731838 h 137"/>
              <a:gd name="T74" fmla="*/ 4291148 w 1231"/>
              <a:gd name="T75" fmla="*/ 389957 h 137"/>
              <a:gd name="T76" fmla="*/ 4414210 w 1231"/>
              <a:gd name="T77" fmla="*/ 731838 h 137"/>
              <a:gd name="T78" fmla="*/ 4531923 w 1231"/>
              <a:gd name="T79" fmla="*/ 731838 h 137"/>
              <a:gd name="T80" fmla="*/ 4638934 w 1231"/>
              <a:gd name="T81" fmla="*/ 491453 h 137"/>
              <a:gd name="T82" fmla="*/ 4761997 w 1231"/>
              <a:gd name="T83" fmla="*/ 731838 h 137"/>
              <a:gd name="T84" fmla="*/ 4874358 w 1231"/>
              <a:gd name="T85" fmla="*/ 731838 h 137"/>
              <a:gd name="T86" fmla="*/ 4992071 w 1231"/>
              <a:gd name="T87" fmla="*/ 486111 h 137"/>
              <a:gd name="T88" fmla="*/ 5115134 w 1231"/>
              <a:gd name="T89" fmla="*/ 731838 h 137"/>
              <a:gd name="T90" fmla="*/ 5232846 w 1231"/>
              <a:gd name="T91" fmla="*/ 731838 h 137"/>
              <a:gd name="T92" fmla="*/ 5334506 w 1231"/>
              <a:gd name="T93" fmla="*/ 475428 h 137"/>
              <a:gd name="T94" fmla="*/ 5452219 w 1231"/>
              <a:gd name="T95" fmla="*/ 731838 h 137"/>
              <a:gd name="T96" fmla="*/ 5564580 w 1231"/>
              <a:gd name="T97" fmla="*/ 731838 h 137"/>
              <a:gd name="T98" fmla="*/ 5671592 w 1231"/>
              <a:gd name="T99" fmla="*/ 389957 h 137"/>
              <a:gd name="T100" fmla="*/ 5789304 w 1231"/>
              <a:gd name="T101" fmla="*/ 731838 h 137"/>
              <a:gd name="T102" fmla="*/ 5896315 w 1231"/>
              <a:gd name="T103" fmla="*/ 731838 h 137"/>
              <a:gd name="T104" fmla="*/ 6003326 w 1231"/>
              <a:gd name="T105" fmla="*/ 438034 h 137"/>
              <a:gd name="T106" fmla="*/ 6126389 w 1231"/>
              <a:gd name="T107" fmla="*/ 731838 h 137"/>
              <a:gd name="T108" fmla="*/ 6233400 w 1231"/>
              <a:gd name="T109" fmla="*/ 731838 h 137"/>
              <a:gd name="T110" fmla="*/ 6340411 w 1231"/>
              <a:gd name="T111" fmla="*/ 512821 h 137"/>
              <a:gd name="T112" fmla="*/ 6463474 w 1231"/>
              <a:gd name="T113" fmla="*/ 731838 h 137"/>
              <a:gd name="T114" fmla="*/ 6570485 w 1231"/>
              <a:gd name="T115" fmla="*/ 731838 h 13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231" h="137">
                <a:moveTo>
                  <a:pt x="0" y="137"/>
                </a:moveTo>
                <a:lnTo>
                  <a:pt x="0" y="137"/>
                </a:lnTo>
                <a:lnTo>
                  <a:pt x="2" y="137"/>
                </a:lnTo>
                <a:lnTo>
                  <a:pt x="4" y="0"/>
                </a:lnTo>
                <a:lnTo>
                  <a:pt x="9" y="137"/>
                </a:lnTo>
                <a:lnTo>
                  <a:pt x="11" y="137"/>
                </a:lnTo>
                <a:lnTo>
                  <a:pt x="14" y="137"/>
                </a:lnTo>
                <a:lnTo>
                  <a:pt x="16" y="137"/>
                </a:lnTo>
                <a:lnTo>
                  <a:pt x="19" y="137"/>
                </a:lnTo>
                <a:lnTo>
                  <a:pt x="21" y="14"/>
                </a:lnTo>
                <a:lnTo>
                  <a:pt x="25" y="136"/>
                </a:lnTo>
                <a:lnTo>
                  <a:pt x="27" y="137"/>
                </a:lnTo>
                <a:lnTo>
                  <a:pt x="29" y="137"/>
                </a:lnTo>
                <a:lnTo>
                  <a:pt x="31" y="137"/>
                </a:lnTo>
                <a:lnTo>
                  <a:pt x="33" y="137"/>
                </a:lnTo>
                <a:lnTo>
                  <a:pt x="35" y="11"/>
                </a:lnTo>
                <a:lnTo>
                  <a:pt x="39" y="137"/>
                </a:lnTo>
                <a:lnTo>
                  <a:pt x="41" y="137"/>
                </a:lnTo>
                <a:lnTo>
                  <a:pt x="44" y="137"/>
                </a:lnTo>
                <a:lnTo>
                  <a:pt x="46" y="137"/>
                </a:lnTo>
                <a:lnTo>
                  <a:pt x="48" y="137"/>
                </a:lnTo>
                <a:lnTo>
                  <a:pt x="49" y="12"/>
                </a:lnTo>
                <a:lnTo>
                  <a:pt x="55" y="137"/>
                </a:lnTo>
                <a:lnTo>
                  <a:pt x="57" y="137"/>
                </a:lnTo>
                <a:lnTo>
                  <a:pt x="59" y="137"/>
                </a:lnTo>
                <a:lnTo>
                  <a:pt x="60" y="137"/>
                </a:lnTo>
                <a:lnTo>
                  <a:pt x="63" y="137"/>
                </a:lnTo>
                <a:lnTo>
                  <a:pt x="65" y="14"/>
                </a:lnTo>
                <a:lnTo>
                  <a:pt x="70" y="137"/>
                </a:lnTo>
                <a:lnTo>
                  <a:pt x="72" y="137"/>
                </a:lnTo>
                <a:lnTo>
                  <a:pt x="74" y="137"/>
                </a:lnTo>
                <a:lnTo>
                  <a:pt x="77" y="137"/>
                </a:lnTo>
                <a:lnTo>
                  <a:pt x="78" y="137"/>
                </a:lnTo>
                <a:lnTo>
                  <a:pt x="80" y="11"/>
                </a:lnTo>
                <a:lnTo>
                  <a:pt x="86" y="137"/>
                </a:lnTo>
                <a:lnTo>
                  <a:pt x="88" y="137"/>
                </a:lnTo>
                <a:lnTo>
                  <a:pt x="90" y="137"/>
                </a:lnTo>
                <a:lnTo>
                  <a:pt x="92" y="137"/>
                </a:lnTo>
                <a:lnTo>
                  <a:pt x="94" y="137"/>
                </a:lnTo>
                <a:lnTo>
                  <a:pt x="96" y="16"/>
                </a:lnTo>
                <a:lnTo>
                  <a:pt x="102" y="137"/>
                </a:lnTo>
                <a:lnTo>
                  <a:pt x="104" y="137"/>
                </a:lnTo>
                <a:lnTo>
                  <a:pt x="106" y="137"/>
                </a:lnTo>
                <a:lnTo>
                  <a:pt x="108" y="137"/>
                </a:lnTo>
                <a:lnTo>
                  <a:pt x="110" y="137"/>
                </a:lnTo>
                <a:lnTo>
                  <a:pt x="112" y="19"/>
                </a:lnTo>
                <a:lnTo>
                  <a:pt x="117" y="137"/>
                </a:lnTo>
                <a:lnTo>
                  <a:pt x="119" y="137"/>
                </a:lnTo>
                <a:lnTo>
                  <a:pt x="121" y="137"/>
                </a:lnTo>
                <a:lnTo>
                  <a:pt x="123" y="137"/>
                </a:lnTo>
                <a:lnTo>
                  <a:pt x="125" y="137"/>
                </a:lnTo>
                <a:lnTo>
                  <a:pt x="127" y="14"/>
                </a:lnTo>
                <a:lnTo>
                  <a:pt x="132" y="137"/>
                </a:lnTo>
                <a:lnTo>
                  <a:pt x="134" y="137"/>
                </a:lnTo>
                <a:lnTo>
                  <a:pt x="136" y="137"/>
                </a:lnTo>
                <a:lnTo>
                  <a:pt x="138" y="137"/>
                </a:lnTo>
                <a:lnTo>
                  <a:pt x="140" y="137"/>
                </a:lnTo>
                <a:lnTo>
                  <a:pt x="143" y="17"/>
                </a:lnTo>
                <a:lnTo>
                  <a:pt x="148" y="137"/>
                </a:lnTo>
                <a:lnTo>
                  <a:pt x="151" y="137"/>
                </a:lnTo>
                <a:lnTo>
                  <a:pt x="153" y="137"/>
                </a:lnTo>
                <a:lnTo>
                  <a:pt x="155" y="137"/>
                </a:lnTo>
                <a:lnTo>
                  <a:pt x="158" y="137"/>
                </a:lnTo>
                <a:lnTo>
                  <a:pt x="160" y="21"/>
                </a:lnTo>
                <a:lnTo>
                  <a:pt x="166" y="137"/>
                </a:lnTo>
                <a:lnTo>
                  <a:pt x="168" y="137"/>
                </a:lnTo>
                <a:lnTo>
                  <a:pt x="170" y="137"/>
                </a:lnTo>
                <a:lnTo>
                  <a:pt x="172" y="137"/>
                </a:lnTo>
                <a:lnTo>
                  <a:pt x="174" y="137"/>
                </a:lnTo>
                <a:lnTo>
                  <a:pt x="176" y="24"/>
                </a:lnTo>
                <a:lnTo>
                  <a:pt x="181" y="137"/>
                </a:lnTo>
                <a:lnTo>
                  <a:pt x="183" y="137"/>
                </a:lnTo>
                <a:lnTo>
                  <a:pt x="185" y="137"/>
                </a:lnTo>
                <a:lnTo>
                  <a:pt x="187" y="137"/>
                </a:lnTo>
                <a:lnTo>
                  <a:pt x="189" y="137"/>
                </a:lnTo>
                <a:lnTo>
                  <a:pt x="190" y="27"/>
                </a:lnTo>
                <a:lnTo>
                  <a:pt x="196" y="137"/>
                </a:lnTo>
                <a:lnTo>
                  <a:pt x="197" y="137"/>
                </a:lnTo>
                <a:lnTo>
                  <a:pt x="200" y="137"/>
                </a:lnTo>
                <a:lnTo>
                  <a:pt x="202" y="137"/>
                </a:lnTo>
                <a:lnTo>
                  <a:pt x="204" y="137"/>
                </a:lnTo>
                <a:lnTo>
                  <a:pt x="206" y="33"/>
                </a:lnTo>
                <a:lnTo>
                  <a:pt x="211" y="137"/>
                </a:lnTo>
                <a:lnTo>
                  <a:pt x="213" y="137"/>
                </a:lnTo>
                <a:lnTo>
                  <a:pt x="216" y="137"/>
                </a:lnTo>
                <a:lnTo>
                  <a:pt x="218" y="137"/>
                </a:lnTo>
                <a:lnTo>
                  <a:pt x="220" y="137"/>
                </a:lnTo>
                <a:lnTo>
                  <a:pt x="222" y="37"/>
                </a:lnTo>
                <a:lnTo>
                  <a:pt x="227" y="137"/>
                </a:lnTo>
                <a:lnTo>
                  <a:pt x="229" y="137"/>
                </a:lnTo>
                <a:lnTo>
                  <a:pt x="231" y="137"/>
                </a:lnTo>
                <a:lnTo>
                  <a:pt x="233" y="137"/>
                </a:lnTo>
                <a:lnTo>
                  <a:pt x="235" y="137"/>
                </a:lnTo>
                <a:lnTo>
                  <a:pt x="237" y="42"/>
                </a:lnTo>
                <a:lnTo>
                  <a:pt x="242" y="137"/>
                </a:lnTo>
                <a:lnTo>
                  <a:pt x="244" y="137"/>
                </a:lnTo>
                <a:lnTo>
                  <a:pt x="247" y="137"/>
                </a:lnTo>
                <a:lnTo>
                  <a:pt x="249" y="137"/>
                </a:lnTo>
                <a:lnTo>
                  <a:pt x="251" y="137"/>
                </a:lnTo>
                <a:lnTo>
                  <a:pt x="254" y="40"/>
                </a:lnTo>
                <a:lnTo>
                  <a:pt x="259" y="137"/>
                </a:lnTo>
                <a:lnTo>
                  <a:pt x="262" y="137"/>
                </a:lnTo>
                <a:lnTo>
                  <a:pt x="264" y="137"/>
                </a:lnTo>
                <a:lnTo>
                  <a:pt x="267" y="137"/>
                </a:lnTo>
                <a:lnTo>
                  <a:pt x="269" y="137"/>
                </a:lnTo>
                <a:lnTo>
                  <a:pt x="271" y="47"/>
                </a:lnTo>
                <a:lnTo>
                  <a:pt x="277" y="137"/>
                </a:lnTo>
                <a:lnTo>
                  <a:pt x="279" y="137"/>
                </a:lnTo>
                <a:lnTo>
                  <a:pt x="281" y="137"/>
                </a:lnTo>
                <a:lnTo>
                  <a:pt x="284" y="137"/>
                </a:lnTo>
                <a:lnTo>
                  <a:pt x="286" y="137"/>
                </a:lnTo>
                <a:lnTo>
                  <a:pt x="288" y="53"/>
                </a:lnTo>
                <a:lnTo>
                  <a:pt x="293" y="137"/>
                </a:lnTo>
                <a:lnTo>
                  <a:pt x="295" y="137"/>
                </a:lnTo>
                <a:lnTo>
                  <a:pt x="296" y="137"/>
                </a:lnTo>
                <a:lnTo>
                  <a:pt x="299" y="137"/>
                </a:lnTo>
                <a:lnTo>
                  <a:pt x="301" y="137"/>
                </a:lnTo>
                <a:lnTo>
                  <a:pt x="303" y="54"/>
                </a:lnTo>
                <a:lnTo>
                  <a:pt x="309" y="137"/>
                </a:lnTo>
                <a:lnTo>
                  <a:pt x="311" y="137"/>
                </a:lnTo>
                <a:lnTo>
                  <a:pt x="313" y="137"/>
                </a:lnTo>
                <a:lnTo>
                  <a:pt x="316" y="137"/>
                </a:lnTo>
                <a:lnTo>
                  <a:pt x="318" y="137"/>
                </a:lnTo>
                <a:lnTo>
                  <a:pt x="321" y="53"/>
                </a:lnTo>
                <a:lnTo>
                  <a:pt x="325" y="137"/>
                </a:lnTo>
                <a:lnTo>
                  <a:pt x="327" y="137"/>
                </a:lnTo>
                <a:lnTo>
                  <a:pt x="329" y="137"/>
                </a:lnTo>
                <a:lnTo>
                  <a:pt x="331" y="137"/>
                </a:lnTo>
                <a:lnTo>
                  <a:pt x="333" y="137"/>
                </a:lnTo>
                <a:lnTo>
                  <a:pt x="335" y="58"/>
                </a:lnTo>
                <a:lnTo>
                  <a:pt x="340" y="137"/>
                </a:lnTo>
                <a:lnTo>
                  <a:pt x="342" y="137"/>
                </a:lnTo>
                <a:lnTo>
                  <a:pt x="344" y="137"/>
                </a:lnTo>
                <a:lnTo>
                  <a:pt x="346" y="137"/>
                </a:lnTo>
                <a:lnTo>
                  <a:pt x="348" y="137"/>
                </a:lnTo>
                <a:lnTo>
                  <a:pt x="350" y="60"/>
                </a:lnTo>
                <a:lnTo>
                  <a:pt x="355" y="137"/>
                </a:lnTo>
                <a:lnTo>
                  <a:pt x="357" y="137"/>
                </a:lnTo>
                <a:lnTo>
                  <a:pt x="360" y="137"/>
                </a:lnTo>
                <a:lnTo>
                  <a:pt x="362" y="137"/>
                </a:lnTo>
                <a:lnTo>
                  <a:pt x="364" y="137"/>
                </a:lnTo>
                <a:lnTo>
                  <a:pt x="367" y="66"/>
                </a:lnTo>
                <a:lnTo>
                  <a:pt x="372" y="137"/>
                </a:lnTo>
                <a:lnTo>
                  <a:pt x="374" y="137"/>
                </a:lnTo>
                <a:lnTo>
                  <a:pt x="377" y="137"/>
                </a:lnTo>
                <a:lnTo>
                  <a:pt x="379" y="137"/>
                </a:lnTo>
                <a:lnTo>
                  <a:pt x="382" y="137"/>
                </a:lnTo>
                <a:lnTo>
                  <a:pt x="384" y="72"/>
                </a:lnTo>
                <a:lnTo>
                  <a:pt x="389" y="137"/>
                </a:lnTo>
                <a:lnTo>
                  <a:pt x="391" y="137"/>
                </a:lnTo>
                <a:lnTo>
                  <a:pt x="394" y="137"/>
                </a:lnTo>
                <a:lnTo>
                  <a:pt x="396" y="137"/>
                </a:lnTo>
                <a:lnTo>
                  <a:pt x="399" y="137"/>
                </a:lnTo>
                <a:lnTo>
                  <a:pt x="401" y="76"/>
                </a:lnTo>
                <a:lnTo>
                  <a:pt x="406" y="137"/>
                </a:lnTo>
                <a:lnTo>
                  <a:pt x="408" y="137"/>
                </a:lnTo>
                <a:lnTo>
                  <a:pt x="411" y="137"/>
                </a:lnTo>
                <a:lnTo>
                  <a:pt x="413" y="137"/>
                </a:lnTo>
                <a:lnTo>
                  <a:pt x="415" y="137"/>
                </a:lnTo>
                <a:lnTo>
                  <a:pt x="417" y="79"/>
                </a:lnTo>
                <a:lnTo>
                  <a:pt x="422" y="137"/>
                </a:lnTo>
                <a:lnTo>
                  <a:pt x="424" y="137"/>
                </a:lnTo>
                <a:lnTo>
                  <a:pt x="427" y="137"/>
                </a:lnTo>
                <a:lnTo>
                  <a:pt x="429" y="137"/>
                </a:lnTo>
                <a:lnTo>
                  <a:pt x="432" y="137"/>
                </a:lnTo>
                <a:lnTo>
                  <a:pt x="434" y="80"/>
                </a:lnTo>
                <a:lnTo>
                  <a:pt x="438" y="137"/>
                </a:lnTo>
                <a:lnTo>
                  <a:pt x="441" y="137"/>
                </a:lnTo>
                <a:lnTo>
                  <a:pt x="443" y="137"/>
                </a:lnTo>
                <a:lnTo>
                  <a:pt x="445" y="137"/>
                </a:lnTo>
                <a:lnTo>
                  <a:pt x="448" y="137"/>
                </a:lnTo>
                <a:lnTo>
                  <a:pt x="450" y="74"/>
                </a:lnTo>
                <a:lnTo>
                  <a:pt x="454" y="137"/>
                </a:lnTo>
                <a:lnTo>
                  <a:pt x="457" y="137"/>
                </a:lnTo>
                <a:lnTo>
                  <a:pt x="459" y="137"/>
                </a:lnTo>
                <a:lnTo>
                  <a:pt x="462" y="137"/>
                </a:lnTo>
                <a:lnTo>
                  <a:pt x="464" y="137"/>
                </a:lnTo>
                <a:lnTo>
                  <a:pt x="466" y="66"/>
                </a:lnTo>
                <a:lnTo>
                  <a:pt x="471" y="137"/>
                </a:lnTo>
                <a:lnTo>
                  <a:pt x="473" y="137"/>
                </a:lnTo>
                <a:lnTo>
                  <a:pt x="476" y="137"/>
                </a:lnTo>
                <a:lnTo>
                  <a:pt x="477" y="137"/>
                </a:lnTo>
                <a:lnTo>
                  <a:pt x="480" y="137"/>
                </a:lnTo>
                <a:lnTo>
                  <a:pt x="482" y="62"/>
                </a:lnTo>
                <a:lnTo>
                  <a:pt x="487" y="137"/>
                </a:lnTo>
                <a:lnTo>
                  <a:pt x="489" y="137"/>
                </a:lnTo>
                <a:lnTo>
                  <a:pt x="491" y="137"/>
                </a:lnTo>
                <a:lnTo>
                  <a:pt x="493" y="137"/>
                </a:lnTo>
                <a:lnTo>
                  <a:pt x="496" y="137"/>
                </a:lnTo>
                <a:lnTo>
                  <a:pt x="498" y="60"/>
                </a:lnTo>
                <a:lnTo>
                  <a:pt x="503" y="137"/>
                </a:lnTo>
                <a:lnTo>
                  <a:pt x="505" y="137"/>
                </a:lnTo>
                <a:lnTo>
                  <a:pt x="507" y="137"/>
                </a:lnTo>
                <a:lnTo>
                  <a:pt x="509" y="137"/>
                </a:lnTo>
                <a:lnTo>
                  <a:pt x="512" y="137"/>
                </a:lnTo>
                <a:lnTo>
                  <a:pt x="514" y="56"/>
                </a:lnTo>
                <a:lnTo>
                  <a:pt x="519" y="137"/>
                </a:lnTo>
                <a:lnTo>
                  <a:pt x="521" y="137"/>
                </a:lnTo>
                <a:lnTo>
                  <a:pt x="523" y="137"/>
                </a:lnTo>
                <a:lnTo>
                  <a:pt x="526" y="137"/>
                </a:lnTo>
                <a:lnTo>
                  <a:pt x="528" y="137"/>
                </a:lnTo>
                <a:lnTo>
                  <a:pt x="530" y="58"/>
                </a:lnTo>
                <a:lnTo>
                  <a:pt x="535" y="137"/>
                </a:lnTo>
                <a:lnTo>
                  <a:pt x="538" y="137"/>
                </a:lnTo>
                <a:lnTo>
                  <a:pt x="540" y="137"/>
                </a:lnTo>
                <a:lnTo>
                  <a:pt x="542" y="137"/>
                </a:lnTo>
                <a:lnTo>
                  <a:pt x="545" y="137"/>
                </a:lnTo>
                <a:lnTo>
                  <a:pt x="547" y="56"/>
                </a:lnTo>
                <a:lnTo>
                  <a:pt x="551" y="137"/>
                </a:lnTo>
                <a:lnTo>
                  <a:pt x="554" y="136"/>
                </a:lnTo>
                <a:lnTo>
                  <a:pt x="556" y="137"/>
                </a:lnTo>
                <a:lnTo>
                  <a:pt x="558" y="137"/>
                </a:lnTo>
                <a:lnTo>
                  <a:pt x="561" y="137"/>
                </a:lnTo>
                <a:lnTo>
                  <a:pt x="563" y="50"/>
                </a:lnTo>
                <a:lnTo>
                  <a:pt x="567" y="137"/>
                </a:lnTo>
                <a:lnTo>
                  <a:pt x="569" y="137"/>
                </a:lnTo>
                <a:lnTo>
                  <a:pt x="572" y="137"/>
                </a:lnTo>
                <a:lnTo>
                  <a:pt x="574" y="137"/>
                </a:lnTo>
                <a:lnTo>
                  <a:pt x="576" y="137"/>
                </a:lnTo>
                <a:lnTo>
                  <a:pt x="578" y="40"/>
                </a:lnTo>
                <a:lnTo>
                  <a:pt x="583" y="137"/>
                </a:lnTo>
                <a:lnTo>
                  <a:pt x="585" y="137"/>
                </a:lnTo>
                <a:lnTo>
                  <a:pt x="588" y="137"/>
                </a:lnTo>
                <a:lnTo>
                  <a:pt x="590" y="137"/>
                </a:lnTo>
                <a:lnTo>
                  <a:pt x="592" y="137"/>
                </a:lnTo>
                <a:lnTo>
                  <a:pt x="594" y="44"/>
                </a:lnTo>
                <a:lnTo>
                  <a:pt x="599" y="137"/>
                </a:lnTo>
                <a:lnTo>
                  <a:pt x="601" y="137"/>
                </a:lnTo>
                <a:lnTo>
                  <a:pt x="603" y="137"/>
                </a:lnTo>
                <a:lnTo>
                  <a:pt x="606" y="137"/>
                </a:lnTo>
                <a:lnTo>
                  <a:pt x="607" y="137"/>
                </a:lnTo>
                <a:lnTo>
                  <a:pt x="610" y="49"/>
                </a:lnTo>
                <a:lnTo>
                  <a:pt x="615" y="137"/>
                </a:lnTo>
                <a:lnTo>
                  <a:pt x="617" y="137"/>
                </a:lnTo>
                <a:lnTo>
                  <a:pt x="619" y="137"/>
                </a:lnTo>
                <a:lnTo>
                  <a:pt x="621" y="137"/>
                </a:lnTo>
                <a:lnTo>
                  <a:pt x="623" y="137"/>
                </a:lnTo>
                <a:lnTo>
                  <a:pt x="626" y="49"/>
                </a:lnTo>
                <a:lnTo>
                  <a:pt x="631" y="137"/>
                </a:lnTo>
                <a:lnTo>
                  <a:pt x="633" y="137"/>
                </a:lnTo>
                <a:lnTo>
                  <a:pt x="635" y="137"/>
                </a:lnTo>
                <a:lnTo>
                  <a:pt x="637" y="137"/>
                </a:lnTo>
                <a:lnTo>
                  <a:pt x="639" y="137"/>
                </a:lnTo>
                <a:lnTo>
                  <a:pt x="642" y="48"/>
                </a:lnTo>
                <a:lnTo>
                  <a:pt x="647" y="137"/>
                </a:lnTo>
                <a:lnTo>
                  <a:pt x="649" y="137"/>
                </a:lnTo>
                <a:lnTo>
                  <a:pt x="651" y="137"/>
                </a:lnTo>
                <a:lnTo>
                  <a:pt x="654" y="137"/>
                </a:lnTo>
                <a:lnTo>
                  <a:pt x="656" y="137"/>
                </a:lnTo>
                <a:lnTo>
                  <a:pt x="658" y="51"/>
                </a:lnTo>
                <a:lnTo>
                  <a:pt x="663" y="137"/>
                </a:lnTo>
                <a:lnTo>
                  <a:pt x="665" y="137"/>
                </a:lnTo>
                <a:lnTo>
                  <a:pt x="668" y="137"/>
                </a:lnTo>
                <a:lnTo>
                  <a:pt x="670" y="137"/>
                </a:lnTo>
                <a:lnTo>
                  <a:pt x="672" y="137"/>
                </a:lnTo>
                <a:lnTo>
                  <a:pt x="674" y="49"/>
                </a:lnTo>
                <a:lnTo>
                  <a:pt x="679" y="137"/>
                </a:lnTo>
                <a:lnTo>
                  <a:pt x="682" y="137"/>
                </a:lnTo>
                <a:lnTo>
                  <a:pt x="684" y="137"/>
                </a:lnTo>
                <a:lnTo>
                  <a:pt x="686" y="137"/>
                </a:lnTo>
                <a:lnTo>
                  <a:pt x="688" y="137"/>
                </a:lnTo>
                <a:lnTo>
                  <a:pt x="690" y="57"/>
                </a:lnTo>
                <a:lnTo>
                  <a:pt x="695" y="137"/>
                </a:lnTo>
                <a:lnTo>
                  <a:pt x="697" y="137"/>
                </a:lnTo>
                <a:lnTo>
                  <a:pt x="700" y="137"/>
                </a:lnTo>
                <a:lnTo>
                  <a:pt x="702" y="137"/>
                </a:lnTo>
                <a:lnTo>
                  <a:pt x="705" y="137"/>
                </a:lnTo>
                <a:lnTo>
                  <a:pt x="707" y="59"/>
                </a:lnTo>
                <a:lnTo>
                  <a:pt x="712" y="137"/>
                </a:lnTo>
                <a:lnTo>
                  <a:pt x="714" y="137"/>
                </a:lnTo>
                <a:lnTo>
                  <a:pt x="717" y="137"/>
                </a:lnTo>
                <a:lnTo>
                  <a:pt x="719" y="137"/>
                </a:lnTo>
                <a:lnTo>
                  <a:pt x="721" y="137"/>
                </a:lnTo>
                <a:lnTo>
                  <a:pt x="723" y="60"/>
                </a:lnTo>
                <a:lnTo>
                  <a:pt x="728" y="137"/>
                </a:lnTo>
                <a:lnTo>
                  <a:pt x="730" y="137"/>
                </a:lnTo>
                <a:lnTo>
                  <a:pt x="733" y="137"/>
                </a:lnTo>
                <a:lnTo>
                  <a:pt x="735" y="137"/>
                </a:lnTo>
                <a:lnTo>
                  <a:pt x="737" y="137"/>
                </a:lnTo>
                <a:lnTo>
                  <a:pt x="739" y="59"/>
                </a:lnTo>
                <a:lnTo>
                  <a:pt x="745" y="137"/>
                </a:lnTo>
                <a:lnTo>
                  <a:pt x="746" y="137"/>
                </a:lnTo>
                <a:lnTo>
                  <a:pt x="749" y="137"/>
                </a:lnTo>
                <a:lnTo>
                  <a:pt x="751" y="137"/>
                </a:lnTo>
                <a:lnTo>
                  <a:pt x="753" y="137"/>
                </a:lnTo>
                <a:lnTo>
                  <a:pt x="755" y="66"/>
                </a:lnTo>
                <a:lnTo>
                  <a:pt x="760" y="137"/>
                </a:lnTo>
                <a:lnTo>
                  <a:pt x="762" y="137"/>
                </a:lnTo>
                <a:lnTo>
                  <a:pt x="765" y="137"/>
                </a:lnTo>
                <a:lnTo>
                  <a:pt x="767" y="137"/>
                </a:lnTo>
                <a:lnTo>
                  <a:pt x="769" y="137"/>
                </a:lnTo>
                <a:lnTo>
                  <a:pt x="771" y="70"/>
                </a:lnTo>
                <a:lnTo>
                  <a:pt x="776" y="137"/>
                </a:lnTo>
                <a:lnTo>
                  <a:pt x="779" y="137"/>
                </a:lnTo>
                <a:lnTo>
                  <a:pt x="781" y="137"/>
                </a:lnTo>
                <a:lnTo>
                  <a:pt x="783" y="137"/>
                </a:lnTo>
                <a:lnTo>
                  <a:pt x="785" y="137"/>
                </a:lnTo>
                <a:lnTo>
                  <a:pt x="787" y="72"/>
                </a:lnTo>
                <a:lnTo>
                  <a:pt x="792" y="137"/>
                </a:lnTo>
                <a:lnTo>
                  <a:pt x="794" y="137"/>
                </a:lnTo>
                <a:lnTo>
                  <a:pt x="796" y="137"/>
                </a:lnTo>
                <a:lnTo>
                  <a:pt x="798" y="137"/>
                </a:lnTo>
                <a:lnTo>
                  <a:pt x="800" y="137"/>
                </a:lnTo>
                <a:lnTo>
                  <a:pt x="802" y="73"/>
                </a:lnTo>
                <a:lnTo>
                  <a:pt x="807" y="137"/>
                </a:lnTo>
                <a:lnTo>
                  <a:pt x="809" y="137"/>
                </a:lnTo>
                <a:lnTo>
                  <a:pt x="812" y="137"/>
                </a:lnTo>
                <a:lnTo>
                  <a:pt x="814" y="137"/>
                </a:lnTo>
                <a:lnTo>
                  <a:pt x="816" y="137"/>
                </a:lnTo>
                <a:lnTo>
                  <a:pt x="818" y="80"/>
                </a:lnTo>
                <a:lnTo>
                  <a:pt x="823" y="137"/>
                </a:lnTo>
                <a:lnTo>
                  <a:pt x="825" y="137"/>
                </a:lnTo>
                <a:lnTo>
                  <a:pt x="828" y="137"/>
                </a:lnTo>
                <a:lnTo>
                  <a:pt x="830" y="137"/>
                </a:lnTo>
                <a:lnTo>
                  <a:pt x="832" y="137"/>
                </a:lnTo>
                <a:lnTo>
                  <a:pt x="834" y="85"/>
                </a:lnTo>
                <a:lnTo>
                  <a:pt x="839" y="137"/>
                </a:lnTo>
                <a:lnTo>
                  <a:pt x="842" y="137"/>
                </a:lnTo>
                <a:lnTo>
                  <a:pt x="844" y="137"/>
                </a:lnTo>
                <a:lnTo>
                  <a:pt x="847" y="137"/>
                </a:lnTo>
                <a:lnTo>
                  <a:pt x="849" y="137"/>
                </a:lnTo>
                <a:lnTo>
                  <a:pt x="851" y="87"/>
                </a:lnTo>
                <a:lnTo>
                  <a:pt x="856" y="137"/>
                </a:lnTo>
                <a:lnTo>
                  <a:pt x="858" y="137"/>
                </a:lnTo>
                <a:lnTo>
                  <a:pt x="860" y="137"/>
                </a:lnTo>
                <a:lnTo>
                  <a:pt x="862" y="137"/>
                </a:lnTo>
                <a:lnTo>
                  <a:pt x="865" y="137"/>
                </a:lnTo>
                <a:lnTo>
                  <a:pt x="867" y="92"/>
                </a:lnTo>
                <a:lnTo>
                  <a:pt x="872" y="137"/>
                </a:lnTo>
                <a:lnTo>
                  <a:pt x="874" y="137"/>
                </a:lnTo>
                <a:lnTo>
                  <a:pt x="876" y="137"/>
                </a:lnTo>
                <a:lnTo>
                  <a:pt x="879" y="137"/>
                </a:lnTo>
                <a:lnTo>
                  <a:pt x="881" y="137"/>
                </a:lnTo>
                <a:lnTo>
                  <a:pt x="883" y="97"/>
                </a:lnTo>
                <a:lnTo>
                  <a:pt x="888" y="137"/>
                </a:lnTo>
                <a:lnTo>
                  <a:pt x="890" y="137"/>
                </a:lnTo>
                <a:lnTo>
                  <a:pt x="892" y="137"/>
                </a:lnTo>
                <a:lnTo>
                  <a:pt x="895" y="137"/>
                </a:lnTo>
                <a:lnTo>
                  <a:pt x="897" y="137"/>
                </a:lnTo>
                <a:lnTo>
                  <a:pt x="900" y="94"/>
                </a:lnTo>
                <a:lnTo>
                  <a:pt x="905" y="137"/>
                </a:lnTo>
                <a:lnTo>
                  <a:pt x="907" y="137"/>
                </a:lnTo>
                <a:lnTo>
                  <a:pt x="909" y="137"/>
                </a:lnTo>
                <a:lnTo>
                  <a:pt x="911" y="137"/>
                </a:lnTo>
                <a:lnTo>
                  <a:pt x="914" y="137"/>
                </a:lnTo>
                <a:lnTo>
                  <a:pt x="916" y="94"/>
                </a:lnTo>
                <a:lnTo>
                  <a:pt x="921" y="137"/>
                </a:lnTo>
                <a:lnTo>
                  <a:pt x="923" y="137"/>
                </a:lnTo>
                <a:lnTo>
                  <a:pt x="926" y="137"/>
                </a:lnTo>
                <a:lnTo>
                  <a:pt x="928" y="137"/>
                </a:lnTo>
                <a:lnTo>
                  <a:pt x="930" y="137"/>
                </a:lnTo>
                <a:lnTo>
                  <a:pt x="933" y="91"/>
                </a:lnTo>
                <a:lnTo>
                  <a:pt x="937" y="137"/>
                </a:lnTo>
                <a:lnTo>
                  <a:pt x="939" y="137"/>
                </a:lnTo>
                <a:lnTo>
                  <a:pt x="942" y="137"/>
                </a:lnTo>
                <a:lnTo>
                  <a:pt x="944" y="137"/>
                </a:lnTo>
                <a:lnTo>
                  <a:pt x="947" y="137"/>
                </a:lnTo>
                <a:lnTo>
                  <a:pt x="949" y="91"/>
                </a:lnTo>
                <a:lnTo>
                  <a:pt x="954" y="137"/>
                </a:lnTo>
                <a:lnTo>
                  <a:pt x="956" y="137"/>
                </a:lnTo>
                <a:lnTo>
                  <a:pt x="959" y="137"/>
                </a:lnTo>
                <a:lnTo>
                  <a:pt x="961" y="137"/>
                </a:lnTo>
                <a:lnTo>
                  <a:pt x="963" y="137"/>
                </a:lnTo>
                <a:lnTo>
                  <a:pt x="966" y="93"/>
                </a:lnTo>
                <a:lnTo>
                  <a:pt x="970" y="137"/>
                </a:lnTo>
                <a:lnTo>
                  <a:pt x="973" y="137"/>
                </a:lnTo>
                <a:lnTo>
                  <a:pt x="975" y="137"/>
                </a:lnTo>
                <a:lnTo>
                  <a:pt x="978" y="137"/>
                </a:lnTo>
                <a:lnTo>
                  <a:pt x="980" y="137"/>
                </a:lnTo>
                <a:lnTo>
                  <a:pt x="983" y="92"/>
                </a:lnTo>
                <a:lnTo>
                  <a:pt x="987" y="137"/>
                </a:lnTo>
                <a:lnTo>
                  <a:pt x="989" y="137"/>
                </a:lnTo>
                <a:lnTo>
                  <a:pt x="991" y="137"/>
                </a:lnTo>
                <a:lnTo>
                  <a:pt x="994" y="137"/>
                </a:lnTo>
                <a:lnTo>
                  <a:pt x="996" y="137"/>
                </a:lnTo>
                <a:lnTo>
                  <a:pt x="997" y="89"/>
                </a:lnTo>
                <a:lnTo>
                  <a:pt x="1002" y="137"/>
                </a:lnTo>
                <a:lnTo>
                  <a:pt x="1004" y="137"/>
                </a:lnTo>
                <a:lnTo>
                  <a:pt x="1006" y="137"/>
                </a:lnTo>
                <a:lnTo>
                  <a:pt x="1008" y="137"/>
                </a:lnTo>
                <a:lnTo>
                  <a:pt x="1011" y="137"/>
                </a:lnTo>
                <a:lnTo>
                  <a:pt x="1013" y="83"/>
                </a:lnTo>
                <a:lnTo>
                  <a:pt x="1017" y="137"/>
                </a:lnTo>
                <a:lnTo>
                  <a:pt x="1019" y="137"/>
                </a:lnTo>
                <a:lnTo>
                  <a:pt x="1022" y="137"/>
                </a:lnTo>
                <a:lnTo>
                  <a:pt x="1024" y="137"/>
                </a:lnTo>
                <a:lnTo>
                  <a:pt x="1026" y="137"/>
                </a:lnTo>
                <a:lnTo>
                  <a:pt x="1029" y="82"/>
                </a:lnTo>
                <a:lnTo>
                  <a:pt x="1033" y="137"/>
                </a:lnTo>
                <a:lnTo>
                  <a:pt x="1035" y="137"/>
                </a:lnTo>
                <a:lnTo>
                  <a:pt x="1038" y="137"/>
                </a:lnTo>
                <a:lnTo>
                  <a:pt x="1040" y="137"/>
                </a:lnTo>
                <a:lnTo>
                  <a:pt x="1042" y="137"/>
                </a:lnTo>
                <a:lnTo>
                  <a:pt x="1044" y="71"/>
                </a:lnTo>
                <a:lnTo>
                  <a:pt x="1048" y="137"/>
                </a:lnTo>
                <a:lnTo>
                  <a:pt x="1051" y="137"/>
                </a:lnTo>
                <a:lnTo>
                  <a:pt x="1053" y="137"/>
                </a:lnTo>
                <a:lnTo>
                  <a:pt x="1055" y="137"/>
                </a:lnTo>
                <a:lnTo>
                  <a:pt x="1058" y="137"/>
                </a:lnTo>
                <a:lnTo>
                  <a:pt x="1060" y="73"/>
                </a:lnTo>
                <a:lnTo>
                  <a:pt x="1065" y="137"/>
                </a:lnTo>
                <a:lnTo>
                  <a:pt x="1067" y="137"/>
                </a:lnTo>
                <a:lnTo>
                  <a:pt x="1069" y="137"/>
                </a:lnTo>
                <a:lnTo>
                  <a:pt x="1071" y="137"/>
                </a:lnTo>
                <a:lnTo>
                  <a:pt x="1073" y="137"/>
                </a:lnTo>
                <a:lnTo>
                  <a:pt x="1075" y="72"/>
                </a:lnTo>
                <a:lnTo>
                  <a:pt x="1080" y="137"/>
                </a:lnTo>
                <a:lnTo>
                  <a:pt x="1082" y="137"/>
                </a:lnTo>
                <a:lnTo>
                  <a:pt x="1084" y="137"/>
                </a:lnTo>
                <a:lnTo>
                  <a:pt x="1087" y="137"/>
                </a:lnTo>
                <a:lnTo>
                  <a:pt x="1089" y="137"/>
                </a:lnTo>
                <a:lnTo>
                  <a:pt x="1091" y="76"/>
                </a:lnTo>
                <a:lnTo>
                  <a:pt x="1095" y="137"/>
                </a:lnTo>
                <a:lnTo>
                  <a:pt x="1097" y="137"/>
                </a:lnTo>
                <a:lnTo>
                  <a:pt x="1099" y="137"/>
                </a:lnTo>
                <a:lnTo>
                  <a:pt x="1102" y="137"/>
                </a:lnTo>
                <a:lnTo>
                  <a:pt x="1104" y="137"/>
                </a:lnTo>
                <a:lnTo>
                  <a:pt x="1106" y="77"/>
                </a:lnTo>
                <a:lnTo>
                  <a:pt x="1111" y="137"/>
                </a:lnTo>
                <a:lnTo>
                  <a:pt x="1113" y="137"/>
                </a:lnTo>
                <a:lnTo>
                  <a:pt x="1115" y="137"/>
                </a:lnTo>
                <a:lnTo>
                  <a:pt x="1117" y="137"/>
                </a:lnTo>
                <a:lnTo>
                  <a:pt x="1120" y="137"/>
                </a:lnTo>
                <a:lnTo>
                  <a:pt x="1122" y="82"/>
                </a:lnTo>
                <a:lnTo>
                  <a:pt x="1126" y="137"/>
                </a:lnTo>
                <a:lnTo>
                  <a:pt x="1129" y="137"/>
                </a:lnTo>
                <a:lnTo>
                  <a:pt x="1131" y="137"/>
                </a:lnTo>
                <a:lnTo>
                  <a:pt x="1134" y="137"/>
                </a:lnTo>
                <a:lnTo>
                  <a:pt x="1136" y="137"/>
                </a:lnTo>
                <a:lnTo>
                  <a:pt x="1138" y="85"/>
                </a:lnTo>
                <a:lnTo>
                  <a:pt x="1142" y="137"/>
                </a:lnTo>
                <a:lnTo>
                  <a:pt x="1145" y="137"/>
                </a:lnTo>
                <a:lnTo>
                  <a:pt x="1147" y="137"/>
                </a:lnTo>
                <a:lnTo>
                  <a:pt x="1149" y="137"/>
                </a:lnTo>
                <a:lnTo>
                  <a:pt x="1151" y="137"/>
                </a:lnTo>
                <a:lnTo>
                  <a:pt x="1153" y="87"/>
                </a:lnTo>
                <a:lnTo>
                  <a:pt x="1158" y="137"/>
                </a:lnTo>
                <a:lnTo>
                  <a:pt x="1160" y="137"/>
                </a:lnTo>
                <a:lnTo>
                  <a:pt x="1163" y="137"/>
                </a:lnTo>
                <a:lnTo>
                  <a:pt x="1165" y="137"/>
                </a:lnTo>
                <a:lnTo>
                  <a:pt x="1167" y="137"/>
                </a:lnTo>
                <a:lnTo>
                  <a:pt x="1169" y="95"/>
                </a:lnTo>
                <a:lnTo>
                  <a:pt x="1173" y="137"/>
                </a:lnTo>
                <a:lnTo>
                  <a:pt x="1176" y="137"/>
                </a:lnTo>
                <a:lnTo>
                  <a:pt x="1178" y="137"/>
                </a:lnTo>
                <a:lnTo>
                  <a:pt x="1181" y="137"/>
                </a:lnTo>
                <a:lnTo>
                  <a:pt x="1183" y="137"/>
                </a:lnTo>
                <a:lnTo>
                  <a:pt x="1185" y="96"/>
                </a:lnTo>
                <a:lnTo>
                  <a:pt x="1190" y="137"/>
                </a:lnTo>
                <a:lnTo>
                  <a:pt x="1192" y="137"/>
                </a:lnTo>
                <a:lnTo>
                  <a:pt x="1195" y="137"/>
                </a:lnTo>
                <a:lnTo>
                  <a:pt x="1197" y="137"/>
                </a:lnTo>
                <a:lnTo>
                  <a:pt x="1199" y="137"/>
                </a:lnTo>
                <a:lnTo>
                  <a:pt x="1201" y="99"/>
                </a:lnTo>
                <a:lnTo>
                  <a:pt x="1206" y="137"/>
                </a:lnTo>
                <a:lnTo>
                  <a:pt x="1208" y="137"/>
                </a:lnTo>
                <a:lnTo>
                  <a:pt x="1210" y="137"/>
                </a:lnTo>
                <a:lnTo>
                  <a:pt x="1212" y="137"/>
                </a:lnTo>
                <a:lnTo>
                  <a:pt x="1214" y="137"/>
                </a:lnTo>
                <a:lnTo>
                  <a:pt x="1217" y="98"/>
                </a:lnTo>
                <a:lnTo>
                  <a:pt x="1221" y="137"/>
                </a:lnTo>
                <a:lnTo>
                  <a:pt x="1224" y="137"/>
                </a:lnTo>
                <a:lnTo>
                  <a:pt x="1226" y="137"/>
                </a:lnTo>
                <a:lnTo>
                  <a:pt x="1228" y="137"/>
                </a:lnTo>
                <a:lnTo>
                  <a:pt x="1230" y="137"/>
                </a:lnTo>
                <a:lnTo>
                  <a:pt x="1231" y="117"/>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59" name="Freeform 289"/>
          <p:cNvSpPr>
            <a:spLocks/>
          </p:cNvSpPr>
          <p:nvPr/>
        </p:nvSpPr>
        <p:spPr bwMode="auto">
          <a:xfrm>
            <a:off x="1268413" y="2817813"/>
            <a:ext cx="6586537" cy="727075"/>
          </a:xfrm>
          <a:custGeom>
            <a:avLst/>
            <a:gdLst>
              <a:gd name="T0" fmla="*/ 85609 w 1231"/>
              <a:gd name="T1" fmla="*/ 727075 h 136"/>
              <a:gd name="T2" fmla="*/ 187270 w 1231"/>
              <a:gd name="T3" fmla="*/ 727075 h 136"/>
              <a:gd name="T4" fmla="*/ 304982 w 1231"/>
              <a:gd name="T5" fmla="*/ 727075 h 136"/>
              <a:gd name="T6" fmla="*/ 411993 w 1231"/>
              <a:gd name="T7" fmla="*/ 727075 h 136"/>
              <a:gd name="T8" fmla="*/ 513654 w 1231"/>
              <a:gd name="T9" fmla="*/ 727075 h 136"/>
              <a:gd name="T10" fmla="*/ 636716 w 1231"/>
              <a:gd name="T11" fmla="*/ 727075 h 136"/>
              <a:gd name="T12" fmla="*/ 738377 w 1231"/>
              <a:gd name="T13" fmla="*/ 727075 h 136"/>
              <a:gd name="T14" fmla="*/ 856089 w 1231"/>
              <a:gd name="T15" fmla="*/ 727075 h 136"/>
              <a:gd name="T16" fmla="*/ 979152 w 1231"/>
              <a:gd name="T17" fmla="*/ 727075 h 136"/>
              <a:gd name="T18" fmla="*/ 1080813 w 1231"/>
              <a:gd name="T19" fmla="*/ 727075 h 136"/>
              <a:gd name="T20" fmla="*/ 1187824 w 1231"/>
              <a:gd name="T21" fmla="*/ 727075 h 136"/>
              <a:gd name="T22" fmla="*/ 1305536 w 1231"/>
              <a:gd name="T23" fmla="*/ 727075 h 136"/>
              <a:gd name="T24" fmla="*/ 1428599 w 1231"/>
              <a:gd name="T25" fmla="*/ 727075 h 136"/>
              <a:gd name="T26" fmla="*/ 1540961 w 1231"/>
              <a:gd name="T27" fmla="*/ 727075 h 136"/>
              <a:gd name="T28" fmla="*/ 1664024 w 1231"/>
              <a:gd name="T29" fmla="*/ 727075 h 136"/>
              <a:gd name="T30" fmla="*/ 1771035 w 1231"/>
              <a:gd name="T31" fmla="*/ 727075 h 136"/>
              <a:gd name="T32" fmla="*/ 1872695 w 1231"/>
              <a:gd name="T33" fmla="*/ 727075 h 136"/>
              <a:gd name="T34" fmla="*/ 2001109 w 1231"/>
              <a:gd name="T35" fmla="*/ 727075 h 136"/>
              <a:gd name="T36" fmla="*/ 2118821 w 1231"/>
              <a:gd name="T37" fmla="*/ 727075 h 136"/>
              <a:gd name="T38" fmla="*/ 2231183 w 1231"/>
              <a:gd name="T39" fmla="*/ 727075 h 136"/>
              <a:gd name="T40" fmla="*/ 2359596 w 1231"/>
              <a:gd name="T41" fmla="*/ 727075 h 136"/>
              <a:gd name="T42" fmla="*/ 2471958 w 1231"/>
              <a:gd name="T43" fmla="*/ 727075 h 136"/>
              <a:gd name="T44" fmla="*/ 2578969 w 1231"/>
              <a:gd name="T45" fmla="*/ 721729 h 136"/>
              <a:gd name="T46" fmla="*/ 2702032 w 1231"/>
              <a:gd name="T47" fmla="*/ 727075 h 136"/>
              <a:gd name="T48" fmla="*/ 2814394 w 1231"/>
              <a:gd name="T49" fmla="*/ 727075 h 136"/>
              <a:gd name="T50" fmla="*/ 2926755 w 1231"/>
              <a:gd name="T51" fmla="*/ 395614 h 136"/>
              <a:gd name="T52" fmla="*/ 3044468 w 1231"/>
              <a:gd name="T53" fmla="*/ 727075 h 136"/>
              <a:gd name="T54" fmla="*/ 3156829 w 1231"/>
              <a:gd name="T55" fmla="*/ 727075 h 136"/>
              <a:gd name="T56" fmla="*/ 3263840 w 1231"/>
              <a:gd name="T57" fmla="*/ 53461 h 136"/>
              <a:gd name="T58" fmla="*/ 3386903 w 1231"/>
              <a:gd name="T59" fmla="*/ 727075 h 136"/>
              <a:gd name="T60" fmla="*/ 3499265 w 1231"/>
              <a:gd name="T61" fmla="*/ 727075 h 136"/>
              <a:gd name="T62" fmla="*/ 3606276 w 1231"/>
              <a:gd name="T63" fmla="*/ 187115 h 136"/>
              <a:gd name="T64" fmla="*/ 3729339 w 1231"/>
              <a:gd name="T65" fmla="*/ 727075 h 136"/>
              <a:gd name="T66" fmla="*/ 3847051 w 1231"/>
              <a:gd name="T67" fmla="*/ 727075 h 136"/>
              <a:gd name="T68" fmla="*/ 3954062 w 1231"/>
              <a:gd name="T69" fmla="*/ 427691 h 136"/>
              <a:gd name="T70" fmla="*/ 4077125 w 1231"/>
              <a:gd name="T71" fmla="*/ 727075 h 136"/>
              <a:gd name="T72" fmla="*/ 4189487 w 1231"/>
              <a:gd name="T73" fmla="*/ 727075 h 136"/>
              <a:gd name="T74" fmla="*/ 4291148 w 1231"/>
              <a:gd name="T75" fmla="*/ 646883 h 136"/>
              <a:gd name="T76" fmla="*/ 4414210 w 1231"/>
              <a:gd name="T77" fmla="*/ 727075 h 136"/>
              <a:gd name="T78" fmla="*/ 4531923 w 1231"/>
              <a:gd name="T79" fmla="*/ 727075 h 136"/>
              <a:gd name="T80" fmla="*/ 4638934 w 1231"/>
              <a:gd name="T81" fmla="*/ 711037 h 136"/>
              <a:gd name="T82" fmla="*/ 4761997 w 1231"/>
              <a:gd name="T83" fmla="*/ 727075 h 136"/>
              <a:gd name="T84" fmla="*/ 4874358 w 1231"/>
              <a:gd name="T85" fmla="*/ 727075 h 136"/>
              <a:gd name="T86" fmla="*/ 4992071 w 1231"/>
              <a:gd name="T87" fmla="*/ 721729 h 136"/>
              <a:gd name="T88" fmla="*/ 5115134 w 1231"/>
              <a:gd name="T89" fmla="*/ 727075 h 136"/>
              <a:gd name="T90" fmla="*/ 5232846 w 1231"/>
              <a:gd name="T91" fmla="*/ 727075 h 136"/>
              <a:gd name="T92" fmla="*/ 5334506 w 1231"/>
              <a:gd name="T93" fmla="*/ 727075 h 136"/>
              <a:gd name="T94" fmla="*/ 5452219 w 1231"/>
              <a:gd name="T95" fmla="*/ 727075 h 136"/>
              <a:gd name="T96" fmla="*/ 5564580 w 1231"/>
              <a:gd name="T97" fmla="*/ 727075 h 136"/>
              <a:gd name="T98" fmla="*/ 5671592 w 1231"/>
              <a:gd name="T99" fmla="*/ 727075 h 136"/>
              <a:gd name="T100" fmla="*/ 5789304 w 1231"/>
              <a:gd name="T101" fmla="*/ 727075 h 136"/>
              <a:gd name="T102" fmla="*/ 5896315 w 1231"/>
              <a:gd name="T103" fmla="*/ 727075 h 136"/>
              <a:gd name="T104" fmla="*/ 6003326 w 1231"/>
              <a:gd name="T105" fmla="*/ 727075 h 136"/>
              <a:gd name="T106" fmla="*/ 6126389 w 1231"/>
              <a:gd name="T107" fmla="*/ 727075 h 136"/>
              <a:gd name="T108" fmla="*/ 6233400 w 1231"/>
              <a:gd name="T109" fmla="*/ 727075 h 136"/>
              <a:gd name="T110" fmla="*/ 6340411 w 1231"/>
              <a:gd name="T111" fmla="*/ 727075 h 136"/>
              <a:gd name="T112" fmla="*/ 6463474 w 1231"/>
              <a:gd name="T113" fmla="*/ 727075 h 136"/>
              <a:gd name="T114" fmla="*/ 6570485 w 1231"/>
              <a:gd name="T115" fmla="*/ 727075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231" h="136">
                <a:moveTo>
                  <a:pt x="0" y="136"/>
                </a:moveTo>
                <a:lnTo>
                  <a:pt x="0" y="136"/>
                </a:lnTo>
                <a:lnTo>
                  <a:pt x="2" y="136"/>
                </a:lnTo>
                <a:lnTo>
                  <a:pt x="4" y="136"/>
                </a:lnTo>
                <a:lnTo>
                  <a:pt x="9" y="136"/>
                </a:lnTo>
                <a:lnTo>
                  <a:pt x="11" y="136"/>
                </a:lnTo>
                <a:lnTo>
                  <a:pt x="14" y="136"/>
                </a:lnTo>
                <a:lnTo>
                  <a:pt x="16" y="136"/>
                </a:lnTo>
                <a:lnTo>
                  <a:pt x="19" y="136"/>
                </a:lnTo>
                <a:lnTo>
                  <a:pt x="21" y="136"/>
                </a:lnTo>
                <a:lnTo>
                  <a:pt x="25" y="136"/>
                </a:lnTo>
                <a:lnTo>
                  <a:pt x="27" y="136"/>
                </a:lnTo>
                <a:lnTo>
                  <a:pt x="29" y="136"/>
                </a:lnTo>
                <a:lnTo>
                  <a:pt x="31" y="136"/>
                </a:lnTo>
                <a:lnTo>
                  <a:pt x="33" y="136"/>
                </a:lnTo>
                <a:lnTo>
                  <a:pt x="35" y="136"/>
                </a:lnTo>
                <a:lnTo>
                  <a:pt x="39" y="136"/>
                </a:lnTo>
                <a:lnTo>
                  <a:pt x="41" y="136"/>
                </a:lnTo>
                <a:lnTo>
                  <a:pt x="44" y="136"/>
                </a:lnTo>
                <a:lnTo>
                  <a:pt x="46" y="136"/>
                </a:lnTo>
                <a:lnTo>
                  <a:pt x="48" y="136"/>
                </a:lnTo>
                <a:lnTo>
                  <a:pt x="49" y="136"/>
                </a:lnTo>
                <a:lnTo>
                  <a:pt x="55" y="136"/>
                </a:lnTo>
                <a:lnTo>
                  <a:pt x="57" y="136"/>
                </a:lnTo>
                <a:lnTo>
                  <a:pt x="59" y="136"/>
                </a:lnTo>
                <a:lnTo>
                  <a:pt x="60" y="136"/>
                </a:lnTo>
                <a:lnTo>
                  <a:pt x="63" y="136"/>
                </a:lnTo>
                <a:lnTo>
                  <a:pt x="65" y="136"/>
                </a:lnTo>
                <a:lnTo>
                  <a:pt x="70" y="136"/>
                </a:lnTo>
                <a:lnTo>
                  <a:pt x="72" y="136"/>
                </a:lnTo>
                <a:lnTo>
                  <a:pt x="74" y="136"/>
                </a:lnTo>
                <a:lnTo>
                  <a:pt x="77" y="136"/>
                </a:lnTo>
                <a:lnTo>
                  <a:pt x="78" y="136"/>
                </a:lnTo>
                <a:lnTo>
                  <a:pt x="80" y="136"/>
                </a:lnTo>
                <a:lnTo>
                  <a:pt x="86" y="136"/>
                </a:lnTo>
                <a:lnTo>
                  <a:pt x="88" y="136"/>
                </a:lnTo>
                <a:lnTo>
                  <a:pt x="90" y="136"/>
                </a:lnTo>
                <a:lnTo>
                  <a:pt x="92" y="136"/>
                </a:lnTo>
                <a:lnTo>
                  <a:pt x="94" y="136"/>
                </a:lnTo>
                <a:lnTo>
                  <a:pt x="96" y="136"/>
                </a:lnTo>
                <a:lnTo>
                  <a:pt x="102" y="136"/>
                </a:lnTo>
                <a:lnTo>
                  <a:pt x="104" y="136"/>
                </a:lnTo>
                <a:lnTo>
                  <a:pt x="106" y="136"/>
                </a:lnTo>
                <a:lnTo>
                  <a:pt x="108" y="136"/>
                </a:lnTo>
                <a:lnTo>
                  <a:pt x="110" y="136"/>
                </a:lnTo>
                <a:lnTo>
                  <a:pt x="112" y="136"/>
                </a:lnTo>
                <a:lnTo>
                  <a:pt x="117" y="136"/>
                </a:lnTo>
                <a:lnTo>
                  <a:pt x="119" y="136"/>
                </a:lnTo>
                <a:lnTo>
                  <a:pt x="121" y="136"/>
                </a:lnTo>
                <a:lnTo>
                  <a:pt x="123" y="136"/>
                </a:lnTo>
                <a:lnTo>
                  <a:pt x="125" y="136"/>
                </a:lnTo>
                <a:lnTo>
                  <a:pt x="127" y="136"/>
                </a:lnTo>
                <a:lnTo>
                  <a:pt x="132" y="136"/>
                </a:lnTo>
                <a:lnTo>
                  <a:pt x="134" y="136"/>
                </a:lnTo>
                <a:lnTo>
                  <a:pt x="136" y="136"/>
                </a:lnTo>
                <a:lnTo>
                  <a:pt x="138" y="136"/>
                </a:lnTo>
                <a:lnTo>
                  <a:pt x="140" y="136"/>
                </a:lnTo>
                <a:lnTo>
                  <a:pt x="143" y="136"/>
                </a:lnTo>
                <a:lnTo>
                  <a:pt x="148" y="136"/>
                </a:lnTo>
                <a:lnTo>
                  <a:pt x="151" y="136"/>
                </a:lnTo>
                <a:lnTo>
                  <a:pt x="153" y="136"/>
                </a:lnTo>
                <a:lnTo>
                  <a:pt x="155" y="136"/>
                </a:lnTo>
                <a:lnTo>
                  <a:pt x="158" y="136"/>
                </a:lnTo>
                <a:lnTo>
                  <a:pt x="160" y="136"/>
                </a:lnTo>
                <a:lnTo>
                  <a:pt x="166" y="136"/>
                </a:lnTo>
                <a:lnTo>
                  <a:pt x="168" y="136"/>
                </a:lnTo>
                <a:lnTo>
                  <a:pt x="170" y="136"/>
                </a:lnTo>
                <a:lnTo>
                  <a:pt x="172" y="136"/>
                </a:lnTo>
                <a:lnTo>
                  <a:pt x="174" y="136"/>
                </a:lnTo>
                <a:lnTo>
                  <a:pt x="176" y="136"/>
                </a:lnTo>
                <a:lnTo>
                  <a:pt x="181" y="136"/>
                </a:lnTo>
                <a:lnTo>
                  <a:pt x="183" y="136"/>
                </a:lnTo>
                <a:lnTo>
                  <a:pt x="185" y="136"/>
                </a:lnTo>
                <a:lnTo>
                  <a:pt x="187" y="136"/>
                </a:lnTo>
                <a:lnTo>
                  <a:pt x="189" y="136"/>
                </a:lnTo>
                <a:lnTo>
                  <a:pt x="190" y="136"/>
                </a:lnTo>
                <a:lnTo>
                  <a:pt x="196" y="136"/>
                </a:lnTo>
                <a:lnTo>
                  <a:pt x="197" y="136"/>
                </a:lnTo>
                <a:lnTo>
                  <a:pt x="200" y="136"/>
                </a:lnTo>
                <a:lnTo>
                  <a:pt x="202" y="136"/>
                </a:lnTo>
                <a:lnTo>
                  <a:pt x="204" y="136"/>
                </a:lnTo>
                <a:lnTo>
                  <a:pt x="206" y="136"/>
                </a:lnTo>
                <a:lnTo>
                  <a:pt x="211" y="136"/>
                </a:lnTo>
                <a:lnTo>
                  <a:pt x="213" y="136"/>
                </a:lnTo>
                <a:lnTo>
                  <a:pt x="216" y="136"/>
                </a:lnTo>
                <a:lnTo>
                  <a:pt x="218" y="136"/>
                </a:lnTo>
                <a:lnTo>
                  <a:pt x="220" y="136"/>
                </a:lnTo>
                <a:lnTo>
                  <a:pt x="222" y="136"/>
                </a:lnTo>
                <a:lnTo>
                  <a:pt x="227" y="136"/>
                </a:lnTo>
                <a:lnTo>
                  <a:pt x="229" y="136"/>
                </a:lnTo>
                <a:lnTo>
                  <a:pt x="231" y="136"/>
                </a:lnTo>
                <a:lnTo>
                  <a:pt x="233" y="136"/>
                </a:lnTo>
                <a:lnTo>
                  <a:pt x="235" y="136"/>
                </a:lnTo>
                <a:lnTo>
                  <a:pt x="237" y="136"/>
                </a:lnTo>
                <a:lnTo>
                  <a:pt x="242" y="136"/>
                </a:lnTo>
                <a:lnTo>
                  <a:pt x="244" y="136"/>
                </a:lnTo>
                <a:lnTo>
                  <a:pt x="247" y="136"/>
                </a:lnTo>
                <a:lnTo>
                  <a:pt x="249" y="136"/>
                </a:lnTo>
                <a:lnTo>
                  <a:pt x="251" y="136"/>
                </a:lnTo>
                <a:lnTo>
                  <a:pt x="254" y="136"/>
                </a:lnTo>
                <a:lnTo>
                  <a:pt x="259" y="136"/>
                </a:lnTo>
                <a:lnTo>
                  <a:pt x="262" y="136"/>
                </a:lnTo>
                <a:lnTo>
                  <a:pt x="264" y="136"/>
                </a:lnTo>
                <a:lnTo>
                  <a:pt x="267" y="136"/>
                </a:lnTo>
                <a:lnTo>
                  <a:pt x="269" y="136"/>
                </a:lnTo>
                <a:lnTo>
                  <a:pt x="271" y="136"/>
                </a:lnTo>
                <a:lnTo>
                  <a:pt x="277" y="136"/>
                </a:lnTo>
                <a:lnTo>
                  <a:pt x="279" y="136"/>
                </a:lnTo>
                <a:lnTo>
                  <a:pt x="281" y="136"/>
                </a:lnTo>
                <a:lnTo>
                  <a:pt x="284" y="136"/>
                </a:lnTo>
                <a:lnTo>
                  <a:pt x="286" y="136"/>
                </a:lnTo>
                <a:lnTo>
                  <a:pt x="288" y="136"/>
                </a:lnTo>
                <a:lnTo>
                  <a:pt x="293" y="136"/>
                </a:lnTo>
                <a:lnTo>
                  <a:pt x="295" y="136"/>
                </a:lnTo>
                <a:lnTo>
                  <a:pt x="296" y="136"/>
                </a:lnTo>
                <a:lnTo>
                  <a:pt x="299" y="136"/>
                </a:lnTo>
                <a:lnTo>
                  <a:pt x="301" y="136"/>
                </a:lnTo>
                <a:lnTo>
                  <a:pt x="303" y="136"/>
                </a:lnTo>
                <a:lnTo>
                  <a:pt x="309" y="136"/>
                </a:lnTo>
                <a:lnTo>
                  <a:pt x="311" y="136"/>
                </a:lnTo>
                <a:lnTo>
                  <a:pt x="313" y="136"/>
                </a:lnTo>
                <a:lnTo>
                  <a:pt x="316" y="136"/>
                </a:lnTo>
                <a:lnTo>
                  <a:pt x="318" y="136"/>
                </a:lnTo>
                <a:lnTo>
                  <a:pt x="321" y="136"/>
                </a:lnTo>
                <a:lnTo>
                  <a:pt x="325" y="136"/>
                </a:lnTo>
                <a:lnTo>
                  <a:pt x="327" y="136"/>
                </a:lnTo>
                <a:lnTo>
                  <a:pt x="329" y="136"/>
                </a:lnTo>
                <a:lnTo>
                  <a:pt x="331" y="136"/>
                </a:lnTo>
                <a:lnTo>
                  <a:pt x="333" y="136"/>
                </a:lnTo>
                <a:lnTo>
                  <a:pt x="335" y="136"/>
                </a:lnTo>
                <a:lnTo>
                  <a:pt x="340" y="136"/>
                </a:lnTo>
                <a:lnTo>
                  <a:pt x="342" y="136"/>
                </a:lnTo>
                <a:lnTo>
                  <a:pt x="344" y="136"/>
                </a:lnTo>
                <a:lnTo>
                  <a:pt x="346" y="136"/>
                </a:lnTo>
                <a:lnTo>
                  <a:pt x="348" y="136"/>
                </a:lnTo>
                <a:lnTo>
                  <a:pt x="350" y="136"/>
                </a:lnTo>
                <a:lnTo>
                  <a:pt x="355" y="136"/>
                </a:lnTo>
                <a:lnTo>
                  <a:pt x="357" y="136"/>
                </a:lnTo>
                <a:lnTo>
                  <a:pt x="360" y="136"/>
                </a:lnTo>
                <a:lnTo>
                  <a:pt x="362" y="136"/>
                </a:lnTo>
                <a:lnTo>
                  <a:pt x="364" y="136"/>
                </a:lnTo>
                <a:lnTo>
                  <a:pt x="367" y="136"/>
                </a:lnTo>
                <a:lnTo>
                  <a:pt x="372" y="136"/>
                </a:lnTo>
                <a:lnTo>
                  <a:pt x="374" y="136"/>
                </a:lnTo>
                <a:lnTo>
                  <a:pt x="377" y="136"/>
                </a:lnTo>
                <a:lnTo>
                  <a:pt x="379" y="136"/>
                </a:lnTo>
                <a:lnTo>
                  <a:pt x="382" y="136"/>
                </a:lnTo>
                <a:lnTo>
                  <a:pt x="384" y="136"/>
                </a:lnTo>
                <a:lnTo>
                  <a:pt x="389" y="136"/>
                </a:lnTo>
                <a:lnTo>
                  <a:pt x="391" y="136"/>
                </a:lnTo>
                <a:lnTo>
                  <a:pt x="394" y="136"/>
                </a:lnTo>
                <a:lnTo>
                  <a:pt x="396" y="136"/>
                </a:lnTo>
                <a:lnTo>
                  <a:pt x="399" y="136"/>
                </a:lnTo>
                <a:lnTo>
                  <a:pt x="401" y="136"/>
                </a:lnTo>
                <a:lnTo>
                  <a:pt x="406" y="136"/>
                </a:lnTo>
                <a:lnTo>
                  <a:pt x="408" y="136"/>
                </a:lnTo>
                <a:lnTo>
                  <a:pt x="411" y="136"/>
                </a:lnTo>
                <a:lnTo>
                  <a:pt x="413" y="136"/>
                </a:lnTo>
                <a:lnTo>
                  <a:pt x="415" y="136"/>
                </a:lnTo>
                <a:lnTo>
                  <a:pt x="417" y="136"/>
                </a:lnTo>
                <a:lnTo>
                  <a:pt x="422" y="136"/>
                </a:lnTo>
                <a:lnTo>
                  <a:pt x="424" y="136"/>
                </a:lnTo>
                <a:lnTo>
                  <a:pt x="427" y="136"/>
                </a:lnTo>
                <a:lnTo>
                  <a:pt x="429" y="136"/>
                </a:lnTo>
                <a:lnTo>
                  <a:pt x="432" y="136"/>
                </a:lnTo>
                <a:lnTo>
                  <a:pt x="434" y="136"/>
                </a:lnTo>
                <a:lnTo>
                  <a:pt x="438" y="136"/>
                </a:lnTo>
                <a:lnTo>
                  <a:pt x="441" y="136"/>
                </a:lnTo>
                <a:lnTo>
                  <a:pt x="443" y="136"/>
                </a:lnTo>
                <a:lnTo>
                  <a:pt x="445" y="136"/>
                </a:lnTo>
                <a:lnTo>
                  <a:pt x="448" y="136"/>
                </a:lnTo>
                <a:lnTo>
                  <a:pt x="450" y="136"/>
                </a:lnTo>
                <a:lnTo>
                  <a:pt x="454" y="136"/>
                </a:lnTo>
                <a:lnTo>
                  <a:pt x="457" y="136"/>
                </a:lnTo>
                <a:lnTo>
                  <a:pt x="459" y="136"/>
                </a:lnTo>
                <a:lnTo>
                  <a:pt x="462" y="136"/>
                </a:lnTo>
                <a:lnTo>
                  <a:pt x="464" y="136"/>
                </a:lnTo>
                <a:lnTo>
                  <a:pt x="466" y="136"/>
                </a:lnTo>
                <a:lnTo>
                  <a:pt x="471" y="136"/>
                </a:lnTo>
                <a:lnTo>
                  <a:pt x="473" y="136"/>
                </a:lnTo>
                <a:lnTo>
                  <a:pt x="476" y="136"/>
                </a:lnTo>
                <a:lnTo>
                  <a:pt x="477" y="136"/>
                </a:lnTo>
                <a:lnTo>
                  <a:pt x="480" y="136"/>
                </a:lnTo>
                <a:lnTo>
                  <a:pt x="482" y="135"/>
                </a:lnTo>
                <a:lnTo>
                  <a:pt x="487" y="136"/>
                </a:lnTo>
                <a:lnTo>
                  <a:pt x="489" y="136"/>
                </a:lnTo>
                <a:lnTo>
                  <a:pt x="491" y="136"/>
                </a:lnTo>
                <a:lnTo>
                  <a:pt x="493" y="136"/>
                </a:lnTo>
                <a:lnTo>
                  <a:pt x="496" y="136"/>
                </a:lnTo>
                <a:lnTo>
                  <a:pt x="498" y="133"/>
                </a:lnTo>
                <a:lnTo>
                  <a:pt x="503" y="136"/>
                </a:lnTo>
                <a:lnTo>
                  <a:pt x="505" y="136"/>
                </a:lnTo>
                <a:lnTo>
                  <a:pt x="507" y="136"/>
                </a:lnTo>
                <a:lnTo>
                  <a:pt x="509" y="136"/>
                </a:lnTo>
                <a:lnTo>
                  <a:pt x="512" y="136"/>
                </a:lnTo>
                <a:lnTo>
                  <a:pt x="514" y="130"/>
                </a:lnTo>
                <a:lnTo>
                  <a:pt x="519" y="136"/>
                </a:lnTo>
                <a:lnTo>
                  <a:pt x="521" y="136"/>
                </a:lnTo>
                <a:lnTo>
                  <a:pt x="523" y="136"/>
                </a:lnTo>
                <a:lnTo>
                  <a:pt x="526" y="136"/>
                </a:lnTo>
                <a:lnTo>
                  <a:pt x="528" y="136"/>
                </a:lnTo>
                <a:lnTo>
                  <a:pt x="530" y="118"/>
                </a:lnTo>
                <a:lnTo>
                  <a:pt x="535" y="136"/>
                </a:lnTo>
                <a:lnTo>
                  <a:pt x="538" y="136"/>
                </a:lnTo>
                <a:lnTo>
                  <a:pt x="540" y="136"/>
                </a:lnTo>
                <a:lnTo>
                  <a:pt x="542" y="136"/>
                </a:lnTo>
                <a:lnTo>
                  <a:pt x="545" y="136"/>
                </a:lnTo>
                <a:lnTo>
                  <a:pt x="547" y="74"/>
                </a:lnTo>
                <a:lnTo>
                  <a:pt x="551" y="136"/>
                </a:lnTo>
                <a:lnTo>
                  <a:pt x="554" y="136"/>
                </a:lnTo>
                <a:lnTo>
                  <a:pt x="556" y="136"/>
                </a:lnTo>
                <a:lnTo>
                  <a:pt x="558" y="136"/>
                </a:lnTo>
                <a:lnTo>
                  <a:pt x="561" y="136"/>
                </a:lnTo>
                <a:lnTo>
                  <a:pt x="563" y="36"/>
                </a:lnTo>
                <a:lnTo>
                  <a:pt x="567" y="136"/>
                </a:lnTo>
                <a:lnTo>
                  <a:pt x="569" y="136"/>
                </a:lnTo>
                <a:lnTo>
                  <a:pt x="572" y="136"/>
                </a:lnTo>
                <a:lnTo>
                  <a:pt x="574" y="136"/>
                </a:lnTo>
                <a:lnTo>
                  <a:pt x="576" y="136"/>
                </a:lnTo>
                <a:lnTo>
                  <a:pt x="578" y="10"/>
                </a:lnTo>
                <a:lnTo>
                  <a:pt x="583" y="136"/>
                </a:lnTo>
                <a:lnTo>
                  <a:pt x="585" y="136"/>
                </a:lnTo>
                <a:lnTo>
                  <a:pt x="588" y="136"/>
                </a:lnTo>
                <a:lnTo>
                  <a:pt x="590" y="136"/>
                </a:lnTo>
                <a:lnTo>
                  <a:pt x="592" y="136"/>
                </a:lnTo>
                <a:lnTo>
                  <a:pt x="594" y="0"/>
                </a:lnTo>
                <a:lnTo>
                  <a:pt x="599" y="136"/>
                </a:lnTo>
                <a:lnTo>
                  <a:pt x="601" y="136"/>
                </a:lnTo>
                <a:lnTo>
                  <a:pt x="603" y="136"/>
                </a:lnTo>
                <a:lnTo>
                  <a:pt x="606" y="136"/>
                </a:lnTo>
                <a:lnTo>
                  <a:pt x="607" y="136"/>
                </a:lnTo>
                <a:lnTo>
                  <a:pt x="610" y="10"/>
                </a:lnTo>
                <a:lnTo>
                  <a:pt x="615" y="136"/>
                </a:lnTo>
                <a:lnTo>
                  <a:pt x="617" y="136"/>
                </a:lnTo>
                <a:lnTo>
                  <a:pt x="619" y="136"/>
                </a:lnTo>
                <a:lnTo>
                  <a:pt x="621" y="136"/>
                </a:lnTo>
                <a:lnTo>
                  <a:pt x="623" y="136"/>
                </a:lnTo>
                <a:lnTo>
                  <a:pt x="626" y="16"/>
                </a:lnTo>
                <a:lnTo>
                  <a:pt x="631" y="136"/>
                </a:lnTo>
                <a:lnTo>
                  <a:pt x="633" y="136"/>
                </a:lnTo>
                <a:lnTo>
                  <a:pt x="635" y="136"/>
                </a:lnTo>
                <a:lnTo>
                  <a:pt x="637" y="136"/>
                </a:lnTo>
                <a:lnTo>
                  <a:pt x="639" y="136"/>
                </a:lnTo>
                <a:lnTo>
                  <a:pt x="642" y="22"/>
                </a:lnTo>
                <a:lnTo>
                  <a:pt x="647" y="136"/>
                </a:lnTo>
                <a:lnTo>
                  <a:pt x="649" y="136"/>
                </a:lnTo>
                <a:lnTo>
                  <a:pt x="651" y="136"/>
                </a:lnTo>
                <a:lnTo>
                  <a:pt x="654" y="136"/>
                </a:lnTo>
                <a:lnTo>
                  <a:pt x="656" y="136"/>
                </a:lnTo>
                <a:lnTo>
                  <a:pt x="658" y="26"/>
                </a:lnTo>
                <a:lnTo>
                  <a:pt x="663" y="136"/>
                </a:lnTo>
                <a:lnTo>
                  <a:pt x="665" y="136"/>
                </a:lnTo>
                <a:lnTo>
                  <a:pt x="668" y="136"/>
                </a:lnTo>
                <a:lnTo>
                  <a:pt x="670" y="136"/>
                </a:lnTo>
                <a:lnTo>
                  <a:pt x="672" y="136"/>
                </a:lnTo>
                <a:lnTo>
                  <a:pt x="674" y="35"/>
                </a:lnTo>
                <a:lnTo>
                  <a:pt x="679" y="136"/>
                </a:lnTo>
                <a:lnTo>
                  <a:pt x="682" y="136"/>
                </a:lnTo>
                <a:lnTo>
                  <a:pt x="684" y="136"/>
                </a:lnTo>
                <a:lnTo>
                  <a:pt x="686" y="136"/>
                </a:lnTo>
                <a:lnTo>
                  <a:pt x="688" y="136"/>
                </a:lnTo>
                <a:lnTo>
                  <a:pt x="690" y="51"/>
                </a:lnTo>
                <a:lnTo>
                  <a:pt x="695" y="136"/>
                </a:lnTo>
                <a:lnTo>
                  <a:pt x="697" y="136"/>
                </a:lnTo>
                <a:lnTo>
                  <a:pt x="700" y="136"/>
                </a:lnTo>
                <a:lnTo>
                  <a:pt x="702" y="136"/>
                </a:lnTo>
                <a:lnTo>
                  <a:pt x="705" y="136"/>
                </a:lnTo>
                <a:lnTo>
                  <a:pt x="707" y="60"/>
                </a:lnTo>
                <a:lnTo>
                  <a:pt x="712" y="136"/>
                </a:lnTo>
                <a:lnTo>
                  <a:pt x="714" y="136"/>
                </a:lnTo>
                <a:lnTo>
                  <a:pt x="717" y="136"/>
                </a:lnTo>
                <a:lnTo>
                  <a:pt x="719" y="136"/>
                </a:lnTo>
                <a:lnTo>
                  <a:pt x="721" y="136"/>
                </a:lnTo>
                <a:lnTo>
                  <a:pt x="723" y="70"/>
                </a:lnTo>
                <a:lnTo>
                  <a:pt x="728" y="136"/>
                </a:lnTo>
                <a:lnTo>
                  <a:pt x="730" y="136"/>
                </a:lnTo>
                <a:lnTo>
                  <a:pt x="733" y="136"/>
                </a:lnTo>
                <a:lnTo>
                  <a:pt x="735" y="136"/>
                </a:lnTo>
                <a:lnTo>
                  <a:pt x="737" y="136"/>
                </a:lnTo>
                <a:lnTo>
                  <a:pt x="739" y="80"/>
                </a:lnTo>
                <a:lnTo>
                  <a:pt x="745" y="136"/>
                </a:lnTo>
                <a:lnTo>
                  <a:pt x="746" y="136"/>
                </a:lnTo>
                <a:lnTo>
                  <a:pt x="749" y="136"/>
                </a:lnTo>
                <a:lnTo>
                  <a:pt x="751" y="136"/>
                </a:lnTo>
                <a:lnTo>
                  <a:pt x="753" y="136"/>
                </a:lnTo>
                <a:lnTo>
                  <a:pt x="755" y="91"/>
                </a:lnTo>
                <a:lnTo>
                  <a:pt x="760" y="136"/>
                </a:lnTo>
                <a:lnTo>
                  <a:pt x="762" y="136"/>
                </a:lnTo>
                <a:lnTo>
                  <a:pt x="765" y="136"/>
                </a:lnTo>
                <a:lnTo>
                  <a:pt x="767" y="136"/>
                </a:lnTo>
                <a:lnTo>
                  <a:pt x="769" y="136"/>
                </a:lnTo>
                <a:lnTo>
                  <a:pt x="771" y="102"/>
                </a:lnTo>
                <a:lnTo>
                  <a:pt x="776" y="136"/>
                </a:lnTo>
                <a:lnTo>
                  <a:pt x="779" y="136"/>
                </a:lnTo>
                <a:lnTo>
                  <a:pt x="781" y="136"/>
                </a:lnTo>
                <a:lnTo>
                  <a:pt x="783" y="136"/>
                </a:lnTo>
                <a:lnTo>
                  <a:pt x="785" y="136"/>
                </a:lnTo>
                <a:lnTo>
                  <a:pt x="787" y="115"/>
                </a:lnTo>
                <a:lnTo>
                  <a:pt x="792" y="136"/>
                </a:lnTo>
                <a:lnTo>
                  <a:pt x="794" y="136"/>
                </a:lnTo>
                <a:lnTo>
                  <a:pt x="796" y="136"/>
                </a:lnTo>
                <a:lnTo>
                  <a:pt x="798" y="136"/>
                </a:lnTo>
                <a:lnTo>
                  <a:pt x="800" y="136"/>
                </a:lnTo>
                <a:lnTo>
                  <a:pt x="802" y="121"/>
                </a:lnTo>
                <a:lnTo>
                  <a:pt x="807" y="136"/>
                </a:lnTo>
                <a:lnTo>
                  <a:pt x="809" y="136"/>
                </a:lnTo>
                <a:lnTo>
                  <a:pt x="812" y="136"/>
                </a:lnTo>
                <a:lnTo>
                  <a:pt x="814" y="136"/>
                </a:lnTo>
                <a:lnTo>
                  <a:pt x="816" y="136"/>
                </a:lnTo>
                <a:lnTo>
                  <a:pt x="818" y="127"/>
                </a:lnTo>
                <a:lnTo>
                  <a:pt x="823" y="136"/>
                </a:lnTo>
                <a:lnTo>
                  <a:pt x="825" y="136"/>
                </a:lnTo>
                <a:lnTo>
                  <a:pt x="828" y="136"/>
                </a:lnTo>
                <a:lnTo>
                  <a:pt x="830" y="136"/>
                </a:lnTo>
                <a:lnTo>
                  <a:pt x="832" y="136"/>
                </a:lnTo>
                <a:lnTo>
                  <a:pt x="834" y="131"/>
                </a:lnTo>
                <a:lnTo>
                  <a:pt x="839" y="136"/>
                </a:lnTo>
                <a:lnTo>
                  <a:pt x="842" y="136"/>
                </a:lnTo>
                <a:lnTo>
                  <a:pt x="844" y="136"/>
                </a:lnTo>
                <a:lnTo>
                  <a:pt x="847" y="136"/>
                </a:lnTo>
                <a:lnTo>
                  <a:pt x="849" y="136"/>
                </a:lnTo>
                <a:lnTo>
                  <a:pt x="851" y="133"/>
                </a:lnTo>
                <a:lnTo>
                  <a:pt x="856" y="136"/>
                </a:lnTo>
                <a:lnTo>
                  <a:pt x="858" y="136"/>
                </a:lnTo>
                <a:lnTo>
                  <a:pt x="860" y="136"/>
                </a:lnTo>
                <a:lnTo>
                  <a:pt x="862" y="136"/>
                </a:lnTo>
                <a:lnTo>
                  <a:pt x="865" y="136"/>
                </a:lnTo>
                <a:lnTo>
                  <a:pt x="867" y="133"/>
                </a:lnTo>
                <a:lnTo>
                  <a:pt x="872" y="136"/>
                </a:lnTo>
                <a:lnTo>
                  <a:pt x="874" y="136"/>
                </a:lnTo>
                <a:lnTo>
                  <a:pt x="876" y="136"/>
                </a:lnTo>
                <a:lnTo>
                  <a:pt x="879" y="136"/>
                </a:lnTo>
                <a:lnTo>
                  <a:pt x="881" y="136"/>
                </a:lnTo>
                <a:lnTo>
                  <a:pt x="883" y="134"/>
                </a:lnTo>
                <a:lnTo>
                  <a:pt x="888" y="136"/>
                </a:lnTo>
                <a:lnTo>
                  <a:pt x="890" y="136"/>
                </a:lnTo>
                <a:lnTo>
                  <a:pt x="892" y="136"/>
                </a:lnTo>
                <a:lnTo>
                  <a:pt x="895" y="136"/>
                </a:lnTo>
                <a:lnTo>
                  <a:pt x="897" y="136"/>
                </a:lnTo>
                <a:lnTo>
                  <a:pt x="900" y="134"/>
                </a:lnTo>
                <a:lnTo>
                  <a:pt x="905" y="136"/>
                </a:lnTo>
                <a:lnTo>
                  <a:pt x="907" y="136"/>
                </a:lnTo>
                <a:lnTo>
                  <a:pt x="909" y="136"/>
                </a:lnTo>
                <a:lnTo>
                  <a:pt x="911" y="136"/>
                </a:lnTo>
                <a:lnTo>
                  <a:pt x="914" y="136"/>
                </a:lnTo>
                <a:lnTo>
                  <a:pt x="916" y="135"/>
                </a:lnTo>
                <a:lnTo>
                  <a:pt x="921" y="136"/>
                </a:lnTo>
                <a:lnTo>
                  <a:pt x="923" y="136"/>
                </a:lnTo>
                <a:lnTo>
                  <a:pt x="926" y="136"/>
                </a:lnTo>
                <a:lnTo>
                  <a:pt x="928" y="136"/>
                </a:lnTo>
                <a:lnTo>
                  <a:pt x="930" y="136"/>
                </a:lnTo>
                <a:lnTo>
                  <a:pt x="933" y="135"/>
                </a:lnTo>
                <a:lnTo>
                  <a:pt x="937" y="136"/>
                </a:lnTo>
                <a:lnTo>
                  <a:pt x="939" y="136"/>
                </a:lnTo>
                <a:lnTo>
                  <a:pt x="942" y="136"/>
                </a:lnTo>
                <a:lnTo>
                  <a:pt x="944" y="136"/>
                </a:lnTo>
                <a:lnTo>
                  <a:pt x="947" y="136"/>
                </a:lnTo>
                <a:lnTo>
                  <a:pt x="949" y="135"/>
                </a:lnTo>
                <a:lnTo>
                  <a:pt x="954" y="136"/>
                </a:lnTo>
                <a:lnTo>
                  <a:pt x="956" y="136"/>
                </a:lnTo>
                <a:lnTo>
                  <a:pt x="959" y="136"/>
                </a:lnTo>
                <a:lnTo>
                  <a:pt x="961" y="136"/>
                </a:lnTo>
                <a:lnTo>
                  <a:pt x="963" y="136"/>
                </a:lnTo>
                <a:lnTo>
                  <a:pt x="966" y="136"/>
                </a:lnTo>
                <a:lnTo>
                  <a:pt x="970" y="136"/>
                </a:lnTo>
                <a:lnTo>
                  <a:pt x="973" y="136"/>
                </a:lnTo>
                <a:lnTo>
                  <a:pt x="975" y="136"/>
                </a:lnTo>
                <a:lnTo>
                  <a:pt x="978" y="136"/>
                </a:lnTo>
                <a:lnTo>
                  <a:pt x="980" y="136"/>
                </a:lnTo>
                <a:lnTo>
                  <a:pt x="983" y="136"/>
                </a:lnTo>
                <a:lnTo>
                  <a:pt x="987" y="136"/>
                </a:lnTo>
                <a:lnTo>
                  <a:pt x="989" y="136"/>
                </a:lnTo>
                <a:lnTo>
                  <a:pt x="991" y="136"/>
                </a:lnTo>
                <a:lnTo>
                  <a:pt x="994" y="136"/>
                </a:lnTo>
                <a:lnTo>
                  <a:pt x="996" y="136"/>
                </a:lnTo>
                <a:lnTo>
                  <a:pt x="997" y="136"/>
                </a:lnTo>
                <a:lnTo>
                  <a:pt x="1002" y="136"/>
                </a:lnTo>
                <a:lnTo>
                  <a:pt x="1004" y="136"/>
                </a:lnTo>
                <a:lnTo>
                  <a:pt x="1006" y="136"/>
                </a:lnTo>
                <a:lnTo>
                  <a:pt x="1008" y="136"/>
                </a:lnTo>
                <a:lnTo>
                  <a:pt x="1011" y="136"/>
                </a:lnTo>
                <a:lnTo>
                  <a:pt x="1013" y="136"/>
                </a:lnTo>
                <a:lnTo>
                  <a:pt x="1017" y="136"/>
                </a:lnTo>
                <a:lnTo>
                  <a:pt x="1019" y="136"/>
                </a:lnTo>
                <a:lnTo>
                  <a:pt x="1022" y="136"/>
                </a:lnTo>
                <a:lnTo>
                  <a:pt x="1024" y="136"/>
                </a:lnTo>
                <a:lnTo>
                  <a:pt x="1026" y="136"/>
                </a:lnTo>
                <a:lnTo>
                  <a:pt x="1029" y="136"/>
                </a:lnTo>
                <a:lnTo>
                  <a:pt x="1033" y="136"/>
                </a:lnTo>
                <a:lnTo>
                  <a:pt x="1035" y="136"/>
                </a:lnTo>
                <a:lnTo>
                  <a:pt x="1038" y="136"/>
                </a:lnTo>
                <a:lnTo>
                  <a:pt x="1040" y="136"/>
                </a:lnTo>
                <a:lnTo>
                  <a:pt x="1042" y="136"/>
                </a:lnTo>
                <a:lnTo>
                  <a:pt x="1044" y="136"/>
                </a:lnTo>
                <a:lnTo>
                  <a:pt x="1048" y="136"/>
                </a:lnTo>
                <a:lnTo>
                  <a:pt x="1051" y="136"/>
                </a:lnTo>
                <a:lnTo>
                  <a:pt x="1053" y="136"/>
                </a:lnTo>
                <a:lnTo>
                  <a:pt x="1055" y="136"/>
                </a:lnTo>
                <a:lnTo>
                  <a:pt x="1058" y="136"/>
                </a:lnTo>
                <a:lnTo>
                  <a:pt x="1060" y="136"/>
                </a:lnTo>
                <a:lnTo>
                  <a:pt x="1065" y="136"/>
                </a:lnTo>
                <a:lnTo>
                  <a:pt x="1067" y="136"/>
                </a:lnTo>
                <a:lnTo>
                  <a:pt x="1069" y="136"/>
                </a:lnTo>
                <a:lnTo>
                  <a:pt x="1071" y="136"/>
                </a:lnTo>
                <a:lnTo>
                  <a:pt x="1073" y="136"/>
                </a:lnTo>
                <a:lnTo>
                  <a:pt x="1075" y="136"/>
                </a:lnTo>
                <a:lnTo>
                  <a:pt x="1080" y="136"/>
                </a:lnTo>
                <a:lnTo>
                  <a:pt x="1082" y="136"/>
                </a:lnTo>
                <a:lnTo>
                  <a:pt x="1084" y="136"/>
                </a:lnTo>
                <a:lnTo>
                  <a:pt x="1087" y="136"/>
                </a:lnTo>
                <a:lnTo>
                  <a:pt x="1089" y="136"/>
                </a:lnTo>
                <a:lnTo>
                  <a:pt x="1091" y="136"/>
                </a:lnTo>
                <a:lnTo>
                  <a:pt x="1095" y="136"/>
                </a:lnTo>
                <a:lnTo>
                  <a:pt x="1097" y="136"/>
                </a:lnTo>
                <a:lnTo>
                  <a:pt x="1099" y="136"/>
                </a:lnTo>
                <a:lnTo>
                  <a:pt x="1102" y="136"/>
                </a:lnTo>
                <a:lnTo>
                  <a:pt x="1104" y="136"/>
                </a:lnTo>
                <a:lnTo>
                  <a:pt x="1106" y="136"/>
                </a:lnTo>
                <a:lnTo>
                  <a:pt x="1111" y="136"/>
                </a:lnTo>
                <a:lnTo>
                  <a:pt x="1113" y="136"/>
                </a:lnTo>
                <a:lnTo>
                  <a:pt x="1115" y="136"/>
                </a:lnTo>
                <a:lnTo>
                  <a:pt x="1117" y="136"/>
                </a:lnTo>
                <a:lnTo>
                  <a:pt x="1120" y="136"/>
                </a:lnTo>
                <a:lnTo>
                  <a:pt x="1122" y="136"/>
                </a:lnTo>
                <a:lnTo>
                  <a:pt x="1126" y="136"/>
                </a:lnTo>
                <a:lnTo>
                  <a:pt x="1129" y="136"/>
                </a:lnTo>
                <a:lnTo>
                  <a:pt x="1131" y="136"/>
                </a:lnTo>
                <a:lnTo>
                  <a:pt x="1134" y="136"/>
                </a:lnTo>
                <a:lnTo>
                  <a:pt x="1136" y="136"/>
                </a:lnTo>
                <a:lnTo>
                  <a:pt x="1138" y="136"/>
                </a:lnTo>
                <a:lnTo>
                  <a:pt x="1142" y="136"/>
                </a:lnTo>
                <a:lnTo>
                  <a:pt x="1145" y="136"/>
                </a:lnTo>
                <a:lnTo>
                  <a:pt x="1147" y="136"/>
                </a:lnTo>
                <a:lnTo>
                  <a:pt x="1149" y="136"/>
                </a:lnTo>
                <a:lnTo>
                  <a:pt x="1151" y="136"/>
                </a:lnTo>
                <a:lnTo>
                  <a:pt x="1153" y="136"/>
                </a:lnTo>
                <a:lnTo>
                  <a:pt x="1158" y="136"/>
                </a:lnTo>
                <a:lnTo>
                  <a:pt x="1160" y="136"/>
                </a:lnTo>
                <a:lnTo>
                  <a:pt x="1163" y="136"/>
                </a:lnTo>
                <a:lnTo>
                  <a:pt x="1165" y="136"/>
                </a:lnTo>
                <a:lnTo>
                  <a:pt x="1167" y="136"/>
                </a:lnTo>
                <a:lnTo>
                  <a:pt x="1169" y="136"/>
                </a:lnTo>
                <a:lnTo>
                  <a:pt x="1173" y="136"/>
                </a:lnTo>
                <a:lnTo>
                  <a:pt x="1176" y="136"/>
                </a:lnTo>
                <a:lnTo>
                  <a:pt x="1178" y="136"/>
                </a:lnTo>
                <a:lnTo>
                  <a:pt x="1181" y="136"/>
                </a:lnTo>
                <a:lnTo>
                  <a:pt x="1183" y="136"/>
                </a:lnTo>
                <a:lnTo>
                  <a:pt x="1185" y="136"/>
                </a:lnTo>
                <a:lnTo>
                  <a:pt x="1190" y="136"/>
                </a:lnTo>
                <a:lnTo>
                  <a:pt x="1192" y="136"/>
                </a:lnTo>
                <a:lnTo>
                  <a:pt x="1195" y="136"/>
                </a:lnTo>
                <a:lnTo>
                  <a:pt x="1197" y="136"/>
                </a:lnTo>
                <a:lnTo>
                  <a:pt x="1199" y="136"/>
                </a:lnTo>
                <a:lnTo>
                  <a:pt x="1201" y="136"/>
                </a:lnTo>
                <a:lnTo>
                  <a:pt x="1206" y="136"/>
                </a:lnTo>
                <a:lnTo>
                  <a:pt x="1208" y="136"/>
                </a:lnTo>
                <a:lnTo>
                  <a:pt x="1210" y="136"/>
                </a:lnTo>
                <a:lnTo>
                  <a:pt x="1212" y="136"/>
                </a:lnTo>
                <a:lnTo>
                  <a:pt x="1214" y="136"/>
                </a:lnTo>
                <a:lnTo>
                  <a:pt x="1217" y="136"/>
                </a:lnTo>
                <a:lnTo>
                  <a:pt x="1221" y="136"/>
                </a:lnTo>
                <a:lnTo>
                  <a:pt x="1224" y="136"/>
                </a:lnTo>
                <a:lnTo>
                  <a:pt x="1226" y="136"/>
                </a:lnTo>
                <a:lnTo>
                  <a:pt x="1228" y="136"/>
                </a:lnTo>
                <a:lnTo>
                  <a:pt x="1230" y="136"/>
                </a:lnTo>
                <a:lnTo>
                  <a:pt x="1231" y="136"/>
                </a:lnTo>
              </a:path>
            </a:pathLst>
          </a:custGeom>
          <a:noFill/>
          <a:ln w="0">
            <a:solidFill>
              <a:srgbClr val="8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0" name="Rectangle 292"/>
          <p:cNvSpPr>
            <a:spLocks noChangeArrowheads="1"/>
          </p:cNvSpPr>
          <p:nvPr/>
        </p:nvSpPr>
        <p:spPr bwMode="auto">
          <a:xfrm>
            <a:off x="3200400" y="2971800"/>
            <a:ext cx="795089"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MS Scan #5867</a:t>
            </a:r>
          </a:p>
        </p:txBody>
      </p:sp>
      <p:sp>
        <p:nvSpPr>
          <p:cNvPr id="37061" name="Line 368"/>
          <p:cNvSpPr>
            <a:spLocks noChangeShapeType="1"/>
          </p:cNvSpPr>
          <p:nvPr/>
        </p:nvSpPr>
        <p:spPr bwMode="auto">
          <a:xfrm>
            <a:off x="1268413" y="5764213"/>
            <a:ext cx="682783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2" name="Line 369"/>
          <p:cNvSpPr>
            <a:spLocks noChangeShapeType="1"/>
          </p:cNvSpPr>
          <p:nvPr/>
        </p:nvSpPr>
        <p:spPr bwMode="auto">
          <a:xfrm>
            <a:off x="138112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3" name="Line 370"/>
          <p:cNvSpPr>
            <a:spLocks noChangeShapeType="1"/>
          </p:cNvSpPr>
          <p:nvPr/>
        </p:nvSpPr>
        <p:spPr bwMode="auto">
          <a:xfrm>
            <a:off x="149383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4" name="Line 371"/>
          <p:cNvSpPr>
            <a:spLocks noChangeShapeType="1"/>
          </p:cNvSpPr>
          <p:nvPr/>
        </p:nvSpPr>
        <p:spPr bwMode="auto">
          <a:xfrm>
            <a:off x="160655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5" name="Line 372"/>
          <p:cNvSpPr>
            <a:spLocks noChangeShapeType="1"/>
          </p:cNvSpPr>
          <p:nvPr/>
        </p:nvSpPr>
        <p:spPr bwMode="auto">
          <a:xfrm>
            <a:off x="172402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6" name="Line 373"/>
          <p:cNvSpPr>
            <a:spLocks noChangeShapeType="1"/>
          </p:cNvSpPr>
          <p:nvPr/>
        </p:nvSpPr>
        <p:spPr bwMode="auto">
          <a:xfrm>
            <a:off x="194786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7" name="Line 374"/>
          <p:cNvSpPr>
            <a:spLocks noChangeShapeType="1"/>
          </p:cNvSpPr>
          <p:nvPr/>
        </p:nvSpPr>
        <p:spPr bwMode="auto">
          <a:xfrm>
            <a:off x="206057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8" name="Line 375"/>
          <p:cNvSpPr>
            <a:spLocks noChangeShapeType="1"/>
          </p:cNvSpPr>
          <p:nvPr/>
        </p:nvSpPr>
        <p:spPr bwMode="auto">
          <a:xfrm>
            <a:off x="217805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69" name="Line 376"/>
          <p:cNvSpPr>
            <a:spLocks noChangeShapeType="1"/>
          </p:cNvSpPr>
          <p:nvPr/>
        </p:nvSpPr>
        <p:spPr bwMode="auto">
          <a:xfrm>
            <a:off x="229076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0" name="Line 377"/>
          <p:cNvSpPr>
            <a:spLocks noChangeShapeType="1"/>
          </p:cNvSpPr>
          <p:nvPr/>
        </p:nvSpPr>
        <p:spPr bwMode="auto">
          <a:xfrm>
            <a:off x="251618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1" name="Line 378"/>
          <p:cNvSpPr>
            <a:spLocks noChangeShapeType="1"/>
          </p:cNvSpPr>
          <p:nvPr/>
        </p:nvSpPr>
        <p:spPr bwMode="auto">
          <a:xfrm>
            <a:off x="263366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2" name="Line 379"/>
          <p:cNvSpPr>
            <a:spLocks noChangeShapeType="1"/>
          </p:cNvSpPr>
          <p:nvPr/>
        </p:nvSpPr>
        <p:spPr bwMode="auto">
          <a:xfrm>
            <a:off x="274478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3" name="Line 380"/>
          <p:cNvSpPr>
            <a:spLocks noChangeShapeType="1"/>
          </p:cNvSpPr>
          <p:nvPr/>
        </p:nvSpPr>
        <p:spPr bwMode="auto">
          <a:xfrm>
            <a:off x="285750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4" name="Line 381"/>
          <p:cNvSpPr>
            <a:spLocks noChangeShapeType="1"/>
          </p:cNvSpPr>
          <p:nvPr/>
        </p:nvSpPr>
        <p:spPr bwMode="auto">
          <a:xfrm>
            <a:off x="308768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5" name="Line 382"/>
          <p:cNvSpPr>
            <a:spLocks noChangeShapeType="1"/>
          </p:cNvSpPr>
          <p:nvPr/>
        </p:nvSpPr>
        <p:spPr bwMode="auto">
          <a:xfrm>
            <a:off x="320040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6" name="Line 383"/>
          <p:cNvSpPr>
            <a:spLocks noChangeShapeType="1"/>
          </p:cNvSpPr>
          <p:nvPr/>
        </p:nvSpPr>
        <p:spPr bwMode="auto">
          <a:xfrm>
            <a:off x="331311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7" name="Line 384"/>
          <p:cNvSpPr>
            <a:spLocks noChangeShapeType="1"/>
          </p:cNvSpPr>
          <p:nvPr/>
        </p:nvSpPr>
        <p:spPr bwMode="auto">
          <a:xfrm>
            <a:off x="343058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8" name="Line 385"/>
          <p:cNvSpPr>
            <a:spLocks noChangeShapeType="1"/>
          </p:cNvSpPr>
          <p:nvPr/>
        </p:nvSpPr>
        <p:spPr bwMode="auto">
          <a:xfrm>
            <a:off x="365442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79" name="Line 386"/>
          <p:cNvSpPr>
            <a:spLocks noChangeShapeType="1"/>
          </p:cNvSpPr>
          <p:nvPr/>
        </p:nvSpPr>
        <p:spPr bwMode="auto">
          <a:xfrm>
            <a:off x="376713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0" name="Line 387"/>
          <p:cNvSpPr>
            <a:spLocks noChangeShapeType="1"/>
          </p:cNvSpPr>
          <p:nvPr/>
        </p:nvSpPr>
        <p:spPr bwMode="auto">
          <a:xfrm>
            <a:off x="388461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1" name="Line 388"/>
          <p:cNvSpPr>
            <a:spLocks noChangeShapeType="1"/>
          </p:cNvSpPr>
          <p:nvPr/>
        </p:nvSpPr>
        <p:spPr bwMode="auto">
          <a:xfrm>
            <a:off x="399732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2" name="Line 389"/>
          <p:cNvSpPr>
            <a:spLocks noChangeShapeType="1"/>
          </p:cNvSpPr>
          <p:nvPr/>
        </p:nvSpPr>
        <p:spPr bwMode="auto">
          <a:xfrm>
            <a:off x="422275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3" name="Line 390"/>
          <p:cNvSpPr>
            <a:spLocks noChangeShapeType="1"/>
          </p:cNvSpPr>
          <p:nvPr/>
        </p:nvSpPr>
        <p:spPr bwMode="auto">
          <a:xfrm>
            <a:off x="434022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4" name="Line 391"/>
          <p:cNvSpPr>
            <a:spLocks noChangeShapeType="1"/>
          </p:cNvSpPr>
          <p:nvPr/>
        </p:nvSpPr>
        <p:spPr bwMode="auto">
          <a:xfrm>
            <a:off x="445293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5" name="Line 392"/>
          <p:cNvSpPr>
            <a:spLocks noChangeShapeType="1"/>
          </p:cNvSpPr>
          <p:nvPr/>
        </p:nvSpPr>
        <p:spPr bwMode="auto">
          <a:xfrm>
            <a:off x="456406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6" name="Line 393"/>
          <p:cNvSpPr>
            <a:spLocks noChangeShapeType="1"/>
          </p:cNvSpPr>
          <p:nvPr/>
        </p:nvSpPr>
        <p:spPr bwMode="auto">
          <a:xfrm>
            <a:off x="479425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7" name="Line 394"/>
          <p:cNvSpPr>
            <a:spLocks noChangeShapeType="1"/>
          </p:cNvSpPr>
          <p:nvPr/>
        </p:nvSpPr>
        <p:spPr bwMode="auto">
          <a:xfrm>
            <a:off x="490696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8" name="Line 395"/>
          <p:cNvSpPr>
            <a:spLocks noChangeShapeType="1"/>
          </p:cNvSpPr>
          <p:nvPr/>
        </p:nvSpPr>
        <p:spPr bwMode="auto">
          <a:xfrm>
            <a:off x="501967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89" name="Line 396"/>
          <p:cNvSpPr>
            <a:spLocks noChangeShapeType="1"/>
          </p:cNvSpPr>
          <p:nvPr/>
        </p:nvSpPr>
        <p:spPr bwMode="auto">
          <a:xfrm>
            <a:off x="513715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0" name="Line 397"/>
          <p:cNvSpPr>
            <a:spLocks noChangeShapeType="1"/>
          </p:cNvSpPr>
          <p:nvPr/>
        </p:nvSpPr>
        <p:spPr bwMode="auto">
          <a:xfrm>
            <a:off x="536257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1" name="Line 398"/>
          <p:cNvSpPr>
            <a:spLocks noChangeShapeType="1"/>
          </p:cNvSpPr>
          <p:nvPr/>
        </p:nvSpPr>
        <p:spPr bwMode="auto">
          <a:xfrm>
            <a:off x="547370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2" name="Line 399"/>
          <p:cNvSpPr>
            <a:spLocks noChangeShapeType="1"/>
          </p:cNvSpPr>
          <p:nvPr/>
        </p:nvSpPr>
        <p:spPr bwMode="auto">
          <a:xfrm>
            <a:off x="559117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3" name="Line 400"/>
          <p:cNvSpPr>
            <a:spLocks noChangeShapeType="1"/>
          </p:cNvSpPr>
          <p:nvPr/>
        </p:nvSpPr>
        <p:spPr bwMode="auto">
          <a:xfrm>
            <a:off x="570388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4" name="Line 401"/>
          <p:cNvSpPr>
            <a:spLocks noChangeShapeType="1"/>
          </p:cNvSpPr>
          <p:nvPr/>
        </p:nvSpPr>
        <p:spPr bwMode="auto">
          <a:xfrm>
            <a:off x="592931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5" name="Line 402"/>
          <p:cNvSpPr>
            <a:spLocks noChangeShapeType="1"/>
          </p:cNvSpPr>
          <p:nvPr/>
        </p:nvSpPr>
        <p:spPr bwMode="auto">
          <a:xfrm>
            <a:off x="604678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6" name="Line 403"/>
          <p:cNvSpPr>
            <a:spLocks noChangeShapeType="1"/>
          </p:cNvSpPr>
          <p:nvPr/>
        </p:nvSpPr>
        <p:spPr bwMode="auto">
          <a:xfrm>
            <a:off x="6159500"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7" name="Line 404"/>
          <p:cNvSpPr>
            <a:spLocks noChangeShapeType="1"/>
          </p:cNvSpPr>
          <p:nvPr/>
        </p:nvSpPr>
        <p:spPr bwMode="auto">
          <a:xfrm>
            <a:off x="627062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8" name="Line 405"/>
          <p:cNvSpPr>
            <a:spLocks noChangeShapeType="1"/>
          </p:cNvSpPr>
          <p:nvPr/>
        </p:nvSpPr>
        <p:spPr bwMode="auto">
          <a:xfrm>
            <a:off x="650081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099" name="Line 406"/>
          <p:cNvSpPr>
            <a:spLocks noChangeShapeType="1"/>
          </p:cNvSpPr>
          <p:nvPr/>
        </p:nvSpPr>
        <p:spPr bwMode="auto">
          <a:xfrm>
            <a:off x="6613525" y="5764213"/>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00" name="Line 407"/>
          <p:cNvSpPr>
            <a:spLocks noChangeShapeType="1"/>
          </p:cNvSpPr>
          <p:nvPr/>
        </p:nvSpPr>
        <p:spPr bwMode="auto">
          <a:xfrm>
            <a:off x="6726238"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01" name="Line 408"/>
          <p:cNvSpPr>
            <a:spLocks noChangeShapeType="1"/>
          </p:cNvSpPr>
          <p:nvPr/>
        </p:nvSpPr>
        <p:spPr bwMode="auto">
          <a:xfrm>
            <a:off x="6843713" y="5764213"/>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grpSp>
        <p:nvGrpSpPr>
          <p:cNvPr id="37102" name="Group 610"/>
          <p:cNvGrpSpPr>
            <a:grpSpLocks/>
          </p:cNvGrpSpPr>
          <p:nvPr/>
        </p:nvGrpSpPr>
        <p:grpSpPr bwMode="auto">
          <a:xfrm>
            <a:off x="1198563" y="5764213"/>
            <a:ext cx="6867525" cy="125412"/>
            <a:chOff x="755" y="3631"/>
            <a:chExt cx="4326" cy="79"/>
          </a:xfrm>
        </p:grpSpPr>
        <p:sp>
          <p:nvSpPr>
            <p:cNvPr id="37280" name="Line 410"/>
            <p:cNvSpPr>
              <a:spLocks noChangeShapeType="1"/>
            </p:cNvSpPr>
            <p:nvPr/>
          </p:nvSpPr>
          <p:spPr bwMode="auto">
            <a:xfrm>
              <a:off x="4453" y="3631"/>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1" name="Line 411"/>
            <p:cNvSpPr>
              <a:spLocks noChangeShapeType="1"/>
            </p:cNvSpPr>
            <p:nvPr/>
          </p:nvSpPr>
          <p:spPr bwMode="auto">
            <a:xfrm>
              <a:off x="4523" y="3631"/>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2" name="Line 412"/>
            <p:cNvSpPr>
              <a:spLocks noChangeShapeType="1"/>
            </p:cNvSpPr>
            <p:nvPr/>
          </p:nvSpPr>
          <p:spPr bwMode="auto">
            <a:xfrm>
              <a:off x="4598" y="3631"/>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3" name="Line 413"/>
            <p:cNvSpPr>
              <a:spLocks noChangeShapeType="1"/>
            </p:cNvSpPr>
            <p:nvPr/>
          </p:nvSpPr>
          <p:spPr bwMode="auto">
            <a:xfrm>
              <a:off x="4668" y="3631"/>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4" name="Line 414"/>
            <p:cNvSpPr>
              <a:spLocks noChangeShapeType="1"/>
            </p:cNvSpPr>
            <p:nvPr/>
          </p:nvSpPr>
          <p:spPr bwMode="auto">
            <a:xfrm>
              <a:off x="4810" y="3631"/>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5" name="Line 415"/>
            <p:cNvSpPr>
              <a:spLocks noChangeShapeType="1"/>
            </p:cNvSpPr>
            <p:nvPr/>
          </p:nvSpPr>
          <p:spPr bwMode="auto">
            <a:xfrm>
              <a:off x="4884" y="3631"/>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6" name="Line 416"/>
            <p:cNvSpPr>
              <a:spLocks noChangeShapeType="1"/>
            </p:cNvSpPr>
            <p:nvPr/>
          </p:nvSpPr>
          <p:spPr bwMode="auto">
            <a:xfrm>
              <a:off x="4955" y="3631"/>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7" name="Line 417"/>
            <p:cNvSpPr>
              <a:spLocks noChangeShapeType="1"/>
            </p:cNvSpPr>
            <p:nvPr/>
          </p:nvSpPr>
          <p:spPr bwMode="auto">
            <a:xfrm>
              <a:off x="5026" y="3631"/>
              <a:ext cx="1"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8" name="Line 418"/>
            <p:cNvSpPr>
              <a:spLocks noChangeShapeType="1"/>
            </p:cNvSpPr>
            <p:nvPr/>
          </p:nvSpPr>
          <p:spPr bwMode="auto">
            <a:xfrm>
              <a:off x="81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89" name="Line 419"/>
            <p:cNvSpPr>
              <a:spLocks noChangeShapeType="1"/>
            </p:cNvSpPr>
            <p:nvPr/>
          </p:nvSpPr>
          <p:spPr bwMode="auto">
            <a:xfrm>
              <a:off x="83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0" name="Line 420"/>
            <p:cNvSpPr>
              <a:spLocks noChangeShapeType="1"/>
            </p:cNvSpPr>
            <p:nvPr/>
          </p:nvSpPr>
          <p:spPr bwMode="auto">
            <a:xfrm>
              <a:off x="85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1" name="Line 421"/>
            <p:cNvSpPr>
              <a:spLocks noChangeShapeType="1"/>
            </p:cNvSpPr>
            <p:nvPr/>
          </p:nvSpPr>
          <p:spPr bwMode="auto">
            <a:xfrm>
              <a:off x="88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2" name="Line 422"/>
            <p:cNvSpPr>
              <a:spLocks noChangeShapeType="1"/>
            </p:cNvSpPr>
            <p:nvPr/>
          </p:nvSpPr>
          <p:spPr bwMode="auto">
            <a:xfrm>
              <a:off x="90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3" name="Line 423"/>
            <p:cNvSpPr>
              <a:spLocks noChangeShapeType="1"/>
            </p:cNvSpPr>
            <p:nvPr/>
          </p:nvSpPr>
          <p:spPr bwMode="auto">
            <a:xfrm>
              <a:off x="92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4" name="Line 424"/>
            <p:cNvSpPr>
              <a:spLocks noChangeShapeType="1"/>
            </p:cNvSpPr>
            <p:nvPr/>
          </p:nvSpPr>
          <p:spPr bwMode="auto">
            <a:xfrm>
              <a:off x="95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5" name="Line 425"/>
            <p:cNvSpPr>
              <a:spLocks noChangeShapeType="1"/>
            </p:cNvSpPr>
            <p:nvPr/>
          </p:nvSpPr>
          <p:spPr bwMode="auto">
            <a:xfrm>
              <a:off x="97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6" name="Line 426"/>
            <p:cNvSpPr>
              <a:spLocks noChangeShapeType="1"/>
            </p:cNvSpPr>
            <p:nvPr/>
          </p:nvSpPr>
          <p:spPr bwMode="auto">
            <a:xfrm>
              <a:off x="99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7" name="Line 427"/>
            <p:cNvSpPr>
              <a:spLocks noChangeShapeType="1"/>
            </p:cNvSpPr>
            <p:nvPr/>
          </p:nvSpPr>
          <p:spPr bwMode="auto">
            <a:xfrm>
              <a:off x="103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8" name="Line 428"/>
            <p:cNvSpPr>
              <a:spLocks noChangeShapeType="1"/>
            </p:cNvSpPr>
            <p:nvPr/>
          </p:nvSpPr>
          <p:spPr bwMode="auto">
            <a:xfrm>
              <a:off x="104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99" name="Line 429"/>
            <p:cNvSpPr>
              <a:spLocks noChangeShapeType="1"/>
            </p:cNvSpPr>
            <p:nvPr/>
          </p:nvSpPr>
          <p:spPr bwMode="auto">
            <a:xfrm>
              <a:off x="106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0" name="Line 430"/>
            <p:cNvSpPr>
              <a:spLocks noChangeShapeType="1"/>
            </p:cNvSpPr>
            <p:nvPr/>
          </p:nvSpPr>
          <p:spPr bwMode="auto">
            <a:xfrm>
              <a:off x="110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1" name="Line 431"/>
            <p:cNvSpPr>
              <a:spLocks noChangeShapeType="1"/>
            </p:cNvSpPr>
            <p:nvPr/>
          </p:nvSpPr>
          <p:spPr bwMode="auto">
            <a:xfrm>
              <a:off x="111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2" name="Line 432"/>
            <p:cNvSpPr>
              <a:spLocks noChangeShapeType="1"/>
            </p:cNvSpPr>
            <p:nvPr/>
          </p:nvSpPr>
          <p:spPr bwMode="auto">
            <a:xfrm>
              <a:off x="114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3" name="Line 433"/>
            <p:cNvSpPr>
              <a:spLocks noChangeShapeType="1"/>
            </p:cNvSpPr>
            <p:nvPr/>
          </p:nvSpPr>
          <p:spPr bwMode="auto">
            <a:xfrm>
              <a:off x="117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4" name="Line 434"/>
            <p:cNvSpPr>
              <a:spLocks noChangeShapeType="1"/>
            </p:cNvSpPr>
            <p:nvPr/>
          </p:nvSpPr>
          <p:spPr bwMode="auto">
            <a:xfrm>
              <a:off x="119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5" name="Line 435"/>
            <p:cNvSpPr>
              <a:spLocks noChangeShapeType="1"/>
            </p:cNvSpPr>
            <p:nvPr/>
          </p:nvSpPr>
          <p:spPr bwMode="auto">
            <a:xfrm>
              <a:off x="121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6" name="Line 436"/>
            <p:cNvSpPr>
              <a:spLocks noChangeShapeType="1"/>
            </p:cNvSpPr>
            <p:nvPr/>
          </p:nvSpPr>
          <p:spPr bwMode="auto">
            <a:xfrm>
              <a:off x="124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7" name="Line 437"/>
            <p:cNvSpPr>
              <a:spLocks noChangeShapeType="1"/>
            </p:cNvSpPr>
            <p:nvPr/>
          </p:nvSpPr>
          <p:spPr bwMode="auto">
            <a:xfrm>
              <a:off x="126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8" name="Line 438"/>
            <p:cNvSpPr>
              <a:spLocks noChangeShapeType="1"/>
            </p:cNvSpPr>
            <p:nvPr/>
          </p:nvSpPr>
          <p:spPr bwMode="auto">
            <a:xfrm>
              <a:off x="128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09" name="Line 439"/>
            <p:cNvSpPr>
              <a:spLocks noChangeShapeType="1"/>
            </p:cNvSpPr>
            <p:nvPr/>
          </p:nvSpPr>
          <p:spPr bwMode="auto">
            <a:xfrm>
              <a:off x="131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0" name="Line 440"/>
            <p:cNvSpPr>
              <a:spLocks noChangeShapeType="1"/>
            </p:cNvSpPr>
            <p:nvPr/>
          </p:nvSpPr>
          <p:spPr bwMode="auto">
            <a:xfrm>
              <a:off x="133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1" name="Line 441"/>
            <p:cNvSpPr>
              <a:spLocks noChangeShapeType="1"/>
            </p:cNvSpPr>
            <p:nvPr/>
          </p:nvSpPr>
          <p:spPr bwMode="auto">
            <a:xfrm>
              <a:off x="135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2" name="Line 442"/>
            <p:cNvSpPr>
              <a:spLocks noChangeShapeType="1"/>
            </p:cNvSpPr>
            <p:nvPr/>
          </p:nvSpPr>
          <p:spPr bwMode="auto">
            <a:xfrm>
              <a:off x="138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3" name="Line 443"/>
            <p:cNvSpPr>
              <a:spLocks noChangeShapeType="1"/>
            </p:cNvSpPr>
            <p:nvPr/>
          </p:nvSpPr>
          <p:spPr bwMode="auto">
            <a:xfrm>
              <a:off x="140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4" name="Line 444"/>
            <p:cNvSpPr>
              <a:spLocks noChangeShapeType="1"/>
            </p:cNvSpPr>
            <p:nvPr/>
          </p:nvSpPr>
          <p:spPr bwMode="auto">
            <a:xfrm>
              <a:off x="142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5" name="Line 445"/>
            <p:cNvSpPr>
              <a:spLocks noChangeShapeType="1"/>
            </p:cNvSpPr>
            <p:nvPr/>
          </p:nvSpPr>
          <p:spPr bwMode="auto">
            <a:xfrm>
              <a:off x="146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6" name="Line 446"/>
            <p:cNvSpPr>
              <a:spLocks noChangeShapeType="1"/>
            </p:cNvSpPr>
            <p:nvPr/>
          </p:nvSpPr>
          <p:spPr bwMode="auto">
            <a:xfrm>
              <a:off x="148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7" name="Line 447"/>
            <p:cNvSpPr>
              <a:spLocks noChangeShapeType="1"/>
            </p:cNvSpPr>
            <p:nvPr/>
          </p:nvSpPr>
          <p:spPr bwMode="auto">
            <a:xfrm>
              <a:off x="149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8" name="Line 448"/>
            <p:cNvSpPr>
              <a:spLocks noChangeShapeType="1"/>
            </p:cNvSpPr>
            <p:nvPr/>
          </p:nvSpPr>
          <p:spPr bwMode="auto">
            <a:xfrm>
              <a:off x="153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19" name="Line 449"/>
            <p:cNvSpPr>
              <a:spLocks noChangeShapeType="1"/>
            </p:cNvSpPr>
            <p:nvPr/>
          </p:nvSpPr>
          <p:spPr bwMode="auto">
            <a:xfrm>
              <a:off x="155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0" name="Line 450"/>
            <p:cNvSpPr>
              <a:spLocks noChangeShapeType="1"/>
            </p:cNvSpPr>
            <p:nvPr/>
          </p:nvSpPr>
          <p:spPr bwMode="auto">
            <a:xfrm>
              <a:off x="156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1" name="Line 451"/>
            <p:cNvSpPr>
              <a:spLocks noChangeShapeType="1"/>
            </p:cNvSpPr>
            <p:nvPr/>
          </p:nvSpPr>
          <p:spPr bwMode="auto">
            <a:xfrm>
              <a:off x="160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2" name="Line 452"/>
            <p:cNvSpPr>
              <a:spLocks noChangeShapeType="1"/>
            </p:cNvSpPr>
            <p:nvPr/>
          </p:nvSpPr>
          <p:spPr bwMode="auto">
            <a:xfrm>
              <a:off x="162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3" name="Line 453"/>
            <p:cNvSpPr>
              <a:spLocks noChangeShapeType="1"/>
            </p:cNvSpPr>
            <p:nvPr/>
          </p:nvSpPr>
          <p:spPr bwMode="auto">
            <a:xfrm>
              <a:off x="163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4" name="Line 454"/>
            <p:cNvSpPr>
              <a:spLocks noChangeShapeType="1"/>
            </p:cNvSpPr>
            <p:nvPr/>
          </p:nvSpPr>
          <p:spPr bwMode="auto">
            <a:xfrm>
              <a:off x="167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5" name="Line 455"/>
            <p:cNvSpPr>
              <a:spLocks noChangeShapeType="1"/>
            </p:cNvSpPr>
            <p:nvPr/>
          </p:nvSpPr>
          <p:spPr bwMode="auto">
            <a:xfrm>
              <a:off x="169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6" name="Line 456"/>
            <p:cNvSpPr>
              <a:spLocks noChangeShapeType="1"/>
            </p:cNvSpPr>
            <p:nvPr/>
          </p:nvSpPr>
          <p:spPr bwMode="auto">
            <a:xfrm>
              <a:off x="171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7" name="Line 457"/>
            <p:cNvSpPr>
              <a:spLocks noChangeShapeType="1"/>
            </p:cNvSpPr>
            <p:nvPr/>
          </p:nvSpPr>
          <p:spPr bwMode="auto">
            <a:xfrm>
              <a:off x="174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8" name="Line 458"/>
            <p:cNvSpPr>
              <a:spLocks noChangeShapeType="1"/>
            </p:cNvSpPr>
            <p:nvPr/>
          </p:nvSpPr>
          <p:spPr bwMode="auto">
            <a:xfrm>
              <a:off x="176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29" name="Line 459"/>
            <p:cNvSpPr>
              <a:spLocks noChangeShapeType="1"/>
            </p:cNvSpPr>
            <p:nvPr/>
          </p:nvSpPr>
          <p:spPr bwMode="auto">
            <a:xfrm>
              <a:off x="178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0" name="Line 460"/>
            <p:cNvSpPr>
              <a:spLocks noChangeShapeType="1"/>
            </p:cNvSpPr>
            <p:nvPr/>
          </p:nvSpPr>
          <p:spPr bwMode="auto">
            <a:xfrm>
              <a:off x="182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1" name="Line 461"/>
            <p:cNvSpPr>
              <a:spLocks noChangeShapeType="1"/>
            </p:cNvSpPr>
            <p:nvPr/>
          </p:nvSpPr>
          <p:spPr bwMode="auto">
            <a:xfrm>
              <a:off x="183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2" name="Line 462"/>
            <p:cNvSpPr>
              <a:spLocks noChangeShapeType="1"/>
            </p:cNvSpPr>
            <p:nvPr/>
          </p:nvSpPr>
          <p:spPr bwMode="auto">
            <a:xfrm>
              <a:off x="185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3" name="Line 463"/>
            <p:cNvSpPr>
              <a:spLocks noChangeShapeType="1"/>
            </p:cNvSpPr>
            <p:nvPr/>
          </p:nvSpPr>
          <p:spPr bwMode="auto">
            <a:xfrm>
              <a:off x="189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4" name="Line 464"/>
            <p:cNvSpPr>
              <a:spLocks noChangeShapeType="1"/>
            </p:cNvSpPr>
            <p:nvPr/>
          </p:nvSpPr>
          <p:spPr bwMode="auto">
            <a:xfrm>
              <a:off x="190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5" name="Line 465"/>
            <p:cNvSpPr>
              <a:spLocks noChangeShapeType="1"/>
            </p:cNvSpPr>
            <p:nvPr/>
          </p:nvSpPr>
          <p:spPr bwMode="auto">
            <a:xfrm>
              <a:off x="192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6" name="Line 466"/>
            <p:cNvSpPr>
              <a:spLocks noChangeShapeType="1"/>
            </p:cNvSpPr>
            <p:nvPr/>
          </p:nvSpPr>
          <p:spPr bwMode="auto">
            <a:xfrm>
              <a:off x="196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7" name="Line 467"/>
            <p:cNvSpPr>
              <a:spLocks noChangeShapeType="1"/>
            </p:cNvSpPr>
            <p:nvPr/>
          </p:nvSpPr>
          <p:spPr bwMode="auto">
            <a:xfrm>
              <a:off x="197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8" name="Line 468"/>
            <p:cNvSpPr>
              <a:spLocks noChangeShapeType="1"/>
            </p:cNvSpPr>
            <p:nvPr/>
          </p:nvSpPr>
          <p:spPr bwMode="auto">
            <a:xfrm>
              <a:off x="199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39" name="Line 469"/>
            <p:cNvSpPr>
              <a:spLocks noChangeShapeType="1"/>
            </p:cNvSpPr>
            <p:nvPr/>
          </p:nvSpPr>
          <p:spPr bwMode="auto">
            <a:xfrm>
              <a:off x="203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0" name="Line 470"/>
            <p:cNvSpPr>
              <a:spLocks noChangeShapeType="1"/>
            </p:cNvSpPr>
            <p:nvPr/>
          </p:nvSpPr>
          <p:spPr bwMode="auto">
            <a:xfrm>
              <a:off x="205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1" name="Line 471"/>
            <p:cNvSpPr>
              <a:spLocks noChangeShapeType="1"/>
            </p:cNvSpPr>
            <p:nvPr/>
          </p:nvSpPr>
          <p:spPr bwMode="auto">
            <a:xfrm>
              <a:off x="207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2" name="Line 472"/>
            <p:cNvSpPr>
              <a:spLocks noChangeShapeType="1"/>
            </p:cNvSpPr>
            <p:nvPr/>
          </p:nvSpPr>
          <p:spPr bwMode="auto">
            <a:xfrm>
              <a:off x="210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3" name="Line 473"/>
            <p:cNvSpPr>
              <a:spLocks noChangeShapeType="1"/>
            </p:cNvSpPr>
            <p:nvPr/>
          </p:nvSpPr>
          <p:spPr bwMode="auto">
            <a:xfrm>
              <a:off x="212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4" name="Line 474"/>
            <p:cNvSpPr>
              <a:spLocks noChangeShapeType="1"/>
            </p:cNvSpPr>
            <p:nvPr/>
          </p:nvSpPr>
          <p:spPr bwMode="auto">
            <a:xfrm>
              <a:off x="214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5" name="Line 475"/>
            <p:cNvSpPr>
              <a:spLocks noChangeShapeType="1"/>
            </p:cNvSpPr>
            <p:nvPr/>
          </p:nvSpPr>
          <p:spPr bwMode="auto">
            <a:xfrm>
              <a:off x="217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6" name="Line 476"/>
            <p:cNvSpPr>
              <a:spLocks noChangeShapeType="1"/>
            </p:cNvSpPr>
            <p:nvPr/>
          </p:nvSpPr>
          <p:spPr bwMode="auto">
            <a:xfrm>
              <a:off x="219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7" name="Line 477"/>
            <p:cNvSpPr>
              <a:spLocks noChangeShapeType="1"/>
            </p:cNvSpPr>
            <p:nvPr/>
          </p:nvSpPr>
          <p:spPr bwMode="auto">
            <a:xfrm>
              <a:off x="221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8" name="Line 478"/>
            <p:cNvSpPr>
              <a:spLocks noChangeShapeType="1"/>
            </p:cNvSpPr>
            <p:nvPr/>
          </p:nvSpPr>
          <p:spPr bwMode="auto">
            <a:xfrm>
              <a:off x="224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49" name="Line 479"/>
            <p:cNvSpPr>
              <a:spLocks noChangeShapeType="1"/>
            </p:cNvSpPr>
            <p:nvPr/>
          </p:nvSpPr>
          <p:spPr bwMode="auto">
            <a:xfrm>
              <a:off x="226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0" name="Line 480"/>
            <p:cNvSpPr>
              <a:spLocks noChangeShapeType="1"/>
            </p:cNvSpPr>
            <p:nvPr/>
          </p:nvSpPr>
          <p:spPr bwMode="auto">
            <a:xfrm>
              <a:off x="228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1" name="Line 481"/>
            <p:cNvSpPr>
              <a:spLocks noChangeShapeType="1"/>
            </p:cNvSpPr>
            <p:nvPr/>
          </p:nvSpPr>
          <p:spPr bwMode="auto">
            <a:xfrm>
              <a:off x="231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2" name="Line 482"/>
            <p:cNvSpPr>
              <a:spLocks noChangeShapeType="1"/>
            </p:cNvSpPr>
            <p:nvPr/>
          </p:nvSpPr>
          <p:spPr bwMode="auto">
            <a:xfrm>
              <a:off x="233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3" name="Line 483"/>
            <p:cNvSpPr>
              <a:spLocks noChangeShapeType="1"/>
            </p:cNvSpPr>
            <p:nvPr/>
          </p:nvSpPr>
          <p:spPr bwMode="auto">
            <a:xfrm>
              <a:off x="235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4" name="Line 484"/>
            <p:cNvSpPr>
              <a:spLocks noChangeShapeType="1"/>
            </p:cNvSpPr>
            <p:nvPr/>
          </p:nvSpPr>
          <p:spPr bwMode="auto">
            <a:xfrm>
              <a:off x="239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5" name="Line 485"/>
            <p:cNvSpPr>
              <a:spLocks noChangeShapeType="1"/>
            </p:cNvSpPr>
            <p:nvPr/>
          </p:nvSpPr>
          <p:spPr bwMode="auto">
            <a:xfrm>
              <a:off x="241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6" name="Line 486"/>
            <p:cNvSpPr>
              <a:spLocks noChangeShapeType="1"/>
            </p:cNvSpPr>
            <p:nvPr/>
          </p:nvSpPr>
          <p:spPr bwMode="auto">
            <a:xfrm>
              <a:off x="242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7" name="Line 487"/>
            <p:cNvSpPr>
              <a:spLocks noChangeShapeType="1"/>
            </p:cNvSpPr>
            <p:nvPr/>
          </p:nvSpPr>
          <p:spPr bwMode="auto">
            <a:xfrm>
              <a:off x="246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8" name="Line 488"/>
            <p:cNvSpPr>
              <a:spLocks noChangeShapeType="1"/>
            </p:cNvSpPr>
            <p:nvPr/>
          </p:nvSpPr>
          <p:spPr bwMode="auto">
            <a:xfrm>
              <a:off x="248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59" name="Line 489"/>
            <p:cNvSpPr>
              <a:spLocks noChangeShapeType="1"/>
            </p:cNvSpPr>
            <p:nvPr/>
          </p:nvSpPr>
          <p:spPr bwMode="auto">
            <a:xfrm>
              <a:off x="250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0" name="Line 490"/>
            <p:cNvSpPr>
              <a:spLocks noChangeShapeType="1"/>
            </p:cNvSpPr>
            <p:nvPr/>
          </p:nvSpPr>
          <p:spPr bwMode="auto">
            <a:xfrm>
              <a:off x="253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1" name="Line 491"/>
            <p:cNvSpPr>
              <a:spLocks noChangeShapeType="1"/>
            </p:cNvSpPr>
            <p:nvPr/>
          </p:nvSpPr>
          <p:spPr bwMode="auto">
            <a:xfrm>
              <a:off x="255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2" name="Line 492"/>
            <p:cNvSpPr>
              <a:spLocks noChangeShapeType="1"/>
            </p:cNvSpPr>
            <p:nvPr/>
          </p:nvSpPr>
          <p:spPr bwMode="auto">
            <a:xfrm>
              <a:off x="257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3" name="Line 493"/>
            <p:cNvSpPr>
              <a:spLocks noChangeShapeType="1"/>
            </p:cNvSpPr>
            <p:nvPr/>
          </p:nvSpPr>
          <p:spPr bwMode="auto">
            <a:xfrm>
              <a:off x="260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4" name="Line 494"/>
            <p:cNvSpPr>
              <a:spLocks noChangeShapeType="1"/>
            </p:cNvSpPr>
            <p:nvPr/>
          </p:nvSpPr>
          <p:spPr bwMode="auto">
            <a:xfrm>
              <a:off x="262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5" name="Line 495"/>
            <p:cNvSpPr>
              <a:spLocks noChangeShapeType="1"/>
            </p:cNvSpPr>
            <p:nvPr/>
          </p:nvSpPr>
          <p:spPr bwMode="auto">
            <a:xfrm>
              <a:off x="264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6" name="Line 496"/>
            <p:cNvSpPr>
              <a:spLocks noChangeShapeType="1"/>
            </p:cNvSpPr>
            <p:nvPr/>
          </p:nvSpPr>
          <p:spPr bwMode="auto">
            <a:xfrm>
              <a:off x="268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7" name="Line 497"/>
            <p:cNvSpPr>
              <a:spLocks noChangeShapeType="1"/>
            </p:cNvSpPr>
            <p:nvPr/>
          </p:nvSpPr>
          <p:spPr bwMode="auto">
            <a:xfrm>
              <a:off x="269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8" name="Line 498"/>
            <p:cNvSpPr>
              <a:spLocks noChangeShapeType="1"/>
            </p:cNvSpPr>
            <p:nvPr/>
          </p:nvSpPr>
          <p:spPr bwMode="auto">
            <a:xfrm>
              <a:off x="271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69" name="Line 499"/>
            <p:cNvSpPr>
              <a:spLocks noChangeShapeType="1"/>
            </p:cNvSpPr>
            <p:nvPr/>
          </p:nvSpPr>
          <p:spPr bwMode="auto">
            <a:xfrm>
              <a:off x="275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0" name="Line 500"/>
            <p:cNvSpPr>
              <a:spLocks noChangeShapeType="1"/>
            </p:cNvSpPr>
            <p:nvPr/>
          </p:nvSpPr>
          <p:spPr bwMode="auto">
            <a:xfrm>
              <a:off x="276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1" name="Line 501"/>
            <p:cNvSpPr>
              <a:spLocks noChangeShapeType="1"/>
            </p:cNvSpPr>
            <p:nvPr/>
          </p:nvSpPr>
          <p:spPr bwMode="auto">
            <a:xfrm>
              <a:off x="278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2" name="Line 502"/>
            <p:cNvSpPr>
              <a:spLocks noChangeShapeType="1"/>
            </p:cNvSpPr>
            <p:nvPr/>
          </p:nvSpPr>
          <p:spPr bwMode="auto">
            <a:xfrm>
              <a:off x="282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3" name="Line 503"/>
            <p:cNvSpPr>
              <a:spLocks noChangeShapeType="1"/>
            </p:cNvSpPr>
            <p:nvPr/>
          </p:nvSpPr>
          <p:spPr bwMode="auto">
            <a:xfrm>
              <a:off x="284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4" name="Line 504"/>
            <p:cNvSpPr>
              <a:spLocks noChangeShapeType="1"/>
            </p:cNvSpPr>
            <p:nvPr/>
          </p:nvSpPr>
          <p:spPr bwMode="auto">
            <a:xfrm>
              <a:off x="285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5" name="Line 505"/>
            <p:cNvSpPr>
              <a:spLocks noChangeShapeType="1"/>
            </p:cNvSpPr>
            <p:nvPr/>
          </p:nvSpPr>
          <p:spPr bwMode="auto">
            <a:xfrm>
              <a:off x="289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6" name="Line 506"/>
            <p:cNvSpPr>
              <a:spLocks noChangeShapeType="1"/>
            </p:cNvSpPr>
            <p:nvPr/>
          </p:nvSpPr>
          <p:spPr bwMode="auto">
            <a:xfrm>
              <a:off x="291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7" name="Line 507"/>
            <p:cNvSpPr>
              <a:spLocks noChangeShapeType="1"/>
            </p:cNvSpPr>
            <p:nvPr/>
          </p:nvSpPr>
          <p:spPr bwMode="auto">
            <a:xfrm>
              <a:off x="292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8" name="Line 508"/>
            <p:cNvSpPr>
              <a:spLocks noChangeShapeType="1"/>
            </p:cNvSpPr>
            <p:nvPr/>
          </p:nvSpPr>
          <p:spPr bwMode="auto">
            <a:xfrm>
              <a:off x="296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79" name="Line 509"/>
            <p:cNvSpPr>
              <a:spLocks noChangeShapeType="1"/>
            </p:cNvSpPr>
            <p:nvPr/>
          </p:nvSpPr>
          <p:spPr bwMode="auto">
            <a:xfrm>
              <a:off x="298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0" name="Line 510"/>
            <p:cNvSpPr>
              <a:spLocks noChangeShapeType="1"/>
            </p:cNvSpPr>
            <p:nvPr/>
          </p:nvSpPr>
          <p:spPr bwMode="auto">
            <a:xfrm>
              <a:off x="300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1" name="Line 511"/>
            <p:cNvSpPr>
              <a:spLocks noChangeShapeType="1"/>
            </p:cNvSpPr>
            <p:nvPr/>
          </p:nvSpPr>
          <p:spPr bwMode="auto">
            <a:xfrm>
              <a:off x="303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2" name="Line 512"/>
            <p:cNvSpPr>
              <a:spLocks noChangeShapeType="1"/>
            </p:cNvSpPr>
            <p:nvPr/>
          </p:nvSpPr>
          <p:spPr bwMode="auto">
            <a:xfrm>
              <a:off x="305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3" name="Line 513"/>
            <p:cNvSpPr>
              <a:spLocks noChangeShapeType="1"/>
            </p:cNvSpPr>
            <p:nvPr/>
          </p:nvSpPr>
          <p:spPr bwMode="auto">
            <a:xfrm>
              <a:off x="307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4" name="Line 514"/>
            <p:cNvSpPr>
              <a:spLocks noChangeShapeType="1"/>
            </p:cNvSpPr>
            <p:nvPr/>
          </p:nvSpPr>
          <p:spPr bwMode="auto">
            <a:xfrm>
              <a:off x="310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5" name="Line 515"/>
            <p:cNvSpPr>
              <a:spLocks noChangeShapeType="1"/>
            </p:cNvSpPr>
            <p:nvPr/>
          </p:nvSpPr>
          <p:spPr bwMode="auto">
            <a:xfrm>
              <a:off x="312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6" name="Line 516"/>
            <p:cNvSpPr>
              <a:spLocks noChangeShapeType="1"/>
            </p:cNvSpPr>
            <p:nvPr/>
          </p:nvSpPr>
          <p:spPr bwMode="auto">
            <a:xfrm>
              <a:off x="314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7" name="Line 517"/>
            <p:cNvSpPr>
              <a:spLocks noChangeShapeType="1"/>
            </p:cNvSpPr>
            <p:nvPr/>
          </p:nvSpPr>
          <p:spPr bwMode="auto">
            <a:xfrm>
              <a:off x="318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8" name="Line 518"/>
            <p:cNvSpPr>
              <a:spLocks noChangeShapeType="1"/>
            </p:cNvSpPr>
            <p:nvPr/>
          </p:nvSpPr>
          <p:spPr bwMode="auto">
            <a:xfrm>
              <a:off x="319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89" name="Line 519"/>
            <p:cNvSpPr>
              <a:spLocks noChangeShapeType="1"/>
            </p:cNvSpPr>
            <p:nvPr/>
          </p:nvSpPr>
          <p:spPr bwMode="auto">
            <a:xfrm>
              <a:off x="321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0" name="Line 520"/>
            <p:cNvSpPr>
              <a:spLocks noChangeShapeType="1"/>
            </p:cNvSpPr>
            <p:nvPr/>
          </p:nvSpPr>
          <p:spPr bwMode="auto">
            <a:xfrm>
              <a:off x="325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1" name="Line 521"/>
            <p:cNvSpPr>
              <a:spLocks noChangeShapeType="1"/>
            </p:cNvSpPr>
            <p:nvPr/>
          </p:nvSpPr>
          <p:spPr bwMode="auto">
            <a:xfrm>
              <a:off x="327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2" name="Line 522"/>
            <p:cNvSpPr>
              <a:spLocks noChangeShapeType="1"/>
            </p:cNvSpPr>
            <p:nvPr/>
          </p:nvSpPr>
          <p:spPr bwMode="auto">
            <a:xfrm>
              <a:off x="329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3" name="Line 523"/>
            <p:cNvSpPr>
              <a:spLocks noChangeShapeType="1"/>
            </p:cNvSpPr>
            <p:nvPr/>
          </p:nvSpPr>
          <p:spPr bwMode="auto">
            <a:xfrm>
              <a:off x="332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4" name="Line 524"/>
            <p:cNvSpPr>
              <a:spLocks noChangeShapeType="1"/>
            </p:cNvSpPr>
            <p:nvPr/>
          </p:nvSpPr>
          <p:spPr bwMode="auto">
            <a:xfrm>
              <a:off x="334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5" name="Line 525"/>
            <p:cNvSpPr>
              <a:spLocks noChangeShapeType="1"/>
            </p:cNvSpPr>
            <p:nvPr/>
          </p:nvSpPr>
          <p:spPr bwMode="auto">
            <a:xfrm>
              <a:off x="336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6" name="Line 526"/>
            <p:cNvSpPr>
              <a:spLocks noChangeShapeType="1"/>
            </p:cNvSpPr>
            <p:nvPr/>
          </p:nvSpPr>
          <p:spPr bwMode="auto">
            <a:xfrm>
              <a:off x="339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7" name="Line 527"/>
            <p:cNvSpPr>
              <a:spLocks noChangeShapeType="1"/>
            </p:cNvSpPr>
            <p:nvPr/>
          </p:nvSpPr>
          <p:spPr bwMode="auto">
            <a:xfrm>
              <a:off x="341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8" name="Line 528"/>
            <p:cNvSpPr>
              <a:spLocks noChangeShapeType="1"/>
            </p:cNvSpPr>
            <p:nvPr/>
          </p:nvSpPr>
          <p:spPr bwMode="auto">
            <a:xfrm>
              <a:off x="343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399" name="Line 529"/>
            <p:cNvSpPr>
              <a:spLocks noChangeShapeType="1"/>
            </p:cNvSpPr>
            <p:nvPr/>
          </p:nvSpPr>
          <p:spPr bwMode="auto">
            <a:xfrm>
              <a:off x="346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0" name="Line 530"/>
            <p:cNvSpPr>
              <a:spLocks noChangeShapeType="1"/>
            </p:cNvSpPr>
            <p:nvPr/>
          </p:nvSpPr>
          <p:spPr bwMode="auto">
            <a:xfrm>
              <a:off x="348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1" name="Line 531"/>
            <p:cNvSpPr>
              <a:spLocks noChangeShapeType="1"/>
            </p:cNvSpPr>
            <p:nvPr/>
          </p:nvSpPr>
          <p:spPr bwMode="auto">
            <a:xfrm>
              <a:off x="350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2" name="Line 532"/>
            <p:cNvSpPr>
              <a:spLocks noChangeShapeType="1"/>
            </p:cNvSpPr>
            <p:nvPr/>
          </p:nvSpPr>
          <p:spPr bwMode="auto">
            <a:xfrm>
              <a:off x="353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3" name="Line 533"/>
            <p:cNvSpPr>
              <a:spLocks noChangeShapeType="1"/>
            </p:cNvSpPr>
            <p:nvPr/>
          </p:nvSpPr>
          <p:spPr bwMode="auto">
            <a:xfrm>
              <a:off x="355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4" name="Line 534"/>
            <p:cNvSpPr>
              <a:spLocks noChangeShapeType="1"/>
            </p:cNvSpPr>
            <p:nvPr/>
          </p:nvSpPr>
          <p:spPr bwMode="auto">
            <a:xfrm>
              <a:off x="357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5" name="Line 535"/>
            <p:cNvSpPr>
              <a:spLocks noChangeShapeType="1"/>
            </p:cNvSpPr>
            <p:nvPr/>
          </p:nvSpPr>
          <p:spPr bwMode="auto">
            <a:xfrm>
              <a:off x="361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6" name="Line 536"/>
            <p:cNvSpPr>
              <a:spLocks noChangeShapeType="1"/>
            </p:cNvSpPr>
            <p:nvPr/>
          </p:nvSpPr>
          <p:spPr bwMode="auto">
            <a:xfrm>
              <a:off x="363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7" name="Line 537"/>
            <p:cNvSpPr>
              <a:spLocks noChangeShapeType="1"/>
            </p:cNvSpPr>
            <p:nvPr/>
          </p:nvSpPr>
          <p:spPr bwMode="auto">
            <a:xfrm>
              <a:off x="364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8" name="Line 538"/>
            <p:cNvSpPr>
              <a:spLocks noChangeShapeType="1"/>
            </p:cNvSpPr>
            <p:nvPr/>
          </p:nvSpPr>
          <p:spPr bwMode="auto">
            <a:xfrm>
              <a:off x="368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09" name="Line 539"/>
            <p:cNvSpPr>
              <a:spLocks noChangeShapeType="1"/>
            </p:cNvSpPr>
            <p:nvPr/>
          </p:nvSpPr>
          <p:spPr bwMode="auto">
            <a:xfrm>
              <a:off x="370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0" name="Line 540"/>
            <p:cNvSpPr>
              <a:spLocks noChangeShapeType="1"/>
            </p:cNvSpPr>
            <p:nvPr/>
          </p:nvSpPr>
          <p:spPr bwMode="auto">
            <a:xfrm>
              <a:off x="371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1" name="Line 541"/>
            <p:cNvSpPr>
              <a:spLocks noChangeShapeType="1"/>
            </p:cNvSpPr>
            <p:nvPr/>
          </p:nvSpPr>
          <p:spPr bwMode="auto">
            <a:xfrm>
              <a:off x="375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2" name="Line 542"/>
            <p:cNvSpPr>
              <a:spLocks noChangeShapeType="1"/>
            </p:cNvSpPr>
            <p:nvPr/>
          </p:nvSpPr>
          <p:spPr bwMode="auto">
            <a:xfrm>
              <a:off x="377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3" name="Line 543"/>
            <p:cNvSpPr>
              <a:spLocks noChangeShapeType="1"/>
            </p:cNvSpPr>
            <p:nvPr/>
          </p:nvSpPr>
          <p:spPr bwMode="auto">
            <a:xfrm>
              <a:off x="378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4" name="Line 544"/>
            <p:cNvSpPr>
              <a:spLocks noChangeShapeType="1"/>
            </p:cNvSpPr>
            <p:nvPr/>
          </p:nvSpPr>
          <p:spPr bwMode="auto">
            <a:xfrm>
              <a:off x="382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5" name="Line 545"/>
            <p:cNvSpPr>
              <a:spLocks noChangeShapeType="1"/>
            </p:cNvSpPr>
            <p:nvPr/>
          </p:nvSpPr>
          <p:spPr bwMode="auto">
            <a:xfrm>
              <a:off x="384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6" name="Line 546"/>
            <p:cNvSpPr>
              <a:spLocks noChangeShapeType="1"/>
            </p:cNvSpPr>
            <p:nvPr/>
          </p:nvSpPr>
          <p:spPr bwMode="auto">
            <a:xfrm>
              <a:off x="386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7" name="Line 547"/>
            <p:cNvSpPr>
              <a:spLocks noChangeShapeType="1"/>
            </p:cNvSpPr>
            <p:nvPr/>
          </p:nvSpPr>
          <p:spPr bwMode="auto">
            <a:xfrm>
              <a:off x="389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8" name="Line 548"/>
            <p:cNvSpPr>
              <a:spLocks noChangeShapeType="1"/>
            </p:cNvSpPr>
            <p:nvPr/>
          </p:nvSpPr>
          <p:spPr bwMode="auto">
            <a:xfrm>
              <a:off x="391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19" name="Line 549"/>
            <p:cNvSpPr>
              <a:spLocks noChangeShapeType="1"/>
            </p:cNvSpPr>
            <p:nvPr/>
          </p:nvSpPr>
          <p:spPr bwMode="auto">
            <a:xfrm>
              <a:off x="393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0" name="Line 550"/>
            <p:cNvSpPr>
              <a:spLocks noChangeShapeType="1"/>
            </p:cNvSpPr>
            <p:nvPr/>
          </p:nvSpPr>
          <p:spPr bwMode="auto">
            <a:xfrm>
              <a:off x="397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1" name="Line 551"/>
            <p:cNvSpPr>
              <a:spLocks noChangeShapeType="1"/>
            </p:cNvSpPr>
            <p:nvPr/>
          </p:nvSpPr>
          <p:spPr bwMode="auto">
            <a:xfrm>
              <a:off x="398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2" name="Line 552"/>
            <p:cNvSpPr>
              <a:spLocks noChangeShapeType="1"/>
            </p:cNvSpPr>
            <p:nvPr/>
          </p:nvSpPr>
          <p:spPr bwMode="auto">
            <a:xfrm>
              <a:off x="400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3" name="Line 553"/>
            <p:cNvSpPr>
              <a:spLocks noChangeShapeType="1"/>
            </p:cNvSpPr>
            <p:nvPr/>
          </p:nvSpPr>
          <p:spPr bwMode="auto">
            <a:xfrm>
              <a:off x="404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4" name="Line 554"/>
            <p:cNvSpPr>
              <a:spLocks noChangeShapeType="1"/>
            </p:cNvSpPr>
            <p:nvPr/>
          </p:nvSpPr>
          <p:spPr bwMode="auto">
            <a:xfrm>
              <a:off x="405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5" name="Line 555"/>
            <p:cNvSpPr>
              <a:spLocks noChangeShapeType="1"/>
            </p:cNvSpPr>
            <p:nvPr/>
          </p:nvSpPr>
          <p:spPr bwMode="auto">
            <a:xfrm>
              <a:off x="407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6" name="Line 556"/>
            <p:cNvSpPr>
              <a:spLocks noChangeShapeType="1"/>
            </p:cNvSpPr>
            <p:nvPr/>
          </p:nvSpPr>
          <p:spPr bwMode="auto">
            <a:xfrm>
              <a:off x="411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7" name="Line 557"/>
            <p:cNvSpPr>
              <a:spLocks noChangeShapeType="1"/>
            </p:cNvSpPr>
            <p:nvPr/>
          </p:nvSpPr>
          <p:spPr bwMode="auto">
            <a:xfrm>
              <a:off x="412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8" name="Line 558"/>
            <p:cNvSpPr>
              <a:spLocks noChangeShapeType="1"/>
            </p:cNvSpPr>
            <p:nvPr/>
          </p:nvSpPr>
          <p:spPr bwMode="auto">
            <a:xfrm>
              <a:off x="414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29" name="Line 559"/>
            <p:cNvSpPr>
              <a:spLocks noChangeShapeType="1"/>
            </p:cNvSpPr>
            <p:nvPr/>
          </p:nvSpPr>
          <p:spPr bwMode="auto">
            <a:xfrm>
              <a:off x="418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0" name="Line 560"/>
            <p:cNvSpPr>
              <a:spLocks noChangeShapeType="1"/>
            </p:cNvSpPr>
            <p:nvPr/>
          </p:nvSpPr>
          <p:spPr bwMode="auto">
            <a:xfrm>
              <a:off x="420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1" name="Line 561"/>
            <p:cNvSpPr>
              <a:spLocks noChangeShapeType="1"/>
            </p:cNvSpPr>
            <p:nvPr/>
          </p:nvSpPr>
          <p:spPr bwMode="auto">
            <a:xfrm>
              <a:off x="422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2" name="Line 562"/>
            <p:cNvSpPr>
              <a:spLocks noChangeShapeType="1"/>
            </p:cNvSpPr>
            <p:nvPr/>
          </p:nvSpPr>
          <p:spPr bwMode="auto">
            <a:xfrm>
              <a:off x="425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3" name="Line 563"/>
            <p:cNvSpPr>
              <a:spLocks noChangeShapeType="1"/>
            </p:cNvSpPr>
            <p:nvPr/>
          </p:nvSpPr>
          <p:spPr bwMode="auto">
            <a:xfrm>
              <a:off x="427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4" name="Line 564"/>
            <p:cNvSpPr>
              <a:spLocks noChangeShapeType="1"/>
            </p:cNvSpPr>
            <p:nvPr/>
          </p:nvSpPr>
          <p:spPr bwMode="auto">
            <a:xfrm>
              <a:off x="429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5" name="Line 565"/>
            <p:cNvSpPr>
              <a:spLocks noChangeShapeType="1"/>
            </p:cNvSpPr>
            <p:nvPr/>
          </p:nvSpPr>
          <p:spPr bwMode="auto">
            <a:xfrm>
              <a:off x="432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6" name="Line 566"/>
            <p:cNvSpPr>
              <a:spLocks noChangeShapeType="1"/>
            </p:cNvSpPr>
            <p:nvPr/>
          </p:nvSpPr>
          <p:spPr bwMode="auto">
            <a:xfrm>
              <a:off x="434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7" name="Line 567"/>
            <p:cNvSpPr>
              <a:spLocks noChangeShapeType="1"/>
            </p:cNvSpPr>
            <p:nvPr/>
          </p:nvSpPr>
          <p:spPr bwMode="auto">
            <a:xfrm>
              <a:off x="436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8" name="Line 568"/>
            <p:cNvSpPr>
              <a:spLocks noChangeShapeType="1"/>
            </p:cNvSpPr>
            <p:nvPr/>
          </p:nvSpPr>
          <p:spPr bwMode="auto">
            <a:xfrm>
              <a:off x="439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39" name="Line 569"/>
            <p:cNvSpPr>
              <a:spLocks noChangeShapeType="1"/>
            </p:cNvSpPr>
            <p:nvPr/>
          </p:nvSpPr>
          <p:spPr bwMode="auto">
            <a:xfrm>
              <a:off x="441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0" name="Line 570"/>
            <p:cNvSpPr>
              <a:spLocks noChangeShapeType="1"/>
            </p:cNvSpPr>
            <p:nvPr/>
          </p:nvSpPr>
          <p:spPr bwMode="auto">
            <a:xfrm>
              <a:off x="443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1" name="Line 571"/>
            <p:cNvSpPr>
              <a:spLocks noChangeShapeType="1"/>
            </p:cNvSpPr>
            <p:nvPr/>
          </p:nvSpPr>
          <p:spPr bwMode="auto">
            <a:xfrm>
              <a:off x="446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2" name="Line 572"/>
            <p:cNvSpPr>
              <a:spLocks noChangeShapeType="1"/>
            </p:cNvSpPr>
            <p:nvPr/>
          </p:nvSpPr>
          <p:spPr bwMode="auto">
            <a:xfrm>
              <a:off x="449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3" name="Line 573"/>
            <p:cNvSpPr>
              <a:spLocks noChangeShapeType="1"/>
            </p:cNvSpPr>
            <p:nvPr/>
          </p:nvSpPr>
          <p:spPr bwMode="auto">
            <a:xfrm>
              <a:off x="450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4" name="Line 574"/>
            <p:cNvSpPr>
              <a:spLocks noChangeShapeType="1"/>
            </p:cNvSpPr>
            <p:nvPr/>
          </p:nvSpPr>
          <p:spPr bwMode="auto">
            <a:xfrm>
              <a:off x="454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5" name="Line 575"/>
            <p:cNvSpPr>
              <a:spLocks noChangeShapeType="1"/>
            </p:cNvSpPr>
            <p:nvPr/>
          </p:nvSpPr>
          <p:spPr bwMode="auto">
            <a:xfrm>
              <a:off x="456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6" name="Line 576"/>
            <p:cNvSpPr>
              <a:spLocks noChangeShapeType="1"/>
            </p:cNvSpPr>
            <p:nvPr/>
          </p:nvSpPr>
          <p:spPr bwMode="auto">
            <a:xfrm>
              <a:off x="457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7" name="Line 577"/>
            <p:cNvSpPr>
              <a:spLocks noChangeShapeType="1"/>
            </p:cNvSpPr>
            <p:nvPr/>
          </p:nvSpPr>
          <p:spPr bwMode="auto">
            <a:xfrm>
              <a:off x="461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8" name="Line 578"/>
            <p:cNvSpPr>
              <a:spLocks noChangeShapeType="1"/>
            </p:cNvSpPr>
            <p:nvPr/>
          </p:nvSpPr>
          <p:spPr bwMode="auto">
            <a:xfrm>
              <a:off x="463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49" name="Line 579"/>
            <p:cNvSpPr>
              <a:spLocks noChangeShapeType="1"/>
            </p:cNvSpPr>
            <p:nvPr/>
          </p:nvSpPr>
          <p:spPr bwMode="auto">
            <a:xfrm>
              <a:off x="465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0" name="Line 580"/>
            <p:cNvSpPr>
              <a:spLocks noChangeShapeType="1"/>
            </p:cNvSpPr>
            <p:nvPr/>
          </p:nvSpPr>
          <p:spPr bwMode="auto">
            <a:xfrm>
              <a:off x="468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1" name="Line 581"/>
            <p:cNvSpPr>
              <a:spLocks noChangeShapeType="1"/>
            </p:cNvSpPr>
            <p:nvPr/>
          </p:nvSpPr>
          <p:spPr bwMode="auto">
            <a:xfrm>
              <a:off x="4705"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2" name="Line 582"/>
            <p:cNvSpPr>
              <a:spLocks noChangeShapeType="1"/>
            </p:cNvSpPr>
            <p:nvPr/>
          </p:nvSpPr>
          <p:spPr bwMode="auto">
            <a:xfrm>
              <a:off x="472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3" name="Line 583"/>
            <p:cNvSpPr>
              <a:spLocks noChangeShapeType="1"/>
            </p:cNvSpPr>
            <p:nvPr/>
          </p:nvSpPr>
          <p:spPr bwMode="auto">
            <a:xfrm>
              <a:off x="475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4" name="Line 584"/>
            <p:cNvSpPr>
              <a:spLocks noChangeShapeType="1"/>
            </p:cNvSpPr>
            <p:nvPr/>
          </p:nvSpPr>
          <p:spPr bwMode="auto">
            <a:xfrm>
              <a:off x="477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5" name="Line 585"/>
            <p:cNvSpPr>
              <a:spLocks noChangeShapeType="1"/>
            </p:cNvSpPr>
            <p:nvPr/>
          </p:nvSpPr>
          <p:spPr bwMode="auto">
            <a:xfrm>
              <a:off x="479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6" name="Line 586"/>
            <p:cNvSpPr>
              <a:spLocks noChangeShapeType="1"/>
            </p:cNvSpPr>
            <p:nvPr/>
          </p:nvSpPr>
          <p:spPr bwMode="auto">
            <a:xfrm>
              <a:off x="483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7" name="Line 587"/>
            <p:cNvSpPr>
              <a:spLocks noChangeShapeType="1"/>
            </p:cNvSpPr>
            <p:nvPr/>
          </p:nvSpPr>
          <p:spPr bwMode="auto">
            <a:xfrm>
              <a:off x="4847"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8" name="Line 588"/>
            <p:cNvSpPr>
              <a:spLocks noChangeShapeType="1"/>
            </p:cNvSpPr>
            <p:nvPr/>
          </p:nvSpPr>
          <p:spPr bwMode="auto">
            <a:xfrm>
              <a:off x="4864"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59" name="Line 589"/>
            <p:cNvSpPr>
              <a:spLocks noChangeShapeType="1"/>
            </p:cNvSpPr>
            <p:nvPr/>
          </p:nvSpPr>
          <p:spPr bwMode="auto">
            <a:xfrm>
              <a:off x="4901"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0" name="Line 590"/>
            <p:cNvSpPr>
              <a:spLocks noChangeShapeType="1"/>
            </p:cNvSpPr>
            <p:nvPr/>
          </p:nvSpPr>
          <p:spPr bwMode="auto">
            <a:xfrm>
              <a:off x="491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1" name="Line 591"/>
            <p:cNvSpPr>
              <a:spLocks noChangeShapeType="1"/>
            </p:cNvSpPr>
            <p:nvPr/>
          </p:nvSpPr>
          <p:spPr bwMode="auto">
            <a:xfrm>
              <a:off x="4938"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2" name="Line 592"/>
            <p:cNvSpPr>
              <a:spLocks noChangeShapeType="1"/>
            </p:cNvSpPr>
            <p:nvPr/>
          </p:nvSpPr>
          <p:spPr bwMode="auto">
            <a:xfrm>
              <a:off x="497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3" name="Line 593"/>
            <p:cNvSpPr>
              <a:spLocks noChangeShapeType="1"/>
            </p:cNvSpPr>
            <p:nvPr/>
          </p:nvSpPr>
          <p:spPr bwMode="auto">
            <a:xfrm>
              <a:off x="4992"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4" name="Line 594"/>
            <p:cNvSpPr>
              <a:spLocks noChangeShapeType="1"/>
            </p:cNvSpPr>
            <p:nvPr/>
          </p:nvSpPr>
          <p:spPr bwMode="auto">
            <a:xfrm>
              <a:off x="5009"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5" name="Line 595"/>
            <p:cNvSpPr>
              <a:spLocks noChangeShapeType="1"/>
            </p:cNvSpPr>
            <p:nvPr/>
          </p:nvSpPr>
          <p:spPr bwMode="auto">
            <a:xfrm>
              <a:off x="5046"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6" name="Line 596"/>
            <p:cNvSpPr>
              <a:spLocks noChangeShapeType="1"/>
            </p:cNvSpPr>
            <p:nvPr/>
          </p:nvSpPr>
          <p:spPr bwMode="auto">
            <a:xfrm>
              <a:off x="5063"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7" name="Line 597"/>
            <p:cNvSpPr>
              <a:spLocks noChangeShapeType="1"/>
            </p:cNvSpPr>
            <p:nvPr/>
          </p:nvSpPr>
          <p:spPr bwMode="auto">
            <a:xfrm>
              <a:off x="5080" y="3631"/>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8" name="Line 598"/>
            <p:cNvSpPr>
              <a:spLocks noChangeShapeType="1"/>
            </p:cNvSpPr>
            <p:nvPr/>
          </p:nvSpPr>
          <p:spPr bwMode="auto">
            <a:xfrm>
              <a:off x="799" y="3631"/>
              <a:ext cx="1" cy="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69" name="Rectangle 599"/>
            <p:cNvSpPr>
              <a:spLocks noChangeArrowheads="1"/>
            </p:cNvSpPr>
            <p:nvPr/>
          </p:nvSpPr>
          <p:spPr bwMode="auto">
            <a:xfrm>
              <a:off x="755" y="3662"/>
              <a:ext cx="6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400</a:t>
              </a:r>
              <a:endParaRPr lang="en-US" altLang="en-US">
                <a:solidFill>
                  <a:srgbClr val="000000"/>
                </a:solidFill>
                <a:latin typeface="Calibri" panose="020F0502020204030204" pitchFamily="34" charset="0"/>
              </a:endParaRPr>
            </a:p>
          </p:txBody>
        </p:sp>
        <p:sp>
          <p:nvSpPr>
            <p:cNvPr id="37470" name="Line 600"/>
            <p:cNvSpPr>
              <a:spLocks noChangeShapeType="1"/>
            </p:cNvSpPr>
            <p:nvPr/>
          </p:nvSpPr>
          <p:spPr bwMode="auto">
            <a:xfrm>
              <a:off x="1157" y="3631"/>
              <a:ext cx="1" cy="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71" name="Rectangle 601"/>
            <p:cNvSpPr>
              <a:spLocks noChangeArrowheads="1"/>
            </p:cNvSpPr>
            <p:nvPr/>
          </p:nvSpPr>
          <p:spPr bwMode="auto">
            <a:xfrm>
              <a:off x="1113" y="3662"/>
              <a:ext cx="6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500</a:t>
              </a:r>
              <a:endParaRPr lang="en-US" altLang="en-US">
                <a:solidFill>
                  <a:srgbClr val="000000"/>
                </a:solidFill>
                <a:latin typeface="Calibri" panose="020F0502020204030204" pitchFamily="34" charset="0"/>
              </a:endParaRPr>
            </a:p>
          </p:txBody>
        </p:sp>
        <p:sp>
          <p:nvSpPr>
            <p:cNvPr id="37472" name="Line 602"/>
            <p:cNvSpPr>
              <a:spLocks noChangeShapeType="1"/>
            </p:cNvSpPr>
            <p:nvPr/>
          </p:nvSpPr>
          <p:spPr bwMode="auto">
            <a:xfrm>
              <a:off x="1514" y="3631"/>
              <a:ext cx="1" cy="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73" name="Rectangle 603"/>
            <p:cNvSpPr>
              <a:spLocks noChangeArrowheads="1"/>
            </p:cNvSpPr>
            <p:nvPr/>
          </p:nvSpPr>
          <p:spPr bwMode="auto">
            <a:xfrm>
              <a:off x="1470" y="3662"/>
              <a:ext cx="6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600</a:t>
              </a:r>
              <a:endParaRPr lang="en-US" altLang="en-US">
                <a:solidFill>
                  <a:srgbClr val="000000"/>
                </a:solidFill>
                <a:latin typeface="Calibri" panose="020F0502020204030204" pitchFamily="34" charset="0"/>
              </a:endParaRPr>
            </a:p>
          </p:txBody>
        </p:sp>
        <p:sp>
          <p:nvSpPr>
            <p:cNvPr id="37474" name="Line 604"/>
            <p:cNvSpPr>
              <a:spLocks noChangeShapeType="1"/>
            </p:cNvSpPr>
            <p:nvPr/>
          </p:nvSpPr>
          <p:spPr bwMode="auto">
            <a:xfrm>
              <a:off x="1874" y="3631"/>
              <a:ext cx="1" cy="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75" name="Rectangle 605"/>
            <p:cNvSpPr>
              <a:spLocks noChangeArrowheads="1"/>
            </p:cNvSpPr>
            <p:nvPr/>
          </p:nvSpPr>
          <p:spPr bwMode="auto">
            <a:xfrm>
              <a:off x="1830" y="3662"/>
              <a:ext cx="6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700</a:t>
              </a:r>
              <a:endParaRPr lang="en-US" altLang="en-US">
                <a:solidFill>
                  <a:srgbClr val="000000"/>
                </a:solidFill>
                <a:latin typeface="Calibri" panose="020F0502020204030204" pitchFamily="34" charset="0"/>
              </a:endParaRPr>
            </a:p>
          </p:txBody>
        </p:sp>
        <p:sp>
          <p:nvSpPr>
            <p:cNvPr id="37476" name="Line 606"/>
            <p:cNvSpPr>
              <a:spLocks noChangeShapeType="1"/>
            </p:cNvSpPr>
            <p:nvPr/>
          </p:nvSpPr>
          <p:spPr bwMode="auto">
            <a:xfrm>
              <a:off x="2232" y="3631"/>
              <a:ext cx="1" cy="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77" name="Rectangle 607"/>
            <p:cNvSpPr>
              <a:spLocks noChangeArrowheads="1"/>
            </p:cNvSpPr>
            <p:nvPr/>
          </p:nvSpPr>
          <p:spPr bwMode="auto">
            <a:xfrm>
              <a:off x="2188" y="3662"/>
              <a:ext cx="6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800</a:t>
              </a:r>
              <a:endParaRPr lang="en-US" altLang="en-US">
                <a:solidFill>
                  <a:srgbClr val="000000"/>
                </a:solidFill>
                <a:latin typeface="Calibri" panose="020F0502020204030204" pitchFamily="34" charset="0"/>
              </a:endParaRPr>
            </a:p>
          </p:txBody>
        </p:sp>
        <p:sp>
          <p:nvSpPr>
            <p:cNvPr id="37478" name="Line 608"/>
            <p:cNvSpPr>
              <a:spLocks noChangeShapeType="1"/>
            </p:cNvSpPr>
            <p:nvPr/>
          </p:nvSpPr>
          <p:spPr bwMode="auto">
            <a:xfrm>
              <a:off x="2589" y="3631"/>
              <a:ext cx="1" cy="3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479" name="Rectangle 609"/>
            <p:cNvSpPr>
              <a:spLocks noChangeArrowheads="1"/>
            </p:cNvSpPr>
            <p:nvPr/>
          </p:nvSpPr>
          <p:spPr bwMode="auto">
            <a:xfrm>
              <a:off x="2545" y="3662"/>
              <a:ext cx="6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900</a:t>
              </a:r>
              <a:endParaRPr lang="en-US" altLang="en-US">
                <a:solidFill>
                  <a:srgbClr val="000000"/>
                </a:solidFill>
                <a:latin typeface="Calibri" panose="020F0502020204030204" pitchFamily="34" charset="0"/>
              </a:endParaRPr>
            </a:p>
          </p:txBody>
        </p:sp>
      </p:grpSp>
      <p:sp>
        <p:nvSpPr>
          <p:cNvPr id="37103" name="Line 611"/>
          <p:cNvSpPr>
            <a:spLocks noChangeShapeType="1"/>
          </p:cNvSpPr>
          <p:nvPr/>
        </p:nvSpPr>
        <p:spPr bwMode="auto">
          <a:xfrm>
            <a:off x="4681538" y="5764213"/>
            <a:ext cx="1587" cy="492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04" name="Rectangle 612"/>
          <p:cNvSpPr>
            <a:spLocks noChangeArrowheads="1"/>
          </p:cNvSpPr>
          <p:nvPr/>
        </p:nvSpPr>
        <p:spPr bwMode="auto">
          <a:xfrm>
            <a:off x="4594225" y="5813425"/>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1000</a:t>
            </a:r>
            <a:endParaRPr lang="en-US" altLang="en-US">
              <a:solidFill>
                <a:srgbClr val="000000"/>
              </a:solidFill>
              <a:latin typeface="Calibri" panose="020F0502020204030204" pitchFamily="34" charset="0"/>
            </a:endParaRPr>
          </a:p>
        </p:txBody>
      </p:sp>
      <p:sp>
        <p:nvSpPr>
          <p:cNvPr id="37105" name="Line 613"/>
          <p:cNvSpPr>
            <a:spLocks noChangeShapeType="1"/>
          </p:cNvSpPr>
          <p:nvPr/>
        </p:nvSpPr>
        <p:spPr bwMode="auto">
          <a:xfrm>
            <a:off x="5249863" y="5764213"/>
            <a:ext cx="1587" cy="492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06" name="Rectangle 614"/>
          <p:cNvSpPr>
            <a:spLocks noChangeArrowheads="1"/>
          </p:cNvSpPr>
          <p:nvPr/>
        </p:nvSpPr>
        <p:spPr bwMode="auto">
          <a:xfrm>
            <a:off x="5162550" y="5813425"/>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1100</a:t>
            </a:r>
            <a:endParaRPr lang="en-US" altLang="en-US">
              <a:solidFill>
                <a:srgbClr val="000000"/>
              </a:solidFill>
              <a:latin typeface="Calibri" panose="020F0502020204030204" pitchFamily="34" charset="0"/>
            </a:endParaRPr>
          </a:p>
        </p:txBody>
      </p:sp>
      <p:sp>
        <p:nvSpPr>
          <p:cNvPr id="37107" name="Line 615"/>
          <p:cNvSpPr>
            <a:spLocks noChangeShapeType="1"/>
          </p:cNvSpPr>
          <p:nvPr/>
        </p:nvSpPr>
        <p:spPr bwMode="auto">
          <a:xfrm>
            <a:off x="5816600" y="5764213"/>
            <a:ext cx="1588" cy="492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08" name="Rectangle 616"/>
          <p:cNvSpPr>
            <a:spLocks noChangeArrowheads="1"/>
          </p:cNvSpPr>
          <p:nvPr/>
        </p:nvSpPr>
        <p:spPr bwMode="auto">
          <a:xfrm>
            <a:off x="5729288" y="5813425"/>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1200</a:t>
            </a:r>
            <a:endParaRPr lang="en-US" altLang="en-US">
              <a:solidFill>
                <a:srgbClr val="000000"/>
              </a:solidFill>
              <a:latin typeface="Calibri" panose="020F0502020204030204" pitchFamily="34" charset="0"/>
            </a:endParaRPr>
          </a:p>
        </p:txBody>
      </p:sp>
      <p:sp>
        <p:nvSpPr>
          <p:cNvPr id="37109" name="Line 617"/>
          <p:cNvSpPr>
            <a:spLocks noChangeShapeType="1"/>
          </p:cNvSpPr>
          <p:nvPr/>
        </p:nvSpPr>
        <p:spPr bwMode="auto">
          <a:xfrm>
            <a:off x="6389688" y="5764213"/>
            <a:ext cx="1587" cy="492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10" name="Rectangle 618"/>
          <p:cNvSpPr>
            <a:spLocks noChangeArrowheads="1"/>
          </p:cNvSpPr>
          <p:nvPr/>
        </p:nvSpPr>
        <p:spPr bwMode="auto">
          <a:xfrm>
            <a:off x="6302375" y="5813425"/>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1300</a:t>
            </a:r>
            <a:endParaRPr lang="en-US" altLang="en-US">
              <a:solidFill>
                <a:srgbClr val="000000"/>
              </a:solidFill>
              <a:latin typeface="Calibri" panose="020F0502020204030204" pitchFamily="34" charset="0"/>
            </a:endParaRPr>
          </a:p>
        </p:txBody>
      </p:sp>
      <p:sp>
        <p:nvSpPr>
          <p:cNvPr id="37111" name="Line 619"/>
          <p:cNvSpPr>
            <a:spLocks noChangeShapeType="1"/>
          </p:cNvSpPr>
          <p:nvPr/>
        </p:nvSpPr>
        <p:spPr bwMode="auto">
          <a:xfrm>
            <a:off x="6956425" y="5764213"/>
            <a:ext cx="1588" cy="492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12" name="Rectangle 620"/>
          <p:cNvSpPr>
            <a:spLocks noChangeArrowheads="1"/>
          </p:cNvSpPr>
          <p:nvPr/>
        </p:nvSpPr>
        <p:spPr bwMode="auto">
          <a:xfrm>
            <a:off x="6869113" y="5813425"/>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1400</a:t>
            </a:r>
            <a:endParaRPr lang="en-US" altLang="en-US">
              <a:solidFill>
                <a:srgbClr val="000000"/>
              </a:solidFill>
              <a:latin typeface="Calibri" panose="020F0502020204030204" pitchFamily="34" charset="0"/>
            </a:endParaRPr>
          </a:p>
        </p:txBody>
      </p:sp>
      <p:sp>
        <p:nvSpPr>
          <p:cNvPr id="37113" name="Line 621"/>
          <p:cNvSpPr>
            <a:spLocks noChangeShapeType="1"/>
          </p:cNvSpPr>
          <p:nvPr/>
        </p:nvSpPr>
        <p:spPr bwMode="auto">
          <a:xfrm>
            <a:off x="7523163" y="5764213"/>
            <a:ext cx="1587" cy="492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14" name="Rectangle 622"/>
          <p:cNvSpPr>
            <a:spLocks noChangeArrowheads="1"/>
          </p:cNvSpPr>
          <p:nvPr/>
        </p:nvSpPr>
        <p:spPr bwMode="auto">
          <a:xfrm>
            <a:off x="7435850" y="5813425"/>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1500</a:t>
            </a:r>
            <a:endParaRPr lang="en-US" altLang="en-US">
              <a:solidFill>
                <a:srgbClr val="000000"/>
              </a:solidFill>
              <a:latin typeface="Calibri" panose="020F0502020204030204" pitchFamily="34" charset="0"/>
            </a:endParaRPr>
          </a:p>
        </p:txBody>
      </p:sp>
      <p:sp>
        <p:nvSpPr>
          <p:cNvPr id="37115" name="Line 623"/>
          <p:cNvSpPr>
            <a:spLocks noChangeShapeType="1"/>
          </p:cNvSpPr>
          <p:nvPr/>
        </p:nvSpPr>
        <p:spPr bwMode="auto">
          <a:xfrm>
            <a:off x="8096250" y="5764213"/>
            <a:ext cx="1588" cy="492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16" name="Rectangle 624"/>
          <p:cNvSpPr>
            <a:spLocks noChangeArrowheads="1"/>
          </p:cNvSpPr>
          <p:nvPr/>
        </p:nvSpPr>
        <p:spPr bwMode="auto">
          <a:xfrm>
            <a:off x="8008938" y="5813425"/>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1600</a:t>
            </a:r>
            <a:endParaRPr lang="en-US" altLang="en-US">
              <a:solidFill>
                <a:srgbClr val="000000"/>
              </a:solidFill>
              <a:latin typeface="Calibri" panose="020F0502020204030204" pitchFamily="34" charset="0"/>
            </a:endParaRPr>
          </a:p>
        </p:txBody>
      </p:sp>
      <p:sp>
        <p:nvSpPr>
          <p:cNvPr id="37117" name="Rectangle 625"/>
          <p:cNvSpPr>
            <a:spLocks noChangeArrowheads="1"/>
          </p:cNvSpPr>
          <p:nvPr/>
        </p:nvSpPr>
        <p:spPr bwMode="auto">
          <a:xfrm>
            <a:off x="4618038" y="5903913"/>
            <a:ext cx="20478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m/z</a:t>
            </a:r>
          </a:p>
        </p:txBody>
      </p:sp>
      <p:sp>
        <p:nvSpPr>
          <p:cNvPr id="37118" name="Line 626"/>
          <p:cNvSpPr>
            <a:spLocks noChangeShapeType="1"/>
          </p:cNvSpPr>
          <p:nvPr/>
        </p:nvSpPr>
        <p:spPr bwMode="auto">
          <a:xfrm flipV="1">
            <a:off x="1268413" y="4122738"/>
            <a:ext cx="1587" cy="16367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19" name="Line 627"/>
          <p:cNvSpPr>
            <a:spLocks noChangeShapeType="1"/>
          </p:cNvSpPr>
          <p:nvPr/>
        </p:nvSpPr>
        <p:spPr bwMode="auto">
          <a:xfrm flipH="1">
            <a:off x="1236663" y="572770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0" name="Line 628"/>
          <p:cNvSpPr>
            <a:spLocks noChangeShapeType="1"/>
          </p:cNvSpPr>
          <p:nvPr/>
        </p:nvSpPr>
        <p:spPr bwMode="auto">
          <a:xfrm flipH="1">
            <a:off x="1236663" y="56959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1" name="Line 629"/>
          <p:cNvSpPr>
            <a:spLocks noChangeShapeType="1"/>
          </p:cNvSpPr>
          <p:nvPr/>
        </p:nvSpPr>
        <p:spPr bwMode="auto">
          <a:xfrm flipH="1">
            <a:off x="1236663" y="566261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2" name="Line 630"/>
          <p:cNvSpPr>
            <a:spLocks noChangeShapeType="1"/>
          </p:cNvSpPr>
          <p:nvPr/>
        </p:nvSpPr>
        <p:spPr bwMode="auto">
          <a:xfrm flipH="1">
            <a:off x="1236663" y="56308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3" name="Line 631"/>
          <p:cNvSpPr>
            <a:spLocks noChangeShapeType="1"/>
          </p:cNvSpPr>
          <p:nvPr/>
        </p:nvSpPr>
        <p:spPr bwMode="auto">
          <a:xfrm flipH="1">
            <a:off x="1236663" y="55673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4" name="Line 632"/>
          <p:cNvSpPr>
            <a:spLocks noChangeShapeType="1"/>
          </p:cNvSpPr>
          <p:nvPr/>
        </p:nvSpPr>
        <p:spPr bwMode="auto">
          <a:xfrm flipH="1">
            <a:off x="1236663" y="553561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5" name="Line 633"/>
          <p:cNvSpPr>
            <a:spLocks noChangeShapeType="1"/>
          </p:cNvSpPr>
          <p:nvPr/>
        </p:nvSpPr>
        <p:spPr bwMode="auto">
          <a:xfrm flipH="1">
            <a:off x="1236663" y="55022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6" name="Line 634"/>
          <p:cNvSpPr>
            <a:spLocks noChangeShapeType="1"/>
          </p:cNvSpPr>
          <p:nvPr/>
        </p:nvSpPr>
        <p:spPr bwMode="auto">
          <a:xfrm flipH="1">
            <a:off x="1236663" y="54657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7" name="Line 635"/>
          <p:cNvSpPr>
            <a:spLocks noChangeShapeType="1"/>
          </p:cNvSpPr>
          <p:nvPr/>
        </p:nvSpPr>
        <p:spPr bwMode="auto">
          <a:xfrm flipH="1">
            <a:off x="1236663" y="54006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8" name="Line 636"/>
          <p:cNvSpPr>
            <a:spLocks noChangeShapeType="1"/>
          </p:cNvSpPr>
          <p:nvPr/>
        </p:nvSpPr>
        <p:spPr bwMode="auto">
          <a:xfrm flipH="1">
            <a:off x="1236663" y="536892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29" name="Line 637"/>
          <p:cNvSpPr>
            <a:spLocks noChangeShapeType="1"/>
          </p:cNvSpPr>
          <p:nvPr/>
        </p:nvSpPr>
        <p:spPr bwMode="auto">
          <a:xfrm flipH="1">
            <a:off x="1236663" y="53371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0" name="Line 638"/>
          <p:cNvSpPr>
            <a:spLocks noChangeShapeType="1"/>
          </p:cNvSpPr>
          <p:nvPr/>
        </p:nvSpPr>
        <p:spPr bwMode="auto">
          <a:xfrm flipH="1">
            <a:off x="1236663" y="530542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1" name="Line 639"/>
          <p:cNvSpPr>
            <a:spLocks noChangeShapeType="1"/>
          </p:cNvSpPr>
          <p:nvPr/>
        </p:nvSpPr>
        <p:spPr bwMode="auto">
          <a:xfrm flipH="1">
            <a:off x="1236663" y="52403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2" name="Line 640"/>
          <p:cNvSpPr>
            <a:spLocks noChangeShapeType="1"/>
          </p:cNvSpPr>
          <p:nvPr/>
        </p:nvSpPr>
        <p:spPr bwMode="auto">
          <a:xfrm flipH="1">
            <a:off x="1236663" y="520382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3" name="Line 641"/>
          <p:cNvSpPr>
            <a:spLocks noChangeShapeType="1"/>
          </p:cNvSpPr>
          <p:nvPr/>
        </p:nvSpPr>
        <p:spPr bwMode="auto">
          <a:xfrm flipH="1">
            <a:off x="1236663" y="51704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4" name="Line 642"/>
          <p:cNvSpPr>
            <a:spLocks noChangeShapeType="1"/>
          </p:cNvSpPr>
          <p:nvPr/>
        </p:nvSpPr>
        <p:spPr bwMode="auto">
          <a:xfrm flipH="1">
            <a:off x="1236663" y="51387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5" name="Line 643"/>
          <p:cNvSpPr>
            <a:spLocks noChangeShapeType="1"/>
          </p:cNvSpPr>
          <p:nvPr/>
        </p:nvSpPr>
        <p:spPr bwMode="auto">
          <a:xfrm flipH="1">
            <a:off x="1236663" y="50752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6" name="Line 644"/>
          <p:cNvSpPr>
            <a:spLocks noChangeShapeType="1"/>
          </p:cNvSpPr>
          <p:nvPr/>
        </p:nvSpPr>
        <p:spPr bwMode="auto">
          <a:xfrm flipH="1">
            <a:off x="1236663" y="504190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7" name="Line 645"/>
          <p:cNvSpPr>
            <a:spLocks noChangeShapeType="1"/>
          </p:cNvSpPr>
          <p:nvPr/>
        </p:nvSpPr>
        <p:spPr bwMode="auto">
          <a:xfrm flipH="1">
            <a:off x="1236663" y="50101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8" name="Line 646"/>
          <p:cNvSpPr>
            <a:spLocks noChangeShapeType="1"/>
          </p:cNvSpPr>
          <p:nvPr/>
        </p:nvSpPr>
        <p:spPr bwMode="auto">
          <a:xfrm flipH="1">
            <a:off x="1236663" y="497840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39" name="Line 647"/>
          <p:cNvSpPr>
            <a:spLocks noChangeShapeType="1"/>
          </p:cNvSpPr>
          <p:nvPr/>
        </p:nvSpPr>
        <p:spPr bwMode="auto">
          <a:xfrm flipH="1">
            <a:off x="1236663" y="49085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0" name="Line 648"/>
          <p:cNvSpPr>
            <a:spLocks noChangeShapeType="1"/>
          </p:cNvSpPr>
          <p:nvPr/>
        </p:nvSpPr>
        <p:spPr bwMode="auto">
          <a:xfrm flipH="1">
            <a:off x="1236663" y="487680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1" name="Line 649"/>
          <p:cNvSpPr>
            <a:spLocks noChangeShapeType="1"/>
          </p:cNvSpPr>
          <p:nvPr/>
        </p:nvSpPr>
        <p:spPr bwMode="auto">
          <a:xfrm flipH="1">
            <a:off x="1236663" y="48450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2" name="Line 650"/>
          <p:cNvSpPr>
            <a:spLocks noChangeShapeType="1"/>
          </p:cNvSpPr>
          <p:nvPr/>
        </p:nvSpPr>
        <p:spPr bwMode="auto">
          <a:xfrm flipH="1">
            <a:off x="1236663" y="481330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3" name="Line 651"/>
          <p:cNvSpPr>
            <a:spLocks noChangeShapeType="1"/>
          </p:cNvSpPr>
          <p:nvPr/>
        </p:nvSpPr>
        <p:spPr bwMode="auto">
          <a:xfrm flipH="1">
            <a:off x="1236663" y="474821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4" name="Line 652"/>
          <p:cNvSpPr>
            <a:spLocks noChangeShapeType="1"/>
          </p:cNvSpPr>
          <p:nvPr/>
        </p:nvSpPr>
        <p:spPr bwMode="auto">
          <a:xfrm flipH="1">
            <a:off x="1236663" y="471646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5" name="Line 653"/>
          <p:cNvSpPr>
            <a:spLocks noChangeShapeType="1"/>
          </p:cNvSpPr>
          <p:nvPr/>
        </p:nvSpPr>
        <p:spPr bwMode="auto">
          <a:xfrm flipH="1">
            <a:off x="1236663" y="468471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6" name="Line 654"/>
          <p:cNvSpPr>
            <a:spLocks noChangeShapeType="1"/>
          </p:cNvSpPr>
          <p:nvPr/>
        </p:nvSpPr>
        <p:spPr bwMode="auto">
          <a:xfrm flipH="1">
            <a:off x="1236663" y="464661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7" name="Line 655"/>
          <p:cNvSpPr>
            <a:spLocks noChangeShapeType="1"/>
          </p:cNvSpPr>
          <p:nvPr/>
        </p:nvSpPr>
        <p:spPr bwMode="auto">
          <a:xfrm flipH="1">
            <a:off x="1236663" y="4583113"/>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8" name="Line 656"/>
          <p:cNvSpPr>
            <a:spLocks noChangeShapeType="1"/>
          </p:cNvSpPr>
          <p:nvPr/>
        </p:nvSpPr>
        <p:spPr bwMode="auto">
          <a:xfrm flipH="1">
            <a:off x="1236663" y="45497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49" name="Line 657"/>
          <p:cNvSpPr>
            <a:spLocks noChangeShapeType="1"/>
          </p:cNvSpPr>
          <p:nvPr/>
        </p:nvSpPr>
        <p:spPr bwMode="auto">
          <a:xfrm flipH="1">
            <a:off x="1236663" y="451802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0" name="Line 658"/>
          <p:cNvSpPr>
            <a:spLocks noChangeShapeType="1"/>
          </p:cNvSpPr>
          <p:nvPr/>
        </p:nvSpPr>
        <p:spPr bwMode="auto">
          <a:xfrm flipH="1">
            <a:off x="1236663" y="44862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1" name="Line 659"/>
          <p:cNvSpPr>
            <a:spLocks noChangeShapeType="1"/>
          </p:cNvSpPr>
          <p:nvPr/>
        </p:nvSpPr>
        <p:spPr bwMode="auto">
          <a:xfrm flipH="1">
            <a:off x="1236663" y="44227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2" name="Line 660"/>
          <p:cNvSpPr>
            <a:spLocks noChangeShapeType="1"/>
          </p:cNvSpPr>
          <p:nvPr/>
        </p:nvSpPr>
        <p:spPr bwMode="auto">
          <a:xfrm flipH="1">
            <a:off x="1236663" y="43846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3" name="Line 661"/>
          <p:cNvSpPr>
            <a:spLocks noChangeShapeType="1"/>
          </p:cNvSpPr>
          <p:nvPr/>
        </p:nvSpPr>
        <p:spPr bwMode="auto">
          <a:xfrm flipH="1">
            <a:off x="1236663" y="435292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4" name="Line 662"/>
          <p:cNvSpPr>
            <a:spLocks noChangeShapeType="1"/>
          </p:cNvSpPr>
          <p:nvPr/>
        </p:nvSpPr>
        <p:spPr bwMode="auto">
          <a:xfrm flipH="1">
            <a:off x="1236663" y="4321175"/>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5" name="Line 663"/>
          <p:cNvSpPr>
            <a:spLocks noChangeShapeType="1"/>
          </p:cNvSpPr>
          <p:nvPr/>
        </p:nvSpPr>
        <p:spPr bwMode="auto">
          <a:xfrm flipH="1">
            <a:off x="1236663" y="42560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6" name="Line 664"/>
          <p:cNvSpPr>
            <a:spLocks noChangeShapeType="1"/>
          </p:cNvSpPr>
          <p:nvPr/>
        </p:nvSpPr>
        <p:spPr bwMode="auto">
          <a:xfrm flipH="1">
            <a:off x="1236663" y="422433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7" name="Line 665"/>
          <p:cNvSpPr>
            <a:spLocks noChangeShapeType="1"/>
          </p:cNvSpPr>
          <p:nvPr/>
        </p:nvSpPr>
        <p:spPr bwMode="auto">
          <a:xfrm flipH="1">
            <a:off x="1236663" y="4192588"/>
            <a:ext cx="317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8" name="Line 666"/>
          <p:cNvSpPr>
            <a:spLocks noChangeShapeType="1"/>
          </p:cNvSpPr>
          <p:nvPr/>
        </p:nvSpPr>
        <p:spPr bwMode="auto">
          <a:xfrm flipH="1">
            <a:off x="1236663" y="4159250"/>
            <a:ext cx="317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59" name="Line 667"/>
          <p:cNvSpPr>
            <a:spLocks noChangeShapeType="1"/>
          </p:cNvSpPr>
          <p:nvPr/>
        </p:nvSpPr>
        <p:spPr bwMode="auto">
          <a:xfrm flipH="1">
            <a:off x="1220788" y="5759450"/>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60" name="Rectangle 668"/>
          <p:cNvSpPr>
            <a:spLocks noChangeArrowheads="1"/>
          </p:cNvSpPr>
          <p:nvPr/>
        </p:nvSpPr>
        <p:spPr bwMode="auto">
          <a:xfrm>
            <a:off x="1157288" y="5722938"/>
            <a:ext cx="320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0</a:t>
            </a:r>
            <a:endParaRPr lang="en-US" altLang="en-US">
              <a:solidFill>
                <a:srgbClr val="000000"/>
              </a:solidFill>
              <a:latin typeface="Calibri" panose="020F0502020204030204" pitchFamily="34" charset="0"/>
            </a:endParaRPr>
          </a:p>
        </p:txBody>
      </p:sp>
      <p:sp>
        <p:nvSpPr>
          <p:cNvPr id="37161" name="Line 669"/>
          <p:cNvSpPr>
            <a:spLocks noChangeShapeType="1"/>
          </p:cNvSpPr>
          <p:nvPr/>
        </p:nvSpPr>
        <p:spPr bwMode="auto">
          <a:xfrm flipH="1">
            <a:off x="1220788" y="5599113"/>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62" name="Rectangle 670"/>
          <p:cNvSpPr>
            <a:spLocks noChangeArrowheads="1"/>
          </p:cNvSpPr>
          <p:nvPr/>
        </p:nvSpPr>
        <p:spPr bwMode="auto">
          <a:xfrm>
            <a:off x="1119188" y="556260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a:t>
            </a:r>
            <a:endParaRPr lang="en-US" altLang="en-US">
              <a:solidFill>
                <a:srgbClr val="000000"/>
              </a:solidFill>
              <a:latin typeface="Calibri" panose="020F0502020204030204" pitchFamily="34" charset="0"/>
            </a:endParaRPr>
          </a:p>
        </p:txBody>
      </p:sp>
      <p:sp>
        <p:nvSpPr>
          <p:cNvPr id="37163" name="Line 671"/>
          <p:cNvSpPr>
            <a:spLocks noChangeShapeType="1"/>
          </p:cNvSpPr>
          <p:nvPr/>
        </p:nvSpPr>
        <p:spPr bwMode="auto">
          <a:xfrm flipH="1">
            <a:off x="1220788" y="5432425"/>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64" name="Rectangle 672"/>
          <p:cNvSpPr>
            <a:spLocks noChangeArrowheads="1"/>
          </p:cNvSpPr>
          <p:nvPr/>
        </p:nvSpPr>
        <p:spPr bwMode="auto">
          <a:xfrm>
            <a:off x="1119188" y="5395913"/>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20</a:t>
            </a:r>
            <a:endParaRPr lang="en-US" altLang="en-US">
              <a:solidFill>
                <a:srgbClr val="000000"/>
              </a:solidFill>
              <a:latin typeface="Calibri" panose="020F0502020204030204" pitchFamily="34" charset="0"/>
            </a:endParaRPr>
          </a:p>
        </p:txBody>
      </p:sp>
      <p:sp>
        <p:nvSpPr>
          <p:cNvPr id="37165" name="Line 673"/>
          <p:cNvSpPr>
            <a:spLocks noChangeShapeType="1"/>
          </p:cNvSpPr>
          <p:nvPr/>
        </p:nvSpPr>
        <p:spPr bwMode="auto">
          <a:xfrm flipH="1">
            <a:off x="1220788" y="5272088"/>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66" name="Rectangle 674"/>
          <p:cNvSpPr>
            <a:spLocks noChangeArrowheads="1"/>
          </p:cNvSpPr>
          <p:nvPr/>
        </p:nvSpPr>
        <p:spPr bwMode="auto">
          <a:xfrm>
            <a:off x="1119188" y="523557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a:t>
            </a:r>
            <a:endParaRPr lang="en-US" altLang="en-US">
              <a:solidFill>
                <a:srgbClr val="000000"/>
              </a:solidFill>
              <a:latin typeface="Calibri" panose="020F0502020204030204" pitchFamily="34" charset="0"/>
            </a:endParaRPr>
          </a:p>
        </p:txBody>
      </p:sp>
      <p:sp>
        <p:nvSpPr>
          <p:cNvPr id="37167" name="Line 675"/>
          <p:cNvSpPr>
            <a:spLocks noChangeShapeType="1"/>
          </p:cNvSpPr>
          <p:nvPr/>
        </p:nvSpPr>
        <p:spPr bwMode="auto">
          <a:xfrm flipH="1">
            <a:off x="1220788" y="5106988"/>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68" name="Rectangle 676"/>
          <p:cNvSpPr>
            <a:spLocks noChangeArrowheads="1"/>
          </p:cNvSpPr>
          <p:nvPr/>
        </p:nvSpPr>
        <p:spPr bwMode="auto">
          <a:xfrm>
            <a:off x="1119188" y="507047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40</a:t>
            </a:r>
            <a:endParaRPr lang="en-US" altLang="en-US">
              <a:solidFill>
                <a:srgbClr val="000000"/>
              </a:solidFill>
              <a:latin typeface="Calibri" panose="020F0502020204030204" pitchFamily="34" charset="0"/>
            </a:endParaRPr>
          </a:p>
        </p:txBody>
      </p:sp>
      <p:sp>
        <p:nvSpPr>
          <p:cNvPr id="37169" name="Line 677"/>
          <p:cNvSpPr>
            <a:spLocks noChangeShapeType="1"/>
          </p:cNvSpPr>
          <p:nvPr/>
        </p:nvSpPr>
        <p:spPr bwMode="auto">
          <a:xfrm flipH="1">
            <a:off x="1220788" y="4940300"/>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70" name="Rectangle 678"/>
          <p:cNvSpPr>
            <a:spLocks noChangeArrowheads="1"/>
          </p:cNvSpPr>
          <p:nvPr/>
        </p:nvSpPr>
        <p:spPr bwMode="auto">
          <a:xfrm>
            <a:off x="1119188" y="4903788"/>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50</a:t>
            </a:r>
            <a:endParaRPr lang="en-US" altLang="en-US">
              <a:solidFill>
                <a:srgbClr val="000000"/>
              </a:solidFill>
              <a:latin typeface="Calibri" panose="020F0502020204030204" pitchFamily="34" charset="0"/>
            </a:endParaRPr>
          </a:p>
        </p:txBody>
      </p:sp>
      <p:sp>
        <p:nvSpPr>
          <p:cNvPr id="37171" name="Line 679"/>
          <p:cNvSpPr>
            <a:spLocks noChangeShapeType="1"/>
          </p:cNvSpPr>
          <p:nvPr/>
        </p:nvSpPr>
        <p:spPr bwMode="auto">
          <a:xfrm flipH="1">
            <a:off x="1220788" y="4779963"/>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72" name="Rectangle 680"/>
          <p:cNvSpPr>
            <a:spLocks noChangeArrowheads="1"/>
          </p:cNvSpPr>
          <p:nvPr/>
        </p:nvSpPr>
        <p:spPr bwMode="auto">
          <a:xfrm>
            <a:off x="1119188" y="474345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60</a:t>
            </a:r>
            <a:endParaRPr lang="en-US" altLang="en-US">
              <a:solidFill>
                <a:srgbClr val="000000"/>
              </a:solidFill>
              <a:latin typeface="Calibri" panose="020F0502020204030204" pitchFamily="34" charset="0"/>
            </a:endParaRPr>
          </a:p>
        </p:txBody>
      </p:sp>
      <p:sp>
        <p:nvSpPr>
          <p:cNvPr id="37173" name="Line 681"/>
          <p:cNvSpPr>
            <a:spLocks noChangeShapeType="1"/>
          </p:cNvSpPr>
          <p:nvPr/>
        </p:nvSpPr>
        <p:spPr bwMode="auto">
          <a:xfrm flipH="1">
            <a:off x="1220788" y="4614863"/>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74" name="Rectangle 682"/>
          <p:cNvSpPr>
            <a:spLocks noChangeArrowheads="1"/>
          </p:cNvSpPr>
          <p:nvPr/>
        </p:nvSpPr>
        <p:spPr bwMode="auto">
          <a:xfrm>
            <a:off x="1119188" y="457835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70</a:t>
            </a:r>
            <a:endParaRPr lang="en-US" altLang="en-US">
              <a:solidFill>
                <a:srgbClr val="000000"/>
              </a:solidFill>
              <a:latin typeface="Calibri" panose="020F0502020204030204" pitchFamily="34" charset="0"/>
            </a:endParaRPr>
          </a:p>
        </p:txBody>
      </p:sp>
      <p:sp>
        <p:nvSpPr>
          <p:cNvPr id="37175" name="Line 683"/>
          <p:cNvSpPr>
            <a:spLocks noChangeShapeType="1"/>
          </p:cNvSpPr>
          <p:nvPr/>
        </p:nvSpPr>
        <p:spPr bwMode="auto">
          <a:xfrm flipH="1">
            <a:off x="1220788" y="4454525"/>
            <a:ext cx="476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76" name="Rectangle 684"/>
          <p:cNvSpPr>
            <a:spLocks noChangeArrowheads="1"/>
          </p:cNvSpPr>
          <p:nvPr/>
        </p:nvSpPr>
        <p:spPr bwMode="auto">
          <a:xfrm>
            <a:off x="1119188" y="4418013"/>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80</a:t>
            </a:r>
            <a:endParaRPr lang="en-US" altLang="en-US">
              <a:solidFill>
                <a:srgbClr val="000000"/>
              </a:solidFill>
              <a:latin typeface="Calibri" panose="020F0502020204030204" pitchFamily="34" charset="0"/>
            </a:endParaRPr>
          </a:p>
        </p:txBody>
      </p:sp>
      <p:sp>
        <p:nvSpPr>
          <p:cNvPr id="37177" name="Line 685"/>
          <p:cNvSpPr>
            <a:spLocks noChangeShapeType="1"/>
          </p:cNvSpPr>
          <p:nvPr/>
        </p:nvSpPr>
        <p:spPr bwMode="auto">
          <a:xfrm flipH="1">
            <a:off x="1220788" y="4287838"/>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78" name="Rectangle 686"/>
          <p:cNvSpPr>
            <a:spLocks noChangeArrowheads="1"/>
          </p:cNvSpPr>
          <p:nvPr/>
        </p:nvSpPr>
        <p:spPr bwMode="auto">
          <a:xfrm>
            <a:off x="1119188" y="425132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90</a:t>
            </a:r>
            <a:endParaRPr lang="en-US" altLang="en-US">
              <a:solidFill>
                <a:srgbClr val="000000"/>
              </a:solidFill>
              <a:latin typeface="Calibri" panose="020F0502020204030204" pitchFamily="34" charset="0"/>
            </a:endParaRPr>
          </a:p>
        </p:txBody>
      </p:sp>
      <p:sp>
        <p:nvSpPr>
          <p:cNvPr id="37179" name="Line 687"/>
          <p:cNvSpPr>
            <a:spLocks noChangeShapeType="1"/>
          </p:cNvSpPr>
          <p:nvPr/>
        </p:nvSpPr>
        <p:spPr bwMode="auto">
          <a:xfrm flipH="1">
            <a:off x="1220788" y="4122738"/>
            <a:ext cx="47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80" name="Rectangle 688"/>
          <p:cNvSpPr>
            <a:spLocks noChangeArrowheads="1"/>
          </p:cNvSpPr>
          <p:nvPr/>
        </p:nvSpPr>
        <p:spPr bwMode="auto">
          <a:xfrm>
            <a:off x="1081088" y="4086225"/>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100</a:t>
            </a:r>
            <a:endParaRPr lang="en-US" altLang="en-US">
              <a:solidFill>
                <a:srgbClr val="000000"/>
              </a:solidFill>
              <a:latin typeface="Calibri" panose="020F0502020204030204" pitchFamily="34" charset="0"/>
            </a:endParaRPr>
          </a:p>
        </p:txBody>
      </p:sp>
      <p:sp>
        <p:nvSpPr>
          <p:cNvPr id="37181" name="Rectangle 689"/>
          <p:cNvSpPr>
            <a:spLocks noChangeArrowheads="1"/>
          </p:cNvSpPr>
          <p:nvPr/>
        </p:nvSpPr>
        <p:spPr bwMode="auto">
          <a:xfrm rot="16200000">
            <a:off x="557936" y="4892239"/>
            <a:ext cx="83516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Relative Abundance</a:t>
            </a:r>
            <a:endParaRPr lang="en-US" altLang="en-US" sz="2800">
              <a:solidFill>
                <a:srgbClr val="000000"/>
              </a:solidFill>
              <a:latin typeface="Calibri" panose="020F0502020204030204" pitchFamily="34" charset="0"/>
            </a:endParaRPr>
          </a:p>
        </p:txBody>
      </p:sp>
      <p:sp>
        <p:nvSpPr>
          <p:cNvPr id="37182" name="Freeform 690"/>
          <p:cNvSpPr>
            <a:spLocks/>
          </p:cNvSpPr>
          <p:nvPr/>
        </p:nvSpPr>
        <p:spPr bwMode="auto">
          <a:xfrm>
            <a:off x="1268413" y="4122738"/>
            <a:ext cx="6827837" cy="1636712"/>
          </a:xfrm>
          <a:custGeom>
            <a:avLst/>
            <a:gdLst>
              <a:gd name="T0" fmla="*/ 58861 w 1276"/>
              <a:gd name="T1" fmla="*/ 1636712 h 306"/>
              <a:gd name="T2" fmla="*/ 117721 w 1276"/>
              <a:gd name="T3" fmla="*/ 1636712 h 306"/>
              <a:gd name="T4" fmla="*/ 171231 w 1276"/>
              <a:gd name="T5" fmla="*/ 1636712 h 306"/>
              <a:gd name="T6" fmla="*/ 224741 w 1276"/>
              <a:gd name="T7" fmla="*/ 1636712 h 306"/>
              <a:gd name="T8" fmla="*/ 278250 w 1276"/>
              <a:gd name="T9" fmla="*/ 1636712 h 306"/>
              <a:gd name="T10" fmla="*/ 342462 w 1276"/>
              <a:gd name="T11" fmla="*/ 1636712 h 306"/>
              <a:gd name="T12" fmla="*/ 401323 w 1276"/>
              <a:gd name="T13" fmla="*/ 1567178 h 306"/>
              <a:gd name="T14" fmla="*/ 454832 w 1276"/>
              <a:gd name="T15" fmla="*/ 1636712 h 306"/>
              <a:gd name="T16" fmla="*/ 502991 w 1276"/>
              <a:gd name="T17" fmla="*/ 1636712 h 306"/>
              <a:gd name="T18" fmla="*/ 556501 w 1276"/>
              <a:gd name="T19" fmla="*/ 1636712 h 306"/>
              <a:gd name="T20" fmla="*/ 615361 w 1276"/>
              <a:gd name="T21" fmla="*/ 1636712 h 306"/>
              <a:gd name="T22" fmla="*/ 668871 w 1276"/>
              <a:gd name="T23" fmla="*/ 1636712 h 306"/>
              <a:gd name="T24" fmla="*/ 717030 w 1276"/>
              <a:gd name="T25" fmla="*/ 1636712 h 306"/>
              <a:gd name="T26" fmla="*/ 775891 w 1276"/>
              <a:gd name="T27" fmla="*/ 1636712 h 306"/>
              <a:gd name="T28" fmla="*/ 824049 w 1276"/>
              <a:gd name="T29" fmla="*/ 1636712 h 306"/>
              <a:gd name="T30" fmla="*/ 877559 w 1276"/>
              <a:gd name="T31" fmla="*/ 1636712 h 306"/>
              <a:gd name="T32" fmla="*/ 925718 w 1276"/>
              <a:gd name="T33" fmla="*/ 1631363 h 306"/>
              <a:gd name="T34" fmla="*/ 979227 w 1276"/>
              <a:gd name="T35" fmla="*/ 1636712 h 306"/>
              <a:gd name="T36" fmla="*/ 1032737 w 1276"/>
              <a:gd name="T37" fmla="*/ 1636712 h 306"/>
              <a:gd name="T38" fmla="*/ 1080896 w 1276"/>
              <a:gd name="T39" fmla="*/ 1636712 h 306"/>
              <a:gd name="T40" fmla="*/ 1139756 w 1276"/>
              <a:gd name="T41" fmla="*/ 1636712 h 306"/>
              <a:gd name="T42" fmla="*/ 1193266 w 1276"/>
              <a:gd name="T43" fmla="*/ 1636712 h 306"/>
              <a:gd name="T44" fmla="*/ 1252127 w 1276"/>
              <a:gd name="T45" fmla="*/ 1636712 h 306"/>
              <a:gd name="T46" fmla="*/ 1305637 w 1276"/>
              <a:gd name="T47" fmla="*/ 1636712 h 306"/>
              <a:gd name="T48" fmla="*/ 1391252 w 1276"/>
              <a:gd name="T49" fmla="*/ 1636712 h 306"/>
              <a:gd name="T50" fmla="*/ 1450113 w 1276"/>
              <a:gd name="T51" fmla="*/ 1636712 h 306"/>
              <a:gd name="T52" fmla="*/ 1508973 w 1276"/>
              <a:gd name="T53" fmla="*/ 1636712 h 306"/>
              <a:gd name="T54" fmla="*/ 1589238 w 1276"/>
              <a:gd name="T55" fmla="*/ 1636712 h 306"/>
              <a:gd name="T56" fmla="*/ 1648099 w 1276"/>
              <a:gd name="T57" fmla="*/ 1636712 h 306"/>
              <a:gd name="T58" fmla="*/ 1701608 w 1276"/>
              <a:gd name="T59" fmla="*/ 1636712 h 306"/>
              <a:gd name="T60" fmla="*/ 1749767 w 1276"/>
              <a:gd name="T61" fmla="*/ 1636712 h 306"/>
              <a:gd name="T62" fmla="*/ 1803277 w 1276"/>
              <a:gd name="T63" fmla="*/ 1636712 h 306"/>
              <a:gd name="T64" fmla="*/ 1862137 w 1276"/>
              <a:gd name="T65" fmla="*/ 1636712 h 306"/>
              <a:gd name="T66" fmla="*/ 1915647 w 1276"/>
              <a:gd name="T67" fmla="*/ 1636712 h 306"/>
              <a:gd name="T68" fmla="*/ 1969157 w 1276"/>
              <a:gd name="T69" fmla="*/ 1636712 h 306"/>
              <a:gd name="T70" fmla="*/ 2038719 w 1276"/>
              <a:gd name="T71" fmla="*/ 1636712 h 306"/>
              <a:gd name="T72" fmla="*/ 2124335 w 1276"/>
              <a:gd name="T73" fmla="*/ 1636712 h 306"/>
              <a:gd name="T74" fmla="*/ 2199248 w 1276"/>
              <a:gd name="T75" fmla="*/ 1636712 h 306"/>
              <a:gd name="T76" fmla="*/ 2263460 w 1276"/>
              <a:gd name="T77" fmla="*/ 1636712 h 306"/>
              <a:gd name="T78" fmla="*/ 2333023 w 1276"/>
              <a:gd name="T79" fmla="*/ 1636712 h 306"/>
              <a:gd name="T80" fmla="*/ 2413287 w 1276"/>
              <a:gd name="T81" fmla="*/ 1636712 h 306"/>
              <a:gd name="T82" fmla="*/ 2493552 w 1276"/>
              <a:gd name="T83" fmla="*/ 1636712 h 306"/>
              <a:gd name="T84" fmla="*/ 2557763 w 1276"/>
              <a:gd name="T85" fmla="*/ 1636712 h 306"/>
              <a:gd name="T86" fmla="*/ 2734345 w 1276"/>
              <a:gd name="T87" fmla="*/ 1636712 h 306"/>
              <a:gd name="T88" fmla="*/ 2905576 w 1276"/>
              <a:gd name="T89" fmla="*/ 1256952 h 306"/>
              <a:gd name="T90" fmla="*/ 2991192 w 1276"/>
              <a:gd name="T91" fmla="*/ 1636712 h 306"/>
              <a:gd name="T92" fmla="*/ 3060755 w 1276"/>
              <a:gd name="T93" fmla="*/ 1636712 h 306"/>
              <a:gd name="T94" fmla="*/ 3114264 w 1276"/>
              <a:gd name="T95" fmla="*/ 1636712 h 306"/>
              <a:gd name="T96" fmla="*/ 3199880 w 1276"/>
              <a:gd name="T97" fmla="*/ 1636712 h 306"/>
              <a:gd name="T98" fmla="*/ 3387164 w 1276"/>
              <a:gd name="T99" fmla="*/ 1636712 h 306"/>
              <a:gd name="T100" fmla="*/ 3585150 w 1276"/>
              <a:gd name="T101" fmla="*/ 1636712 h 306"/>
              <a:gd name="T102" fmla="*/ 3670765 w 1276"/>
              <a:gd name="T103" fmla="*/ 1583225 h 306"/>
              <a:gd name="T104" fmla="*/ 3847347 w 1276"/>
              <a:gd name="T105" fmla="*/ 1636712 h 306"/>
              <a:gd name="T106" fmla="*/ 3970419 w 1276"/>
              <a:gd name="T107" fmla="*/ 1636712 h 306"/>
              <a:gd name="T108" fmla="*/ 4163054 w 1276"/>
              <a:gd name="T109" fmla="*/ 1636712 h 306"/>
              <a:gd name="T110" fmla="*/ 4387795 w 1276"/>
              <a:gd name="T111" fmla="*/ 1636712 h 306"/>
              <a:gd name="T112" fmla="*/ 4591132 w 1276"/>
              <a:gd name="T113" fmla="*/ 1631363 h 306"/>
              <a:gd name="T114" fmla="*/ 4762363 w 1276"/>
              <a:gd name="T115" fmla="*/ 1636712 h 306"/>
              <a:gd name="T116" fmla="*/ 5163686 w 1276"/>
              <a:gd name="T117" fmla="*/ 1636712 h 306"/>
              <a:gd name="T118" fmla="*/ 5768345 w 1276"/>
              <a:gd name="T119" fmla="*/ 1636712 h 306"/>
              <a:gd name="T120" fmla="*/ 6148264 w 1276"/>
              <a:gd name="T121" fmla="*/ 1636712 h 306"/>
              <a:gd name="T122" fmla="*/ 6790380 w 1276"/>
              <a:gd name="T123" fmla="*/ 1636712 h 30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276" h="306">
                <a:moveTo>
                  <a:pt x="0" y="306"/>
                </a:moveTo>
                <a:lnTo>
                  <a:pt x="0" y="306"/>
                </a:lnTo>
                <a:lnTo>
                  <a:pt x="1" y="306"/>
                </a:lnTo>
                <a:lnTo>
                  <a:pt x="2" y="306"/>
                </a:lnTo>
                <a:lnTo>
                  <a:pt x="5" y="306"/>
                </a:lnTo>
                <a:lnTo>
                  <a:pt x="7" y="306"/>
                </a:lnTo>
                <a:lnTo>
                  <a:pt x="8" y="306"/>
                </a:lnTo>
                <a:lnTo>
                  <a:pt x="9" y="306"/>
                </a:lnTo>
                <a:lnTo>
                  <a:pt x="10" y="306"/>
                </a:lnTo>
                <a:lnTo>
                  <a:pt x="11" y="306"/>
                </a:lnTo>
                <a:lnTo>
                  <a:pt x="12" y="305"/>
                </a:lnTo>
                <a:lnTo>
                  <a:pt x="12" y="306"/>
                </a:lnTo>
                <a:lnTo>
                  <a:pt x="14" y="306"/>
                </a:lnTo>
                <a:lnTo>
                  <a:pt x="16" y="306"/>
                </a:lnTo>
                <a:lnTo>
                  <a:pt x="18" y="306"/>
                </a:lnTo>
                <a:lnTo>
                  <a:pt x="18" y="305"/>
                </a:lnTo>
                <a:lnTo>
                  <a:pt x="18" y="306"/>
                </a:lnTo>
                <a:lnTo>
                  <a:pt x="19" y="306"/>
                </a:lnTo>
                <a:lnTo>
                  <a:pt x="20" y="306"/>
                </a:lnTo>
                <a:lnTo>
                  <a:pt x="20" y="305"/>
                </a:lnTo>
                <a:lnTo>
                  <a:pt x="21" y="306"/>
                </a:lnTo>
                <a:lnTo>
                  <a:pt x="22" y="306"/>
                </a:lnTo>
                <a:lnTo>
                  <a:pt x="23" y="306"/>
                </a:lnTo>
                <a:lnTo>
                  <a:pt x="25" y="306"/>
                </a:lnTo>
                <a:lnTo>
                  <a:pt x="26" y="306"/>
                </a:lnTo>
                <a:lnTo>
                  <a:pt x="28" y="306"/>
                </a:lnTo>
                <a:lnTo>
                  <a:pt x="29" y="306"/>
                </a:lnTo>
                <a:lnTo>
                  <a:pt x="30" y="306"/>
                </a:lnTo>
                <a:lnTo>
                  <a:pt x="31" y="306"/>
                </a:lnTo>
                <a:lnTo>
                  <a:pt x="32" y="305"/>
                </a:lnTo>
                <a:lnTo>
                  <a:pt x="32" y="306"/>
                </a:lnTo>
                <a:lnTo>
                  <a:pt x="33" y="306"/>
                </a:lnTo>
                <a:lnTo>
                  <a:pt x="34" y="306"/>
                </a:lnTo>
                <a:lnTo>
                  <a:pt x="35" y="306"/>
                </a:lnTo>
                <a:lnTo>
                  <a:pt x="36" y="306"/>
                </a:lnTo>
                <a:lnTo>
                  <a:pt x="37" y="306"/>
                </a:lnTo>
                <a:lnTo>
                  <a:pt x="39" y="306"/>
                </a:lnTo>
                <a:lnTo>
                  <a:pt x="40" y="306"/>
                </a:lnTo>
                <a:lnTo>
                  <a:pt x="40" y="302"/>
                </a:lnTo>
                <a:lnTo>
                  <a:pt x="41" y="306"/>
                </a:lnTo>
                <a:lnTo>
                  <a:pt x="42" y="306"/>
                </a:lnTo>
                <a:lnTo>
                  <a:pt x="43" y="306"/>
                </a:lnTo>
                <a:lnTo>
                  <a:pt x="44" y="306"/>
                </a:lnTo>
                <a:lnTo>
                  <a:pt x="45" y="306"/>
                </a:lnTo>
                <a:lnTo>
                  <a:pt x="46" y="306"/>
                </a:lnTo>
                <a:lnTo>
                  <a:pt x="47" y="306"/>
                </a:lnTo>
                <a:lnTo>
                  <a:pt x="48" y="306"/>
                </a:lnTo>
                <a:lnTo>
                  <a:pt x="50" y="306"/>
                </a:lnTo>
                <a:lnTo>
                  <a:pt x="51" y="306"/>
                </a:lnTo>
                <a:lnTo>
                  <a:pt x="52" y="306"/>
                </a:lnTo>
                <a:lnTo>
                  <a:pt x="53" y="306"/>
                </a:lnTo>
                <a:lnTo>
                  <a:pt x="54" y="306"/>
                </a:lnTo>
                <a:lnTo>
                  <a:pt x="54" y="299"/>
                </a:lnTo>
                <a:lnTo>
                  <a:pt x="55" y="304"/>
                </a:lnTo>
                <a:lnTo>
                  <a:pt x="55" y="306"/>
                </a:lnTo>
                <a:lnTo>
                  <a:pt x="56" y="298"/>
                </a:lnTo>
                <a:lnTo>
                  <a:pt x="56" y="306"/>
                </a:lnTo>
                <a:lnTo>
                  <a:pt x="57" y="305"/>
                </a:lnTo>
                <a:lnTo>
                  <a:pt x="57" y="306"/>
                </a:lnTo>
                <a:lnTo>
                  <a:pt x="58" y="306"/>
                </a:lnTo>
                <a:lnTo>
                  <a:pt x="59" y="306"/>
                </a:lnTo>
                <a:lnTo>
                  <a:pt x="59" y="14"/>
                </a:lnTo>
                <a:lnTo>
                  <a:pt x="60" y="245"/>
                </a:lnTo>
                <a:lnTo>
                  <a:pt x="60" y="306"/>
                </a:lnTo>
                <a:lnTo>
                  <a:pt x="64" y="306"/>
                </a:lnTo>
                <a:lnTo>
                  <a:pt x="65" y="306"/>
                </a:lnTo>
                <a:lnTo>
                  <a:pt x="66" y="306"/>
                </a:lnTo>
                <a:lnTo>
                  <a:pt x="68" y="306"/>
                </a:lnTo>
                <a:lnTo>
                  <a:pt x="69" y="306"/>
                </a:lnTo>
                <a:lnTo>
                  <a:pt x="70" y="306"/>
                </a:lnTo>
                <a:lnTo>
                  <a:pt x="72" y="306"/>
                </a:lnTo>
                <a:lnTo>
                  <a:pt x="73" y="306"/>
                </a:lnTo>
                <a:lnTo>
                  <a:pt x="74" y="261"/>
                </a:lnTo>
                <a:lnTo>
                  <a:pt x="74" y="306"/>
                </a:lnTo>
                <a:lnTo>
                  <a:pt x="75" y="293"/>
                </a:lnTo>
                <a:lnTo>
                  <a:pt x="75" y="306"/>
                </a:lnTo>
                <a:lnTo>
                  <a:pt x="76" y="306"/>
                </a:lnTo>
                <a:lnTo>
                  <a:pt x="77" y="306"/>
                </a:lnTo>
                <a:lnTo>
                  <a:pt x="79" y="306"/>
                </a:lnTo>
                <a:lnTo>
                  <a:pt x="79" y="296"/>
                </a:lnTo>
                <a:lnTo>
                  <a:pt x="80" y="300"/>
                </a:lnTo>
                <a:lnTo>
                  <a:pt x="80" y="306"/>
                </a:lnTo>
                <a:lnTo>
                  <a:pt x="81" y="306"/>
                </a:lnTo>
                <a:lnTo>
                  <a:pt x="82" y="305"/>
                </a:lnTo>
                <a:lnTo>
                  <a:pt x="82" y="306"/>
                </a:lnTo>
                <a:lnTo>
                  <a:pt x="83" y="304"/>
                </a:lnTo>
                <a:lnTo>
                  <a:pt x="83" y="306"/>
                </a:lnTo>
                <a:lnTo>
                  <a:pt x="84" y="306"/>
                </a:lnTo>
                <a:lnTo>
                  <a:pt x="84" y="305"/>
                </a:lnTo>
                <a:lnTo>
                  <a:pt x="85" y="306"/>
                </a:lnTo>
                <a:lnTo>
                  <a:pt x="86" y="306"/>
                </a:lnTo>
                <a:lnTo>
                  <a:pt x="87" y="306"/>
                </a:lnTo>
                <a:lnTo>
                  <a:pt x="88" y="306"/>
                </a:lnTo>
                <a:lnTo>
                  <a:pt x="89" y="306"/>
                </a:lnTo>
                <a:lnTo>
                  <a:pt x="90" y="306"/>
                </a:lnTo>
                <a:lnTo>
                  <a:pt x="91" y="298"/>
                </a:lnTo>
                <a:lnTo>
                  <a:pt x="91" y="306"/>
                </a:lnTo>
                <a:lnTo>
                  <a:pt x="92" y="306"/>
                </a:lnTo>
                <a:lnTo>
                  <a:pt x="93" y="306"/>
                </a:lnTo>
                <a:lnTo>
                  <a:pt x="94" y="303"/>
                </a:lnTo>
                <a:lnTo>
                  <a:pt x="94" y="306"/>
                </a:lnTo>
                <a:lnTo>
                  <a:pt x="95" y="306"/>
                </a:lnTo>
                <a:lnTo>
                  <a:pt x="95" y="304"/>
                </a:lnTo>
                <a:lnTo>
                  <a:pt x="96" y="306"/>
                </a:lnTo>
                <a:lnTo>
                  <a:pt x="97" y="296"/>
                </a:lnTo>
                <a:lnTo>
                  <a:pt x="97" y="306"/>
                </a:lnTo>
                <a:lnTo>
                  <a:pt x="98" y="306"/>
                </a:lnTo>
                <a:lnTo>
                  <a:pt x="99" y="306"/>
                </a:lnTo>
                <a:lnTo>
                  <a:pt x="100" y="293"/>
                </a:lnTo>
                <a:lnTo>
                  <a:pt x="100" y="306"/>
                </a:lnTo>
                <a:lnTo>
                  <a:pt x="101" y="305"/>
                </a:lnTo>
                <a:lnTo>
                  <a:pt x="101" y="306"/>
                </a:lnTo>
                <a:lnTo>
                  <a:pt x="102" y="306"/>
                </a:lnTo>
                <a:lnTo>
                  <a:pt x="103" y="306"/>
                </a:lnTo>
                <a:lnTo>
                  <a:pt x="104" y="306"/>
                </a:lnTo>
                <a:lnTo>
                  <a:pt x="105" y="305"/>
                </a:lnTo>
                <a:lnTo>
                  <a:pt x="105" y="306"/>
                </a:lnTo>
                <a:lnTo>
                  <a:pt x="106" y="305"/>
                </a:lnTo>
                <a:lnTo>
                  <a:pt x="106" y="306"/>
                </a:lnTo>
                <a:lnTo>
                  <a:pt x="109" y="306"/>
                </a:lnTo>
                <a:lnTo>
                  <a:pt x="110" y="306"/>
                </a:lnTo>
                <a:lnTo>
                  <a:pt x="111" y="306"/>
                </a:lnTo>
                <a:lnTo>
                  <a:pt x="112" y="306"/>
                </a:lnTo>
                <a:lnTo>
                  <a:pt x="113" y="306"/>
                </a:lnTo>
                <a:lnTo>
                  <a:pt x="114" y="306"/>
                </a:lnTo>
                <a:lnTo>
                  <a:pt x="115" y="306"/>
                </a:lnTo>
                <a:lnTo>
                  <a:pt x="116" y="306"/>
                </a:lnTo>
                <a:lnTo>
                  <a:pt x="117" y="305"/>
                </a:lnTo>
                <a:lnTo>
                  <a:pt x="117" y="306"/>
                </a:lnTo>
                <a:lnTo>
                  <a:pt x="119" y="306"/>
                </a:lnTo>
                <a:lnTo>
                  <a:pt x="119" y="305"/>
                </a:lnTo>
                <a:lnTo>
                  <a:pt x="119" y="306"/>
                </a:lnTo>
                <a:lnTo>
                  <a:pt x="120" y="305"/>
                </a:lnTo>
                <a:lnTo>
                  <a:pt x="120" y="306"/>
                </a:lnTo>
                <a:lnTo>
                  <a:pt x="121" y="306"/>
                </a:lnTo>
                <a:lnTo>
                  <a:pt x="122" y="305"/>
                </a:lnTo>
                <a:lnTo>
                  <a:pt x="122" y="306"/>
                </a:lnTo>
                <a:lnTo>
                  <a:pt x="123" y="305"/>
                </a:lnTo>
                <a:lnTo>
                  <a:pt x="123" y="306"/>
                </a:lnTo>
                <a:lnTo>
                  <a:pt x="124" y="306"/>
                </a:lnTo>
                <a:lnTo>
                  <a:pt x="125" y="306"/>
                </a:lnTo>
                <a:lnTo>
                  <a:pt x="126" y="269"/>
                </a:lnTo>
                <a:lnTo>
                  <a:pt x="126" y="306"/>
                </a:lnTo>
                <a:lnTo>
                  <a:pt x="127" y="277"/>
                </a:lnTo>
                <a:lnTo>
                  <a:pt x="127" y="306"/>
                </a:lnTo>
                <a:lnTo>
                  <a:pt x="128" y="305"/>
                </a:lnTo>
                <a:lnTo>
                  <a:pt x="128" y="306"/>
                </a:lnTo>
                <a:lnTo>
                  <a:pt x="129" y="306"/>
                </a:lnTo>
                <a:lnTo>
                  <a:pt x="130" y="305"/>
                </a:lnTo>
                <a:lnTo>
                  <a:pt x="130" y="306"/>
                </a:lnTo>
                <a:lnTo>
                  <a:pt x="131" y="306"/>
                </a:lnTo>
                <a:lnTo>
                  <a:pt x="132" y="306"/>
                </a:lnTo>
                <a:lnTo>
                  <a:pt x="133" y="306"/>
                </a:lnTo>
                <a:lnTo>
                  <a:pt x="134" y="306"/>
                </a:lnTo>
                <a:lnTo>
                  <a:pt x="135" y="306"/>
                </a:lnTo>
                <a:lnTo>
                  <a:pt x="136" y="306"/>
                </a:lnTo>
                <a:lnTo>
                  <a:pt x="137" y="306"/>
                </a:lnTo>
                <a:lnTo>
                  <a:pt x="137" y="305"/>
                </a:lnTo>
                <a:lnTo>
                  <a:pt x="138" y="304"/>
                </a:lnTo>
                <a:lnTo>
                  <a:pt x="138" y="306"/>
                </a:lnTo>
                <a:lnTo>
                  <a:pt x="139" y="306"/>
                </a:lnTo>
                <a:lnTo>
                  <a:pt x="140" y="306"/>
                </a:lnTo>
                <a:lnTo>
                  <a:pt x="141" y="306"/>
                </a:lnTo>
                <a:lnTo>
                  <a:pt x="142" y="306"/>
                </a:lnTo>
                <a:lnTo>
                  <a:pt x="143" y="306"/>
                </a:lnTo>
                <a:lnTo>
                  <a:pt x="145" y="306"/>
                </a:lnTo>
                <a:lnTo>
                  <a:pt x="146" y="306"/>
                </a:lnTo>
                <a:lnTo>
                  <a:pt x="147" y="297"/>
                </a:lnTo>
                <a:lnTo>
                  <a:pt x="147" y="306"/>
                </a:lnTo>
                <a:lnTo>
                  <a:pt x="148" y="301"/>
                </a:lnTo>
                <a:lnTo>
                  <a:pt x="148" y="306"/>
                </a:lnTo>
                <a:lnTo>
                  <a:pt x="149" y="306"/>
                </a:lnTo>
                <a:lnTo>
                  <a:pt x="150" y="305"/>
                </a:lnTo>
                <a:lnTo>
                  <a:pt x="150" y="306"/>
                </a:lnTo>
                <a:lnTo>
                  <a:pt x="151" y="306"/>
                </a:lnTo>
                <a:lnTo>
                  <a:pt x="152" y="305"/>
                </a:lnTo>
                <a:lnTo>
                  <a:pt x="152" y="306"/>
                </a:lnTo>
                <a:lnTo>
                  <a:pt x="153" y="306"/>
                </a:lnTo>
                <a:lnTo>
                  <a:pt x="154" y="306"/>
                </a:lnTo>
                <a:lnTo>
                  <a:pt x="155" y="306"/>
                </a:lnTo>
                <a:lnTo>
                  <a:pt x="156" y="299"/>
                </a:lnTo>
                <a:lnTo>
                  <a:pt x="156" y="306"/>
                </a:lnTo>
                <a:lnTo>
                  <a:pt x="157" y="305"/>
                </a:lnTo>
                <a:lnTo>
                  <a:pt x="157" y="306"/>
                </a:lnTo>
                <a:lnTo>
                  <a:pt x="159" y="306"/>
                </a:lnTo>
                <a:lnTo>
                  <a:pt x="160" y="306"/>
                </a:lnTo>
                <a:lnTo>
                  <a:pt x="161" y="306"/>
                </a:lnTo>
                <a:lnTo>
                  <a:pt x="162" y="306"/>
                </a:lnTo>
                <a:lnTo>
                  <a:pt x="163" y="304"/>
                </a:lnTo>
                <a:lnTo>
                  <a:pt x="163" y="306"/>
                </a:lnTo>
                <a:lnTo>
                  <a:pt x="164" y="306"/>
                </a:lnTo>
                <a:lnTo>
                  <a:pt x="165" y="305"/>
                </a:lnTo>
                <a:lnTo>
                  <a:pt x="165" y="306"/>
                </a:lnTo>
                <a:lnTo>
                  <a:pt x="166" y="306"/>
                </a:lnTo>
                <a:lnTo>
                  <a:pt x="167" y="306"/>
                </a:lnTo>
                <a:lnTo>
                  <a:pt x="168" y="306"/>
                </a:lnTo>
                <a:lnTo>
                  <a:pt x="169" y="306"/>
                </a:lnTo>
                <a:lnTo>
                  <a:pt x="170" y="306"/>
                </a:lnTo>
                <a:lnTo>
                  <a:pt x="170" y="305"/>
                </a:lnTo>
                <a:lnTo>
                  <a:pt x="171" y="306"/>
                </a:lnTo>
                <a:lnTo>
                  <a:pt x="172" y="304"/>
                </a:lnTo>
                <a:lnTo>
                  <a:pt x="172" y="306"/>
                </a:lnTo>
                <a:lnTo>
                  <a:pt x="173" y="306"/>
                </a:lnTo>
                <a:lnTo>
                  <a:pt x="173" y="305"/>
                </a:lnTo>
                <a:lnTo>
                  <a:pt x="174" y="306"/>
                </a:lnTo>
                <a:lnTo>
                  <a:pt x="175" y="306"/>
                </a:lnTo>
                <a:lnTo>
                  <a:pt x="176" y="304"/>
                </a:lnTo>
                <a:lnTo>
                  <a:pt x="176" y="306"/>
                </a:lnTo>
                <a:lnTo>
                  <a:pt x="177" y="305"/>
                </a:lnTo>
                <a:lnTo>
                  <a:pt x="177" y="306"/>
                </a:lnTo>
                <a:lnTo>
                  <a:pt x="178" y="306"/>
                </a:lnTo>
                <a:lnTo>
                  <a:pt x="179" y="305"/>
                </a:lnTo>
                <a:lnTo>
                  <a:pt x="179" y="306"/>
                </a:lnTo>
                <a:lnTo>
                  <a:pt x="180" y="294"/>
                </a:lnTo>
                <a:lnTo>
                  <a:pt x="180" y="306"/>
                </a:lnTo>
                <a:lnTo>
                  <a:pt x="181" y="299"/>
                </a:lnTo>
                <a:lnTo>
                  <a:pt x="181" y="306"/>
                </a:lnTo>
                <a:lnTo>
                  <a:pt x="182" y="306"/>
                </a:lnTo>
                <a:lnTo>
                  <a:pt x="183" y="306"/>
                </a:lnTo>
                <a:lnTo>
                  <a:pt x="184" y="306"/>
                </a:lnTo>
                <a:lnTo>
                  <a:pt x="184" y="286"/>
                </a:lnTo>
                <a:lnTo>
                  <a:pt x="185" y="297"/>
                </a:lnTo>
                <a:lnTo>
                  <a:pt x="185" y="306"/>
                </a:lnTo>
                <a:lnTo>
                  <a:pt x="186" y="305"/>
                </a:lnTo>
                <a:lnTo>
                  <a:pt x="186" y="306"/>
                </a:lnTo>
                <a:lnTo>
                  <a:pt x="187" y="306"/>
                </a:lnTo>
                <a:lnTo>
                  <a:pt x="188" y="306"/>
                </a:lnTo>
                <a:lnTo>
                  <a:pt x="190" y="306"/>
                </a:lnTo>
                <a:lnTo>
                  <a:pt x="190" y="303"/>
                </a:lnTo>
                <a:lnTo>
                  <a:pt x="190" y="306"/>
                </a:lnTo>
                <a:lnTo>
                  <a:pt x="191" y="303"/>
                </a:lnTo>
                <a:lnTo>
                  <a:pt x="191" y="306"/>
                </a:lnTo>
                <a:lnTo>
                  <a:pt x="192" y="306"/>
                </a:lnTo>
                <a:lnTo>
                  <a:pt x="193" y="306"/>
                </a:lnTo>
                <a:lnTo>
                  <a:pt x="194" y="305"/>
                </a:lnTo>
                <a:lnTo>
                  <a:pt x="194" y="306"/>
                </a:lnTo>
                <a:lnTo>
                  <a:pt x="195" y="306"/>
                </a:lnTo>
                <a:lnTo>
                  <a:pt x="196" y="306"/>
                </a:lnTo>
                <a:lnTo>
                  <a:pt x="197" y="306"/>
                </a:lnTo>
                <a:lnTo>
                  <a:pt x="198" y="306"/>
                </a:lnTo>
                <a:lnTo>
                  <a:pt x="199" y="304"/>
                </a:lnTo>
                <a:lnTo>
                  <a:pt x="199" y="306"/>
                </a:lnTo>
                <a:lnTo>
                  <a:pt x="200" y="305"/>
                </a:lnTo>
                <a:lnTo>
                  <a:pt x="200" y="306"/>
                </a:lnTo>
                <a:lnTo>
                  <a:pt x="201" y="304"/>
                </a:lnTo>
                <a:lnTo>
                  <a:pt x="201" y="306"/>
                </a:lnTo>
                <a:lnTo>
                  <a:pt x="202" y="305"/>
                </a:lnTo>
                <a:lnTo>
                  <a:pt x="202" y="306"/>
                </a:lnTo>
                <a:lnTo>
                  <a:pt x="203" y="306"/>
                </a:lnTo>
                <a:lnTo>
                  <a:pt x="204" y="305"/>
                </a:lnTo>
                <a:lnTo>
                  <a:pt x="204" y="306"/>
                </a:lnTo>
                <a:lnTo>
                  <a:pt x="205" y="305"/>
                </a:lnTo>
                <a:lnTo>
                  <a:pt x="205" y="306"/>
                </a:lnTo>
                <a:lnTo>
                  <a:pt x="206" y="306"/>
                </a:lnTo>
                <a:lnTo>
                  <a:pt x="208" y="306"/>
                </a:lnTo>
                <a:lnTo>
                  <a:pt x="209" y="306"/>
                </a:lnTo>
                <a:lnTo>
                  <a:pt x="211" y="306"/>
                </a:lnTo>
                <a:lnTo>
                  <a:pt x="213" y="306"/>
                </a:lnTo>
                <a:lnTo>
                  <a:pt x="214" y="306"/>
                </a:lnTo>
                <a:lnTo>
                  <a:pt x="215" y="306"/>
                </a:lnTo>
                <a:lnTo>
                  <a:pt x="216" y="284"/>
                </a:lnTo>
                <a:lnTo>
                  <a:pt x="216" y="306"/>
                </a:lnTo>
                <a:lnTo>
                  <a:pt x="217" y="291"/>
                </a:lnTo>
                <a:lnTo>
                  <a:pt x="217" y="306"/>
                </a:lnTo>
                <a:lnTo>
                  <a:pt x="218" y="305"/>
                </a:lnTo>
                <a:lnTo>
                  <a:pt x="218" y="306"/>
                </a:lnTo>
                <a:lnTo>
                  <a:pt x="219" y="306"/>
                </a:lnTo>
                <a:lnTo>
                  <a:pt x="220" y="0"/>
                </a:lnTo>
                <a:lnTo>
                  <a:pt x="220" y="306"/>
                </a:lnTo>
                <a:lnTo>
                  <a:pt x="221" y="137"/>
                </a:lnTo>
                <a:lnTo>
                  <a:pt x="221" y="306"/>
                </a:lnTo>
                <a:lnTo>
                  <a:pt x="222" y="302"/>
                </a:lnTo>
                <a:lnTo>
                  <a:pt x="222" y="306"/>
                </a:lnTo>
                <a:lnTo>
                  <a:pt x="223" y="306"/>
                </a:lnTo>
                <a:lnTo>
                  <a:pt x="224" y="306"/>
                </a:lnTo>
                <a:lnTo>
                  <a:pt x="225" y="306"/>
                </a:lnTo>
                <a:lnTo>
                  <a:pt x="226" y="299"/>
                </a:lnTo>
                <a:lnTo>
                  <a:pt x="226" y="306"/>
                </a:lnTo>
                <a:lnTo>
                  <a:pt x="227" y="304"/>
                </a:lnTo>
                <a:lnTo>
                  <a:pt x="227" y="306"/>
                </a:lnTo>
                <a:lnTo>
                  <a:pt x="228" y="306"/>
                </a:lnTo>
                <a:lnTo>
                  <a:pt x="229" y="306"/>
                </a:lnTo>
                <a:lnTo>
                  <a:pt x="230" y="306"/>
                </a:lnTo>
                <a:lnTo>
                  <a:pt x="233" y="306"/>
                </a:lnTo>
                <a:lnTo>
                  <a:pt x="234" y="306"/>
                </a:lnTo>
                <a:lnTo>
                  <a:pt x="236" y="306"/>
                </a:lnTo>
                <a:lnTo>
                  <a:pt x="237" y="306"/>
                </a:lnTo>
                <a:lnTo>
                  <a:pt x="239" y="306"/>
                </a:lnTo>
                <a:lnTo>
                  <a:pt x="240" y="306"/>
                </a:lnTo>
                <a:lnTo>
                  <a:pt x="240" y="279"/>
                </a:lnTo>
                <a:lnTo>
                  <a:pt x="241" y="292"/>
                </a:lnTo>
                <a:lnTo>
                  <a:pt x="241" y="306"/>
                </a:lnTo>
                <a:lnTo>
                  <a:pt x="242" y="305"/>
                </a:lnTo>
                <a:lnTo>
                  <a:pt x="242" y="306"/>
                </a:lnTo>
                <a:lnTo>
                  <a:pt x="243" y="306"/>
                </a:lnTo>
                <a:lnTo>
                  <a:pt x="244" y="306"/>
                </a:lnTo>
                <a:lnTo>
                  <a:pt x="245" y="303"/>
                </a:lnTo>
                <a:lnTo>
                  <a:pt x="245" y="306"/>
                </a:lnTo>
                <a:lnTo>
                  <a:pt x="246" y="305"/>
                </a:lnTo>
                <a:lnTo>
                  <a:pt x="246" y="306"/>
                </a:lnTo>
                <a:lnTo>
                  <a:pt x="247" y="306"/>
                </a:lnTo>
                <a:lnTo>
                  <a:pt x="249" y="306"/>
                </a:lnTo>
                <a:lnTo>
                  <a:pt x="250" y="306"/>
                </a:lnTo>
                <a:lnTo>
                  <a:pt x="257" y="306"/>
                </a:lnTo>
                <a:lnTo>
                  <a:pt x="259" y="306"/>
                </a:lnTo>
                <a:lnTo>
                  <a:pt x="260" y="306"/>
                </a:lnTo>
                <a:lnTo>
                  <a:pt x="261" y="306"/>
                </a:lnTo>
                <a:lnTo>
                  <a:pt x="262" y="306"/>
                </a:lnTo>
                <a:lnTo>
                  <a:pt x="263" y="306"/>
                </a:lnTo>
                <a:lnTo>
                  <a:pt x="264" y="306"/>
                </a:lnTo>
                <a:lnTo>
                  <a:pt x="265" y="306"/>
                </a:lnTo>
                <a:lnTo>
                  <a:pt x="266" y="306"/>
                </a:lnTo>
                <a:lnTo>
                  <a:pt x="267" y="306"/>
                </a:lnTo>
                <a:lnTo>
                  <a:pt x="268" y="306"/>
                </a:lnTo>
                <a:lnTo>
                  <a:pt x="270" y="306"/>
                </a:lnTo>
                <a:lnTo>
                  <a:pt x="270" y="303"/>
                </a:lnTo>
                <a:lnTo>
                  <a:pt x="271" y="306"/>
                </a:lnTo>
                <a:lnTo>
                  <a:pt x="272" y="302"/>
                </a:lnTo>
                <a:lnTo>
                  <a:pt x="272" y="306"/>
                </a:lnTo>
                <a:lnTo>
                  <a:pt x="273" y="306"/>
                </a:lnTo>
                <a:lnTo>
                  <a:pt x="273" y="303"/>
                </a:lnTo>
                <a:lnTo>
                  <a:pt x="274" y="306"/>
                </a:lnTo>
                <a:lnTo>
                  <a:pt x="275" y="305"/>
                </a:lnTo>
                <a:lnTo>
                  <a:pt x="275" y="306"/>
                </a:lnTo>
                <a:lnTo>
                  <a:pt x="276" y="306"/>
                </a:lnTo>
                <a:lnTo>
                  <a:pt x="278" y="306"/>
                </a:lnTo>
                <a:lnTo>
                  <a:pt x="279" y="306"/>
                </a:lnTo>
                <a:lnTo>
                  <a:pt x="280" y="306"/>
                </a:lnTo>
                <a:lnTo>
                  <a:pt x="282" y="306"/>
                </a:lnTo>
                <a:lnTo>
                  <a:pt x="283" y="306"/>
                </a:lnTo>
                <a:lnTo>
                  <a:pt x="289" y="306"/>
                </a:lnTo>
                <a:lnTo>
                  <a:pt x="290" y="306"/>
                </a:lnTo>
                <a:lnTo>
                  <a:pt x="293" y="306"/>
                </a:lnTo>
                <a:lnTo>
                  <a:pt x="294" y="305"/>
                </a:lnTo>
                <a:lnTo>
                  <a:pt x="294" y="306"/>
                </a:lnTo>
                <a:lnTo>
                  <a:pt x="295" y="306"/>
                </a:lnTo>
                <a:lnTo>
                  <a:pt x="296" y="306"/>
                </a:lnTo>
                <a:lnTo>
                  <a:pt x="297" y="306"/>
                </a:lnTo>
                <a:lnTo>
                  <a:pt x="300" y="306"/>
                </a:lnTo>
                <a:lnTo>
                  <a:pt x="301" y="306"/>
                </a:lnTo>
                <a:lnTo>
                  <a:pt x="301" y="305"/>
                </a:lnTo>
                <a:lnTo>
                  <a:pt x="302" y="306"/>
                </a:lnTo>
                <a:lnTo>
                  <a:pt x="303" y="306"/>
                </a:lnTo>
                <a:lnTo>
                  <a:pt x="304" y="306"/>
                </a:lnTo>
                <a:lnTo>
                  <a:pt x="305" y="306"/>
                </a:lnTo>
                <a:lnTo>
                  <a:pt x="306" y="306"/>
                </a:lnTo>
                <a:lnTo>
                  <a:pt x="307" y="306"/>
                </a:lnTo>
                <a:lnTo>
                  <a:pt x="308" y="306"/>
                </a:lnTo>
                <a:lnTo>
                  <a:pt x="309" y="305"/>
                </a:lnTo>
                <a:lnTo>
                  <a:pt x="309" y="306"/>
                </a:lnTo>
                <a:lnTo>
                  <a:pt x="310" y="306"/>
                </a:lnTo>
                <a:lnTo>
                  <a:pt x="311" y="306"/>
                </a:lnTo>
                <a:lnTo>
                  <a:pt x="311" y="305"/>
                </a:lnTo>
                <a:lnTo>
                  <a:pt x="312" y="306"/>
                </a:lnTo>
                <a:lnTo>
                  <a:pt x="313" y="301"/>
                </a:lnTo>
                <a:lnTo>
                  <a:pt x="313" y="306"/>
                </a:lnTo>
                <a:lnTo>
                  <a:pt x="314" y="302"/>
                </a:lnTo>
                <a:lnTo>
                  <a:pt x="314" y="306"/>
                </a:lnTo>
                <a:lnTo>
                  <a:pt x="315" y="306"/>
                </a:lnTo>
                <a:lnTo>
                  <a:pt x="316" y="305"/>
                </a:lnTo>
                <a:lnTo>
                  <a:pt x="316" y="306"/>
                </a:lnTo>
                <a:lnTo>
                  <a:pt x="317" y="304"/>
                </a:lnTo>
                <a:lnTo>
                  <a:pt x="317" y="306"/>
                </a:lnTo>
                <a:lnTo>
                  <a:pt x="318" y="306"/>
                </a:lnTo>
                <a:lnTo>
                  <a:pt x="319" y="306"/>
                </a:lnTo>
                <a:lnTo>
                  <a:pt x="320" y="306"/>
                </a:lnTo>
                <a:lnTo>
                  <a:pt x="321" y="306"/>
                </a:lnTo>
                <a:lnTo>
                  <a:pt x="322" y="306"/>
                </a:lnTo>
                <a:lnTo>
                  <a:pt x="323" y="306"/>
                </a:lnTo>
                <a:lnTo>
                  <a:pt x="324" y="293"/>
                </a:lnTo>
                <a:lnTo>
                  <a:pt x="324" y="306"/>
                </a:lnTo>
                <a:lnTo>
                  <a:pt x="325" y="303"/>
                </a:lnTo>
                <a:lnTo>
                  <a:pt x="325" y="306"/>
                </a:lnTo>
                <a:lnTo>
                  <a:pt x="326" y="306"/>
                </a:lnTo>
                <a:lnTo>
                  <a:pt x="327" y="306"/>
                </a:lnTo>
                <a:lnTo>
                  <a:pt x="328" y="306"/>
                </a:lnTo>
                <a:lnTo>
                  <a:pt x="329" y="306"/>
                </a:lnTo>
                <a:lnTo>
                  <a:pt x="330" y="306"/>
                </a:lnTo>
                <a:lnTo>
                  <a:pt x="331" y="306"/>
                </a:lnTo>
                <a:lnTo>
                  <a:pt x="332" y="292"/>
                </a:lnTo>
                <a:lnTo>
                  <a:pt x="332" y="306"/>
                </a:lnTo>
                <a:lnTo>
                  <a:pt x="333" y="301"/>
                </a:lnTo>
                <a:lnTo>
                  <a:pt x="333" y="306"/>
                </a:lnTo>
                <a:lnTo>
                  <a:pt x="334" y="306"/>
                </a:lnTo>
                <a:lnTo>
                  <a:pt x="335" y="306"/>
                </a:lnTo>
                <a:lnTo>
                  <a:pt x="337" y="306"/>
                </a:lnTo>
                <a:lnTo>
                  <a:pt x="338" y="305"/>
                </a:lnTo>
                <a:lnTo>
                  <a:pt x="338" y="306"/>
                </a:lnTo>
                <a:lnTo>
                  <a:pt x="339" y="306"/>
                </a:lnTo>
                <a:lnTo>
                  <a:pt x="340" y="306"/>
                </a:lnTo>
                <a:lnTo>
                  <a:pt x="343" y="306"/>
                </a:lnTo>
                <a:lnTo>
                  <a:pt x="344" y="306"/>
                </a:lnTo>
                <a:lnTo>
                  <a:pt x="345" y="306"/>
                </a:lnTo>
                <a:lnTo>
                  <a:pt x="346" y="306"/>
                </a:lnTo>
                <a:lnTo>
                  <a:pt x="347" y="306"/>
                </a:lnTo>
                <a:lnTo>
                  <a:pt x="348" y="306"/>
                </a:lnTo>
                <a:lnTo>
                  <a:pt x="349" y="305"/>
                </a:lnTo>
                <a:lnTo>
                  <a:pt x="349" y="306"/>
                </a:lnTo>
                <a:lnTo>
                  <a:pt x="350" y="306"/>
                </a:lnTo>
                <a:lnTo>
                  <a:pt x="352" y="306"/>
                </a:lnTo>
                <a:lnTo>
                  <a:pt x="352" y="305"/>
                </a:lnTo>
                <a:lnTo>
                  <a:pt x="352" y="306"/>
                </a:lnTo>
                <a:lnTo>
                  <a:pt x="353" y="303"/>
                </a:lnTo>
                <a:lnTo>
                  <a:pt x="353" y="306"/>
                </a:lnTo>
                <a:lnTo>
                  <a:pt x="354" y="306"/>
                </a:lnTo>
                <a:lnTo>
                  <a:pt x="354" y="304"/>
                </a:lnTo>
                <a:lnTo>
                  <a:pt x="355" y="305"/>
                </a:lnTo>
                <a:lnTo>
                  <a:pt x="355" y="306"/>
                </a:lnTo>
                <a:lnTo>
                  <a:pt x="356" y="304"/>
                </a:lnTo>
                <a:lnTo>
                  <a:pt x="356" y="306"/>
                </a:lnTo>
                <a:lnTo>
                  <a:pt x="357" y="303"/>
                </a:lnTo>
                <a:lnTo>
                  <a:pt x="357" y="306"/>
                </a:lnTo>
                <a:lnTo>
                  <a:pt x="358" y="304"/>
                </a:lnTo>
                <a:lnTo>
                  <a:pt x="358" y="306"/>
                </a:lnTo>
                <a:lnTo>
                  <a:pt x="359" y="304"/>
                </a:lnTo>
                <a:lnTo>
                  <a:pt x="359" y="306"/>
                </a:lnTo>
                <a:lnTo>
                  <a:pt x="360" y="306"/>
                </a:lnTo>
                <a:lnTo>
                  <a:pt x="361" y="306"/>
                </a:lnTo>
                <a:lnTo>
                  <a:pt x="362" y="306"/>
                </a:lnTo>
                <a:lnTo>
                  <a:pt x="362" y="274"/>
                </a:lnTo>
                <a:lnTo>
                  <a:pt x="363" y="295"/>
                </a:lnTo>
                <a:lnTo>
                  <a:pt x="363" y="306"/>
                </a:lnTo>
                <a:lnTo>
                  <a:pt x="364" y="303"/>
                </a:lnTo>
                <a:lnTo>
                  <a:pt x="364" y="306"/>
                </a:lnTo>
                <a:lnTo>
                  <a:pt x="365" y="306"/>
                </a:lnTo>
                <a:lnTo>
                  <a:pt x="367" y="306"/>
                </a:lnTo>
                <a:lnTo>
                  <a:pt x="368" y="306"/>
                </a:lnTo>
                <a:lnTo>
                  <a:pt x="371" y="306"/>
                </a:lnTo>
                <a:lnTo>
                  <a:pt x="373" y="306"/>
                </a:lnTo>
                <a:lnTo>
                  <a:pt x="374" y="306"/>
                </a:lnTo>
                <a:lnTo>
                  <a:pt x="376" y="306"/>
                </a:lnTo>
                <a:lnTo>
                  <a:pt x="377" y="306"/>
                </a:lnTo>
                <a:lnTo>
                  <a:pt x="377" y="305"/>
                </a:lnTo>
                <a:lnTo>
                  <a:pt x="378" y="306"/>
                </a:lnTo>
                <a:lnTo>
                  <a:pt x="379" y="306"/>
                </a:lnTo>
                <a:lnTo>
                  <a:pt x="381" y="306"/>
                </a:lnTo>
                <a:lnTo>
                  <a:pt x="382" y="306"/>
                </a:lnTo>
                <a:lnTo>
                  <a:pt x="384" y="306"/>
                </a:lnTo>
                <a:lnTo>
                  <a:pt x="387" y="306"/>
                </a:lnTo>
                <a:lnTo>
                  <a:pt x="388" y="306"/>
                </a:lnTo>
                <a:lnTo>
                  <a:pt x="392" y="306"/>
                </a:lnTo>
                <a:lnTo>
                  <a:pt x="392" y="303"/>
                </a:lnTo>
                <a:lnTo>
                  <a:pt x="392" y="306"/>
                </a:lnTo>
                <a:lnTo>
                  <a:pt x="393" y="305"/>
                </a:lnTo>
                <a:lnTo>
                  <a:pt x="393" y="306"/>
                </a:lnTo>
                <a:lnTo>
                  <a:pt x="394" y="306"/>
                </a:lnTo>
                <a:lnTo>
                  <a:pt x="397" y="306"/>
                </a:lnTo>
                <a:lnTo>
                  <a:pt x="399" y="306"/>
                </a:lnTo>
                <a:lnTo>
                  <a:pt x="402" y="306"/>
                </a:lnTo>
                <a:lnTo>
                  <a:pt x="402" y="303"/>
                </a:lnTo>
                <a:lnTo>
                  <a:pt x="402" y="306"/>
                </a:lnTo>
                <a:lnTo>
                  <a:pt x="403" y="305"/>
                </a:lnTo>
                <a:lnTo>
                  <a:pt x="403" y="306"/>
                </a:lnTo>
                <a:lnTo>
                  <a:pt x="404" y="306"/>
                </a:lnTo>
                <a:lnTo>
                  <a:pt x="406" y="306"/>
                </a:lnTo>
                <a:lnTo>
                  <a:pt x="410" y="306"/>
                </a:lnTo>
                <a:lnTo>
                  <a:pt x="411" y="306"/>
                </a:lnTo>
                <a:lnTo>
                  <a:pt x="412" y="306"/>
                </a:lnTo>
                <a:lnTo>
                  <a:pt x="413" y="306"/>
                </a:lnTo>
                <a:lnTo>
                  <a:pt x="415" y="306"/>
                </a:lnTo>
                <a:lnTo>
                  <a:pt x="415" y="305"/>
                </a:lnTo>
                <a:lnTo>
                  <a:pt x="415" y="306"/>
                </a:lnTo>
                <a:lnTo>
                  <a:pt x="416" y="306"/>
                </a:lnTo>
                <a:lnTo>
                  <a:pt x="418" y="306"/>
                </a:lnTo>
                <a:lnTo>
                  <a:pt x="421" y="306"/>
                </a:lnTo>
                <a:lnTo>
                  <a:pt x="421" y="302"/>
                </a:lnTo>
                <a:lnTo>
                  <a:pt x="422" y="303"/>
                </a:lnTo>
                <a:lnTo>
                  <a:pt x="422" y="306"/>
                </a:lnTo>
                <a:lnTo>
                  <a:pt x="423" y="305"/>
                </a:lnTo>
                <a:lnTo>
                  <a:pt x="423" y="306"/>
                </a:lnTo>
                <a:lnTo>
                  <a:pt x="424" y="304"/>
                </a:lnTo>
                <a:lnTo>
                  <a:pt x="424" y="306"/>
                </a:lnTo>
                <a:lnTo>
                  <a:pt x="425" y="305"/>
                </a:lnTo>
                <a:lnTo>
                  <a:pt x="425" y="306"/>
                </a:lnTo>
                <a:lnTo>
                  <a:pt x="426" y="306"/>
                </a:lnTo>
                <a:lnTo>
                  <a:pt x="429" y="306"/>
                </a:lnTo>
                <a:lnTo>
                  <a:pt x="430" y="306"/>
                </a:lnTo>
                <a:lnTo>
                  <a:pt x="431" y="306"/>
                </a:lnTo>
                <a:lnTo>
                  <a:pt x="434" y="306"/>
                </a:lnTo>
                <a:lnTo>
                  <a:pt x="434" y="304"/>
                </a:lnTo>
                <a:lnTo>
                  <a:pt x="434" y="306"/>
                </a:lnTo>
                <a:lnTo>
                  <a:pt x="435" y="304"/>
                </a:lnTo>
                <a:lnTo>
                  <a:pt x="435" y="306"/>
                </a:lnTo>
                <a:lnTo>
                  <a:pt x="436" y="306"/>
                </a:lnTo>
                <a:lnTo>
                  <a:pt x="437" y="306"/>
                </a:lnTo>
                <a:lnTo>
                  <a:pt x="438" y="306"/>
                </a:lnTo>
                <a:lnTo>
                  <a:pt x="439" y="306"/>
                </a:lnTo>
                <a:lnTo>
                  <a:pt x="441" y="306"/>
                </a:lnTo>
                <a:lnTo>
                  <a:pt x="442" y="306"/>
                </a:lnTo>
                <a:lnTo>
                  <a:pt x="443" y="306"/>
                </a:lnTo>
                <a:lnTo>
                  <a:pt x="444" y="306"/>
                </a:lnTo>
                <a:lnTo>
                  <a:pt x="451" y="306"/>
                </a:lnTo>
                <a:lnTo>
                  <a:pt x="454" y="306"/>
                </a:lnTo>
                <a:lnTo>
                  <a:pt x="455" y="306"/>
                </a:lnTo>
                <a:lnTo>
                  <a:pt x="457" y="306"/>
                </a:lnTo>
                <a:lnTo>
                  <a:pt x="458" y="306"/>
                </a:lnTo>
                <a:lnTo>
                  <a:pt x="460" y="306"/>
                </a:lnTo>
                <a:lnTo>
                  <a:pt x="461" y="306"/>
                </a:lnTo>
                <a:lnTo>
                  <a:pt x="465" y="306"/>
                </a:lnTo>
                <a:lnTo>
                  <a:pt x="466" y="306"/>
                </a:lnTo>
                <a:lnTo>
                  <a:pt x="467" y="306"/>
                </a:lnTo>
                <a:lnTo>
                  <a:pt x="468" y="306"/>
                </a:lnTo>
                <a:lnTo>
                  <a:pt x="469" y="306"/>
                </a:lnTo>
                <a:lnTo>
                  <a:pt x="471" y="306"/>
                </a:lnTo>
                <a:lnTo>
                  <a:pt x="472" y="306"/>
                </a:lnTo>
                <a:lnTo>
                  <a:pt x="473" y="306"/>
                </a:lnTo>
                <a:lnTo>
                  <a:pt x="477" y="306"/>
                </a:lnTo>
                <a:lnTo>
                  <a:pt x="477" y="305"/>
                </a:lnTo>
                <a:lnTo>
                  <a:pt x="477" y="306"/>
                </a:lnTo>
                <a:lnTo>
                  <a:pt x="478" y="305"/>
                </a:lnTo>
                <a:lnTo>
                  <a:pt x="478" y="306"/>
                </a:lnTo>
                <a:lnTo>
                  <a:pt x="479" y="306"/>
                </a:lnTo>
                <a:lnTo>
                  <a:pt x="488" y="306"/>
                </a:lnTo>
                <a:lnTo>
                  <a:pt x="489" y="306"/>
                </a:lnTo>
                <a:lnTo>
                  <a:pt x="498" y="306"/>
                </a:lnTo>
                <a:lnTo>
                  <a:pt x="499" y="306"/>
                </a:lnTo>
                <a:lnTo>
                  <a:pt x="502" y="306"/>
                </a:lnTo>
                <a:lnTo>
                  <a:pt x="510" y="306"/>
                </a:lnTo>
                <a:lnTo>
                  <a:pt x="511" y="306"/>
                </a:lnTo>
                <a:lnTo>
                  <a:pt x="512" y="306"/>
                </a:lnTo>
                <a:lnTo>
                  <a:pt x="526" y="306"/>
                </a:lnTo>
                <a:lnTo>
                  <a:pt x="531" y="306"/>
                </a:lnTo>
                <a:lnTo>
                  <a:pt x="536" y="306"/>
                </a:lnTo>
                <a:lnTo>
                  <a:pt x="537" y="306"/>
                </a:lnTo>
                <a:lnTo>
                  <a:pt x="538" y="306"/>
                </a:lnTo>
                <a:lnTo>
                  <a:pt x="542" y="306"/>
                </a:lnTo>
                <a:lnTo>
                  <a:pt x="542" y="238"/>
                </a:lnTo>
                <a:lnTo>
                  <a:pt x="542" y="306"/>
                </a:lnTo>
                <a:lnTo>
                  <a:pt x="543" y="235"/>
                </a:lnTo>
                <a:lnTo>
                  <a:pt x="543" y="306"/>
                </a:lnTo>
                <a:lnTo>
                  <a:pt x="544" y="290"/>
                </a:lnTo>
                <a:lnTo>
                  <a:pt x="544" y="306"/>
                </a:lnTo>
                <a:lnTo>
                  <a:pt x="545" y="306"/>
                </a:lnTo>
                <a:lnTo>
                  <a:pt x="545" y="305"/>
                </a:lnTo>
                <a:lnTo>
                  <a:pt x="546" y="306"/>
                </a:lnTo>
                <a:lnTo>
                  <a:pt x="546" y="305"/>
                </a:lnTo>
                <a:lnTo>
                  <a:pt x="547" y="304"/>
                </a:lnTo>
                <a:lnTo>
                  <a:pt x="547" y="306"/>
                </a:lnTo>
                <a:lnTo>
                  <a:pt x="548" y="306"/>
                </a:lnTo>
                <a:lnTo>
                  <a:pt x="555" y="306"/>
                </a:lnTo>
                <a:lnTo>
                  <a:pt x="556" y="306"/>
                </a:lnTo>
                <a:lnTo>
                  <a:pt x="559" y="306"/>
                </a:lnTo>
                <a:lnTo>
                  <a:pt x="560" y="306"/>
                </a:lnTo>
                <a:lnTo>
                  <a:pt x="562" y="306"/>
                </a:lnTo>
                <a:lnTo>
                  <a:pt x="563" y="306"/>
                </a:lnTo>
                <a:lnTo>
                  <a:pt x="566" y="306"/>
                </a:lnTo>
                <a:lnTo>
                  <a:pt x="568" y="306"/>
                </a:lnTo>
                <a:lnTo>
                  <a:pt x="569" y="306"/>
                </a:lnTo>
                <a:lnTo>
                  <a:pt x="570" y="306"/>
                </a:lnTo>
                <a:lnTo>
                  <a:pt x="571" y="306"/>
                </a:lnTo>
                <a:lnTo>
                  <a:pt x="572" y="306"/>
                </a:lnTo>
                <a:lnTo>
                  <a:pt x="573" y="300"/>
                </a:lnTo>
                <a:lnTo>
                  <a:pt x="573" y="306"/>
                </a:lnTo>
                <a:lnTo>
                  <a:pt x="574" y="303"/>
                </a:lnTo>
                <a:lnTo>
                  <a:pt x="574" y="306"/>
                </a:lnTo>
                <a:lnTo>
                  <a:pt x="575" y="306"/>
                </a:lnTo>
                <a:lnTo>
                  <a:pt x="576" y="306"/>
                </a:lnTo>
                <a:lnTo>
                  <a:pt x="577" y="306"/>
                </a:lnTo>
                <a:lnTo>
                  <a:pt x="578" y="306"/>
                </a:lnTo>
                <a:lnTo>
                  <a:pt x="580" y="306"/>
                </a:lnTo>
                <a:lnTo>
                  <a:pt x="581" y="306"/>
                </a:lnTo>
                <a:lnTo>
                  <a:pt x="582" y="306"/>
                </a:lnTo>
                <a:lnTo>
                  <a:pt x="586" y="306"/>
                </a:lnTo>
                <a:lnTo>
                  <a:pt x="589" y="306"/>
                </a:lnTo>
                <a:lnTo>
                  <a:pt x="590" y="306"/>
                </a:lnTo>
                <a:lnTo>
                  <a:pt x="593" y="306"/>
                </a:lnTo>
                <a:lnTo>
                  <a:pt x="594" y="306"/>
                </a:lnTo>
                <a:lnTo>
                  <a:pt x="597" y="306"/>
                </a:lnTo>
                <a:lnTo>
                  <a:pt x="598" y="306"/>
                </a:lnTo>
                <a:lnTo>
                  <a:pt x="599" y="306"/>
                </a:lnTo>
                <a:lnTo>
                  <a:pt x="602" y="306"/>
                </a:lnTo>
                <a:lnTo>
                  <a:pt x="603" y="306"/>
                </a:lnTo>
                <a:lnTo>
                  <a:pt x="604" y="306"/>
                </a:lnTo>
                <a:lnTo>
                  <a:pt x="606" y="306"/>
                </a:lnTo>
                <a:lnTo>
                  <a:pt x="610" y="306"/>
                </a:lnTo>
                <a:lnTo>
                  <a:pt x="610" y="305"/>
                </a:lnTo>
                <a:lnTo>
                  <a:pt x="610" y="306"/>
                </a:lnTo>
                <a:lnTo>
                  <a:pt x="611" y="306"/>
                </a:lnTo>
                <a:lnTo>
                  <a:pt x="633" y="306"/>
                </a:lnTo>
                <a:lnTo>
                  <a:pt x="634" y="306"/>
                </a:lnTo>
                <a:lnTo>
                  <a:pt x="636" y="306"/>
                </a:lnTo>
                <a:lnTo>
                  <a:pt x="645" y="306"/>
                </a:lnTo>
                <a:lnTo>
                  <a:pt x="646" y="306"/>
                </a:lnTo>
                <a:lnTo>
                  <a:pt x="658" y="306"/>
                </a:lnTo>
                <a:lnTo>
                  <a:pt x="667" y="306"/>
                </a:lnTo>
                <a:lnTo>
                  <a:pt x="668" y="306"/>
                </a:lnTo>
                <a:lnTo>
                  <a:pt x="670" y="306"/>
                </a:lnTo>
                <a:lnTo>
                  <a:pt x="675" y="306"/>
                </a:lnTo>
                <a:lnTo>
                  <a:pt x="676" y="306"/>
                </a:lnTo>
                <a:lnTo>
                  <a:pt x="677" y="306"/>
                </a:lnTo>
                <a:lnTo>
                  <a:pt x="678" y="306"/>
                </a:lnTo>
                <a:lnTo>
                  <a:pt x="679" y="306"/>
                </a:lnTo>
                <a:lnTo>
                  <a:pt x="680" y="306"/>
                </a:lnTo>
                <a:lnTo>
                  <a:pt x="685" y="306"/>
                </a:lnTo>
                <a:lnTo>
                  <a:pt x="685" y="288"/>
                </a:lnTo>
                <a:lnTo>
                  <a:pt x="685" y="306"/>
                </a:lnTo>
                <a:lnTo>
                  <a:pt x="686" y="296"/>
                </a:lnTo>
                <a:lnTo>
                  <a:pt x="686" y="306"/>
                </a:lnTo>
                <a:lnTo>
                  <a:pt x="687" y="304"/>
                </a:lnTo>
                <a:lnTo>
                  <a:pt x="687" y="306"/>
                </a:lnTo>
                <a:lnTo>
                  <a:pt x="688" y="306"/>
                </a:lnTo>
                <a:lnTo>
                  <a:pt x="703" y="306"/>
                </a:lnTo>
                <a:lnTo>
                  <a:pt x="708" y="306"/>
                </a:lnTo>
                <a:lnTo>
                  <a:pt x="716" y="306"/>
                </a:lnTo>
                <a:lnTo>
                  <a:pt x="717" y="306"/>
                </a:lnTo>
                <a:lnTo>
                  <a:pt x="718" y="306"/>
                </a:lnTo>
                <a:lnTo>
                  <a:pt x="719" y="306"/>
                </a:lnTo>
                <a:lnTo>
                  <a:pt x="720" y="306"/>
                </a:lnTo>
                <a:lnTo>
                  <a:pt x="721" y="306"/>
                </a:lnTo>
                <a:lnTo>
                  <a:pt x="722" y="306"/>
                </a:lnTo>
                <a:lnTo>
                  <a:pt x="723" y="306"/>
                </a:lnTo>
                <a:lnTo>
                  <a:pt x="724" y="306"/>
                </a:lnTo>
                <a:lnTo>
                  <a:pt x="725" y="306"/>
                </a:lnTo>
                <a:lnTo>
                  <a:pt x="736" y="306"/>
                </a:lnTo>
                <a:lnTo>
                  <a:pt x="742" y="306"/>
                </a:lnTo>
                <a:lnTo>
                  <a:pt x="746" y="306"/>
                </a:lnTo>
                <a:lnTo>
                  <a:pt x="750" y="306"/>
                </a:lnTo>
                <a:lnTo>
                  <a:pt x="769" y="306"/>
                </a:lnTo>
                <a:lnTo>
                  <a:pt x="771" y="306"/>
                </a:lnTo>
                <a:lnTo>
                  <a:pt x="775" y="306"/>
                </a:lnTo>
                <a:lnTo>
                  <a:pt x="777" y="306"/>
                </a:lnTo>
                <a:lnTo>
                  <a:pt x="778" y="306"/>
                </a:lnTo>
                <a:lnTo>
                  <a:pt x="783" y="306"/>
                </a:lnTo>
                <a:lnTo>
                  <a:pt x="785" y="306"/>
                </a:lnTo>
                <a:lnTo>
                  <a:pt x="785" y="305"/>
                </a:lnTo>
                <a:lnTo>
                  <a:pt x="785" y="306"/>
                </a:lnTo>
                <a:lnTo>
                  <a:pt x="786" y="305"/>
                </a:lnTo>
                <a:lnTo>
                  <a:pt x="786" y="306"/>
                </a:lnTo>
                <a:lnTo>
                  <a:pt x="787" y="306"/>
                </a:lnTo>
                <a:lnTo>
                  <a:pt x="817" y="306"/>
                </a:lnTo>
                <a:lnTo>
                  <a:pt x="817" y="302"/>
                </a:lnTo>
                <a:lnTo>
                  <a:pt x="817" y="306"/>
                </a:lnTo>
                <a:lnTo>
                  <a:pt x="818" y="304"/>
                </a:lnTo>
                <a:lnTo>
                  <a:pt x="818" y="306"/>
                </a:lnTo>
                <a:lnTo>
                  <a:pt x="819" y="305"/>
                </a:lnTo>
                <a:lnTo>
                  <a:pt x="819" y="306"/>
                </a:lnTo>
                <a:lnTo>
                  <a:pt x="820" y="306"/>
                </a:lnTo>
                <a:lnTo>
                  <a:pt x="823" y="306"/>
                </a:lnTo>
                <a:lnTo>
                  <a:pt x="824" y="306"/>
                </a:lnTo>
                <a:lnTo>
                  <a:pt x="846" y="306"/>
                </a:lnTo>
                <a:lnTo>
                  <a:pt x="847" y="306"/>
                </a:lnTo>
                <a:lnTo>
                  <a:pt x="848" y="306"/>
                </a:lnTo>
                <a:lnTo>
                  <a:pt x="849" y="306"/>
                </a:lnTo>
                <a:lnTo>
                  <a:pt x="857" y="306"/>
                </a:lnTo>
                <a:lnTo>
                  <a:pt x="857" y="303"/>
                </a:lnTo>
                <a:lnTo>
                  <a:pt x="857" y="306"/>
                </a:lnTo>
                <a:lnTo>
                  <a:pt x="858" y="305"/>
                </a:lnTo>
                <a:lnTo>
                  <a:pt x="858" y="306"/>
                </a:lnTo>
                <a:lnTo>
                  <a:pt x="859" y="306"/>
                </a:lnTo>
                <a:lnTo>
                  <a:pt x="865" y="306"/>
                </a:lnTo>
                <a:lnTo>
                  <a:pt x="865" y="305"/>
                </a:lnTo>
                <a:lnTo>
                  <a:pt x="865" y="306"/>
                </a:lnTo>
                <a:lnTo>
                  <a:pt x="866" y="306"/>
                </a:lnTo>
                <a:lnTo>
                  <a:pt x="876" y="306"/>
                </a:lnTo>
                <a:lnTo>
                  <a:pt x="877" y="306"/>
                </a:lnTo>
                <a:lnTo>
                  <a:pt x="878" y="306"/>
                </a:lnTo>
                <a:lnTo>
                  <a:pt x="885" y="306"/>
                </a:lnTo>
                <a:lnTo>
                  <a:pt x="890" y="306"/>
                </a:lnTo>
                <a:lnTo>
                  <a:pt x="904" y="306"/>
                </a:lnTo>
                <a:lnTo>
                  <a:pt x="905" y="306"/>
                </a:lnTo>
                <a:lnTo>
                  <a:pt x="924" y="306"/>
                </a:lnTo>
                <a:lnTo>
                  <a:pt x="925" y="306"/>
                </a:lnTo>
                <a:lnTo>
                  <a:pt x="950" y="306"/>
                </a:lnTo>
                <a:lnTo>
                  <a:pt x="954" y="306"/>
                </a:lnTo>
                <a:lnTo>
                  <a:pt x="965" y="306"/>
                </a:lnTo>
                <a:lnTo>
                  <a:pt x="969" y="306"/>
                </a:lnTo>
                <a:lnTo>
                  <a:pt x="1011" y="306"/>
                </a:lnTo>
                <a:lnTo>
                  <a:pt x="1012" y="306"/>
                </a:lnTo>
                <a:lnTo>
                  <a:pt x="1051" y="306"/>
                </a:lnTo>
                <a:lnTo>
                  <a:pt x="1057" y="306"/>
                </a:lnTo>
                <a:lnTo>
                  <a:pt x="1078" y="306"/>
                </a:lnTo>
                <a:lnTo>
                  <a:pt x="1088" y="306"/>
                </a:lnTo>
                <a:lnTo>
                  <a:pt x="1090" y="306"/>
                </a:lnTo>
                <a:lnTo>
                  <a:pt x="1098" y="306"/>
                </a:lnTo>
                <a:lnTo>
                  <a:pt x="1099" y="306"/>
                </a:lnTo>
                <a:lnTo>
                  <a:pt x="1136" y="306"/>
                </a:lnTo>
                <a:lnTo>
                  <a:pt x="1137" y="306"/>
                </a:lnTo>
                <a:lnTo>
                  <a:pt x="1148" y="306"/>
                </a:lnTo>
                <a:lnTo>
                  <a:pt x="1149" y="306"/>
                </a:lnTo>
                <a:lnTo>
                  <a:pt x="1150" y="306"/>
                </a:lnTo>
                <a:lnTo>
                  <a:pt x="1179" y="306"/>
                </a:lnTo>
                <a:lnTo>
                  <a:pt x="1180" y="306"/>
                </a:lnTo>
                <a:lnTo>
                  <a:pt x="1181" y="306"/>
                </a:lnTo>
                <a:lnTo>
                  <a:pt x="1199" y="306"/>
                </a:lnTo>
                <a:lnTo>
                  <a:pt x="1206" y="306"/>
                </a:lnTo>
                <a:lnTo>
                  <a:pt x="1219" y="306"/>
                </a:lnTo>
                <a:lnTo>
                  <a:pt x="1269" y="306"/>
                </a:lnTo>
                <a:lnTo>
                  <a:pt x="1273" y="306"/>
                </a:lnTo>
                <a:lnTo>
                  <a:pt x="1276" y="30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83" name="Rectangle 691"/>
          <p:cNvSpPr>
            <a:spLocks noChangeArrowheads="1"/>
          </p:cNvSpPr>
          <p:nvPr/>
        </p:nvSpPr>
        <p:spPr bwMode="auto">
          <a:xfrm>
            <a:off x="2293938" y="4037013"/>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607.6287</a:t>
            </a:r>
            <a:endParaRPr lang="en-US" altLang="en-US">
              <a:solidFill>
                <a:srgbClr val="000000"/>
              </a:solidFill>
              <a:latin typeface="Calibri" panose="020F0502020204030204" pitchFamily="34" charset="0"/>
            </a:endParaRPr>
          </a:p>
        </p:txBody>
      </p:sp>
      <p:sp>
        <p:nvSpPr>
          <p:cNvPr id="37184" name="Rectangle 692"/>
          <p:cNvSpPr>
            <a:spLocks noChangeArrowheads="1"/>
          </p:cNvSpPr>
          <p:nvPr/>
        </p:nvSpPr>
        <p:spPr bwMode="auto">
          <a:xfrm>
            <a:off x="1431925" y="4113213"/>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455.9732</a:t>
            </a:r>
            <a:endParaRPr lang="en-US" altLang="en-US">
              <a:solidFill>
                <a:srgbClr val="000000"/>
              </a:solidFill>
              <a:latin typeface="Calibri" panose="020F0502020204030204" pitchFamily="34" charset="0"/>
            </a:endParaRPr>
          </a:p>
        </p:txBody>
      </p:sp>
      <p:sp>
        <p:nvSpPr>
          <p:cNvPr id="37185" name="Rectangle 693"/>
          <p:cNvSpPr>
            <a:spLocks noChangeArrowheads="1"/>
          </p:cNvSpPr>
          <p:nvPr/>
        </p:nvSpPr>
        <p:spPr bwMode="auto">
          <a:xfrm>
            <a:off x="3751944" y="5047344"/>
            <a:ext cx="7806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dirty="0">
                <a:solidFill>
                  <a:srgbClr val="000000"/>
                </a:solidFill>
                <a:latin typeface="Calibri" panose="020F0502020204030204" pitchFamily="34" charset="0"/>
              </a:rPr>
              <a:t>910.4415</a:t>
            </a:r>
            <a:endParaRPr lang="en-US" altLang="en-US" sz="1200" dirty="0">
              <a:solidFill>
                <a:srgbClr val="000000"/>
              </a:solidFill>
              <a:latin typeface="Calibri" panose="020F0502020204030204" pitchFamily="34" charset="0"/>
            </a:endParaRPr>
          </a:p>
        </p:txBody>
      </p:sp>
      <p:sp>
        <p:nvSpPr>
          <p:cNvPr id="37186" name="Rectangle 694"/>
          <p:cNvSpPr>
            <a:spLocks noChangeArrowheads="1"/>
          </p:cNvSpPr>
          <p:nvPr/>
        </p:nvSpPr>
        <p:spPr bwMode="auto">
          <a:xfrm>
            <a:off x="1608138" y="5434013"/>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470.2304</a:t>
            </a:r>
            <a:endParaRPr lang="en-US" altLang="en-US">
              <a:solidFill>
                <a:srgbClr val="000000"/>
              </a:solidFill>
              <a:latin typeface="Calibri" panose="020F0502020204030204" pitchFamily="34" charset="0"/>
            </a:endParaRPr>
          </a:p>
        </p:txBody>
      </p:sp>
      <p:sp>
        <p:nvSpPr>
          <p:cNvPr id="37187" name="Line 695"/>
          <p:cNvSpPr>
            <a:spLocks noChangeShapeType="1"/>
          </p:cNvSpPr>
          <p:nvPr/>
        </p:nvSpPr>
        <p:spPr bwMode="auto">
          <a:xfrm flipV="1">
            <a:off x="1665288" y="5502275"/>
            <a:ext cx="95250" cy="6350"/>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88" name="Rectangle 696"/>
          <p:cNvSpPr>
            <a:spLocks noChangeArrowheads="1"/>
          </p:cNvSpPr>
          <p:nvPr/>
        </p:nvSpPr>
        <p:spPr bwMode="auto">
          <a:xfrm>
            <a:off x="3052763" y="5503863"/>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740.8562</a:t>
            </a:r>
            <a:endParaRPr lang="en-US" altLang="en-US">
              <a:solidFill>
                <a:srgbClr val="000000"/>
              </a:solidFill>
              <a:latin typeface="Calibri" panose="020F0502020204030204" pitchFamily="34" charset="0"/>
            </a:endParaRPr>
          </a:p>
        </p:txBody>
      </p:sp>
      <p:sp>
        <p:nvSpPr>
          <p:cNvPr id="37189" name="Rectangle 697"/>
          <p:cNvSpPr>
            <a:spLocks noChangeArrowheads="1"/>
          </p:cNvSpPr>
          <p:nvPr/>
        </p:nvSpPr>
        <p:spPr bwMode="auto">
          <a:xfrm>
            <a:off x="2465388" y="5530850"/>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626.6352</a:t>
            </a:r>
            <a:endParaRPr lang="en-US" altLang="en-US">
              <a:solidFill>
                <a:srgbClr val="000000"/>
              </a:solidFill>
              <a:latin typeface="Calibri" panose="020F0502020204030204" pitchFamily="34" charset="0"/>
            </a:endParaRPr>
          </a:p>
        </p:txBody>
      </p:sp>
      <p:sp>
        <p:nvSpPr>
          <p:cNvPr id="37190" name="Line 698"/>
          <p:cNvSpPr>
            <a:spLocks noChangeShapeType="1"/>
          </p:cNvSpPr>
          <p:nvPr/>
        </p:nvSpPr>
        <p:spPr bwMode="auto">
          <a:xfrm flipV="1">
            <a:off x="2552700" y="5599113"/>
            <a:ext cx="65088" cy="4762"/>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91" name="Rectangle 699"/>
          <p:cNvSpPr>
            <a:spLocks noChangeArrowheads="1"/>
          </p:cNvSpPr>
          <p:nvPr/>
        </p:nvSpPr>
        <p:spPr bwMode="auto">
          <a:xfrm>
            <a:off x="2100263" y="5567363"/>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573.6124</a:t>
            </a:r>
            <a:endParaRPr lang="en-US" altLang="en-US">
              <a:solidFill>
                <a:srgbClr val="000000"/>
              </a:solidFill>
              <a:latin typeface="Calibri" panose="020F0502020204030204" pitchFamily="34" charset="0"/>
            </a:endParaRPr>
          </a:p>
        </p:txBody>
      </p:sp>
      <p:sp>
        <p:nvSpPr>
          <p:cNvPr id="37192" name="Rectangle 700"/>
          <p:cNvSpPr>
            <a:spLocks noChangeArrowheads="1"/>
          </p:cNvSpPr>
          <p:nvPr/>
        </p:nvSpPr>
        <p:spPr bwMode="auto">
          <a:xfrm>
            <a:off x="4762500" y="5578475"/>
            <a:ext cx="2725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1044.5449</a:t>
            </a:r>
            <a:endParaRPr lang="en-US" altLang="en-US">
              <a:solidFill>
                <a:srgbClr val="000000"/>
              </a:solidFill>
              <a:latin typeface="Calibri" panose="020F0502020204030204" pitchFamily="34" charset="0"/>
            </a:endParaRPr>
          </a:p>
        </p:txBody>
      </p:sp>
      <p:sp>
        <p:nvSpPr>
          <p:cNvPr id="37193" name="Rectangle 701"/>
          <p:cNvSpPr>
            <a:spLocks noChangeArrowheads="1"/>
          </p:cNvSpPr>
          <p:nvPr/>
        </p:nvSpPr>
        <p:spPr bwMode="auto">
          <a:xfrm>
            <a:off x="2876550" y="5599113"/>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712.3457</a:t>
            </a:r>
            <a:endParaRPr lang="en-US" altLang="en-US">
              <a:solidFill>
                <a:srgbClr val="000000"/>
              </a:solidFill>
              <a:latin typeface="Calibri" panose="020F0502020204030204" pitchFamily="34" charset="0"/>
            </a:endParaRPr>
          </a:p>
        </p:txBody>
      </p:sp>
      <p:sp>
        <p:nvSpPr>
          <p:cNvPr id="37194" name="Line 702"/>
          <p:cNvSpPr>
            <a:spLocks noChangeShapeType="1"/>
          </p:cNvSpPr>
          <p:nvPr/>
        </p:nvSpPr>
        <p:spPr bwMode="auto">
          <a:xfrm flipH="1" flipV="1">
            <a:off x="3028950" y="5668963"/>
            <a:ext cx="15875" cy="4762"/>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95" name="Rectangle 703"/>
          <p:cNvSpPr>
            <a:spLocks noChangeArrowheads="1"/>
          </p:cNvSpPr>
          <p:nvPr/>
        </p:nvSpPr>
        <p:spPr bwMode="auto">
          <a:xfrm>
            <a:off x="1935163" y="5476875"/>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538.7806</a:t>
            </a:r>
            <a:endParaRPr lang="en-US" altLang="en-US">
              <a:solidFill>
                <a:srgbClr val="000000"/>
              </a:solidFill>
              <a:latin typeface="Calibri" panose="020F0502020204030204" pitchFamily="34" charset="0"/>
            </a:endParaRPr>
          </a:p>
        </p:txBody>
      </p:sp>
      <p:sp>
        <p:nvSpPr>
          <p:cNvPr id="37196" name="Line 704"/>
          <p:cNvSpPr>
            <a:spLocks noChangeShapeType="1"/>
          </p:cNvSpPr>
          <p:nvPr/>
        </p:nvSpPr>
        <p:spPr bwMode="auto">
          <a:xfrm flipV="1">
            <a:off x="2055813" y="5545138"/>
            <a:ext cx="31750" cy="155575"/>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97" name="Rectangle 705"/>
          <p:cNvSpPr>
            <a:spLocks noChangeArrowheads="1"/>
          </p:cNvSpPr>
          <p:nvPr/>
        </p:nvSpPr>
        <p:spPr bwMode="auto">
          <a:xfrm>
            <a:off x="4198938" y="5641975"/>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939.4517</a:t>
            </a:r>
            <a:endParaRPr lang="en-US" altLang="en-US">
              <a:solidFill>
                <a:srgbClr val="000000"/>
              </a:solidFill>
              <a:latin typeface="Calibri" panose="020F0502020204030204" pitchFamily="34" charset="0"/>
            </a:endParaRPr>
          </a:p>
        </p:txBody>
      </p:sp>
      <p:sp>
        <p:nvSpPr>
          <p:cNvPr id="37198" name="Line 706"/>
          <p:cNvSpPr>
            <a:spLocks noChangeShapeType="1"/>
          </p:cNvSpPr>
          <p:nvPr/>
        </p:nvSpPr>
        <p:spPr bwMode="auto">
          <a:xfrm flipV="1">
            <a:off x="4333875" y="5711825"/>
            <a:ext cx="17463" cy="4763"/>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199" name="Rectangle 707"/>
          <p:cNvSpPr>
            <a:spLocks noChangeArrowheads="1"/>
          </p:cNvSpPr>
          <p:nvPr/>
        </p:nvSpPr>
        <p:spPr bwMode="auto">
          <a:xfrm>
            <a:off x="3368675" y="5653088"/>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796.8612</a:t>
            </a:r>
            <a:endParaRPr lang="en-US" altLang="en-US">
              <a:solidFill>
                <a:srgbClr val="000000"/>
              </a:solidFill>
              <a:latin typeface="Calibri" panose="020F0502020204030204" pitchFamily="34" charset="0"/>
            </a:endParaRPr>
          </a:p>
        </p:txBody>
      </p:sp>
      <p:sp>
        <p:nvSpPr>
          <p:cNvPr id="37200" name="Rectangle 708"/>
          <p:cNvSpPr>
            <a:spLocks noChangeArrowheads="1"/>
          </p:cNvSpPr>
          <p:nvPr/>
        </p:nvSpPr>
        <p:spPr bwMode="auto">
          <a:xfrm>
            <a:off x="5468938" y="5653088"/>
            <a:ext cx="2725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1168.5178</a:t>
            </a:r>
            <a:endParaRPr lang="en-US" altLang="en-US">
              <a:solidFill>
                <a:srgbClr val="000000"/>
              </a:solidFill>
              <a:latin typeface="Calibri" panose="020F0502020204030204" pitchFamily="34" charset="0"/>
            </a:endParaRPr>
          </a:p>
        </p:txBody>
      </p:sp>
      <p:sp>
        <p:nvSpPr>
          <p:cNvPr id="37201" name="Rectangle 709"/>
          <p:cNvSpPr>
            <a:spLocks noChangeArrowheads="1"/>
          </p:cNvSpPr>
          <p:nvPr/>
        </p:nvSpPr>
        <p:spPr bwMode="auto">
          <a:xfrm>
            <a:off x="3684588" y="5668963"/>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849.3757</a:t>
            </a:r>
            <a:endParaRPr lang="en-US" altLang="en-US">
              <a:solidFill>
                <a:srgbClr val="000000"/>
              </a:solidFill>
              <a:latin typeface="Calibri" panose="020F0502020204030204" pitchFamily="34" charset="0"/>
            </a:endParaRPr>
          </a:p>
        </p:txBody>
      </p:sp>
      <p:sp>
        <p:nvSpPr>
          <p:cNvPr id="37202" name="Line 710"/>
          <p:cNvSpPr>
            <a:spLocks noChangeShapeType="1"/>
          </p:cNvSpPr>
          <p:nvPr/>
        </p:nvSpPr>
        <p:spPr bwMode="auto">
          <a:xfrm flipV="1">
            <a:off x="3821113" y="5738813"/>
            <a:ext cx="15875" cy="4762"/>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03" name="Rectangle 711"/>
          <p:cNvSpPr>
            <a:spLocks noChangeArrowheads="1"/>
          </p:cNvSpPr>
          <p:nvPr/>
        </p:nvSpPr>
        <p:spPr bwMode="auto">
          <a:xfrm>
            <a:off x="5821363" y="5657850"/>
            <a:ext cx="2725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1213.9177</a:t>
            </a:r>
            <a:endParaRPr lang="en-US" altLang="en-US">
              <a:solidFill>
                <a:srgbClr val="000000"/>
              </a:solidFill>
              <a:latin typeface="Calibri" panose="020F0502020204030204" pitchFamily="34" charset="0"/>
            </a:endParaRPr>
          </a:p>
        </p:txBody>
      </p:sp>
      <p:sp>
        <p:nvSpPr>
          <p:cNvPr id="37204" name="Line 712"/>
          <p:cNvSpPr>
            <a:spLocks noChangeShapeType="1"/>
          </p:cNvSpPr>
          <p:nvPr/>
        </p:nvSpPr>
        <p:spPr bwMode="auto">
          <a:xfrm flipV="1">
            <a:off x="5897563" y="5727700"/>
            <a:ext cx="95250" cy="15875"/>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05" name="Rectangle 713"/>
          <p:cNvSpPr>
            <a:spLocks noChangeArrowheads="1"/>
          </p:cNvSpPr>
          <p:nvPr/>
        </p:nvSpPr>
        <p:spPr bwMode="auto">
          <a:xfrm>
            <a:off x="4960938" y="5675313"/>
            <a:ext cx="2725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1073.4894</a:t>
            </a:r>
            <a:endParaRPr lang="en-US" altLang="en-US">
              <a:solidFill>
                <a:srgbClr val="000000"/>
              </a:solidFill>
              <a:latin typeface="Calibri" panose="020F0502020204030204" pitchFamily="34" charset="0"/>
            </a:endParaRPr>
          </a:p>
        </p:txBody>
      </p:sp>
      <p:sp>
        <p:nvSpPr>
          <p:cNvPr id="37206" name="Line 714"/>
          <p:cNvSpPr>
            <a:spLocks noChangeShapeType="1"/>
          </p:cNvSpPr>
          <p:nvPr/>
        </p:nvSpPr>
        <p:spPr bwMode="auto">
          <a:xfrm flipV="1">
            <a:off x="5099050" y="5743575"/>
            <a:ext cx="33338" cy="4763"/>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07" name="Rectangle 715"/>
          <p:cNvSpPr>
            <a:spLocks noChangeArrowheads="1"/>
          </p:cNvSpPr>
          <p:nvPr/>
        </p:nvSpPr>
        <p:spPr bwMode="auto">
          <a:xfrm>
            <a:off x="4551363" y="5675313"/>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995.9545</a:t>
            </a:r>
            <a:endParaRPr lang="en-US" altLang="en-US">
              <a:solidFill>
                <a:srgbClr val="000000"/>
              </a:solidFill>
              <a:latin typeface="Calibri" panose="020F0502020204030204" pitchFamily="34" charset="0"/>
            </a:endParaRPr>
          </a:p>
        </p:txBody>
      </p:sp>
      <p:sp>
        <p:nvSpPr>
          <p:cNvPr id="37208" name="Line 716"/>
          <p:cNvSpPr>
            <a:spLocks noChangeShapeType="1"/>
          </p:cNvSpPr>
          <p:nvPr/>
        </p:nvSpPr>
        <p:spPr bwMode="auto">
          <a:xfrm flipV="1">
            <a:off x="4656138" y="5743575"/>
            <a:ext cx="47625" cy="4763"/>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09" name="Rectangle 717"/>
          <p:cNvSpPr>
            <a:spLocks noChangeArrowheads="1"/>
          </p:cNvSpPr>
          <p:nvPr/>
        </p:nvSpPr>
        <p:spPr bwMode="auto">
          <a:xfrm>
            <a:off x="7245350" y="5675313"/>
            <a:ext cx="2725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1480.7053</a:t>
            </a:r>
            <a:endParaRPr lang="en-US" altLang="en-US">
              <a:solidFill>
                <a:srgbClr val="000000"/>
              </a:solidFill>
              <a:latin typeface="Calibri" panose="020F0502020204030204" pitchFamily="34" charset="0"/>
            </a:endParaRPr>
          </a:p>
        </p:txBody>
      </p:sp>
      <p:sp>
        <p:nvSpPr>
          <p:cNvPr id="37210" name="Rectangle 718"/>
          <p:cNvSpPr>
            <a:spLocks noChangeArrowheads="1"/>
          </p:cNvSpPr>
          <p:nvPr/>
        </p:nvSpPr>
        <p:spPr bwMode="auto">
          <a:xfrm>
            <a:off x="3844925" y="5562600"/>
            <a:ext cx="24045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880.4389</a:t>
            </a:r>
            <a:endParaRPr lang="en-US" altLang="en-US">
              <a:solidFill>
                <a:srgbClr val="000000"/>
              </a:solidFill>
              <a:latin typeface="Calibri" panose="020F0502020204030204" pitchFamily="34" charset="0"/>
            </a:endParaRPr>
          </a:p>
        </p:txBody>
      </p:sp>
      <p:sp>
        <p:nvSpPr>
          <p:cNvPr id="37211" name="Line 719"/>
          <p:cNvSpPr>
            <a:spLocks noChangeShapeType="1"/>
          </p:cNvSpPr>
          <p:nvPr/>
        </p:nvSpPr>
        <p:spPr bwMode="auto">
          <a:xfrm flipV="1">
            <a:off x="3997325" y="5630863"/>
            <a:ext cx="1588" cy="117475"/>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12" name="Rectangle 720"/>
          <p:cNvSpPr>
            <a:spLocks noChangeArrowheads="1"/>
          </p:cNvSpPr>
          <p:nvPr/>
        </p:nvSpPr>
        <p:spPr bwMode="auto">
          <a:xfrm>
            <a:off x="7608888" y="5675313"/>
            <a:ext cx="2725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1527.8060</a:t>
            </a:r>
            <a:endParaRPr lang="en-US" altLang="en-US">
              <a:solidFill>
                <a:srgbClr val="000000"/>
              </a:solidFill>
              <a:latin typeface="Calibri" panose="020F0502020204030204" pitchFamily="34" charset="0"/>
            </a:endParaRPr>
          </a:p>
        </p:txBody>
      </p:sp>
      <p:sp>
        <p:nvSpPr>
          <p:cNvPr id="37213" name="Line 721"/>
          <p:cNvSpPr>
            <a:spLocks noChangeShapeType="1"/>
          </p:cNvSpPr>
          <p:nvPr/>
        </p:nvSpPr>
        <p:spPr bwMode="auto">
          <a:xfrm flipV="1">
            <a:off x="7683500" y="5743575"/>
            <a:ext cx="96838" cy="4763"/>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14" name="Rectangle 722"/>
          <p:cNvSpPr>
            <a:spLocks noChangeArrowheads="1"/>
          </p:cNvSpPr>
          <p:nvPr/>
        </p:nvSpPr>
        <p:spPr bwMode="auto">
          <a:xfrm>
            <a:off x="6719888" y="5675313"/>
            <a:ext cx="2725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1388.6981</a:t>
            </a:r>
            <a:endParaRPr lang="en-US" altLang="en-US">
              <a:solidFill>
                <a:srgbClr val="000000"/>
              </a:solidFill>
              <a:latin typeface="Calibri" panose="020F0502020204030204" pitchFamily="34" charset="0"/>
            </a:endParaRPr>
          </a:p>
        </p:txBody>
      </p:sp>
      <p:sp>
        <p:nvSpPr>
          <p:cNvPr id="37215" name="Rectangle 723"/>
          <p:cNvSpPr>
            <a:spLocks noChangeArrowheads="1"/>
          </p:cNvSpPr>
          <p:nvPr/>
        </p:nvSpPr>
        <p:spPr bwMode="auto">
          <a:xfrm>
            <a:off x="6261100" y="5675313"/>
            <a:ext cx="27251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1307.6847</a:t>
            </a:r>
            <a:endParaRPr lang="en-US" altLang="en-US">
              <a:solidFill>
                <a:srgbClr val="000000"/>
              </a:solidFill>
              <a:latin typeface="Calibri" panose="020F0502020204030204" pitchFamily="34" charset="0"/>
            </a:endParaRPr>
          </a:p>
        </p:txBody>
      </p:sp>
      <p:sp>
        <p:nvSpPr>
          <p:cNvPr id="37216" name="Rectangle 724"/>
          <p:cNvSpPr>
            <a:spLocks noChangeArrowheads="1"/>
          </p:cNvSpPr>
          <p:nvPr/>
        </p:nvSpPr>
        <p:spPr bwMode="auto">
          <a:xfrm rot="16200000">
            <a:off x="557936" y="2682439"/>
            <a:ext cx="83516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Relative Abundance</a:t>
            </a:r>
            <a:endParaRPr lang="en-US" altLang="en-US" sz="2800">
              <a:solidFill>
                <a:srgbClr val="000000"/>
              </a:solidFill>
              <a:latin typeface="Calibri" panose="020F0502020204030204" pitchFamily="34" charset="0"/>
            </a:endParaRPr>
          </a:p>
        </p:txBody>
      </p:sp>
      <p:sp>
        <p:nvSpPr>
          <p:cNvPr id="37217" name="Line 725"/>
          <p:cNvSpPr>
            <a:spLocks noChangeShapeType="1"/>
          </p:cNvSpPr>
          <p:nvPr/>
        </p:nvSpPr>
        <p:spPr bwMode="auto">
          <a:xfrm flipV="1">
            <a:off x="4114800" y="2895600"/>
            <a:ext cx="22860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18" name="Line 726"/>
          <p:cNvSpPr>
            <a:spLocks noChangeShapeType="1"/>
          </p:cNvSpPr>
          <p:nvPr/>
        </p:nvSpPr>
        <p:spPr bwMode="auto">
          <a:xfrm flipH="1">
            <a:off x="3276600" y="3200400"/>
            <a:ext cx="304800" cy="914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19" name="Text Box 727"/>
          <p:cNvSpPr txBox="1">
            <a:spLocks noChangeArrowheads="1"/>
          </p:cNvSpPr>
          <p:nvPr/>
        </p:nvSpPr>
        <p:spPr bwMode="auto">
          <a:xfrm>
            <a:off x="1101727" y="1324657"/>
            <a:ext cx="481612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dirty="0">
                <a:solidFill>
                  <a:srgbClr val="000000"/>
                </a:solidFill>
                <a:latin typeface="Calibri" panose="020F0502020204030204" pitchFamily="34" charset="0"/>
              </a:rPr>
              <a:t>A.  Ion Current Chromatograms</a:t>
            </a:r>
          </a:p>
          <a:p>
            <a:pPr eaLnBrk="1" fontAlgn="base" hangingPunct="1">
              <a:spcBef>
                <a:spcPct val="0"/>
              </a:spcBef>
              <a:spcAft>
                <a:spcPct val="0"/>
              </a:spcAft>
            </a:pPr>
            <a:r>
              <a:rPr lang="en-US" altLang="en-US" dirty="0">
                <a:solidFill>
                  <a:srgbClr val="000000"/>
                </a:solidFill>
                <a:latin typeface="Calibri" panose="020F0502020204030204" pitchFamily="34" charset="0"/>
              </a:rPr>
              <a:t>  1. Total Ion Current (TIC – all ions m/z 400-1600)</a:t>
            </a:r>
          </a:p>
        </p:txBody>
      </p:sp>
      <p:sp>
        <p:nvSpPr>
          <p:cNvPr id="37220" name="Text Box 728"/>
          <p:cNvSpPr txBox="1">
            <a:spLocks noChangeArrowheads="1"/>
          </p:cNvSpPr>
          <p:nvPr/>
        </p:nvSpPr>
        <p:spPr bwMode="auto">
          <a:xfrm>
            <a:off x="1145269" y="2572885"/>
            <a:ext cx="3526799"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dirty="0">
                <a:solidFill>
                  <a:srgbClr val="000000"/>
                </a:solidFill>
                <a:latin typeface="Calibri" panose="020F0502020204030204" pitchFamily="34" charset="0"/>
              </a:rPr>
              <a:t>   </a:t>
            </a:r>
            <a:r>
              <a:rPr lang="en-US" altLang="en-US" sz="1600" dirty="0">
                <a:solidFill>
                  <a:srgbClr val="000000"/>
                </a:solidFill>
                <a:latin typeface="Calibri" panose="020F0502020204030204" pitchFamily="34" charset="0"/>
              </a:rPr>
              <a:t>2.  </a:t>
            </a:r>
            <a:r>
              <a:rPr lang="en-US" altLang="en-US" dirty="0">
                <a:solidFill>
                  <a:srgbClr val="000000"/>
                </a:solidFill>
                <a:latin typeface="Calibri" panose="020F0502020204030204" pitchFamily="34" charset="0"/>
              </a:rPr>
              <a:t>Reconstructed Ion Current (RIC)</a:t>
            </a:r>
          </a:p>
          <a:p>
            <a:pPr eaLnBrk="1" fontAlgn="base" hangingPunct="1">
              <a:spcBef>
                <a:spcPct val="0"/>
              </a:spcBef>
              <a:spcAft>
                <a:spcPct val="0"/>
              </a:spcAft>
            </a:pPr>
            <a:r>
              <a:rPr lang="en-US" altLang="en-US" sz="1600" dirty="0">
                <a:solidFill>
                  <a:srgbClr val="000000"/>
                </a:solidFill>
                <a:latin typeface="Calibri" panose="020F0502020204030204" pitchFamily="34" charset="0"/>
              </a:rPr>
              <a:t>    m/z 910.44</a:t>
            </a:r>
          </a:p>
        </p:txBody>
      </p:sp>
      <p:sp>
        <p:nvSpPr>
          <p:cNvPr id="37221" name="Text Box 729"/>
          <p:cNvSpPr txBox="1">
            <a:spLocks noChangeArrowheads="1"/>
          </p:cNvSpPr>
          <p:nvPr/>
        </p:nvSpPr>
        <p:spPr bwMode="auto">
          <a:xfrm>
            <a:off x="5089525" y="2776538"/>
            <a:ext cx="294542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dirty="0">
                <a:solidFill>
                  <a:srgbClr val="000000"/>
                </a:solidFill>
                <a:latin typeface="Calibri" panose="020F0502020204030204" pitchFamily="34" charset="0"/>
              </a:rPr>
              <a:t>Elution profile for m/z 910.44 ion</a:t>
            </a:r>
          </a:p>
        </p:txBody>
      </p:sp>
      <p:sp>
        <p:nvSpPr>
          <p:cNvPr id="37222" name="Line 730"/>
          <p:cNvSpPr>
            <a:spLocks noChangeShapeType="1"/>
          </p:cNvSpPr>
          <p:nvPr/>
        </p:nvSpPr>
        <p:spPr bwMode="auto">
          <a:xfrm flipH="1">
            <a:off x="4267200" y="3048000"/>
            <a:ext cx="2514600" cy="1981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pic>
        <p:nvPicPr>
          <p:cNvPr id="37223" name="Picture 7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0" y="4267200"/>
            <a:ext cx="1828800"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224" name="Text Box 733"/>
          <p:cNvSpPr txBox="1">
            <a:spLocks noChangeArrowheads="1"/>
          </p:cNvSpPr>
          <p:nvPr/>
        </p:nvSpPr>
        <p:spPr bwMode="auto">
          <a:xfrm>
            <a:off x="5562600" y="4114800"/>
            <a:ext cx="617477" cy="2308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900">
                <a:solidFill>
                  <a:srgbClr val="000000"/>
                </a:solidFill>
                <a:latin typeface="Calibri" panose="020F0502020204030204" pitchFamily="34" charset="0"/>
              </a:rPr>
              <a:t>910.4402</a:t>
            </a:r>
          </a:p>
        </p:txBody>
      </p:sp>
      <p:sp>
        <p:nvSpPr>
          <p:cNvPr id="37225" name="Text Box 734"/>
          <p:cNvSpPr txBox="1">
            <a:spLocks noChangeArrowheads="1"/>
          </p:cNvSpPr>
          <p:nvPr/>
        </p:nvSpPr>
        <p:spPr bwMode="auto">
          <a:xfrm>
            <a:off x="6172200" y="4114800"/>
            <a:ext cx="617477" cy="23083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900">
                <a:solidFill>
                  <a:srgbClr val="000000"/>
                </a:solidFill>
                <a:latin typeface="Calibri" panose="020F0502020204030204" pitchFamily="34" charset="0"/>
              </a:rPr>
              <a:t>910.9415</a:t>
            </a:r>
          </a:p>
        </p:txBody>
      </p:sp>
      <p:sp>
        <p:nvSpPr>
          <p:cNvPr id="37226" name="Line 735"/>
          <p:cNvSpPr>
            <a:spLocks noChangeShapeType="1"/>
          </p:cNvSpPr>
          <p:nvPr/>
        </p:nvSpPr>
        <p:spPr bwMode="auto">
          <a:xfrm>
            <a:off x="6019800" y="4572000"/>
            <a:ext cx="304800"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27" name="Text Box 736"/>
          <p:cNvSpPr txBox="1">
            <a:spLocks noChangeArrowheads="1"/>
          </p:cNvSpPr>
          <p:nvPr/>
        </p:nvSpPr>
        <p:spPr bwMode="auto">
          <a:xfrm>
            <a:off x="6752704" y="4267200"/>
            <a:ext cx="105990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600" dirty="0" err="1">
                <a:solidFill>
                  <a:srgbClr val="000000"/>
                </a:solidFill>
                <a:latin typeface="Symbol" panose="05050102010706020507" pitchFamily="18" charset="2"/>
              </a:rPr>
              <a:t>D</a:t>
            </a:r>
            <a:r>
              <a:rPr lang="en-US" altLang="en-US" sz="1600" dirty="0" err="1">
                <a:solidFill>
                  <a:srgbClr val="000000"/>
                </a:solidFill>
                <a:latin typeface="Calibri" panose="020F0502020204030204" pitchFamily="34" charset="0"/>
              </a:rPr>
              <a:t>m</a:t>
            </a:r>
            <a:r>
              <a:rPr lang="en-US" altLang="en-US" sz="1600" dirty="0">
                <a:solidFill>
                  <a:srgbClr val="000000"/>
                </a:solidFill>
                <a:latin typeface="Calibri" panose="020F0502020204030204" pitchFamily="34" charset="0"/>
              </a:rPr>
              <a:t>=0.5Da</a:t>
            </a:r>
          </a:p>
          <a:p>
            <a:pPr algn="ctr" eaLnBrk="1" fontAlgn="base" hangingPunct="1">
              <a:spcBef>
                <a:spcPct val="0"/>
              </a:spcBef>
              <a:spcAft>
                <a:spcPct val="0"/>
              </a:spcAft>
            </a:pPr>
            <a:r>
              <a:rPr lang="en-US" altLang="en-US" sz="1600" dirty="0">
                <a:solidFill>
                  <a:srgbClr val="000000"/>
                </a:solidFill>
                <a:latin typeface="Calibri" panose="020F0502020204030204" pitchFamily="34" charset="0"/>
              </a:rPr>
              <a:t>+2 ion</a:t>
            </a:r>
          </a:p>
        </p:txBody>
      </p:sp>
      <p:sp>
        <p:nvSpPr>
          <p:cNvPr id="37228" name="Line 737"/>
          <p:cNvSpPr>
            <a:spLocks noChangeShapeType="1"/>
          </p:cNvSpPr>
          <p:nvPr/>
        </p:nvSpPr>
        <p:spPr bwMode="auto">
          <a:xfrm>
            <a:off x="6172200" y="44196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29" name="Line 738"/>
          <p:cNvSpPr>
            <a:spLocks noChangeShapeType="1"/>
          </p:cNvSpPr>
          <p:nvPr/>
        </p:nvSpPr>
        <p:spPr bwMode="auto">
          <a:xfrm flipV="1">
            <a:off x="6172200" y="4419600"/>
            <a:ext cx="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30" name="Line 739"/>
          <p:cNvSpPr>
            <a:spLocks noChangeShapeType="1"/>
          </p:cNvSpPr>
          <p:nvPr/>
        </p:nvSpPr>
        <p:spPr bwMode="auto">
          <a:xfrm flipV="1">
            <a:off x="4191000" y="4876800"/>
            <a:ext cx="13716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31" name="Line 740"/>
          <p:cNvSpPr>
            <a:spLocks noChangeShapeType="1"/>
          </p:cNvSpPr>
          <p:nvPr/>
        </p:nvSpPr>
        <p:spPr bwMode="auto">
          <a:xfrm flipV="1">
            <a:off x="4114800" y="53340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32" name="Line 741"/>
          <p:cNvSpPr>
            <a:spLocks noChangeShapeType="1"/>
          </p:cNvSpPr>
          <p:nvPr/>
        </p:nvSpPr>
        <p:spPr bwMode="auto">
          <a:xfrm>
            <a:off x="4114800" y="5334000"/>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33" name="Line 742"/>
          <p:cNvSpPr>
            <a:spLocks noChangeShapeType="1"/>
          </p:cNvSpPr>
          <p:nvPr/>
        </p:nvSpPr>
        <p:spPr bwMode="auto">
          <a:xfrm>
            <a:off x="4267200" y="533400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34" name="Text Box 743"/>
          <p:cNvSpPr txBox="1">
            <a:spLocks noChangeArrowheads="1"/>
          </p:cNvSpPr>
          <p:nvPr/>
        </p:nvSpPr>
        <p:spPr bwMode="auto">
          <a:xfrm>
            <a:off x="4646835" y="5105400"/>
            <a:ext cx="90601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400" dirty="0">
                <a:solidFill>
                  <a:srgbClr val="000000"/>
                </a:solidFill>
                <a:latin typeface="Calibri" panose="020F0502020204030204" pitchFamily="34" charset="0"/>
              </a:rPr>
              <a:t>Expanded</a:t>
            </a:r>
          </a:p>
          <a:p>
            <a:pPr algn="ctr" eaLnBrk="1" fontAlgn="base" hangingPunct="1">
              <a:spcBef>
                <a:spcPct val="0"/>
              </a:spcBef>
              <a:spcAft>
                <a:spcPct val="0"/>
              </a:spcAft>
            </a:pPr>
            <a:r>
              <a:rPr lang="en-US" altLang="en-US" sz="1400" dirty="0">
                <a:solidFill>
                  <a:srgbClr val="000000"/>
                </a:solidFill>
                <a:latin typeface="Calibri" panose="020F0502020204030204" pitchFamily="34" charset="0"/>
              </a:rPr>
              <a:t>view</a:t>
            </a:r>
          </a:p>
        </p:txBody>
      </p:sp>
      <p:sp>
        <p:nvSpPr>
          <p:cNvPr id="37235" name="Text Box 744"/>
          <p:cNvSpPr txBox="1">
            <a:spLocks noChangeArrowheads="1"/>
          </p:cNvSpPr>
          <p:nvPr/>
        </p:nvSpPr>
        <p:spPr bwMode="auto">
          <a:xfrm>
            <a:off x="1174297" y="3744913"/>
            <a:ext cx="19720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dirty="0">
                <a:solidFill>
                  <a:srgbClr val="000000"/>
                </a:solidFill>
                <a:latin typeface="Calibri" panose="020F0502020204030204" pitchFamily="34" charset="0"/>
              </a:rPr>
              <a:t>B.  Mass spectrum</a:t>
            </a:r>
          </a:p>
        </p:txBody>
      </p:sp>
      <p:sp>
        <p:nvSpPr>
          <p:cNvPr id="37236" name="Text Box 745"/>
          <p:cNvSpPr txBox="1">
            <a:spLocks noChangeArrowheads="1"/>
          </p:cNvSpPr>
          <p:nvPr/>
        </p:nvSpPr>
        <p:spPr bwMode="auto">
          <a:xfrm>
            <a:off x="1004116" y="6056313"/>
            <a:ext cx="709213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b="1" dirty="0">
                <a:solidFill>
                  <a:srgbClr val="000000"/>
                </a:solidFill>
                <a:latin typeface="Calibri" panose="020F0502020204030204" pitchFamily="34" charset="0"/>
              </a:rPr>
              <a:t>MS: Peptide molecular weight and relative abundance</a:t>
            </a:r>
          </a:p>
        </p:txBody>
      </p:sp>
      <p:sp>
        <p:nvSpPr>
          <p:cNvPr id="37237" name="Text Box 746"/>
          <p:cNvSpPr txBox="1">
            <a:spLocks noChangeArrowheads="1"/>
          </p:cNvSpPr>
          <p:nvPr/>
        </p:nvSpPr>
        <p:spPr bwMode="auto">
          <a:xfrm>
            <a:off x="6742011" y="3663050"/>
            <a:ext cx="18906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b="1" dirty="0">
                <a:solidFill>
                  <a:srgbClr val="000000"/>
                </a:solidFill>
                <a:latin typeface="Calibri" panose="020F0502020204030204" pitchFamily="34" charset="0"/>
              </a:rPr>
              <a:t>910</a:t>
            </a:r>
            <a:r>
              <a:rPr lang="en-US" altLang="en-US" b="1" baseline="30000" dirty="0">
                <a:solidFill>
                  <a:srgbClr val="000000"/>
                </a:solidFill>
                <a:latin typeface="Calibri" panose="020F0502020204030204" pitchFamily="34" charset="0"/>
              </a:rPr>
              <a:t>2+</a:t>
            </a:r>
            <a:r>
              <a:rPr lang="en-US" altLang="en-US" b="1" dirty="0">
                <a:solidFill>
                  <a:srgbClr val="000000"/>
                </a:solidFill>
                <a:latin typeface="Calibri" panose="020F0502020204030204" pitchFamily="34" charset="0"/>
              </a:rPr>
              <a:t> ion selected</a:t>
            </a:r>
          </a:p>
          <a:p>
            <a:pPr algn="ctr" eaLnBrk="1" fontAlgn="base" hangingPunct="1">
              <a:spcBef>
                <a:spcPct val="0"/>
              </a:spcBef>
              <a:spcAft>
                <a:spcPct val="0"/>
              </a:spcAft>
            </a:pPr>
            <a:r>
              <a:rPr lang="en-US" altLang="en-US" b="1" dirty="0">
                <a:solidFill>
                  <a:srgbClr val="000000"/>
                </a:solidFill>
                <a:latin typeface="Calibri" panose="020F0502020204030204" pitchFamily="34" charset="0"/>
              </a:rPr>
              <a:t>for MS/MS</a:t>
            </a:r>
          </a:p>
        </p:txBody>
      </p:sp>
      <p:sp>
        <p:nvSpPr>
          <p:cNvPr id="37238" name="AutoShape 747"/>
          <p:cNvSpPr>
            <a:spLocks noChangeArrowheads="1"/>
          </p:cNvSpPr>
          <p:nvPr/>
        </p:nvSpPr>
        <p:spPr bwMode="auto">
          <a:xfrm>
            <a:off x="7772400" y="4191000"/>
            <a:ext cx="914400" cy="609600"/>
          </a:xfrm>
          <a:prstGeom prst="rightArrow">
            <a:avLst>
              <a:gd name="adj1" fmla="val 50000"/>
              <a:gd name="adj2" fmla="val 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sp>
        <p:nvSpPr>
          <p:cNvPr id="37239" name="Text Box 748"/>
          <p:cNvSpPr txBox="1">
            <a:spLocks noChangeArrowheads="1"/>
          </p:cNvSpPr>
          <p:nvPr/>
        </p:nvSpPr>
        <p:spPr bwMode="auto">
          <a:xfrm>
            <a:off x="8264525" y="1371600"/>
            <a:ext cx="487634"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a:solidFill>
                  <a:srgbClr val="000000"/>
                </a:solidFill>
                <a:latin typeface="Calibri" panose="020F0502020204030204" pitchFamily="34" charset="0"/>
              </a:rPr>
              <a:t>MS</a:t>
            </a:r>
          </a:p>
        </p:txBody>
      </p:sp>
      <p:sp>
        <p:nvSpPr>
          <p:cNvPr id="37240" name="Text Box 749"/>
          <p:cNvSpPr txBox="1">
            <a:spLocks noChangeArrowheads="1"/>
          </p:cNvSpPr>
          <p:nvPr/>
        </p:nvSpPr>
        <p:spPr bwMode="auto">
          <a:xfrm>
            <a:off x="5715000" y="990600"/>
            <a:ext cx="666273"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a:solidFill>
                  <a:srgbClr val="000000"/>
                </a:solidFill>
                <a:latin typeface="Calibri" panose="020F0502020204030204" pitchFamily="34" charset="0"/>
              </a:rPr>
              <a:t>HPLC</a:t>
            </a:r>
          </a:p>
        </p:txBody>
      </p:sp>
      <p:sp>
        <p:nvSpPr>
          <p:cNvPr id="37241" name="Rectangle 777"/>
          <p:cNvSpPr>
            <a:spLocks noChangeArrowheads="1"/>
          </p:cNvSpPr>
          <p:nvPr/>
        </p:nvSpPr>
        <p:spPr bwMode="auto">
          <a:xfrm>
            <a:off x="5702300" y="1504950"/>
            <a:ext cx="1152525" cy="952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sp>
        <p:nvSpPr>
          <p:cNvPr id="37242" name="Line 778"/>
          <p:cNvSpPr>
            <a:spLocks noChangeShapeType="1"/>
          </p:cNvSpPr>
          <p:nvPr/>
        </p:nvSpPr>
        <p:spPr bwMode="auto">
          <a:xfrm>
            <a:off x="6854825" y="1504950"/>
            <a:ext cx="328613" cy="31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43" name="Line 779"/>
          <p:cNvSpPr>
            <a:spLocks noChangeShapeType="1"/>
          </p:cNvSpPr>
          <p:nvPr/>
        </p:nvSpPr>
        <p:spPr bwMode="auto">
          <a:xfrm flipV="1">
            <a:off x="6854825" y="1568450"/>
            <a:ext cx="328613" cy="31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44" name="Oval 780"/>
          <p:cNvSpPr>
            <a:spLocks noChangeArrowheads="1"/>
          </p:cNvSpPr>
          <p:nvPr/>
        </p:nvSpPr>
        <p:spPr bwMode="auto">
          <a:xfrm>
            <a:off x="7183438" y="1536700"/>
            <a:ext cx="55562" cy="3175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sp>
        <p:nvSpPr>
          <p:cNvPr id="37245" name="AutoShape 781"/>
          <p:cNvSpPr>
            <a:spLocks noChangeArrowheads="1"/>
          </p:cNvSpPr>
          <p:nvPr/>
        </p:nvSpPr>
        <p:spPr bwMode="auto">
          <a:xfrm rot="-5400000">
            <a:off x="5511800" y="1270000"/>
            <a:ext cx="381000" cy="279400"/>
          </a:xfrm>
          <a:custGeom>
            <a:avLst/>
            <a:gdLst>
              <a:gd name="T0" fmla="*/ 190500 w 21600"/>
              <a:gd name="T1" fmla="*/ 0 h 21600"/>
              <a:gd name="T2" fmla="*/ 47625 w 21600"/>
              <a:gd name="T3" fmla="*/ 139700 h 21600"/>
              <a:gd name="T4" fmla="*/ 190500 w 21600"/>
              <a:gd name="T5" fmla="*/ 69850 h 21600"/>
              <a:gd name="T6" fmla="*/ 333375 w 21600"/>
              <a:gd name="T7" fmla="*/ 139700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46" name="Line 783"/>
          <p:cNvSpPr>
            <a:spLocks noChangeShapeType="1"/>
          </p:cNvSpPr>
          <p:nvPr/>
        </p:nvSpPr>
        <p:spPr bwMode="auto">
          <a:xfrm flipV="1">
            <a:off x="7239000" y="1447800"/>
            <a:ext cx="304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47" name="Line 784"/>
          <p:cNvSpPr>
            <a:spLocks noChangeShapeType="1"/>
          </p:cNvSpPr>
          <p:nvPr/>
        </p:nvSpPr>
        <p:spPr bwMode="auto">
          <a:xfrm>
            <a:off x="7239000" y="1600200"/>
            <a:ext cx="304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48" name="Text Box 785"/>
          <p:cNvSpPr txBox="1">
            <a:spLocks noChangeArrowheads="1"/>
          </p:cNvSpPr>
          <p:nvPr/>
        </p:nvSpPr>
        <p:spPr bwMode="auto">
          <a:xfrm>
            <a:off x="8001000" y="1447800"/>
            <a:ext cx="2286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a:t>
            </a:r>
          </a:p>
        </p:txBody>
      </p:sp>
      <p:sp>
        <p:nvSpPr>
          <p:cNvPr id="37249" name="Text Box 786"/>
          <p:cNvSpPr txBox="1">
            <a:spLocks noChangeArrowheads="1"/>
          </p:cNvSpPr>
          <p:nvPr/>
        </p:nvSpPr>
        <p:spPr bwMode="auto">
          <a:xfrm>
            <a:off x="8077200" y="1447800"/>
            <a:ext cx="2286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a:t>
            </a:r>
          </a:p>
        </p:txBody>
      </p:sp>
      <p:sp>
        <p:nvSpPr>
          <p:cNvPr id="37250" name="Text Box 787"/>
          <p:cNvSpPr txBox="1">
            <a:spLocks noChangeArrowheads="1"/>
          </p:cNvSpPr>
          <p:nvPr/>
        </p:nvSpPr>
        <p:spPr bwMode="auto">
          <a:xfrm>
            <a:off x="7924800" y="1447800"/>
            <a:ext cx="228600"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a:t>
            </a:r>
          </a:p>
        </p:txBody>
      </p:sp>
      <p:sp>
        <p:nvSpPr>
          <p:cNvPr id="37251" name="Text Box 788"/>
          <p:cNvSpPr txBox="1">
            <a:spLocks noChangeArrowheads="1"/>
          </p:cNvSpPr>
          <p:nvPr/>
        </p:nvSpPr>
        <p:spPr bwMode="auto">
          <a:xfrm>
            <a:off x="7315200" y="1319213"/>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b="1">
                <a:solidFill>
                  <a:srgbClr val="000000"/>
                </a:solidFill>
                <a:latin typeface="Calibri" panose="020F0502020204030204" pitchFamily="34" charset="0"/>
              </a:rPr>
              <a:t>.</a:t>
            </a:r>
          </a:p>
        </p:txBody>
      </p:sp>
      <p:sp>
        <p:nvSpPr>
          <p:cNvPr id="37252" name="Text Box 789"/>
          <p:cNvSpPr txBox="1">
            <a:spLocks noChangeArrowheads="1"/>
          </p:cNvSpPr>
          <p:nvPr/>
        </p:nvSpPr>
        <p:spPr bwMode="auto">
          <a:xfrm>
            <a:off x="7391400" y="1371600"/>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b="1">
                <a:solidFill>
                  <a:srgbClr val="000000"/>
                </a:solidFill>
                <a:latin typeface="Calibri" panose="020F0502020204030204" pitchFamily="34" charset="0"/>
              </a:rPr>
              <a:t>.</a:t>
            </a:r>
          </a:p>
        </p:txBody>
      </p:sp>
      <p:sp>
        <p:nvSpPr>
          <p:cNvPr id="37253" name="Text Box 790"/>
          <p:cNvSpPr txBox="1">
            <a:spLocks noChangeArrowheads="1"/>
          </p:cNvSpPr>
          <p:nvPr/>
        </p:nvSpPr>
        <p:spPr bwMode="auto">
          <a:xfrm>
            <a:off x="7391400" y="1295400"/>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b="1">
                <a:solidFill>
                  <a:srgbClr val="000000"/>
                </a:solidFill>
                <a:latin typeface="Calibri" panose="020F0502020204030204" pitchFamily="34" charset="0"/>
              </a:rPr>
              <a:t>.</a:t>
            </a:r>
          </a:p>
        </p:txBody>
      </p:sp>
      <p:sp>
        <p:nvSpPr>
          <p:cNvPr id="37254" name="Text Box 791"/>
          <p:cNvSpPr txBox="1">
            <a:spLocks noChangeArrowheads="1"/>
          </p:cNvSpPr>
          <p:nvPr/>
        </p:nvSpPr>
        <p:spPr bwMode="auto">
          <a:xfrm>
            <a:off x="7239000" y="1295400"/>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b="1">
                <a:solidFill>
                  <a:srgbClr val="000000"/>
                </a:solidFill>
                <a:latin typeface="Calibri" panose="020F0502020204030204" pitchFamily="34" charset="0"/>
              </a:rPr>
              <a:t>.</a:t>
            </a:r>
          </a:p>
        </p:txBody>
      </p:sp>
      <p:sp>
        <p:nvSpPr>
          <p:cNvPr id="37255" name="Text Box 792"/>
          <p:cNvSpPr txBox="1">
            <a:spLocks noChangeArrowheads="1"/>
          </p:cNvSpPr>
          <p:nvPr/>
        </p:nvSpPr>
        <p:spPr bwMode="auto">
          <a:xfrm>
            <a:off x="7315200" y="1371600"/>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b="1">
                <a:solidFill>
                  <a:srgbClr val="000000"/>
                </a:solidFill>
                <a:latin typeface="Calibri" panose="020F0502020204030204" pitchFamily="34" charset="0"/>
              </a:rPr>
              <a:t>.</a:t>
            </a:r>
          </a:p>
        </p:txBody>
      </p:sp>
      <p:sp>
        <p:nvSpPr>
          <p:cNvPr id="37256" name="Text Box 793"/>
          <p:cNvSpPr txBox="1">
            <a:spLocks noChangeArrowheads="1"/>
          </p:cNvSpPr>
          <p:nvPr/>
        </p:nvSpPr>
        <p:spPr bwMode="auto">
          <a:xfrm>
            <a:off x="7239000" y="1371600"/>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b="1">
                <a:solidFill>
                  <a:srgbClr val="000000"/>
                </a:solidFill>
                <a:latin typeface="Calibri" panose="020F0502020204030204" pitchFamily="34" charset="0"/>
              </a:rPr>
              <a:t>.</a:t>
            </a:r>
          </a:p>
        </p:txBody>
      </p:sp>
      <p:sp>
        <p:nvSpPr>
          <p:cNvPr id="37257" name="Text Box 794"/>
          <p:cNvSpPr txBox="1">
            <a:spLocks noChangeArrowheads="1"/>
          </p:cNvSpPr>
          <p:nvPr/>
        </p:nvSpPr>
        <p:spPr bwMode="auto">
          <a:xfrm>
            <a:off x="6962568" y="1752600"/>
            <a:ext cx="8306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000">
                <a:solidFill>
                  <a:srgbClr val="000000"/>
                </a:solidFill>
                <a:latin typeface="Calibri" panose="020F0502020204030204" pitchFamily="34" charset="0"/>
              </a:rPr>
              <a:t>Electrospray</a:t>
            </a:r>
          </a:p>
          <a:p>
            <a:pPr algn="ctr" eaLnBrk="1" fontAlgn="base" hangingPunct="1">
              <a:spcBef>
                <a:spcPct val="0"/>
              </a:spcBef>
              <a:spcAft>
                <a:spcPct val="0"/>
              </a:spcAft>
            </a:pPr>
            <a:r>
              <a:rPr lang="en-US" altLang="en-US" sz="1000">
                <a:solidFill>
                  <a:srgbClr val="000000"/>
                </a:solidFill>
                <a:latin typeface="Calibri" panose="020F0502020204030204" pitchFamily="34" charset="0"/>
              </a:rPr>
              <a:t>ionization</a:t>
            </a:r>
          </a:p>
        </p:txBody>
      </p:sp>
      <p:sp>
        <p:nvSpPr>
          <p:cNvPr id="37258" name="Text Box 795"/>
          <p:cNvSpPr txBox="1">
            <a:spLocks noChangeArrowheads="1"/>
          </p:cNvSpPr>
          <p:nvPr/>
        </p:nvSpPr>
        <p:spPr bwMode="auto">
          <a:xfrm>
            <a:off x="5699125" y="1582738"/>
            <a:ext cx="8563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C18 RP-HPLC</a:t>
            </a:r>
          </a:p>
        </p:txBody>
      </p:sp>
      <p:sp>
        <p:nvSpPr>
          <p:cNvPr id="37259" name="Text Box 796"/>
          <p:cNvSpPr txBox="1">
            <a:spLocks noChangeArrowheads="1"/>
          </p:cNvSpPr>
          <p:nvPr/>
        </p:nvSpPr>
        <p:spPr bwMode="auto">
          <a:xfrm>
            <a:off x="5715000" y="1295400"/>
            <a:ext cx="107473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Gradient elution</a:t>
            </a:r>
          </a:p>
        </p:txBody>
      </p:sp>
      <p:sp>
        <p:nvSpPr>
          <p:cNvPr id="37260" name="Line 797"/>
          <p:cNvSpPr>
            <a:spLocks noChangeShapeType="1"/>
          </p:cNvSpPr>
          <p:nvPr/>
        </p:nvSpPr>
        <p:spPr bwMode="auto">
          <a:xfrm>
            <a:off x="6705600" y="1447800"/>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grpSp>
        <p:nvGrpSpPr>
          <p:cNvPr id="37261" name="Group 798"/>
          <p:cNvGrpSpPr>
            <a:grpSpLocks/>
          </p:cNvGrpSpPr>
          <p:nvPr/>
        </p:nvGrpSpPr>
        <p:grpSpPr bwMode="auto">
          <a:xfrm>
            <a:off x="7620000" y="1524000"/>
            <a:ext cx="381000" cy="76200"/>
            <a:chOff x="1440" y="2928"/>
            <a:chExt cx="240" cy="96"/>
          </a:xfrm>
        </p:grpSpPr>
        <p:sp>
          <p:nvSpPr>
            <p:cNvPr id="37277" name="Rectangle 799"/>
            <p:cNvSpPr>
              <a:spLocks noChangeArrowheads="1"/>
            </p:cNvSpPr>
            <p:nvPr/>
          </p:nvSpPr>
          <p:spPr bwMode="auto">
            <a:xfrm>
              <a:off x="1440" y="2928"/>
              <a:ext cx="240" cy="9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sp>
          <p:nvSpPr>
            <p:cNvPr id="37278" name="Line 800"/>
            <p:cNvSpPr>
              <a:spLocks noChangeShapeType="1"/>
            </p:cNvSpPr>
            <p:nvPr/>
          </p:nvSpPr>
          <p:spPr bwMode="auto">
            <a:xfrm>
              <a:off x="1440" y="302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79" name="Line 801"/>
            <p:cNvSpPr>
              <a:spLocks noChangeShapeType="1"/>
            </p:cNvSpPr>
            <p:nvPr/>
          </p:nvSpPr>
          <p:spPr bwMode="auto">
            <a:xfrm>
              <a:off x="1440" y="297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grpSp>
      <p:sp>
        <p:nvSpPr>
          <p:cNvPr id="37262" name="Text Box 802"/>
          <p:cNvSpPr txBox="1">
            <a:spLocks noChangeArrowheads="1"/>
          </p:cNvSpPr>
          <p:nvPr/>
        </p:nvSpPr>
        <p:spPr bwMode="auto">
          <a:xfrm>
            <a:off x="8305800" y="1981200"/>
            <a:ext cx="426720" cy="36933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a:solidFill>
                  <a:srgbClr val="000000"/>
                </a:solidFill>
                <a:latin typeface="Calibri" panose="020F0502020204030204" pitchFamily="34" charset="0"/>
              </a:rPr>
              <a:t>PC</a:t>
            </a:r>
          </a:p>
        </p:txBody>
      </p:sp>
      <p:sp>
        <p:nvSpPr>
          <p:cNvPr id="37263" name="Line 803"/>
          <p:cNvSpPr>
            <a:spLocks noChangeShapeType="1"/>
          </p:cNvSpPr>
          <p:nvPr/>
        </p:nvSpPr>
        <p:spPr bwMode="auto">
          <a:xfrm>
            <a:off x="8534400" y="17526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64" name="Line 805"/>
          <p:cNvSpPr>
            <a:spLocks noChangeShapeType="1"/>
          </p:cNvSpPr>
          <p:nvPr/>
        </p:nvSpPr>
        <p:spPr bwMode="auto">
          <a:xfrm>
            <a:off x="6781800" y="3048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65" name="Line 806"/>
          <p:cNvSpPr>
            <a:spLocks noChangeShapeType="1"/>
          </p:cNvSpPr>
          <p:nvPr/>
        </p:nvSpPr>
        <p:spPr bwMode="auto">
          <a:xfrm>
            <a:off x="6781800" y="990600"/>
            <a:ext cx="1676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66" name="Line 807"/>
          <p:cNvSpPr>
            <a:spLocks noChangeShapeType="1"/>
          </p:cNvSpPr>
          <p:nvPr/>
        </p:nvSpPr>
        <p:spPr bwMode="auto">
          <a:xfrm flipV="1">
            <a:off x="6781800" y="838200"/>
            <a:ext cx="1524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67" name="Line 808"/>
          <p:cNvSpPr>
            <a:spLocks noChangeShapeType="1"/>
          </p:cNvSpPr>
          <p:nvPr/>
        </p:nvSpPr>
        <p:spPr bwMode="auto">
          <a:xfrm flipV="1">
            <a:off x="6934200" y="685800"/>
            <a:ext cx="7620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68" name="Line 809"/>
          <p:cNvSpPr>
            <a:spLocks noChangeShapeType="1"/>
          </p:cNvSpPr>
          <p:nvPr/>
        </p:nvSpPr>
        <p:spPr bwMode="auto">
          <a:xfrm flipV="1">
            <a:off x="7696200" y="457200"/>
            <a:ext cx="1524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69" name="Line 810"/>
          <p:cNvSpPr>
            <a:spLocks noChangeShapeType="1"/>
          </p:cNvSpPr>
          <p:nvPr/>
        </p:nvSpPr>
        <p:spPr bwMode="auto">
          <a:xfrm>
            <a:off x="7848600" y="457200"/>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70" name="Line 811"/>
          <p:cNvSpPr>
            <a:spLocks noChangeShapeType="1"/>
          </p:cNvSpPr>
          <p:nvPr/>
        </p:nvSpPr>
        <p:spPr bwMode="auto">
          <a:xfrm>
            <a:off x="8001000" y="457200"/>
            <a:ext cx="304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271" name="Text Box 812"/>
          <p:cNvSpPr txBox="1">
            <a:spLocks noChangeArrowheads="1"/>
          </p:cNvSpPr>
          <p:nvPr/>
        </p:nvSpPr>
        <p:spPr bwMode="auto">
          <a:xfrm>
            <a:off x="7070725" y="1049338"/>
            <a:ext cx="77938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Time (min.)</a:t>
            </a:r>
          </a:p>
        </p:txBody>
      </p:sp>
      <p:sp>
        <p:nvSpPr>
          <p:cNvPr id="37272" name="Text Box 813"/>
          <p:cNvSpPr txBox="1">
            <a:spLocks noChangeArrowheads="1"/>
          </p:cNvSpPr>
          <p:nvPr/>
        </p:nvSpPr>
        <p:spPr bwMode="auto">
          <a:xfrm rot="16200000">
            <a:off x="6292102" y="516652"/>
            <a:ext cx="614271"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 MeCn</a:t>
            </a:r>
          </a:p>
        </p:txBody>
      </p:sp>
      <p:sp>
        <p:nvSpPr>
          <p:cNvPr id="37273" name="Text Box 814"/>
          <p:cNvSpPr txBox="1">
            <a:spLocks noChangeArrowheads="1"/>
          </p:cNvSpPr>
          <p:nvPr/>
        </p:nvSpPr>
        <p:spPr bwMode="auto">
          <a:xfrm>
            <a:off x="6858000" y="304800"/>
            <a:ext cx="92044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HPLC gradient</a:t>
            </a:r>
          </a:p>
        </p:txBody>
      </p:sp>
      <p:sp>
        <p:nvSpPr>
          <p:cNvPr id="37275" name="Text Box 816"/>
          <p:cNvSpPr txBox="1">
            <a:spLocks noChangeArrowheads="1"/>
          </p:cNvSpPr>
          <p:nvPr/>
        </p:nvSpPr>
        <p:spPr bwMode="auto">
          <a:xfrm>
            <a:off x="4573018" y="392113"/>
            <a:ext cx="82028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400">
                <a:solidFill>
                  <a:srgbClr val="000000"/>
                </a:solidFill>
                <a:latin typeface="Calibri" panose="020F0502020204030204" pitchFamily="34" charset="0"/>
              </a:rPr>
              <a:t>Tryptic</a:t>
            </a:r>
          </a:p>
          <a:p>
            <a:pPr algn="ctr" eaLnBrk="1" fontAlgn="base" hangingPunct="1">
              <a:spcBef>
                <a:spcPct val="0"/>
              </a:spcBef>
              <a:spcAft>
                <a:spcPct val="0"/>
              </a:spcAft>
            </a:pPr>
            <a:r>
              <a:rPr lang="en-US" altLang="en-US" sz="1400">
                <a:solidFill>
                  <a:srgbClr val="000000"/>
                </a:solidFill>
                <a:latin typeface="Calibri" panose="020F0502020204030204" pitchFamily="34" charset="0"/>
              </a:rPr>
              <a:t>peptides</a:t>
            </a:r>
          </a:p>
        </p:txBody>
      </p:sp>
      <p:sp>
        <p:nvSpPr>
          <p:cNvPr id="37276" name="Line 817"/>
          <p:cNvSpPr>
            <a:spLocks noChangeShapeType="1"/>
          </p:cNvSpPr>
          <p:nvPr/>
        </p:nvSpPr>
        <p:spPr bwMode="auto">
          <a:xfrm>
            <a:off x="5029200" y="914400"/>
            <a:ext cx="457200" cy="3810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Tree>
    <p:extLst>
      <p:ext uri="{BB962C8B-B14F-4D97-AF65-F5344CB8AC3E}">
        <p14:creationId xmlns:p14="http://schemas.microsoft.com/office/powerpoint/2010/main" val="1392528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bwMode="auto">
          <a:xfrm>
            <a:off x="1892300" y="178268"/>
            <a:ext cx="49022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dirty="0">
                <a:latin typeface="Calibri" panose="020F0502020204030204" pitchFamily="34" charset="0"/>
              </a:rPr>
              <a:t>MS Data Example</a:t>
            </a:r>
            <a:endParaRPr lang="en-US" altLang="en-US" dirty="0">
              <a:latin typeface="Calibri" panose="020F0502020204030204" pitchFamily="34" charset="0"/>
            </a:endParaRP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38914" name="Slide Number Placeholder 4"/>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6D326D3-AC95-41C5-BC00-B2728DBF5123}" type="slidenum">
              <a:rPr lang="en-US" altLang="en-US" smtClean="0">
                <a:solidFill>
                  <a:srgbClr val="000000"/>
                </a:solidFill>
                <a:latin typeface="Calibri" panose="020F0502020204030204" pitchFamily="34" charset="0"/>
              </a:rPr>
              <a:pPr eaLnBrk="1" hangingPunct="1"/>
              <a:t>29</a:t>
            </a:fld>
            <a:endParaRPr lang="en-US" altLang="en-US">
              <a:solidFill>
                <a:srgbClr val="000000"/>
              </a:solidFill>
              <a:latin typeface="Calibri" panose="020F0502020204030204" pitchFamily="34" charset="0"/>
            </a:endParaRPr>
          </a:p>
        </p:txBody>
      </p:sp>
      <p:sp>
        <p:nvSpPr>
          <p:cNvPr id="38916" name="AutoShape 3"/>
          <p:cNvSpPr>
            <a:spLocks noChangeAspect="1" noChangeArrowheads="1" noTextEdit="1"/>
          </p:cNvSpPr>
          <p:nvPr/>
        </p:nvSpPr>
        <p:spPr bwMode="auto">
          <a:xfrm>
            <a:off x="609600" y="1219200"/>
            <a:ext cx="8154988" cy="518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17" name="Line 4"/>
          <p:cNvSpPr>
            <a:spLocks noChangeShapeType="1"/>
          </p:cNvSpPr>
          <p:nvPr/>
        </p:nvSpPr>
        <p:spPr bwMode="auto">
          <a:xfrm>
            <a:off x="922338" y="6124575"/>
            <a:ext cx="769143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18" name="Line 5"/>
          <p:cNvSpPr>
            <a:spLocks noChangeShapeType="1"/>
          </p:cNvSpPr>
          <p:nvPr/>
        </p:nvSpPr>
        <p:spPr bwMode="auto">
          <a:xfrm>
            <a:off x="104933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19" name="Line 6"/>
          <p:cNvSpPr>
            <a:spLocks noChangeShapeType="1"/>
          </p:cNvSpPr>
          <p:nvPr/>
        </p:nvSpPr>
        <p:spPr bwMode="auto">
          <a:xfrm>
            <a:off x="117633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0" name="Line 7"/>
          <p:cNvSpPr>
            <a:spLocks noChangeShapeType="1"/>
          </p:cNvSpPr>
          <p:nvPr/>
        </p:nvSpPr>
        <p:spPr bwMode="auto">
          <a:xfrm>
            <a:off x="130333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1" name="Line 8"/>
          <p:cNvSpPr>
            <a:spLocks noChangeShapeType="1"/>
          </p:cNvSpPr>
          <p:nvPr/>
        </p:nvSpPr>
        <p:spPr bwMode="auto">
          <a:xfrm>
            <a:off x="143510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2" name="Line 9"/>
          <p:cNvSpPr>
            <a:spLocks noChangeShapeType="1"/>
          </p:cNvSpPr>
          <p:nvPr/>
        </p:nvSpPr>
        <p:spPr bwMode="auto">
          <a:xfrm>
            <a:off x="168910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3" name="Line 10"/>
          <p:cNvSpPr>
            <a:spLocks noChangeShapeType="1"/>
          </p:cNvSpPr>
          <p:nvPr/>
        </p:nvSpPr>
        <p:spPr bwMode="auto">
          <a:xfrm>
            <a:off x="181451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4" name="Line 11"/>
          <p:cNvSpPr>
            <a:spLocks noChangeShapeType="1"/>
          </p:cNvSpPr>
          <p:nvPr/>
        </p:nvSpPr>
        <p:spPr bwMode="auto">
          <a:xfrm>
            <a:off x="19478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5" name="Line 12"/>
          <p:cNvSpPr>
            <a:spLocks noChangeShapeType="1"/>
          </p:cNvSpPr>
          <p:nvPr/>
        </p:nvSpPr>
        <p:spPr bwMode="auto">
          <a:xfrm>
            <a:off x="20748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6" name="Line 13"/>
          <p:cNvSpPr>
            <a:spLocks noChangeShapeType="1"/>
          </p:cNvSpPr>
          <p:nvPr/>
        </p:nvSpPr>
        <p:spPr bwMode="auto">
          <a:xfrm>
            <a:off x="232727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7" name="Line 14"/>
          <p:cNvSpPr>
            <a:spLocks noChangeShapeType="1"/>
          </p:cNvSpPr>
          <p:nvPr/>
        </p:nvSpPr>
        <p:spPr bwMode="auto">
          <a:xfrm>
            <a:off x="246062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8" name="Line 15"/>
          <p:cNvSpPr>
            <a:spLocks noChangeShapeType="1"/>
          </p:cNvSpPr>
          <p:nvPr/>
        </p:nvSpPr>
        <p:spPr bwMode="auto">
          <a:xfrm>
            <a:off x="258603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29" name="Line 16"/>
          <p:cNvSpPr>
            <a:spLocks noChangeShapeType="1"/>
          </p:cNvSpPr>
          <p:nvPr/>
        </p:nvSpPr>
        <p:spPr bwMode="auto">
          <a:xfrm>
            <a:off x="271303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0" name="Line 17"/>
          <p:cNvSpPr>
            <a:spLocks noChangeShapeType="1"/>
          </p:cNvSpPr>
          <p:nvPr/>
        </p:nvSpPr>
        <p:spPr bwMode="auto">
          <a:xfrm>
            <a:off x="297180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1" name="Line 18"/>
          <p:cNvSpPr>
            <a:spLocks noChangeShapeType="1"/>
          </p:cNvSpPr>
          <p:nvPr/>
        </p:nvSpPr>
        <p:spPr bwMode="auto">
          <a:xfrm>
            <a:off x="309880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2" name="Line 19"/>
          <p:cNvSpPr>
            <a:spLocks noChangeShapeType="1"/>
          </p:cNvSpPr>
          <p:nvPr/>
        </p:nvSpPr>
        <p:spPr bwMode="auto">
          <a:xfrm>
            <a:off x="322580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3" name="Line 20"/>
          <p:cNvSpPr>
            <a:spLocks noChangeShapeType="1"/>
          </p:cNvSpPr>
          <p:nvPr/>
        </p:nvSpPr>
        <p:spPr bwMode="auto">
          <a:xfrm>
            <a:off x="33575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4" name="Line 21"/>
          <p:cNvSpPr>
            <a:spLocks noChangeShapeType="1"/>
          </p:cNvSpPr>
          <p:nvPr/>
        </p:nvSpPr>
        <p:spPr bwMode="auto">
          <a:xfrm>
            <a:off x="36115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5" name="Line 22"/>
          <p:cNvSpPr>
            <a:spLocks noChangeShapeType="1"/>
          </p:cNvSpPr>
          <p:nvPr/>
        </p:nvSpPr>
        <p:spPr bwMode="auto">
          <a:xfrm>
            <a:off x="37385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6" name="Line 23"/>
          <p:cNvSpPr>
            <a:spLocks noChangeShapeType="1"/>
          </p:cNvSpPr>
          <p:nvPr/>
        </p:nvSpPr>
        <p:spPr bwMode="auto">
          <a:xfrm>
            <a:off x="387032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7" name="Line 24"/>
          <p:cNvSpPr>
            <a:spLocks noChangeShapeType="1"/>
          </p:cNvSpPr>
          <p:nvPr/>
        </p:nvSpPr>
        <p:spPr bwMode="auto">
          <a:xfrm>
            <a:off x="399732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8" name="Line 25"/>
          <p:cNvSpPr>
            <a:spLocks noChangeShapeType="1"/>
          </p:cNvSpPr>
          <p:nvPr/>
        </p:nvSpPr>
        <p:spPr bwMode="auto">
          <a:xfrm>
            <a:off x="424973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39" name="Line 26"/>
          <p:cNvSpPr>
            <a:spLocks noChangeShapeType="1"/>
          </p:cNvSpPr>
          <p:nvPr/>
        </p:nvSpPr>
        <p:spPr bwMode="auto">
          <a:xfrm>
            <a:off x="438308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0" name="Line 27"/>
          <p:cNvSpPr>
            <a:spLocks noChangeShapeType="1"/>
          </p:cNvSpPr>
          <p:nvPr/>
        </p:nvSpPr>
        <p:spPr bwMode="auto">
          <a:xfrm>
            <a:off x="450850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1" name="Line 28"/>
          <p:cNvSpPr>
            <a:spLocks noChangeShapeType="1"/>
          </p:cNvSpPr>
          <p:nvPr/>
        </p:nvSpPr>
        <p:spPr bwMode="auto">
          <a:xfrm>
            <a:off x="463550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2" name="Line 29"/>
          <p:cNvSpPr>
            <a:spLocks noChangeShapeType="1"/>
          </p:cNvSpPr>
          <p:nvPr/>
        </p:nvSpPr>
        <p:spPr bwMode="auto">
          <a:xfrm>
            <a:off x="48942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3" name="Line 30"/>
          <p:cNvSpPr>
            <a:spLocks noChangeShapeType="1"/>
          </p:cNvSpPr>
          <p:nvPr/>
        </p:nvSpPr>
        <p:spPr bwMode="auto">
          <a:xfrm>
            <a:off x="50212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4" name="Line 31"/>
          <p:cNvSpPr>
            <a:spLocks noChangeShapeType="1"/>
          </p:cNvSpPr>
          <p:nvPr/>
        </p:nvSpPr>
        <p:spPr bwMode="auto">
          <a:xfrm>
            <a:off x="51482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5" name="Line 32"/>
          <p:cNvSpPr>
            <a:spLocks noChangeShapeType="1"/>
          </p:cNvSpPr>
          <p:nvPr/>
        </p:nvSpPr>
        <p:spPr bwMode="auto">
          <a:xfrm>
            <a:off x="528002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6" name="Line 33"/>
          <p:cNvSpPr>
            <a:spLocks noChangeShapeType="1"/>
          </p:cNvSpPr>
          <p:nvPr/>
        </p:nvSpPr>
        <p:spPr bwMode="auto">
          <a:xfrm>
            <a:off x="553402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7" name="Line 34"/>
          <p:cNvSpPr>
            <a:spLocks noChangeShapeType="1"/>
          </p:cNvSpPr>
          <p:nvPr/>
        </p:nvSpPr>
        <p:spPr bwMode="auto">
          <a:xfrm>
            <a:off x="566102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8" name="Line 35"/>
          <p:cNvSpPr>
            <a:spLocks noChangeShapeType="1"/>
          </p:cNvSpPr>
          <p:nvPr/>
        </p:nvSpPr>
        <p:spPr bwMode="auto">
          <a:xfrm>
            <a:off x="579278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49" name="Line 36"/>
          <p:cNvSpPr>
            <a:spLocks noChangeShapeType="1"/>
          </p:cNvSpPr>
          <p:nvPr/>
        </p:nvSpPr>
        <p:spPr bwMode="auto">
          <a:xfrm>
            <a:off x="591978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0" name="Line 37"/>
          <p:cNvSpPr>
            <a:spLocks noChangeShapeType="1"/>
          </p:cNvSpPr>
          <p:nvPr/>
        </p:nvSpPr>
        <p:spPr bwMode="auto">
          <a:xfrm>
            <a:off x="617220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1" name="Line 38"/>
          <p:cNvSpPr>
            <a:spLocks noChangeShapeType="1"/>
          </p:cNvSpPr>
          <p:nvPr/>
        </p:nvSpPr>
        <p:spPr bwMode="auto">
          <a:xfrm>
            <a:off x="630555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2" name="Line 39"/>
          <p:cNvSpPr>
            <a:spLocks noChangeShapeType="1"/>
          </p:cNvSpPr>
          <p:nvPr/>
        </p:nvSpPr>
        <p:spPr bwMode="auto">
          <a:xfrm>
            <a:off x="643255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3" name="Line 40"/>
          <p:cNvSpPr>
            <a:spLocks noChangeShapeType="1"/>
          </p:cNvSpPr>
          <p:nvPr/>
        </p:nvSpPr>
        <p:spPr bwMode="auto">
          <a:xfrm>
            <a:off x="655796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4" name="Line 41"/>
          <p:cNvSpPr>
            <a:spLocks noChangeShapeType="1"/>
          </p:cNvSpPr>
          <p:nvPr/>
        </p:nvSpPr>
        <p:spPr bwMode="auto">
          <a:xfrm>
            <a:off x="681831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5" name="Line 42"/>
          <p:cNvSpPr>
            <a:spLocks noChangeShapeType="1"/>
          </p:cNvSpPr>
          <p:nvPr/>
        </p:nvSpPr>
        <p:spPr bwMode="auto">
          <a:xfrm>
            <a:off x="694372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6" name="Line 43"/>
          <p:cNvSpPr>
            <a:spLocks noChangeShapeType="1"/>
          </p:cNvSpPr>
          <p:nvPr/>
        </p:nvSpPr>
        <p:spPr bwMode="auto">
          <a:xfrm>
            <a:off x="707072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7" name="Line 44"/>
          <p:cNvSpPr>
            <a:spLocks noChangeShapeType="1"/>
          </p:cNvSpPr>
          <p:nvPr/>
        </p:nvSpPr>
        <p:spPr bwMode="auto">
          <a:xfrm>
            <a:off x="7204075"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8" name="Line 45"/>
          <p:cNvSpPr>
            <a:spLocks noChangeShapeType="1"/>
          </p:cNvSpPr>
          <p:nvPr/>
        </p:nvSpPr>
        <p:spPr bwMode="auto">
          <a:xfrm>
            <a:off x="745648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59" name="Line 46"/>
          <p:cNvSpPr>
            <a:spLocks noChangeShapeType="1"/>
          </p:cNvSpPr>
          <p:nvPr/>
        </p:nvSpPr>
        <p:spPr bwMode="auto">
          <a:xfrm>
            <a:off x="7583488"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0" name="Line 47"/>
          <p:cNvSpPr>
            <a:spLocks noChangeShapeType="1"/>
          </p:cNvSpPr>
          <p:nvPr/>
        </p:nvSpPr>
        <p:spPr bwMode="auto">
          <a:xfrm>
            <a:off x="771525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1" name="Line 48"/>
          <p:cNvSpPr>
            <a:spLocks noChangeShapeType="1"/>
          </p:cNvSpPr>
          <p:nvPr/>
        </p:nvSpPr>
        <p:spPr bwMode="auto">
          <a:xfrm>
            <a:off x="784225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2" name="Line 49"/>
          <p:cNvSpPr>
            <a:spLocks noChangeShapeType="1"/>
          </p:cNvSpPr>
          <p:nvPr/>
        </p:nvSpPr>
        <p:spPr bwMode="auto">
          <a:xfrm>
            <a:off x="8096250" y="6124575"/>
            <a:ext cx="1588"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3" name="Line 50"/>
          <p:cNvSpPr>
            <a:spLocks noChangeShapeType="1"/>
          </p:cNvSpPr>
          <p:nvPr/>
        </p:nvSpPr>
        <p:spPr bwMode="auto">
          <a:xfrm>
            <a:off x="822801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4" name="Line 51"/>
          <p:cNvSpPr>
            <a:spLocks noChangeShapeType="1"/>
          </p:cNvSpPr>
          <p:nvPr/>
        </p:nvSpPr>
        <p:spPr bwMode="auto">
          <a:xfrm>
            <a:off x="835501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5" name="Line 52"/>
          <p:cNvSpPr>
            <a:spLocks noChangeShapeType="1"/>
          </p:cNvSpPr>
          <p:nvPr/>
        </p:nvSpPr>
        <p:spPr bwMode="auto">
          <a:xfrm>
            <a:off x="8482013" y="6124575"/>
            <a:ext cx="1587" cy="365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6" name="Line 53"/>
          <p:cNvSpPr>
            <a:spLocks noChangeShapeType="1"/>
          </p:cNvSpPr>
          <p:nvPr/>
        </p:nvSpPr>
        <p:spPr bwMode="auto">
          <a:xfrm>
            <a:off x="9525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7" name="Line 54"/>
          <p:cNvSpPr>
            <a:spLocks noChangeShapeType="1"/>
          </p:cNvSpPr>
          <p:nvPr/>
        </p:nvSpPr>
        <p:spPr bwMode="auto">
          <a:xfrm>
            <a:off x="9826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8" name="Line 55"/>
          <p:cNvSpPr>
            <a:spLocks noChangeShapeType="1"/>
          </p:cNvSpPr>
          <p:nvPr/>
        </p:nvSpPr>
        <p:spPr bwMode="auto">
          <a:xfrm>
            <a:off x="10128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69" name="Line 56"/>
          <p:cNvSpPr>
            <a:spLocks noChangeShapeType="1"/>
          </p:cNvSpPr>
          <p:nvPr/>
        </p:nvSpPr>
        <p:spPr bwMode="auto">
          <a:xfrm>
            <a:off x="10795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0" name="Line 57"/>
          <p:cNvSpPr>
            <a:spLocks noChangeShapeType="1"/>
          </p:cNvSpPr>
          <p:nvPr/>
        </p:nvSpPr>
        <p:spPr bwMode="auto">
          <a:xfrm>
            <a:off x="11096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1" name="Line 58"/>
          <p:cNvSpPr>
            <a:spLocks noChangeShapeType="1"/>
          </p:cNvSpPr>
          <p:nvPr/>
        </p:nvSpPr>
        <p:spPr bwMode="auto">
          <a:xfrm>
            <a:off x="11461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2" name="Line 59"/>
          <p:cNvSpPr>
            <a:spLocks noChangeShapeType="1"/>
          </p:cNvSpPr>
          <p:nvPr/>
        </p:nvSpPr>
        <p:spPr bwMode="auto">
          <a:xfrm>
            <a:off x="12065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3" name="Line 60"/>
          <p:cNvSpPr>
            <a:spLocks noChangeShapeType="1"/>
          </p:cNvSpPr>
          <p:nvPr/>
        </p:nvSpPr>
        <p:spPr bwMode="auto">
          <a:xfrm>
            <a:off x="12430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4" name="Line 61"/>
          <p:cNvSpPr>
            <a:spLocks noChangeShapeType="1"/>
          </p:cNvSpPr>
          <p:nvPr/>
        </p:nvSpPr>
        <p:spPr bwMode="auto">
          <a:xfrm>
            <a:off x="12731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5" name="Line 62"/>
          <p:cNvSpPr>
            <a:spLocks noChangeShapeType="1"/>
          </p:cNvSpPr>
          <p:nvPr/>
        </p:nvSpPr>
        <p:spPr bwMode="auto">
          <a:xfrm>
            <a:off x="13382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6" name="Line 63"/>
          <p:cNvSpPr>
            <a:spLocks noChangeShapeType="1"/>
          </p:cNvSpPr>
          <p:nvPr/>
        </p:nvSpPr>
        <p:spPr bwMode="auto">
          <a:xfrm>
            <a:off x="13684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7" name="Line 64"/>
          <p:cNvSpPr>
            <a:spLocks noChangeShapeType="1"/>
          </p:cNvSpPr>
          <p:nvPr/>
        </p:nvSpPr>
        <p:spPr bwMode="auto">
          <a:xfrm>
            <a:off x="13985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8" name="Line 65"/>
          <p:cNvSpPr>
            <a:spLocks noChangeShapeType="1"/>
          </p:cNvSpPr>
          <p:nvPr/>
        </p:nvSpPr>
        <p:spPr bwMode="auto">
          <a:xfrm>
            <a:off x="14652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79" name="Line 66"/>
          <p:cNvSpPr>
            <a:spLocks noChangeShapeType="1"/>
          </p:cNvSpPr>
          <p:nvPr/>
        </p:nvSpPr>
        <p:spPr bwMode="auto">
          <a:xfrm>
            <a:off x="14954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0" name="Line 67"/>
          <p:cNvSpPr>
            <a:spLocks noChangeShapeType="1"/>
          </p:cNvSpPr>
          <p:nvPr/>
        </p:nvSpPr>
        <p:spPr bwMode="auto">
          <a:xfrm>
            <a:off x="15319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1" name="Line 68"/>
          <p:cNvSpPr>
            <a:spLocks noChangeShapeType="1"/>
          </p:cNvSpPr>
          <p:nvPr/>
        </p:nvSpPr>
        <p:spPr bwMode="auto">
          <a:xfrm>
            <a:off x="15922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2" name="Line 69"/>
          <p:cNvSpPr>
            <a:spLocks noChangeShapeType="1"/>
          </p:cNvSpPr>
          <p:nvPr/>
        </p:nvSpPr>
        <p:spPr bwMode="auto">
          <a:xfrm>
            <a:off x="16224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3" name="Line 70"/>
          <p:cNvSpPr>
            <a:spLocks noChangeShapeType="1"/>
          </p:cNvSpPr>
          <p:nvPr/>
        </p:nvSpPr>
        <p:spPr bwMode="auto">
          <a:xfrm>
            <a:off x="16589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4" name="Line 71"/>
          <p:cNvSpPr>
            <a:spLocks noChangeShapeType="1"/>
          </p:cNvSpPr>
          <p:nvPr/>
        </p:nvSpPr>
        <p:spPr bwMode="auto">
          <a:xfrm>
            <a:off x="17192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5" name="Line 72"/>
          <p:cNvSpPr>
            <a:spLocks noChangeShapeType="1"/>
          </p:cNvSpPr>
          <p:nvPr/>
        </p:nvSpPr>
        <p:spPr bwMode="auto">
          <a:xfrm>
            <a:off x="17541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6" name="Line 73"/>
          <p:cNvSpPr>
            <a:spLocks noChangeShapeType="1"/>
          </p:cNvSpPr>
          <p:nvPr/>
        </p:nvSpPr>
        <p:spPr bwMode="auto">
          <a:xfrm>
            <a:off x="17843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7" name="Line 74"/>
          <p:cNvSpPr>
            <a:spLocks noChangeShapeType="1"/>
          </p:cNvSpPr>
          <p:nvPr/>
        </p:nvSpPr>
        <p:spPr bwMode="auto">
          <a:xfrm>
            <a:off x="18510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8" name="Line 75"/>
          <p:cNvSpPr>
            <a:spLocks noChangeShapeType="1"/>
          </p:cNvSpPr>
          <p:nvPr/>
        </p:nvSpPr>
        <p:spPr bwMode="auto">
          <a:xfrm>
            <a:off x="18811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89" name="Line 76"/>
          <p:cNvSpPr>
            <a:spLocks noChangeShapeType="1"/>
          </p:cNvSpPr>
          <p:nvPr/>
        </p:nvSpPr>
        <p:spPr bwMode="auto">
          <a:xfrm>
            <a:off x="19113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0" name="Line 77"/>
          <p:cNvSpPr>
            <a:spLocks noChangeShapeType="1"/>
          </p:cNvSpPr>
          <p:nvPr/>
        </p:nvSpPr>
        <p:spPr bwMode="auto">
          <a:xfrm>
            <a:off x="19780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1" name="Line 78"/>
          <p:cNvSpPr>
            <a:spLocks noChangeShapeType="1"/>
          </p:cNvSpPr>
          <p:nvPr/>
        </p:nvSpPr>
        <p:spPr bwMode="auto">
          <a:xfrm>
            <a:off x="20081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2" name="Line 79"/>
          <p:cNvSpPr>
            <a:spLocks noChangeShapeType="1"/>
          </p:cNvSpPr>
          <p:nvPr/>
        </p:nvSpPr>
        <p:spPr bwMode="auto">
          <a:xfrm>
            <a:off x="20447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3" name="Line 80"/>
          <p:cNvSpPr>
            <a:spLocks noChangeShapeType="1"/>
          </p:cNvSpPr>
          <p:nvPr/>
        </p:nvSpPr>
        <p:spPr bwMode="auto">
          <a:xfrm>
            <a:off x="21050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4" name="Line 81"/>
          <p:cNvSpPr>
            <a:spLocks noChangeShapeType="1"/>
          </p:cNvSpPr>
          <p:nvPr/>
        </p:nvSpPr>
        <p:spPr bwMode="auto">
          <a:xfrm>
            <a:off x="21399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5" name="Line 82"/>
          <p:cNvSpPr>
            <a:spLocks noChangeShapeType="1"/>
          </p:cNvSpPr>
          <p:nvPr/>
        </p:nvSpPr>
        <p:spPr bwMode="auto">
          <a:xfrm>
            <a:off x="21701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6" name="Line 83"/>
          <p:cNvSpPr>
            <a:spLocks noChangeShapeType="1"/>
          </p:cNvSpPr>
          <p:nvPr/>
        </p:nvSpPr>
        <p:spPr bwMode="auto">
          <a:xfrm>
            <a:off x="22304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7" name="Line 84"/>
          <p:cNvSpPr>
            <a:spLocks noChangeShapeType="1"/>
          </p:cNvSpPr>
          <p:nvPr/>
        </p:nvSpPr>
        <p:spPr bwMode="auto">
          <a:xfrm>
            <a:off x="22669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8" name="Line 85"/>
          <p:cNvSpPr>
            <a:spLocks noChangeShapeType="1"/>
          </p:cNvSpPr>
          <p:nvPr/>
        </p:nvSpPr>
        <p:spPr bwMode="auto">
          <a:xfrm>
            <a:off x="22971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999" name="Line 86"/>
          <p:cNvSpPr>
            <a:spLocks noChangeShapeType="1"/>
          </p:cNvSpPr>
          <p:nvPr/>
        </p:nvSpPr>
        <p:spPr bwMode="auto">
          <a:xfrm>
            <a:off x="23637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0" name="Line 87"/>
          <p:cNvSpPr>
            <a:spLocks noChangeShapeType="1"/>
          </p:cNvSpPr>
          <p:nvPr/>
        </p:nvSpPr>
        <p:spPr bwMode="auto">
          <a:xfrm>
            <a:off x="23939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1" name="Line 88"/>
          <p:cNvSpPr>
            <a:spLocks noChangeShapeType="1"/>
          </p:cNvSpPr>
          <p:nvPr/>
        </p:nvSpPr>
        <p:spPr bwMode="auto">
          <a:xfrm>
            <a:off x="24241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2" name="Line 89"/>
          <p:cNvSpPr>
            <a:spLocks noChangeShapeType="1"/>
          </p:cNvSpPr>
          <p:nvPr/>
        </p:nvSpPr>
        <p:spPr bwMode="auto">
          <a:xfrm>
            <a:off x="24907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3" name="Line 90"/>
          <p:cNvSpPr>
            <a:spLocks noChangeShapeType="1"/>
          </p:cNvSpPr>
          <p:nvPr/>
        </p:nvSpPr>
        <p:spPr bwMode="auto">
          <a:xfrm>
            <a:off x="25209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4" name="Line 91"/>
          <p:cNvSpPr>
            <a:spLocks noChangeShapeType="1"/>
          </p:cNvSpPr>
          <p:nvPr/>
        </p:nvSpPr>
        <p:spPr bwMode="auto">
          <a:xfrm>
            <a:off x="25558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5" name="Line 92"/>
          <p:cNvSpPr>
            <a:spLocks noChangeShapeType="1"/>
          </p:cNvSpPr>
          <p:nvPr/>
        </p:nvSpPr>
        <p:spPr bwMode="auto">
          <a:xfrm>
            <a:off x="26162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6" name="Line 93"/>
          <p:cNvSpPr>
            <a:spLocks noChangeShapeType="1"/>
          </p:cNvSpPr>
          <p:nvPr/>
        </p:nvSpPr>
        <p:spPr bwMode="auto">
          <a:xfrm>
            <a:off x="26527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7" name="Line 94"/>
          <p:cNvSpPr>
            <a:spLocks noChangeShapeType="1"/>
          </p:cNvSpPr>
          <p:nvPr/>
        </p:nvSpPr>
        <p:spPr bwMode="auto">
          <a:xfrm>
            <a:off x="26828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8" name="Line 95"/>
          <p:cNvSpPr>
            <a:spLocks noChangeShapeType="1"/>
          </p:cNvSpPr>
          <p:nvPr/>
        </p:nvSpPr>
        <p:spPr bwMode="auto">
          <a:xfrm>
            <a:off x="27495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09" name="Line 96"/>
          <p:cNvSpPr>
            <a:spLocks noChangeShapeType="1"/>
          </p:cNvSpPr>
          <p:nvPr/>
        </p:nvSpPr>
        <p:spPr bwMode="auto">
          <a:xfrm>
            <a:off x="27797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0" name="Line 97"/>
          <p:cNvSpPr>
            <a:spLocks noChangeShapeType="1"/>
          </p:cNvSpPr>
          <p:nvPr/>
        </p:nvSpPr>
        <p:spPr bwMode="auto">
          <a:xfrm>
            <a:off x="28098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1" name="Line 98"/>
          <p:cNvSpPr>
            <a:spLocks noChangeShapeType="1"/>
          </p:cNvSpPr>
          <p:nvPr/>
        </p:nvSpPr>
        <p:spPr bwMode="auto">
          <a:xfrm>
            <a:off x="28765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2" name="Line 99"/>
          <p:cNvSpPr>
            <a:spLocks noChangeShapeType="1"/>
          </p:cNvSpPr>
          <p:nvPr/>
        </p:nvSpPr>
        <p:spPr bwMode="auto">
          <a:xfrm>
            <a:off x="29067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3" name="Line 100"/>
          <p:cNvSpPr>
            <a:spLocks noChangeShapeType="1"/>
          </p:cNvSpPr>
          <p:nvPr/>
        </p:nvSpPr>
        <p:spPr bwMode="auto">
          <a:xfrm>
            <a:off x="29368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4" name="Line 101"/>
          <p:cNvSpPr>
            <a:spLocks noChangeShapeType="1"/>
          </p:cNvSpPr>
          <p:nvPr/>
        </p:nvSpPr>
        <p:spPr bwMode="auto">
          <a:xfrm>
            <a:off x="30019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5" name="Line 102"/>
          <p:cNvSpPr>
            <a:spLocks noChangeShapeType="1"/>
          </p:cNvSpPr>
          <p:nvPr/>
        </p:nvSpPr>
        <p:spPr bwMode="auto">
          <a:xfrm>
            <a:off x="30321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6" name="Line 103"/>
          <p:cNvSpPr>
            <a:spLocks noChangeShapeType="1"/>
          </p:cNvSpPr>
          <p:nvPr/>
        </p:nvSpPr>
        <p:spPr bwMode="auto">
          <a:xfrm>
            <a:off x="30686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7" name="Line 104"/>
          <p:cNvSpPr>
            <a:spLocks noChangeShapeType="1"/>
          </p:cNvSpPr>
          <p:nvPr/>
        </p:nvSpPr>
        <p:spPr bwMode="auto">
          <a:xfrm>
            <a:off x="31289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8" name="Line 105"/>
          <p:cNvSpPr>
            <a:spLocks noChangeShapeType="1"/>
          </p:cNvSpPr>
          <p:nvPr/>
        </p:nvSpPr>
        <p:spPr bwMode="auto">
          <a:xfrm>
            <a:off x="31654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19" name="Line 106"/>
          <p:cNvSpPr>
            <a:spLocks noChangeShapeType="1"/>
          </p:cNvSpPr>
          <p:nvPr/>
        </p:nvSpPr>
        <p:spPr bwMode="auto">
          <a:xfrm>
            <a:off x="31956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0" name="Line 107"/>
          <p:cNvSpPr>
            <a:spLocks noChangeShapeType="1"/>
          </p:cNvSpPr>
          <p:nvPr/>
        </p:nvSpPr>
        <p:spPr bwMode="auto">
          <a:xfrm>
            <a:off x="32623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1" name="Line 108"/>
          <p:cNvSpPr>
            <a:spLocks noChangeShapeType="1"/>
          </p:cNvSpPr>
          <p:nvPr/>
        </p:nvSpPr>
        <p:spPr bwMode="auto">
          <a:xfrm>
            <a:off x="32924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2" name="Line 109"/>
          <p:cNvSpPr>
            <a:spLocks noChangeShapeType="1"/>
          </p:cNvSpPr>
          <p:nvPr/>
        </p:nvSpPr>
        <p:spPr bwMode="auto">
          <a:xfrm>
            <a:off x="33226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3" name="Line 110"/>
          <p:cNvSpPr>
            <a:spLocks noChangeShapeType="1"/>
          </p:cNvSpPr>
          <p:nvPr/>
        </p:nvSpPr>
        <p:spPr bwMode="auto">
          <a:xfrm>
            <a:off x="33877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4" name="Line 111"/>
          <p:cNvSpPr>
            <a:spLocks noChangeShapeType="1"/>
          </p:cNvSpPr>
          <p:nvPr/>
        </p:nvSpPr>
        <p:spPr bwMode="auto">
          <a:xfrm>
            <a:off x="34178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5" name="Line 112"/>
          <p:cNvSpPr>
            <a:spLocks noChangeShapeType="1"/>
          </p:cNvSpPr>
          <p:nvPr/>
        </p:nvSpPr>
        <p:spPr bwMode="auto">
          <a:xfrm>
            <a:off x="34544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6" name="Line 113"/>
          <p:cNvSpPr>
            <a:spLocks noChangeShapeType="1"/>
          </p:cNvSpPr>
          <p:nvPr/>
        </p:nvSpPr>
        <p:spPr bwMode="auto">
          <a:xfrm>
            <a:off x="35147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7" name="Line 114"/>
          <p:cNvSpPr>
            <a:spLocks noChangeShapeType="1"/>
          </p:cNvSpPr>
          <p:nvPr/>
        </p:nvSpPr>
        <p:spPr bwMode="auto">
          <a:xfrm>
            <a:off x="35448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8" name="Line 115"/>
          <p:cNvSpPr>
            <a:spLocks noChangeShapeType="1"/>
          </p:cNvSpPr>
          <p:nvPr/>
        </p:nvSpPr>
        <p:spPr bwMode="auto">
          <a:xfrm>
            <a:off x="35814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29" name="Line 116"/>
          <p:cNvSpPr>
            <a:spLocks noChangeShapeType="1"/>
          </p:cNvSpPr>
          <p:nvPr/>
        </p:nvSpPr>
        <p:spPr bwMode="auto">
          <a:xfrm>
            <a:off x="36417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0" name="Line 117"/>
          <p:cNvSpPr>
            <a:spLocks noChangeShapeType="1"/>
          </p:cNvSpPr>
          <p:nvPr/>
        </p:nvSpPr>
        <p:spPr bwMode="auto">
          <a:xfrm>
            <a:off x="36782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1" name="Line 118"/>
          <p:cNvSpPr>
            <a:spLocks noChangeShapeType="1"/>
          </p:cNvSpPr>
          <p:nvPr/>
        </p:nvSpPr>
        <p:spPr bwMode="auto">
          <a:xfrm>
            <a:off x="37084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2" name="Line 119"/>
          <p:cNvSpPr>
            <a:spLocks noChangeShapeType="1"/>
          </p:cNvSpPr>
          <p:nvPr/>
        </p:nvSpPr>
        <p:spPr bwMode="auto">
          <a:xfrm>
            <a:off x="37734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3" name="Line 120"/>
          <p:cNvSpPr>
            <a:spLocks noChangeShapeType="1"/>
          </p:cNvSpPr>
          <p:nvPr/>
        </p:nvSpPr>
        <p:spPr bwMode="auto">
          <a:xfrm>
            <a:off x="38036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4" name="Line 121"/>
          <p:cNvSpPr>
            <a:spLocks noChangeShapeType="1"/>
          </p:cNvSpPr>
          <p:nvPr/>
        </p:nvSpPr>
        <p:spPr bwMode="auto">
          <a:xfrm>
            <a:off x="38338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5" name="Line 122"/>
          <p:cNvSpPr>
            <a:spLocks noChangeShapeType="1"/>
          </p:cNvSpPr>
          <p:nvPr/>
        </p:nvSpPr>
        <p:spPr bwMode="auto">
          <a:xfrm>
            <a:off x="39004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6" name="Line 123"/>
          <p:cNvSpPr>
            <a:spLocks noChangeShapeType="1"/>
          </p:cNvSpPr>
          <p:nvPr/>
        </p:nvSpPr>
        <p:spPr bwMode="auto">
          <a:xfrm>
            <a:off x="39306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7" name="Line 124"/>
          <p:cNvSpPr>
            <a:spLocks noChangeShapeType="1"/>
          </p:cNvSpPr>
          <p:nvPr/>
        </p:nvSpPr>
        <p:spPr bwMode="auto">
          <a:xfrm>
            <a:off x="39671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8" name="Line 125"/>
          <p:cNvSpPr>
            <a:spLocks noChangeShapeType="1"/>
          </p:cNvSpPr>
          <p:nvPr/>
        </p:nvSpPr>
        <p:spPr bwMode="auto">
          <a:xfrm>
            <a:off x="40274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39" name="Line 126"/>
          <p:cNvSpPr>
            <a:spLocks noChangeShapeType="1"/>
          </p:cNvSpPr>
          <p:nvPr/>
        </p:nvSpPr>
        <p:spPr bwMode="auto">
          <a:xfrm>
            <a:off x="40640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0" name="Line 127"/>
          <p:cNvSpPr>
            <a:spLocks noChangeShapeType="1"/>
          </p:cNvSpPr>
          <p:nvPr/>
        </p:nvSpPr>
        <p:spPr bwMode="auto">
          <a:xfrm>
            <a:off x="40941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1" name="Line 128"/>
          <p:cNvSpPr>
            <a:spLocks noChangeShapeType="1"/>
          </p:cNvSpPr>
          <p:nvPr/>
        </p:nvSpPr>
        <p:spPr bwMode="auto">
          <a:xfrm>
            <a:off x="41529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2" name="Line 129"/>
          <p:cNvSpPr>
            <a:spLocks noChangeShapeType="1"/>
          </p:cNvSpPr>
          <p:nvPr/>
        </p:nvSpPr>
        <p:spPr bwMode="auto">
          <a:xfrm>
            <a:off x="41894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3" name="Line 130"/>
          <p:cNvSpPr>
            <a:spLocks noChangeShapeType="1"/>
          </p:cNvSpPr>
          <p:nvPr/>
        </p:nvSpPr>
        <p:spPr bwMode="auto">
          <a:xfrm>
            <a:off x="42195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4" name="Line 131"/>
          <p:cNvSpPr>
            <a:spLocks noChangeShapeType="1"/>
          </p:cNvSpPr>
          <p:nvPr/>
        </p:nvSpPr>
        <p:spPr bwMode="auto">
          <a:xfrm>
            <a:off x="42862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5" name="Line 132"/>
          <p:cNvSpPr>
            <a:spLocks noChangeShapeType="1"/>
          </p:cNvSpPr>
          <p:nvPr/>
        </p:nvSpPr>
        <p:spPr bwMode="auto">
          <a:xfrm>
            <a:off x="43164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6" name="Line 133"/>
          <p:cNvSpPr>
            <a:spLocks noChangeShapeType="1"/>
          </p:cNvSpPr>
          <p:nvPr/>
        </p:nvSpPr>
        <p:spPr bwMode="auto">
          <a:xfrm>
            <a:off x="43465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7" name="Line 134"/>
          <p:cNvSpPr>
            <a:spLocks noChangeShapeType="1"/>
          </p:cNvSpPr>
          <p:nvPr/>
        </p:nvSpPr>
        <p:spPr bwMode="auto">
          <a:xfrm>
            <a:off x="44132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8" name="Line 135"/>
          <p:cNvSpPr>
            <a:spLocks noChangeShapeType="1"/>
          </p:cNvSpPr>
          <p:nvPr/>
        </p:nvSpPr>
        <p:spPr bwMode="auto">
          <a:xfrm>
            <a:off x="44434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49" name="Line 136"/>
          <p:cNvSpPr>
            <a:spLocks noChangeShapeType="1"/>
          </p:cNvSpPr>
          <p:nvPr/>
        </p:nvSpPr>
        <p:spPr bwMode="auto">
          <a:xfrm>
            <a:off x="44799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0" name="Line 137"/>
          <p:cNvSpPr>
            <a:spLocks noChangeShapeType="1"/>
          </p:cNvSpPr>
          <p:nvPr/>
        </p:nvSpPr>
        <p:spPr bwMode="auto">
          <a:xfrm>
            <a:off x="45386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1" name="Line 138"/>
          <p:cNvSpPr>
            <a:spLocks noChangeShapeType="1"/>
          </p:cNvSpPr>
          <p:nvPr/>
        </p:nvSpPr>
        <p:spPr bwMode="auto">
          <a:xfrm>
            <a:off x="45751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2" name="Line 139"/>
          <p:cNvSpPr>
            <a:spLocks noChangeShapeType="1"/>
          </p:cNvSpPr>
          <p:nvPr/>
        </p:nvSpPr>
        <p:spPr bwMode="auto">
          <a:xfrm>
            <a:off x="46053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3" name="Line 140"/>
          <p:cNvSpPr>
            <a:spLocks noChangeShapeType="1"/>
          </p:cNvSpPr>
          <p:nvPr/>
        </p:nvSpPr>
        <p:spPr bwMode="auto">
          <a:xfrm>
            <a:off x="46720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4" name="Line 141"/>
          <p:cNvSpPr>
            <a:spLocks noChangeShapeType="1"/>
          </p:cNvSpPr>
          <p:nvPr/>
        </p:nvSpPr>
        <p:spPr bwMode="auto">
          <a:xfrm>
            <a:off x="47021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5" name="Line 142"/>
          <p:cNvSpPr>
            <a:spLocks noChangeShapeType="1"/>
          </p:cNvSpPr>
          <p:nvPr/>
        </p:nvSpPr>
        <p:spPr bwMode="auto">
          <a:xfrm>
            <a:off x="47323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6" name="Line 143"/>
          <p:cNvSpPr>
            <a:spLocks noChangeShapeType="1"/>
          </p:cNvSpPr>
          <p:nvPr/>
        </p:nvSpPr>
        <p:spPr bwMode="auto">
          <a:xfrm>
            <a:off x="47990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7" name="Line 144"/>
          <p:cNvSpPr>
            <a:spLocks noChangeShapeType="1"/>
          </p:cNvSpPr>
          <p:nvPr/>
        </p:nvSpPr>
        <p:spPr bwMode="auto">
          <a:xfrm>
            <a:off x="48291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8" name="Line 145"/>
          <p:cNvSpPr>
            <a:spLocks noChangeShapeType="1"/>
          </p:cNvSpPr>
          <p:nvPr/>
        </p:nvSpPr>
        <p:spPr bwMode="auto">
          <a:xfrm>
            <a:off x="48593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59" name="Line 146"/>
          <p:cNvSpPr>
            <a:spLocks noChangeShapeType="1"/>
          </p:cNvSpPr>
          <p:nvPr/>
        </p:nvSpPr>
        <p:spPr bwMode="auto">
          <a:xfrm>
            <a:off x="49244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0" name="Line 147"/>
          <p:cNvSpPr>
            <a:spLocks noChangeShapeType="1"/>
          </p:cNvSpPr>
          <p:nvPr/>
        </p:nvSpPr>
        <p:spPr bwMode="auto">
          <a:xfrm>
            <a:off x="49545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1" name="Line 148"/>
          <p:cNvSpPr>
            <a:spLocks noChangeShapeType="1"/>
          </p:cNvSpPr>
          <p:nvPr/>
        </p:nvSpPr>
        <p:spPr bwMode="auto">
          <a:xfrm>
            <a:off x="49911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2" name="Line 149"/>
          <p:cNvSpPr>
            <a:spLocks noChangeShapeType="1"/>
          </p:cNvSpPr>
          <p:nvPr/>
        </p:nvSpPr>
        <p:spPr bwMode="auto">
          <a:xfrm>
            <a:off x="50514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3" name="Line 150"/>
          <p:cNvSpPr>
            <a:spLocks noChangeShapeType="1"/>
          </p:cNvSpPr>
          <p:nvPr/>
        </p:nvSpPr>
        <p:spPr bwMode="auto">
          <a:xfrm>
            <a:off x="50879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4" name="Line 151"/>
          <p:cNvSpPr>
            <a:spLocks noChangeShapeType="1"/>
          </p:cNvSpPr>
          <p:nvPr/>
        </p:nvSpPr>
        <p:spPr bwMode="auto">
          <a:xfrm>
            <a:off x="51181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5" name="Line 152"/>
          <p:cNvSpPr>
            <a:spLocks noChangeShapeType="1"/>
          </p:cNvSpPr>
          <p:nvPr/>
        </p:nvSpPr>
        <p:spPr bwMode="auto">
          <a:xfrm>
            <a:off x="51847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6" name="Line 153"/>
          <p:cNvSpPr>
            <a:spLocks noChangeShapeType="1"/>
          </p:cNvSpPr>
          <p:nvPr/>
        </p:nvSpPr>
        <p:spPr bwMode="auto">
          <a:xfrm>
            <a:off x="52149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7" name="Line 154"/>
          <p:cNvSpPr>
            <a:spLocks noChangeShapeType="1"/>
          </p:cNvSpPr>
          <p:nvPr/>
        </p:nvSpPr>
        <p:spPr bwMode="auto">
          <a:xfrm>
            <a:off x="52451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8" name="Line 155"/>
          <p:cNvSpPr>
            <a:spLocks noChangeShapeType="1"/>
          </p:cNvSpPr>
          <p:nvPr/>
        </p:nvSpPr>
        <p:spPr bwMode="auto">
          <a:xfrm>
            <a:off x="53101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69" name="Line 156"/>
          <p:cNvSpPr>
            <a:spLocks noChangeShapeType="1"/>
          </p:cNvSpPr>
          <p:nvPr/>
        </p:nvSpPr>
        <p:spPr bwMode="auto">
          <a:xfrm>
            <a:off x="53403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0" name="Line 157"/>
          <p:cNvSpPr>
            <a:spLocks noChangeShapeType="1"/>
          </p:cNvSpPr>
          <p:nvPr/>
        </p:nvSpPr>
        <p:spPr bwMode="auto">
          <a:xfrm>
            <a:off x="53768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1" name="Line 158"/>
          <p:cNvSpPr>
            <a:spLocks noChangeShapeType="1"/>
          </p:cNvSpPr>
          <p:nvPr/>
        </p:nvSpPr>
        <p:spPr bwMode="auto">
          <a:xfrm>
            <a:off x="54371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2" name="Line 159"/>
          <p:cNvSpPr>
            <a:spLocks noChangeShapeType="1"/>
          </p:cNvSpPr>
          <p:nvPr/>
        </p:nvSpPr>
        <p:spPr bwMode="auto">
          <a:xfrm>
            <a:off x="54673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3" name="Line 160"/>
          <p:cNvSpPr>
            <a:spLocks noChangeShapeType="1"/>
          </p:cNvSpPr>
          <p:nvPr/>
        </p:nvSpPr>
        <p:spPr bwMode="auto">
          <a:xfrm>
            <a:off x="55038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4" name="Line 161"/>
          <p:cNvSpPr>
            <a:spLocks noChangeShapeType="1"/>
          </p:cNvSpPr>
          <p:nvPr/>
        </p:nvSpPr>
        <p:spPr bwMode="auto">
          <a:xfrm>
            <a:off x="55641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5" name="Line 162"/>
          <p:cNvSpPr>
            <a:spLocks noChangeShapeType="1"/>
          </p:cNvSpPr>
          <p:nvPr/>
        </p:nvSpPr>
        <p:spPr bwMode="auto">
          <a:xfrm>
            <a:off x="56007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6" name="Line 163"/>
          <p:cNvSpPr>
            <a:spLocks noChangeShapeType="1"/>
          </p:cNvSpPr>
          <p:nvPr/>
        </p:nvSpPr>
        <p:spPr bwMode="auto">
          <a:xfrm>
            <a:off x="56308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7" name="Line 164"/>
          <p:cNvSpPr>
            <a:spLocks noChangeShapeType="1"/>
          </p:cNvSpPr>
          <p:nvPr/>
        </p:nvSpPr>
        <p:spPr bwMode="auto">
          <a:xfrm>
            <a:off x="56959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8" name="Line 165"/>
          <p:cNvSpPr>
            <a:spLocks noChangeShapeType="1"/>
          </p:cNvSpPr>
          <p:nvPr/>
        </p:nvSpPr>
        <p:spPr bwMode="auto">
          <a:xfrm>
            <a:off x="57261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79" name="Line 166"/>
          <p:cNvSpPr>
            <a:spLocks noChangeShapeType="1"/>
          </p:cNvSpPr>
          <p:nvPr/>
        </p:nvSpPr>
        <p:spPr bwMode="auto">
          <a:xfrm>
            <a:off x="57562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0" name="Line 167"/>
          <p:cNvSpPr>
            <a:spLocks noChangeShapeType="1"/>
          </p:cNvSpPr>
          <p:nvPr/>
        </p:nvSpPr>
        <p:spPr bwMode="auto">
          <a:xfrm>
            <a:off x="58229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1" name="Line 168"/>
          <p:cNvSpPr>
            <a:spLocks noChangeShapeType="1"/>
          </p:cNvSpPr>
          <p:nvPr/>
        </p:nvSpPr>
        <p:spPr bwMode="auto">
          <a:xfrm>
            <a:off x="58531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2" name="Line 169"/>
          <p:cNvSpPr>
            <a:spLocks noChangeShapeType="1"/>
          </p:cNvSpPr>
          <p:nvPr/>
        </p:nvSpPr>
        <p:spPr bwMode="auto">
          <a:xfrm>
            <a:off x="58896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3" name="Line 170"/>
          <p:cNvSpPr>
            <a:spLocks noChangeShapeType="1"/>
          </p:cNvSpPr>
          <p:nvPr/>
        </p:nvSpPr>
        <p:spPr bwMode="auto">
          <a:xfrm>
            <a:off x="59499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4" name="Line 171"/>
          <p:cNvSpPr>
            <a:spLocks noChangeShapeType="1"/>
          </p:cNvSpPr>
          <p:nvPr/>
        </p:nvSpPr>
        <p:spPr bwMode="auto">
          <a:xfrm>
            <a:off x="59864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5" name="Line 172"/>
          <p:cNvSpPr>
            <a:spLocks noChangeShapeType="1"/>
          </p:cNvSpPr>
          <p:nvPr/>
        </p:nvSpPr>
        <p:spPr bwMode="auto">
          <a:xfrm>
            <a:off x="60166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6" name="Line 173"/>
          <p:cNvSpPr>
            <a:spLocks noChangeShapeType="1"/>
          </p:cNvSpPr>
          <p:nvPr/>
        </p:nvSpPr>
        <p:spPr bwMode="auto">
          <a:xfrm>
            <a:off x="60769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7" name="Line 174"/>
          <p:cNvSpPr>
            <a:spLocks noChangeShapeType="1"/>
          </p:cNvSpPr>
          <p:nvPr/>
        </p:nvSpPr>
        <p:spPr bwMode="auto">
          <a:xfrm>
            <a:off x="61118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8" name="Line 175"/>
          <p:cNvSpPr>
            <a:spLocks noChangeShapeType="1"/>
          </p:cNvSpPr>
          <p:nvPr/>
        </p:nvSpPr>
        <p:spPr bwMode="auto">
          <a:xfrm>
            <a:off x="61420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89" name="Line 176"/>
          <p:cNvSpPr>
            <a:spLocks noChangeShapeType="1"/>
          </p:cNvSpPr>
          <p:nvPr/>
        </p:nvSpPr>
        <p:spPr bwMode="auto">
          <a:xfrm>
            <a:off x="62087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0" name="Line 177"/>
          <p:cNvSpPr>
            <a:spLocks noChangeShapeType="1"/>
          </p:cNvSpPr>
          <p:nvPr/>
        </p:nvSpPr>
        <p:spPr bwMode="auto">
          <a:xfrm>
            <a:off x="62388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1" name="Line 178"/>
          <p:cNvSpPr>
            <a:spLocks noChangeShapeType="1"/>
          </p:cNvSpPr>
          <p:nvPr/>
        </p:nvSpPr>
        <p:spPr bwMode="auto">
          <a:xfrm>
            <a:off x="62690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2" name="Line 179"/>
          <p:cNvSpPr>
            <a:spLocks noChangeShapeType="1"/>
          </p:cNvSpPr>
          <p:nvPr/>
        </p:nvSpPr>
        <p:spPr bwMode="auto">
          <a:xfrm>
            <a:off x="63357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3" name="Line 180"/>
          <p:cNvSpPr>
            <a:spLocks noChangeShapeType="1"/>
          </p:cNvSpPr>
          <p:nvPr/>
        </p:nvSpPr>
        <p:spPr bwMode="auto">
          <a:xfrm>
            <a:off x="63658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4" name="Line 181"/>
          <p:cNvSpPr>
            <a:spLocks noChangeShapeType="1"/>
          </p:cNvSpPr>
          <p:nvPr/>
        </p:nvSpPr>
        <p:spPr bwMode="auto">
          <a:xfrm>
            <a:off x="64023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5" name="Line 182"/>
          <p:cNvSpPr>
            <a:spLocks noChangeShapeType="1"/>
          </p:cNvSpPr>
          <p:nvPr/>
        </p:nvSpPr>
        <p:spPr bwMode="auto">
          <a:xfrm>
            <a:off x="64627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6" name="Line 183"/>
          <p:cNvSpPr>
            <a:spLocks noChangeShapeType="1"/>
          </p:cNvSpPr>
          <p:nvPr/>
        </p:nvSpPr>
        <p:spPr bwMode="auto">
          <a:xfrm>
            <a:off x="64976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7" name="Line 184"/>
          <p:cNvSpPr>
            <a:spLocks noChangeShapeType="1"/>
          </p:cNvSpPr>
          <p:nvPr/>
        </p:nvSpPr>
        <p:spPr bwMode="auto">
          <a:xfrm>
            <a:off x="65278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8" name="Line 185"/>
          <p:cNvSpPr>
            <a:spLocks noChangeShapeType="1"/>
          </p:cNvSpPr>
          <p:nvPr/>
        </p:nvSpPr>
        <p:spPr bwMode="auto">
          <a:xfrm>
            <a:off x="65944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099" name="Line 186"/>
          <p:cNvSpPr>
            <a:spLocks noChangeShapeType="1"/>
          </p:cNvSpPr>
          <p:nvPr/>
        </p:nvSpPr>
        <p:spPr bwMode="auto">
          <a:xfrm>
            <a:off x="66246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0" name="Line 187"/>
          <p:cNvSpPr>
            <a:spLocks noChangeShapeType="1"/>
          </p:cNvSpPr>
          <p:nvPr/>
        </p:nvSpPr>
        <p:spPr bwMode="auto">
          <a:xfrm>
            <a:off x="66548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1" name="Line 188"/>
          <p:cNvSpPr>
            <a:spLocks noChangeShapeType="1"/>
          </p:cNvSpPr>
          <p:nvPr/>
        </p:nvSpPr>
        <p:spPr bwMode="auto">
          <a:xfrm>
            <a:off x="67214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2" name="Line 189"/>
          <p:cNvSpPr>
            <a:spLocks noChangeShapeType="1"/>
          </p:cNvSpPr>
          <p:nvPr/>
        </p:nvSpPr>
        <p:spPr bwMode="auto">
          <a:xfrm>
            <a:off x="67516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3" name="Line 190"/>
          <p:cNvSpPr>
            <a:spLocks noChangeShapeType="1"/>
          </p:cNvSpPr>
          <p:nvPr/>
        </p:nvSpPr>
        <p:spPr bwMode="auto">
          <a:xfrm>
            <a:off x="67818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4" name="Line 191"/>
          <p:cNvSpPr>
            <a:spLocks noChangeShapeType="1"/>
          </p:cNvSpPr>
          <p:nvPr/>
        </p:nvSpPr>
        <p:spPr bwMode="auto">
          <a:xfrm>
            <a:off x="68484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5" name="Line 192"/>
          <p:cNvSpPr>
            <a:spLocks noChangeShapeType="1"/>
          </p:cNvSpPr>
          <p:nvPr/>
        </p:nvSpPr>
        <p:spPr bwMode="auto">
          <a:xfrm>
            <a:off x="68786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6" name="Line 193"/>
          <p:cNvSpPr>
            <a:spLocks noChangeShapeType="1"/>
          </p:cNvSpPr>
          <p:nvPr/>
        </p:nvSpPr>
        <p:spPr bwMode="auto">
          <a:xfrm>
            <a:off x="69135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7" name="Line 194"/>
          <p:cNvSpPr>
            <a:spLocks noChangeShapeType="1"/>
          </p:cNvSpPr>
          <p:nvPr/>
        </p:nvSpPr>
        <p:spPr bwMode="auto">
          <a:xfrm>
            <a:off x="69738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8" name="Line 195"/>
          <p:cNvSpPr>
            <a:spLocks noChangeShapeType="1"/>
          </p:cNvSpPr>
          <p:nvPr/>
        </p:nvSpPr>
        <p:spPr bwMode="auto">
          <a:xfrm>
            <a:off x="70104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09" name="Line 196"/>
          <p:cNvSpPr>
            <a:spLocks noChangeShapeType="1"/>
          </p:cNvSpPr>
          <p:nvPr/>
        </p:nvSpPr>
        <p:spPr bwMode="auto">
          <a:xfrm>
            <a:off x="70405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0" name="Line 197"/>
          <p:cNvSpPr>
            <a:spLocks noChangeShapeType="1"/>
          </p:cNvSpPr>
          <p:nvPr/>
        </p:nvSpPr>
        <p:spPr bwMode="auto">
          <a:xfrm>
            <a:off x="71072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1" name="Line 198"/>
          <p:cNvSpPr>
            <a:spLocks noChangeShapeType="1"/>
          </p:cNvSpPr>
          <p:nvPr/>
        </p:nvSpPr>
        <p:spPr bwMode="auto">
          <a:xfrm>
            <a:off x="71374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2" name="Line 199"/>
          <p:cNvSpPr>
            <a:spLocks noChangeShapeType="1"/>
          </p:cNvSpPr>
          <p:nvPr/>
        </p:nvSpPr>
        <p:spPr bwMode="auto">
          <a:xfrm>
            <a:off x="71675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3" name="Line 200"/>
          <p:cNvSpPr>
            <a:spLocks noChangeShapeType="1"/>
          </p:cNvSpPr>
          <p:nvPr/>
        </p:nvSpPr>
        <p:spPr bwMode="auto">
          <a:xfrm>
            <a:off x="72342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4" name="Line 201"/>
          <p:cNvSpPr>
            <a:spLocks noChangeShapeType="1"/>
          </p:cNvSpPr>
          <p:nvPr/>
        </p:nvSpPr>
        <p:spPr bwMode="auto">
          <a:xfrm>
            <a:off x="72644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5" name="Line 202"/>
          <p:cNvSpPr>
            <a:spLocks noChangeShapeType="1"/>
          </p:cNvSpPr>
          <p:nvPr/>
        </p:nvSpPr>
        <p:spPr bwMode="auto">
          <a:xfrm>
            <a:off x="72993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6" name="Line 203"/>
          <p:cNvSpPr>
            <a:spLocks noChangeShapeType="1"/>
          </p:cNvSpPr>
          <p:nvPr/>
        </p:nvSpPr>
        <p:spPr bwMode="auto">
          <a:xfrm>
            <a:off x="73596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7" name="Line 204"/>
          <p:cNvSpPr>
            <a:spLocks noChangeShapeType="1"/>
          </p:cNvSpPr>
          <p:nvPr/>
        </p:nvSpPr>
        <p:spPr bwMode="auto">
          <a:xfrm>
            <a:off x="73898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8" name="Line 205"/>
          <p:cNvSpPr>
            <a:spLocks noChangeShapeType="1"/>
          </p:cNvSpPr>
          <p:nvPr/>
        </p:nvSpPr>
        <p:spPr bwMode="auto">
          <a:xfrm>
            <a:off x="74263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19" name="Line 206"/>
          <p:cNvSpPr>
            <a:spLocks noChangeShapeType="1"/>
          </p:cNvSpPr>
          <p:nvPr/>
        </p:nvSpPr>
        <p:spPr bwMode="auto">
          <a:xfrm>
            <a:off x="74866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0" name="Line 207"/>
          <p:cNvSpPr>
            <a:spLocks noChangeShapeType="1"/>
          </p:cNvSpPr>
          <p:nvPr/>
        </p:nvSpPr>
        <p:spPr bwMode="auto">
          <a:xfrm>
            <a:off x="75231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1" name="Line 208"/>
          <p:cNvSpPr>
            <a:spLocks noChangeShapeType="1"/>
          </p:cNvSpPr>
          <p:nvPr/>
        </p:nvSpPr>
        <p:spPr bwMode="auto">
          <a:xfrm>
            <a:off x="75533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2" name="Line 209"/>
          <p:cNvSpPr>
            <a:spLocks noChangeShapeType="1"/>
          </p:cNvSpPr>
          <p:nvPr/>
        </p:nvSpPr>
        <p:spPr bwMode="auto">
          <a:xfrm>
            <a:off x="76200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3" name="Line 210"/>
          <p:cNvSpPr>
            <a:spLocks noChangeShapeType="1"/>
          </p:cNvSpPr>
          <p:nvPr/>
        </p:nvSpPr>
        <p:spPr bwMode="auto">
          <a:xfrm>
            <a:off x="76501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4" name="Line 211"/>
          <p:cNvSpPr>
            <a:spLocks noChangeShapeType="1"/>
          </p:cNvSpPr>
          <p:nvPr/>
        </p:nvSpPr>
        <p:spPr bwMode="auto">
          <a:xfrm>
            <a:off x="76803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5" name="Line 212"/>
          <p:cNvSpPr>
            <a:spLocks noChangeShapeType="1"/>
          </p:cNvSpPr>
          <p:nvPr/>
        </p:nvSpPr>
        <p:spPr bwMode="auto">
          <a:xfrm>
            <a:off x="77454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6" name="Line 213"/>
          <p:cNvSpPr>
            <a:spLocks noChangeShapeType="1"/>
          </p:cNvSpPr>
          <p:nvPr/>
        </p:nvSpPr>
        <p:spPr bwMode="auto">
          <a:xfrm>
            <a:off x="77755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7" name="Line 214"/>
          <p:cNvSpPr>
            <a:spLocks noChangeShapeType="1"/>
          </p:cNvSpPr>
          <p:nvPr/>
        </p:nvSpPr>
        <p:spPr bwMode="auto">
          <a:xfrm>
            <a:off x="78120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8" name="Line 215"/>
          <p:cNvSpPr>
            <a:spLocks noChangeShapeType="1"/>
          </p:cNvSpPr>
          <p:nvPr/>
        </p:nvSpPr>
        <p:spPr bwMode="auto">
          <a:xfrm>
            <a:off x="78724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29" name="Line 216"/>
          <p:cNvSpPr>
            <a:spLocks noChangeShapeType="1"/>
          </p:cNvSpPr>
          <p:nvPr/>
        </p:nvSpPr>
        <p:spPr bwMode="auto">
          <a:xfrm>
            <a:off x="79089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0" name="Line 217"/>
          <p:cNvSpPr>
            <a:spLocks noChangeShapeType="1"/>
          </p:cNvSpPr>
          <p:nvPr/>
        </p:nvSpPr>
        <p:spPr bwMode="auto">
          <a:xfrm>
            <a:off x="79390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1" name="Line 218"/>
          <p:cNvSpPr>
            <a:spLocks noChangeShapeType="1"/>
          </p:cNvSpPr>
          <p:nvPr/>
        </p:nvSpPr>
        <p:spPr bwMode="auto">
          <a:xfrm>
            <a:off x="799941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2" name="Line 219"/>
          <p:cNvSpPr>
            <a:spLocks noChangeShapeType="1"/>
          </p:cNvSpPr>
          <p:nvPr/>
        </p:nvSpPr>
        <p:spPr bwMode="auto">
          <a:xfrm>
            <a:off x="803592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3" name="Line 220"/>
          <p:cNvSpPr>
            <a:spLocks noChangeShapeType="1"/>
          </p:cNvSpPr>
          <p:nvPr/>
        </p:nvSpPr>
        <p:spPr bwMode="auto">
          <a:xfrm>
            <a:off x="80660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4" name="Line 221"/>
          <p:cNvSpPr>
            <a:spLocks noChangeShapeType="1"/>
          </p:cNvSpPr>
          <p:nvPr/>
        </p:nvSpPr>
        <p:spPr bwMode="auto">
          <a:xfrm>
            <a:off x="81311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5" name="Line 222"/>
          <p:cNvSpPr>
            <a:spLocks noChangeShapeType="1"/>
          </p:cNvSpPr>
          <p:nvPr/>
        </p:nvSpPr>
        <p:spPr bwMode="auto">
          <a:xfrm>
            <a:off x="81613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6" name="Line 223"/>
          <p:cNvSpPr>
            <a:spLocks noChangeShapeType="1"/>
          </p:cNvSpPr>
          <p:nvPr/>
        </p:nvSpPr>
        <p:spPr bwMode="auto">
          <a:xfrm>
            <a:off x="81915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7" name="Line 224"/>
          <p:cNvSpPr>
            <a:spLocks noChangeShapeType="1"/>
          </p:cNvSpPr>
          <p:nvPr/>
        </p:nvSpPr>
        <p:spPr bwMode="auto">
          <a:xfrm>
            <a:off x="82581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8" name="Line 225"/>
          <p:cNvSpPr>
            <a:spLocks noChangeShapeType="1"/>
          </p:cNvSpPr>
          <p:nvPr/>
        </p:nvSpPr>
        <p:spPr bwMode="auto">
          <a:xfrm>
            <a:off x="82883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39" name="Line 226"/>
          <p:cNvSpPr>
            <a:spLocks noChangeShapeType="1"/>
          </p:cNvSpPr>
          <p:nvPr/>
        </p:nvSpPr>
        <p:spPr bwMode="auto">
          <a:xfrm>
            <a:off x="83248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0" name="Line 227"/>
          <p:cNvSpPr>
            <a:spLocks noChangeShapeType="1"/>
          </p:cNvSpPr>
          <p:nvPr/>
        </p:nvSpPr>
        <p:spPr bwMode="auto">
          <a:xfrm>
            <a:off x="8385175"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1" name="Line 228"/>
          <p:cNvSpPr>
            <a:spLocks noChangeShapeType="1"/>
          </p:cNvSpPr>
          <p:nvPr/>
        </p:nvSpPr>
        <p:spPr bwMode="auto">
          <a:xfrm>
            <a:off x="842168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2" name="Line 229"/>
          <p:cNvSpPr>
            <a:spLocks noChangeShapeType="1"/>
          </p:cNvSpPr>
          <p:nvPr/>
        </p:nvSpPr>
        <p:spPr bwMode="auto">
          <a:xfrm>
            <a:off x="845185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3" name="Line 230"/>
          <p:cNvSpPr>
            <a:spLocks noChangeShapeType="1"/>
          </p:cNvSpPr>
          <p:nvPr/>
        </p:nvSpPr>
        <p:spPr bwMode="auto">
          <a:xfrm>
            <a:off x="8516938"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4" name="Line 231"/>
          <p:cNvSpPr>
            <a:spLocks noChangeShapeType="1"/>
          </p:cNvSpPr>
          <p:nvPr/>
        </p:nvSpPr>
        <p:spPr bwMode="auto">
          <a:xfrm>
            <a:off x="8547100" y="6124575"/>
            <a:ext cx="1588"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5" name="Line 232"/>
          <p:cNvSpPr>
            <a:spLocks noChangeShapeType="1"/>
          </p:cNvSpPr>
          <p:nvPr/>
        </p:nvSpPr>
        <p:spPr bwMode="auto">
          <a:xfrm>
            <a:off x="8577263" y="6124575"/>
            <a:ext cx="1587" cy="1746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6" name="Line 233"/>
          <p:cNvSpPr>
            <a:spLocks noChangeShapeType="1"/>
          </p:cNvSpPr>
          <p:nvPr/>
        </p:nvSpPr>
        <p:spPr bwMode="auto">
          <a:xfrm>
            <a:off x="922338" y="6124575"/>
            <a:ext cx="1587"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7" name="Rectangle 234"/>
          <p:cNvSpPr>
            <a:spLocks noChangeArrowheads="1"/>
          </p:cNvSpPr>
          <p:nvPr/>
        </p:nvSpPr>
        <p:spPr bwMode="auto">
          <a:xfrm>
            <a:off x="841375" y="6178550"/>
            <a:ext cx="11541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400</a:t>
            </a:r>
            <a:endParaRPr lang="en-US" altLang="en-US">
              <a:solidFill>
                <a:srgbClr val="000000"/>
              </a:solidFill>
              <a:latin typeface="Calibri" panose="020F0502020204030204" pitchFamily="34" charset="0"/>
            </a:endParaRPr>
          </a:p>
        </p:txBody>
      </p:sp>
      <p:sp>
        <p:nvSpPr>
          <p:cNvPr id="39148" name="Line 235"/>
          <p:cNvSpPr>
            <a:spLocks noChangeShapeType="1"/>
          </p:cNvSpPr>
          <p:nvPr/>
        </p:nvSpPr>
        <p:spPr bwMode="auto">
          <a:xfrm>
            <a:off x="1562100" y="6124575"/>
            <a:ext cx="1588"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49" name="Rectangle 236"/>
          <p:cNvSpPr>
            <a:spLocks noChangeArrowheads="1"/>
          </p:cNvSpPr>
          <p:nvPr/>
        </p:nvSpPr>
        <p:spPr bwMode="auto">
          <a:xfrm>
            <a:off x="1481138" y="6178550"/>
            <a:ext cx="11541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500</a:t>
            </a:r>
            <a:endParaRPr lang="en-US" altLang="en-US">
              <a:solidFill>
                <a:srgbClr val="000000"/>
              </a:solidFill>
              <a:latin typeface="Calibri" panose="020F0502020204030204" pitchFamily="34" charset="0"/>
            </a:endParaRPr>
          </a:p>
        </p:txBody>
      </p:sp>
      <p:sp>
        <p:nvSpPr>
          <p:cNvPr id="39150" name="Line 237"/>
          <p:cNvSpPr>
            <a:spLocks noChangeShapeType="1"/>
          </p:cNvSpPr>
          <p:nvPr/>
        </p:nvSpPr>
        <p:spPr bwMode="auto">
          <a:xfrm>
            <a:off x="2200275" y="6124575"/>
            <a:ext cx="1588"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51" name="Rectangle 238"/>
          <p:cNvSpPr>
            <a:spLocks noChangeArrowheads="1"/>
          </p:cNvSpPr>
          <p:nvPr/>
        </p:nvSpPr>
        <p:spPr bwMode="auto">
          <a:xfrm>
            <a:off x="2119313" y="6178550"/>
            <a:ext cx="11541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600</a:t>
            </a:r>
            <a:endParaRPr lang="en-US" altLang="en-US">
              <a:solidFill>
                <a:srgbClr val="000000"/>
              </a:solidFill>
              <a:latin typeface="Calibri" panose="020F0502020204030204" pitchFamily="34" charset="0"/>
            </a:endParaRPr>
          </a:p>
        </p:txBody>
      </p:sp>
      <p:sp>
        <p:nvSpPr>
          <p:cNvPr id="39152" name="Line 239"/>
          <p:cNvSpPr>
            <a:spLocks noChangeShapeType="1"/>
          </p:cNvSpPr>
          <p:nvPr/>
        </p:nvSpPr>
        <p:spPr bwMode="auto">
          <a:xfrm>
            <a:off x="2846388" y="6124575"/>
            <a:ext cx="1587"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53" name="Rectangle 240"/>
          <p:cNvSpPr>
            <a:spLocks noChangeArrowheads="1"/>
          </p:cNvSpPr>
          <p:nvPr/>
        </p:nvSpPr>
        <p:spPr bwMode="auto">
          <a:xfrm>
            <a:off x="2765425" y="6178550"/>
            <a:ext cx="11541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700</a:t>
            </a:r>
            <a:endParaRPr lang="en-US" altLang="en-US">
              <a:solidFill>
                <a:srgbClr val="000000"/>
              </a:solidFill>
              <a:latin typeface="Calibri" panose="020F0502020204030204" pitchFamily="34" charset="0"/>
            </a:endParaRPr>
          </a:p>
        </p:txBody>
      </p:sp>
      <p:sp>
        <p:nvSpPr>
          <p:cNvPr id="39154" name="Line 241"/>
          <p:cNvSpPr>
            <a:spLocks noChangeShapeType="1"/>
          </p:cNvSpPr>
          <p:nvPr/>
        </p:nvSpPr>
        <p:spPr bwMode="auto">
          <a:xfrm>
            <a:off x="3484563" y="6124575"/>
            <a:ext cx="1587"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55" name="Rectangle 242"/>
          <p:cNvSpPr>
            <a:spLocks noChangeArrowheads="1"/>
          </p:cNvSpPr>
          <p:nvPr/>
        </p:nvSpPr>
        <p:spPr bwMode="auto">
          <a:xfrm>
            <a:off x="3403600" y="6178550"/>
            <a:ext cx="11541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800</a:t>
            </a:r>
            <a:endParaRPr lang="en-US" altLang="en-US">
              <a:solidFill>
                <a:srgbClr val="000000"/>
              </a:solidFill>
              <a:latin typeface="Calibri" panose="020F0502020204030204" pitchFamily="34" charset="0"/>
            </a:endParaRPr>
          </a:p>
        </p:txBody>
      </p:sp>
      <p:sp>
        <p:nvSpPr>
          <p:cNvPr id="39156" name="Line 243"/>
          <p:cNvSpPr>
            <a:spLocks noChangeShapeType="1"/>
          </p:cNvSpPr>
          <p:nvPr/>
        </p:nvSpPr>
        <p:spPr bwMode="auto">
          <a:xfrm>
            <a:off x="4124325" y="6124575"/>
            <a:ext cx="1588"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57" name="Rectangle 244"/>
          <p:cNvSpPr>
            <a:spLocks noChangeArrowheads="1"/>
          </p:cNvSpPr>
          <p:nvPr/>
        </p:nvSpPr>
        <p:spPr bwMode="auto">
          <a:xfrm>
            <a:off x="4043363" y="6178550"/>
            <a:ext cx="11541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900</a:t>
            </a:r>
            <a:endParaRPr lang="en-US" altLang="en-US">
              <a:solidFill>
                <a:srgbClr val="000000"/>
              </a:solidFill>
              <a:latin typeface="Calibri" panose="020F0502020204030204" pitchFamily="34" charset="0"/>
            </a:endParaRPr>
          </a:p>
        </p:txBody>
      </p:sp>
      <p:sp>
        <p:nvSpPr>
          <p:cNvPr id="39158" name="Line 245"/>
          <p:cNvSpPr>
            <a:spLocks noChangeShapeType="1"/>
          </p:cNvSpPr>
          <p:nvPr/>
        </p:nvSpPr>
        <p:spPr bwMode="auto">
          <a:xfrm>
            <a:off x="4768850" y="6124575"/>
            <a:ext cx="1588"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59" name="Rectangle 246"/>
          <p:cNvSpPr>
            <a:spLocks noChangeArrowheads="1"/>
          </p:cNvSpPr>
          <p:nvPr/>
        </p:nvSpPr>
        <p:spPr bwMode="auto">
          <a:xfrm>
            <a:off x="4667250" y="6178550"/>
            <a:ext cx="15388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1000</a:t>
            </a:r>
            <a:endParaRPr lang="en-US" altLang="en-US">
              <a:solidFill>
                <a:srgbClr val="000000"/>
              </a:solidFill>
              <a:latin typeface="Calibri" panose="020F0502020204030204" pitchFamily="34" charset="0"/>
            </a:endParaRPr>
          </a:p>
        </p:txBody>
      </p:sp>
      <p:sp>
        <p:nvSpPr>
          <p:cNvPr id="39160" name="Line 247"/>
          <p:cNvSpPr>
            <a:spLocks noChangeShapeType="1"/>
          </p:cNvSpPr>
          <p:nvPr/>
        </p:nvSpPr>
        <p:spPr bwMode="auto">
          <a:xfrm>
            <a:off x="5407025" y="6124575"/>
            <a:ext cx="1588"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61" name="Rectangle 248"/>
          <p:cNvSpPr>
            <a:spLocks noChangeArrowheads="1"/>
          </p:cNvSpPr>
          <p:nvPr/>
        </p:nvSpPr>
        <p:spPr bwMode="auto">
          <a:xfrm>
            <a:off x="5305425" y="6178550"/>
            <a:ext cx="15388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1100</a:t>
            </a:r>
            <a:endParaRPr lang="en-US" altLang="en-US">
              <a:solidFill>
                <a:srgbClr val="000000"/>
              </a:solidFill>
              <a:latin typeface="Calibri" panose="020F0502020204030204" pitchFamily="34" charset="0"/>
            </a:endParaRPr>
          </a:p>
        </p:txBody>
      </p:sp>
      <p:sp>
        <p:nvSpPr>
          <p:cNvPr id="39162" name="Line 249"/>
          <p:cNvSpPr>
            <a:spLocks noChangeShapeType="1"/>
          </p:cNvSpPr>
          <p:nvPr/>
        </p:nvSpPr>
        <p:spPr bwMode="auto">
          <a:xfrm>
            <a:off x="6046788" y="6124575"/>
            <a:ext cx="1587"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63" name="Rectangle 250"/>
          <p:cNvSpPr>
            <a:spLocks noChangeArrowheads="1"/>
          </p:cNvSpPr>
          <p:nvPr/>
        </p:nvSpPr>
        <p:spPr bwMode="auto">
          <a:xfrm>
            <a:off x="5945188" y="6178550"/>
            <a:ext cx="15388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1200</a:t>
            </a:r>
            <a:endParaRPr lang="en-US" altLang="en-US">
              <a:solidFill>
                <a:srgbClr val="000000"/>
              </a:solidFill>
              <a:latin typeface="Calibri" panose="020F0502020204030204" pitchFamily="34" charset="0"/>
            </a:endParaRPr>
          </a:p>
        </p:txBody>
      </p:sp>
      <p:sp>
        <p:nvSpPr>
          <p:cNvPr id="39164" name="Line 251"/>
          <p:cNvSpPr>
            <a:spLocks noChangeShapeType="1"/>
          </p:cNvSpPr>
          <p:nvPr/>
        </p:nvSpPr>
        <p:spPr bwMode="auto">
          <a:xfrm>
            <a:off x="6691313" y="6124575"/>
            <a:ext cx="1587"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65" name="Rectangle 252"/>
          <p:cNvSpPr>
            <a:spLocks noChangeArrowheads="1"/>
          </p:cNvSpPr>
          <p:nvPr/>
        </p:nvSpPr>
        <p:spPr bwMode="auto">
          <a:xfrm>
            <a:off x="6589713" y="6178550"/>
            <a:ext cx="15388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1300</a:t>
            </a:r>
            <a:endParaRPr lang="en-US" altLang="en-US">
              <a:solidFill>
                <a:srgbClr val="000000"/>
              </a:solidFill>
              <a:latin typeface="Calibri" panose="020F0502020204030204" pitchFamily="34" charset="0"/>
            </a:endParaRPr>
          </a:p>
        </p:txBody>
      </p:sp>
      <p:sp>
        <p:nvSpPr>
          <p:cNvPr id="39166" name="Line 253"/>
          <p:cNvSpPr>
            <a:spLocks noChangeShapeType="1"/>
          </p:cNvSpPr>
          <p:nvPr/>
        </p:nvSpPr>
        <p:spPr bwMode="auto">
          <a:xfrm>
            <a:off x="7329488" y="6124575"/>
            <a:ext cx="1587"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67" name="Rectangle 254"/>
          <p:cNvSpPr>
            <a:spLocks noChangeArrowheads="1"/>
          </p:cNvSpPr>
          <p:nvPr/>
        </p:nvSpPr>
        <p:spPr bwMode="auto">
          <a:xfrm>
            <a:off x="7227888" y="6178550"/>
            <a:ext cx="15388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1400</a:t>
            </a:r>
            <a:endParaRPr lang="en-US" altLang="en-US">
              <a:solidFill>
                <a:srgbClr val="000000"/>
              </a:solidFill>
              <a:latin typeface="Calibri" panose="020F0502020204030204" pitchFamily="34" charset="0"/>
            </a:endParaRPr>
          </a:p>
        </p:txBody>
      </p:sp>
      <p:sp>
        <p:nvSpPr>
          <p:cNvPr id="39168" name="Line 255"/>
          <p:cNvSpPr>
            <a:spLocks noChangeShapeType="1"/>
          </p:cNvSpPr>
          <p:nvPr/>
        </p:nvSpPr>
        <p:spPr bwMode="auto">
          <a:xfrm>
            <a:off x="7969250" y="6124575"/>
            <a:ext cx="1588"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69" name="Rectangle 256"/>
          <p:cNvSpPr>
            <a:spLocks noChangeArrowheads="1"/>
          </p:cNvSpPr>
          <p:nvPr/>
        </p:nvSpPr>
        <p:spPr bwMode="auto">
          <a:xfrm>
            <a:off x="7867650" y="6178550"/>
            <a:ext cx="15388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1500</a:t>
            </a:r>
            <a:endParaRPr lang="en-US" altLang="en-US">
              <a:solidFill>
                <a:srgbClr val="000000"/>
              </a:solidFill>
              <a:latin typeface="Calibri" panose="020F0502020204030204" pitchFamily="34" charset="0"/>
            </a:endParaRPr>
          </a:p>
        </p:txBody>
      </p:sp>
      <p:sp>
        <p:nvSpPr>
          <p:cNvPr id="39170" name="Line 257"/>
          <p:cNvSpPr>
            <a:spLocks noChangeShapeType="1"/>
          </p:cNvSpPr>
          <p:nvPr/>
        </p:nvSpPr>
        <p:spPr bwMode="auto">
          <a:xfrm>
            <a:off x="8613775" y="6124575"/>
            <a:ext cx="1588" cy="539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71" name="Rectangle 258"/>
          <p:cNvSpPr>
            <a:spLocks noChangeArrowheads="1"/>
          </p:cNvSpPr>
          <p:nvPr/>
        </p:nvSpPr>
        <p:spPr bwMode="auto">
          <a:xfrm>
            <a:off x="8512175" y="6178550"/>
            <a:ext cx="153888"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1600</a:t>
            </a:r>
            <a:endParaRPr lang="en-US" altLang="en-US">
              <a:solidFill>
                <a:srgbClr val="000000"/>
              </a:solidFill>
              <a:latin typeface="Calibri" panose="020F0502020204030204" pitchFamily="34" charset="0"/>
            </a:endParaRPr>
          </a:p>
        </p:txBody>
      </p:sp>
      <p:sp>
        <p:nvSpPr>
          <p:cNvPr id="39172" name="Rectangle 259"/>
          <p:cNvSpPr>
            <a:spLocks noChangeArrowheads="1"/>
          </p:cNvSpPr>
          <p:nvPr/>
        </p:nvSpPr>
        <p:spPr bwMode="auto">
          <a:xfrm>
            <a:off x="4321805" y="6193943"/>
            <a:ext cx="37830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dirty="0">
                <a:solidFill>
                  <a:srgbClr val="000000"/>
                </a:solidFill>
                <a:latin typeface="Calibri" panose="020F0502020204030204" pitchFamily="34" charset="0"/>
              </a:rPr>
              <a:t>m/z</a:t>
            </a:r>
            <a:endParaRPr lang="en-US" altLang="en-US" sz="1400" b="1" dirty="0">
              <a:solidFill>
                <a:srgbClr val="000000"/>
              </a:solidFill>
              <a:latin typeface="Calibri" panose="020F0502020204030204" pitchFamily="34" charset="0"/>
            </a:endParaRPr>
          </a:p>
        </p:txBody>
      </p:sp>
      <p:sp>
        <p:nvSpPr>
          <p:cNvPr id="39173" name="Line 260"/>
          <p:cNvSpPr>
            <a:spLocks noChangeShapeType="1"/>
          </p:cNvSpPr>
          <p:nvPr/>
        </p:nvSpPr>
        <p:spPr bwMode="auto">
          <a:xfrm flipV="1">
            <a:off x="922338" y="4273550"/>
            <a:ext cx="1587" cy="18446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74" name="Line 261"/>
          <p:cNvSpPr>
            <a:spLocks noChangeShapeType="1"/>
          </p:cNvSpPr>
          <p:nvPr/>
        </p:nvSpPr>
        <p:spPr bwMode="auto">
          <a:xfrm flipH="1">
            <a:off x="887413" y="60817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75" name="Line 262"/>
          <p:cNvSpPr>
            <a:spLocks noChangeShapeType="1"/>
          </p:cNvSpPr>
          <p:nvPr/>
        </p:nvSpPr>
        <p:spPr bwMode="auto">
          <a:xfrm flipH="1">
            <a:off x="887413" y="60452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76" name="Line 263"/>
          <p:cNvSpPr>
            <a:spLocks noChangeShapeType="1"/>
          </p:cNvSpPr>
          <p:nvPr/>
        </p:nvSpPr>
        <p:spPr bwMode="auto">
          <a:xfrm flipH="1">
            <a:off x="887413" y="60102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77" name="Line 264"/>
          <p:cNvSpPr>
            <a:spLocks noChangeShapeType="1"/>
          </p:cNvSpPr>
          <p:nvPr/>
        </p:nvSpPr>
        <p:spPr bwMode="auto">
          <a:xfrm flipH="1">
            <a:off x="887413" y="59737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78" name="Line 265"/>
          <p:cNvSpPr>
            <a:spLocks noChangeShapeType="1"/>
          </p:cNvSpPr>
          <p:nvPr/>
        </p:nvSpPr>
        <p:spPr bwMode="auto">
          <a:xfrm flipH="1">
            <a:off x="887413" y="59007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79" name="Line 266"/>
          <p:cNvSpPr>
            <a:spLocks noChangeShapeType="1"/>
          </p:cNvSpPr>
          <p:nvPr/>
        </p:nvSpPr>
        <p:spPr bwMode="auto">
          <a:xfrm flipH="1">
            <a:off x="887413" y="58658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0" name="Line 267"/>
          <p:cNvSpPr>
            <a:spLocks noChangeShapeType="1"/>
          </p:cNvSpPr>
          <p:nvPr/>
        </p:nvSpPr>
        <p:spPr bwMode="auto">
          <a:xfrm flipH="1">
            <a:off x="887413" y="58293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1" name="Line 268"/>
          <p:cNvSpPr>
            <a:spLocks noChangeShapeType="1"/>
          </p:cNvSpPr>
          <p:nvPr/>
        </p:nvSpPr>
        <p:spPr bwMode="auto">
          <a:xfrm flipH="1">
            <a:off x="887413" y="57864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2" name="Line 269"/>
          <p:cNvSpPr>
            <a:spLocks noChangeShapeType="1"/>
          </p:cNvSpPr>
          <p:nvPr/>
        </p:nvSpPr>
        <p:spPr bwMode="auto">
          <a:xfrm flipH="1">
            <a:off x="887413" y="57150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3" name="Line 270"/>
          <p:cNvSpPr>
            <a:spLocks noChangeShapeType="1"/>
          </p:cNvSpPr>
          <p:nvPr/>
        </p:nvSpPr>
        <p:spPr bwMode="auto">
          <a:xfrm flipH="1">
            <a:off x="887413" y="567848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4" name="Line 271"/>
          <p:cNvSpPr>
            <a:spLocks noChangeShapeType="1"/>
          </p:cNvSpPr>
          <p:nvPr/>
        </p:nvSpPr>
        <p:spPr bwMode="auto">
          <a:xfrm flipH="1">
            <a:off x="887413" y="56419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5" name="Line 272"/>
          <p:cNvSpPr>
            <a:spLocks noChangeShapeType="1"/>
          </p:cNvSpPr>
          <p:nvPr/>
        </p:nvSpPr>
        <p:spPr bwMode="auto">
          <a:xfrm flipH="1">
            <a:off x="887413" y="56054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6" name="Line 273"/>
          <p:cNvSpPr>
            <a:spLocks noChangeShapeType="1"/>
          </p:cNvSpPr>
          <p:nvPr/>
        </p:nvSpPr>
        <p:spPr bwMode="auto">
          <a:xfrm flipH="1">
            <a:off x="887413" y="55340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7" name="Line 274"/>
          <p:cNvSpPr>
            <a:spLocks noChangeShapeType="1"/>
          </p:cNvSpPr>
          <p:nvPr/>
        </p:nvSpPr>
        <p:spPr bwMode="auto">
          <a:xfrm flipH="1">
            <a:off x="887413" y="54911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8" name="Line 275"/>
          <p:cNvSpPr>
            <a:spLocks noChangeShapeType="1"/>
          </p:cNvSpPr>
          <p:nvPr/>
        </p:nvSpPr>
        <p:spPr bwMode="auto">
          <a:xfrm flipH="1">
            <a:off x="887413" y="54546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89" name="Line 276"/>
          <p:cNvSpPr>
            <a:spLocks noChangeShapeType="1"/>
          </p:cNvSpPr>
          <p:nvPr/>
        </p:nvSpPr>
        <p:spPr bwMode="auto">
          <a:xfrm flipH="1">
            <a:off x="887413" y="54197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0" name="Line 277"/>
          <p:cNvSpPr>
            <a:spLocks noChangeShapeType="1"/>
          </p:cNvSpPr>
          <p:nvPr/>
        </p:nvSpPr>
        <p:spPr bwMode="auto">
          <a:xfrm flipH="1">
            <a:off x="887413" y="53467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1" name="Line 278"/>
          <p:cNvSpPr>
            <a:spLocks noChangeShapeType="1"/>
          </p:cNvSpPr>
          <p:nvPr/>
        </p:nvSpPr>
        <p:spPr bwMode="auto">
          <a:xfrm flipH="1">
            <a:off x="887413" y="531018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2" name="Line 279"/>
          <p:cNvSpPr>
            <a:spLocks noChangeShapeType="1"/>
          </p:cNvSpPr>
          <p:nvPr/>
        </p:nvSpPr>
        <p:spPr bwMode="auto">
          <a:xfrm flipH="1">
            <a:off x="887413" y="52736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3" name="Line 280"/>
          <p:cNvSpPr>
            <a:spLocks noChangeShapeType="1"/>
          </p:cNvSpPr>
          <p:nvPr/>
        </p:nvSpPr>
        <p:spPr bwMode="auto">
          <a:xfrm flipH="1">
            <a:off x="887413" y="52387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4" name="Line 281"/>
          <p:cNvSpPr>
            <a:spLocks noChangeShapeType="1"/>
          </p:cNvSpPr>
          <p:nvPr/>
        </p:nvSpPr>
        <p:spPr bwMode="auto">
          <a:xfrm flipH="1">
            <a:off x="887413" y="51593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5" name="Line 282"/>
          <p:cNvSpPr>
            <a:spLocks noChangeShapeType="1"/>
          </p:cNvSpPr>
          <p:nvPr/>
        </p:nvSpPr>
        <p:spPr bwMode="auto">
          <a:xfrm flipH="1">
            <a:off x="887413" y="51244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6" name="Line 283"/>
          <p:cNvSpPr>
            <a:spLocks noChangeShapeType="1"/>
          </p:cNvSpPr>
          <p:nvPr/>
        </p:nvSpPr>
        <p:spPr bwMode="auto">
          <a:xfrm flipH="1">
            <a:off x="887413" y="50879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7" name="Line 284"/>
          <p:cNvSpPr>
            <a:spLocks noChangeShapeType="1"/>
          </p:cNvSpPr>
          <p:nvPr/>
        </p:nvSpPr>
        <p:spPr bwMode="auto">
          <a:xfrm flipH="1">
            <a:off x="887413" y="50514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8" name="Line 285"/>
          <p:cNvSpPr>
            <a:spLocks noChangeShapeType="1"/>
          </p:cNvSpPr>
          <p:nvPr/>
        </p:nvSpPr>
        <p:spPr bwMode="auto">
          <a:xfrm flipH="1">
            <a:off x="887413" y="49784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199" name="Line 286"/>
          <p:cNvSpPr>
            <a:spLocks noChangeShapeType="1"/>
          </p:cNvSpPr>
          <p:nvPr/>
        </p:nvSpPr>
        <p:spPr bwMode="auto">
          <a:xfrm flipH="1">
            <a:off x="887413" y="49434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0" name="Line 287"/>
          <p:cNvSpPr>
            <a:spLocks noChangeShapeType="1"/>
          </p:cNvSpPr>
          <p:nvPr/>
        </p:nvSpPr>
        <p:spPr bwMode="auto">
          <a:xfrm flipH="1">
            <a:off x="887413" y="49069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1" name="Line 288"/>
          <p:cNvSpPr>
            <a:spLocks noChangeShapeType="1"/>
          </p:cNvSpPr>
          <p:nvPr/>
        </p:nvSpPr>
        <p:spPr bwMode="auto">
          <a:xfrm flipH="1">
            <a:off x="887413" y="48641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2" name="Line 289"/>
          <p:cNvSpPr>
            <a:spLocks noChangeShapeType="1"/>
          </p:cNvSpPr>
          <p:nvPr/>
        </p:nvSpPr>
        <p:spPr bwMode="auto">
          <a:xfrm flipH="1">
            <a:off x="887413" y="47926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3" name="Line 290"/>
          <p:cNvSpPr>
            <a:spLocks noChangeShapeType="1"/>
          </p:cNvSpPr>
          <p:nvPr/>
        </p:nvSpPr>
        <p:spPr bwMode="auto">
          <a:xfrm flipH="1">
            <a:off x="887413" y="47561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4" name="Line 291"/>
          <p:cNvSpPr>
            <a:spLocks noChangeShapeType="1"/>
          </p:cNvSpPr>
          <p:nvPr/>
        </p:nvSpPr>
        <p:spPr bwMode="auto">
          <a:xfrm flipH="1">
            <a:off x="887413" y="47196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5" name="Line 292"/>
          <p:cNvSpPr>
            <a:spLocks noChangeShapeType="1"/>
          </p:cNvSpPr>
          <p:nvPr/>
        </p:nvSpPr>
        <p:spPr bwMode="auto">
          <a:xfrm flipH="1">
            <a:off x="887413" y="46831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6" name="Line 293"/>
          <p:cNvSpPr>
            <a:spLocks noChangeShapeType="1"/>
          </p:cNvSpPr>
          <p:nvPr/>
        </p:nvSpPr>
        <p:spPr bwMode="auto">
          <a:xfrm flipH="1">
            <a:off x="887413" y="461168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7" name="Line 294"/>
          <p:cNvSpPr>
            <a:spLocks noChangeShapeType="1"/>
          </p:cNvSpPr>
          <p:nvPr/>
        </p:nvSpPr>
        <p:spPr bwMode="auto">
          <a:xfrm flipH="1">
            <a:off x="887413" y="45688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8" name="Line 295"/>
          <p:cNvSpPr>
            <a:spLocks noChangeShapeType="1"/>
          </p:cNvSpPr>
          <p:nvPr/>
        </p:nvSpPr>
        <p:spPr bwMode="auto">
          <a:xfrm flipH="1">
            <a:off x="887413" y="45339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09" name="Line 296"/>
          <p:cNvSpPr>
            <a:spLocks noChangeShapeType="1"/>
          </p:cNvSpPr>
          <p:nvPr/>
        </p:nvSpPr>
        <p:spPr bwMode="auto">
          <a:xfrm flipH="1">
            <a:off x="887413" y="449738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10" name="Line 297"/>
          <p:cNvSpPr>
            <a:spLocks noChangeShapeType="1"/>
          </p:cNvSpPr>
          <p:nvPr/>
        </p:nvSpPr>
        <p:spPr bwMode="auto">
          <a:xfrm flipH="1">
            <a:off x="887413" y="44243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11" name="Line 298"/>
          <p:cNvSpPr>
            <a:spLocks noChangeShapeType="1"/>
          </p:cNvSpPr>
          <p:nvPr/>
        </p:nvSpPr>
        <p:spPr bwMode="auto">
          <a:xfrm flipH="1">
            <a:off x="887413" y="43878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12" name="Line 299"/>
          <p:cNvSpPr>
            <a:spLocks noChangeShapeType="1"/>
          </p:cNvSpPr>
          <p:nvPr/>
        </p:nvSpPr>
        <p:spPr bwMode="auto">
          <a:xfrm flipH="1">
            <a:off x="887413" y="43529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13" name="Line 300"/>
          <p:cNvSpPr>
            <a:spLocks noChangeShapeType="1"/>
          </p:cNvSpPr>
          <p:nvPr/>
        </p:nvSpPr>
        <p:spPr bwMode="auto">
          <a:xfrm flipH="1">
            <a:off x="887413" y="43164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14" name="Line 301"/>
          <p:cNvSpPr>
            <a:spLocks noChangeShapeType="1"/>
          </p:cNvSpPr>
          <p:nvPr/>
        </p:nvSpPr>
        <p:spPr bwMode="auto">
          <a:xfrm flipH="1">
            <a:off x="868363" y="6118225"/>
            <a:ext cx="539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15" name="Rectangle 302"/>
          <p:cNvSpPr>
            <a:spLocks noChangeArrowheads="1"/>
          </p:cNvSpPr>
          <p:nvPr/>
        </p:nvSpPr>
        <p:spPr bwMode="auto">
          <a:xfrm>
            <a:off x="790575" y="6075363"/>
            <a:ext cx="38472"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0</a:t>
            </a:r>
            <a:endParaRPr lang="en-US" altLang="en-US">
              <a:solidFill>
                <a:srgbClr val="000000"/>
              </a:solidFill>
              <a:latin typeface="Calibri" panose="020F0502020204030204" pitchFamily="34" charset="0"/>
            </a:endParaRPr>
          </a:p>
        </p:txBody>
      </p:sp>
      <p:sp>
        <p:nvSpPr>
          <p:cNvPr id="39216" name="Line 303"/>
          <p:cNvSpPr>
            <a:spLocks noChangeShapeType="1"/>
          </p:cNvSpPr>
          <p:nvPr/>
        </p:nvSpPr>
        <p:spPr bwMode="auto">
          <a:xfrm flipH="1">
            <a:off x="868363" y="5937250"/>
            <a:ext cx="539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17" name="Rectangle 304"/>
          <p:cNvSpPr>
            <a:spLocks noChangeArrowheads="1"/>
          </p:cNvSpPr>
          <p:nvPr/>
        </p:nvSpPr>
        <p:spPr bwMode="auto">
          <a:xfrm>
            <a:off x="747713" y="5894388"/>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10</a:t>
            </a:r>
            <a:endParaRPr lang="en-US" altLang="en-US">
              <a:solidFill>
                <a:srgbClr val="000000"/>
              </a:solidFill>
              <a:latin typeface="Calibri" panose="020F0502020204030204" pitchFamily="34" charset="0"/>
            </a:endParaRPr>
          </a:p>
        </p:txBody>
      </p:sp>
      <p:sp>
        <p:nvSpPr>
          <p:cNvPr id="39218" name="Line 305"/>
          <p:cNvSpPr>
            <a:spLocks noChangeShapeType="1"/>
          </p:cNvSpPr>
          <p:nvPr/>
        </p:nvSpPr>
        <p:spPr bwMode="auto">
          <a:xfrm flipH="1">
            <a:off x="868363" y="5749925"/>
            <a:ext cx="539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19" name="Rectangle 306"/>
          <p:cNvSpPr>
            <a:spLocks noChangeArrowheads="1"/>
          </p:cNvSpPr>
          <p:nvPr/>
        </p:nvSpPr>
        <p:spPr bwMode="auto">
          <a:xfrm>
            <a:off x="747713" y="5707063"/>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20</a:t>
            </a:r>
            <a:endParaRPr lang="en-US" altLang="en-US">
              <a:solidFill>
                <a:srgbClr val="000000"/>
              </a:solidFill>
              <a:latin typeface="Calibri" panose="020F0502020204030204" pitchFamily="34" charset="0"/>
            </a:endParaRPr>
          </a:p>
        </p:txBody>
      </p:sp>
      <p:sp>
        <p:nvSpPr>
          <p:cNvPr id="39220" name="Line 307"/>
          <p:cNvSpPr>
            <a:spLocks noChangeShapeType="1"/>
          </p:cNvSpPr>
          <p:nvPr/>
        </p:nvSpPr>
        <p:spPr bwMode="auto">
          <a:xfrm flipH="1">
            <a:off x="868363" y="5570538"/>
            <a:ext cx="539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21" name="Rectangle 308"/>
          <p:cNvSpPr>
            <a:spLocks noChangeArrowheads="1"/>
          </p:cNvSpPr>
          <p:nvPr/>
        </p:nvSpPr>
        <p:spPr bwMode="auto">
          <a:xfrm>
            <a:off x="747713" y="5526088"/>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30</a:t>
            </a:r>
            <a:endParaRPr lang="en-US" altLang="en-US">
              <a:solidFill>
                <a:srgbClr val="000000"/>
              </a:solidFill>
              <a:latin typeface="Calibri" panose="020F0502020204030204" pitchFamily="34" charset="0"/>
            </a:endParaRPr>
          </a:p>
        </p:txBody>
      </p:sp>
      <p:sp>
        <p:nvSpPr>
          <p:cNvPr id="39222" name="Line 309"/>
          <p:cNvSpPr>
            <a:spLocks noChangeShapeType="1"/>
          </p:cNvSpPr>
          <p:nvPr/>
        </p:nvSpPr>
        <p:spPr bwMode="auto">
          <a:xfrm flipH="1">
            <a:off x="868363" y="5383213"/>
            <a:ext cx="539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23" name="Rectangle 310"/>
          <p:cNvSpPr>
            <a:spLocks noChangeArrowheads="1"/>
          </p:cNvSpPr>
          <p:nvPr/>
        </p:nvSpPr>
        <p:spPr bwMode="auto">
          <a:xfrm>
            <a:off x="747713" y="5340350"/>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40</a:t>
            </a:r>
            <a:endParaRPr lang="en-US" altLang="en-US">
              <a:solidFill>
                <a:srgbClr val="000000"/>
              </a:solidFill>
              <a:latin typeface="Calibri" panose="020F0502020204030204" pitchFamily="34" charset="0"/>
            </a:endParaRPr>
          </a:p>
        </p:txBody>
      </p:sp>
      <p:sp>
        <p:nvSpPr>
          <p:cNvPr id="39224" name="Line 311"/>
          <p:cNvSpPr>
            <a:spLocks noChangeShapeType="1"/>
          </p:cNvSpPr>
          <p:nvPr/>
        </p:nvSpPr>
        <p:spPr bwMode="auto">
          <a:xfrm flipH="1">
            <a:off x="868363" y="5195888"/>
            <a:ext cx="539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25" name="Rectangle 312"/>
          <p:cNvSpPr>
            <a:spLocks noChangeArrowheads="1"/>
          </p:cNvSpPr>
          <p:nvPr/>
        </p:nvSpPr>
        <p:spPr bwMode="auto">
          <a:xfrm>
            <a:off x="747713" y="5153025"/>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50</a:t>
            </a:r>
            <a:endParaRPr lang="en-US" altLang="en-US">
              <a:solidFill>
                <a:srgbClr val="000000"/>
              </a:solidFill>
              <a:latin typeface="Calibri" panose="020F0502020204030204" pitchFamily="34" charset="0"/>
            </a:endParaRPr>
          </a:p>
        </p:txBody>
      </p:sp>
      <p:sp>
        <p:nvSpPr>
          <p:cNvPr id="39226" name="Line 313"/>
          <p:cNvSpPr>
            <a:spLocks noChangeShapeType="1"/>
          </p:cNvSpPr>
          <p:nvPr/>
        </p:nvSpPr>
        <p:spPr bwMode="auto">
          <a:xfrm flipH="1">
            <a:off x="868363" y="5014913"/>
            <a:ext cx="539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27" name="Rectangle 314"/>
          <p:cNvSpPr>
            <a:spLocks noChangeArrowheads="1"/>
          </p:cNvSpPr>
          <p:nvPr/>
        </p:nvSpPr>
        <p:spPr bwMode="auto">
          <a:xfrm>
            <a:off x="747713" y="4972050"/>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60</a:t>
            </a:r>
            <a:endParaRPr lang="en-US" altLang="en-US">
              <a:solidFill>
                <a:srgbClr val="000000"/>
              </a:solidFill>
              <a:latin typeface="Calibri" panose="020F0502020204030204" pitchFamily="34" charset="0"/>
            </a:endParaRPr>
          </a:p>
        </p:txBody>
      </p:sp>
      <p:sp>
        <p:nvSpPr>
          <p:cNvPr id="39228" name="Line 315"/>
          <p:cNvSpPr>
            <a:spLocks noChangeShapeType="1"/>
          </p:cNvSpPr>
          <p:nvPr/>
        </p:nvSpPr>
        <p:spPr bwMode="auto">
          <a:xfrm flipH="1">
            <a:off x="868363" y="4829175"/>
            <a:ext cx="539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29" name="Rectangle 316"/>
          <p:cNvSpPr>
            <a:spLocks noChangeArrowheads="1"/>
          </p:cNvSpPr>
          <p:nvPr/>
        </p:nvSpPr>
        <p:spPr bwMode="auto">
          <a:xfrm>
            <a:off x="747713" y="4786313"/>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70</a:t>
            </a:r>
            <a:endParaRPr lang="en-US" altLang="en-US">
              <a:solidFill>
                <a:srgbClr val="000000"/>
              </a:solidFill>
              <a:latin typeface="Calibri" panose="020F0502020204030204" pitchFamily="34" charset="0"/>
            </a:endParaRPr>
          </a:p>
        </p:txBody>
      </p:sp>
      <p:sp>
        <p:nvSpPr>
          <p:cNvPr id="39230" name="Line 317"/>
          <p:cNvSpPr>
            <a:spLocks noChangeShapeType="1"/>
          </p:cNvSpPr>
          <p:nvPr/>
        </p:nvSpPr>
        <p:spPr bwMode="auto">
          <a:xfrm flipH="1">
            <a:off x="868363" y="4648200"/>
            <a:ext cx="539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31" name="Rectangle 318"/>
          <p:cNvSpPr>
            <a:spLocks noChangeArrowheads="1"/>
          </p:cNvSpPr>
          <p:nvPr/>
        </p:nvSpPr>
        <p:spPr bwMode="auto">
          <a:xfrm>
            <a:off x="747713" y="4605338"/>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80</a:t>
            </a:r>
            <a:endParaRPr lang="en-US" altLang="en-US">
              <a:solidFill>
                <a:srgbClr val="000000"/>
              </a:solidFill>
              <a:latin typeface="Calibri" panose="020F0502020204030204" pitchFamily="34" charset="0"/>
            </a:endParaRPr>
          </a:p>
        </p:txBody>
      </p:sp>
      <p:sp>
        <p:nvSpPr>
          <p:cNvPr id="39232" name="Line 319"/>
          <p:cNvSpPr>
            <a:spLocks noChangeShapeType="1"/>
          </p:cNvSpPr>
          <p:nvPr/>
        </p:nvSpPr>
        <p:spPr bwMode="auto">
          <a:xfrm flipH="1">
            <a:off x="868363" y="4460875"/>
            <a:ext cx="539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33" name="Rectangle 320"/>
          <p:cNvSpPr>
            <a:spLocks noChangeArrowheads="1"/>
          </p:cNvSpPr>
          <p:nvPr/>
        </p:nvSpPr>
        <p:spPr bwMode="auto">
          <a:xfrm>
            <a:off x="747713" y="4418013"/>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90</a:t>
            </a:r>
            <a:endParaRPr lang="en-US" altLang="en-US">
              <a:solidFill>
                <a:srgbClr val="000000"/>
              </a:solidFill>
              <a:latin typeface="Calibri" panose="020F0502020204030204" pitchFamily="34" charset="0"/>
            </a:endParaRPr>
          </a:p>
        </p:txBody>
      </p:sp>
      <p:sp>
        <p:nvSpPr>
          <p:cNvPr id="39234" name="Line 321"/>
          <p:cNvSpPr>
            <a:spLocks noChangeShapeType="1"/>
          </p:cNvSpPr>
          <p:nvPr/>
        </p:nvSpPr>
        <p:spPr bwMode="auto">
          <a:xfrm flipH="1">
            <a:off x="868363" y="4273550"/>
            <a:ext cx="539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35" name="Rectangle 322"/>
          <p:cNvSpPr>
            <a:spLocks noChangeArrowheads="1"/>
          </p:cNvSpPr>
          <p:nvPr/>
        </p:nvSpPr>
        <p:spPr bwMode="auto">
          <a:xfrm>
            <a:off x="704850" y="4230688"/>
            <a:ext cx="115416"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100</a:t>
            </a:r>
            <a:endParaRPr lang="en-US" altLang="en-US">
              <a:solidFill>
                <a:srgbClr val="000000"/>
              </a:solidFill>
              <a:latin typeface="Calibri" panose="020F0502020204030204" pitchFamily="34" charset="0"/>
            </a:endParaRPr>
          </a:p>
        </p:txBody>
      </p:sp>
      <p:sp>
        <p:nvSpPr>
          <p:cNvPr id="39236" name="Rectangle 323"/>
          <p:cNvSpPr>
            <a:spLocks noChangeArrowheads="1"/>
          </p:cNvSpPr>
          <p:nvPr/>
        </p:nvSpPr>
        <p:spPr bwMode="auto">
          <a:xfrm rot="16200000">
            <a:off x="-403093" y="4932770"/>
            <a:ext cx="19031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dirty="0">
                <a:solidFill>
                  <a:srgbClr val="000000"/>
                </a:solidFill>
                <a:latin typeface="Calibri" panose="020F0502020204030204" pitchFamily="34" charset="0"/>
              </a:rPr>
              <a:t>Relative Abundance</a:t>
            </a:r>
          </a:p>
        </p:txBody>
      </p:sp>
      <p:sp>
        <p:nvSpPr>
          <p:cNvPr id="39237" name="Freeform 324"/>
          <p:cNvSpPr>
            <a:spLocks/>
          </p:cNvSpPr>
          <p:nvPr/>
        </p:nvSpPr>
        <p:spPr bwMode="auto">
          <a:xfrm>
            <a:off x="922338" y="4273550"/>
            <a:ext cx="7691437" cy="1844675"/>
          </a:xfrm>
          <a:custGeom>
            <a:avLst/>
            <a:gdLst>
              <a:gd name="T0" fmla="*/ 90417 w 1276"/>
              <a:gd name="T1" fmla="*/ 1844675 h 306"/>
              <a:gd name="T2" fmla="*/ 156722 w 1276"/>
              <a:gd name="T3" fmla="*/ 1844675 h 306"/>
              <a:gd name="T4" fmla="*/ 223028 w 1276"/>
              <a:gd name="T5" fmla="*/ 1844675 h 306"/>
              <a:gd name="T6" fmla="*/ 295361 w 1276"/>
              <a:gd name="T7" fmla="*/ 1844675 h 306"/>
              <a:gd name="T8" fmla="*/ 361666 w 1276"/>
              <a:gd name="T9" fmla="*/ 1844675 h 306"/>
              <a:gd name="T10" fmla="*/ 427972 w 1276"/>
              <a:gd name="T11" fmla="*/ 1844675 h 306"/>
              <a:gd name="T12" fmla="*/ 488250 w 1276"/>
              <a:gd name="T13" fmla="*/ 1844675 h 306"/>
              <a:gd name="T14" fmla="*/ 554555 w 1276"/>
              <a:gd name="T15" fmla="*/ 1844675 h 306"/>
              <a:gd name="T16" fmla="*/ 620861 w 1276"/>
              <a:gd name="T17" fmla="*/ 1844675 h 306"/>
              <a:gd name="T18" fmla="*/ 681138 w 1276"/>
              <a:gd name="T19" fmla="*/ 1844675 h 306"/>
              <a:gd name="T20" fmla="*/ 747444 w 1276"/>
              <a:gd name="T21" fmla="*/ 1844675 h 306"/>
              <a:gd name="T22" fmla="*/ 807721 w 1276"/>
              <a:gd name="T23" fmla="*/ 1844675 h 306"/>
              <a:gd name="T24" fmla="*/ 880055 w 1276"/>
              <a:gd name="T25" fmla="*/ 1844675 h 306"/>
              <a:gd name="T26" fmla="*/ 946360 w 1276"/>
              <a:gd name="T27" fmla="*/ 1844675 h 306"/>
              <a:gd name="T28" fmla="*/ 1012666 w 1276"/>
              <a:gd name="T29" fmla="*/ 1844675 h 306"/>
              <a:gd name="T30" fmla="*/ 1078971 w 1276"/>
              <a:gd name="T31" fmla="*/ 1820562 h 306"/>
              <a:gd name="T32" fmla="*/ 1139249 w 1276"/>
              <a:gd name="T33" fmla="*/ 1844675 h 306"/>
              <a:gd name="T34" fmla="*/ 1205554 w 1276"/>
              <a:gd name="T35" fmla="*/ 1838647 h 306"/>
              <a:gd name="T36" fmla="*/ 1277888 w 1276"/>
              <a:gd name="T37" fmla="*/ 1844675 h 306"/>
              <a:gd name="T38" fmla="*/ 1338165 w 1276"/>
              <a:gd name="T39" fmla="*/ 1814533 h 306"/>
              <a:gd name="T40" fmla="*/ 1398443 w 1276"/>
              <a:gd name="T41" fmla="*/ 1844675 h 306"/>
              <a:gd name="T42" fmla="*/ 1464749 w 1276"/>
              <a:gd name="T43" fmla="*/ 1844675 h 306"/>
              <a:gd name="T44" fmla="*/ 1543110 w 1276"/>
              <a:gd name="T45" fmla="*/ 1844675 h 306"/>
              <a:gd name="T46" fmla="*/ 1627498 w 1276"/>
              <a:gd name="T47" fmla="*/ 1844675 h 306"/>
              <a:gd name="T48" fmla="*/ 1705859 w 1276"/>
              <a:gd name="T49" fmla="*/ 1844675 h 306"/>
              <a:gd name="T50" fmla="*/ 1772165 w 1276"/>
              <a:gd name="T51" fmla="*/ 1826590 h 306"/>
              <a:gd name="T52" fmla="*/ 1844498 w 1276"/>
              <a:gd name="T53" fmla="*/ 1838647 h 306"/>
              <a:gd name="T54" fmla="*/ 1904776 w 1276"/>
              <a:gd name="T55" fmla="*/ 1844675 h 306"/>
              <a:gd name="T56" fmla="*/ 1995193 w 1276"/>
              <a:gd name="T57" fmla="*/ 1844675 h 306"/>
              <a:gd name="T58" fmla="*/ 2067526 w 1276"/>
              <a:gd name="T59" fmla="*/ 1844675 h 306"/>
              <a:gd name="T60" fmla="*/ 2127803 w 1276"/>
              <a:gd name="T61" fmla="*/ 1832618 h 306"/>
              <a:gd name="T62" fmla="*/ 2194109 w 1276"/>
              <a:gd name="T63" fmla="*/ 1772335 h 306"/>
              <a:gd name="T64" fmla="*/ 2254387 w 1276"/>
              <a:gd name="T65" fmla="*/ 1844675 h 306"/>
              <a:gd name="T66" fmla="*/ 2338776 w 1276"/>
              <a:gd name="T67" fmla="*/ 1844675 h 306"/>
              <a:gd name="T68" fmla="*/ 2411109 w 1276"/>
              <a:gd name="T69" fmla="*/ 1844675 h 306"/>
              <a:gd name="T70" fmla="*/ 2501525 w 1276"/>
              <a:gd name="T71" fmla="*/ 1796448 h 306"/>
              <a:gd name="T72" fmla="*/ 2579886 w 1276"/>
              <a:gd name="T73" fmla="*/ 1844675 h 306"/>
              <a:gd name="T74" fmla="*/ 2640164 w 1276"/>
              <a:gd name="T75" fmla="*/ 1838647 h 306"/>
              <a:gd name="T76" fmla="*/ 2736608 w 1276"/>
              <a:gd name="T77" fmla="*/ 1844675 h 306"/>
              <a:gd name="T78" fmla="*/ 2827025 w 1276"/>
              <a:gd name="T79" fmla="*/ 1844675 h 306"/>
              <a:gd name="T80" fmla="*/ 2899358 w 1276"/>
              <a:gd name="T81" fmla="*/ 1844675 h 306"/>
              <a:gd name="T82" fmla="*/ 3019914 w 1276"/>
              <a:gd name="T83" fmla="*/ 1844675 h 306"/>
              <a:gd name="T84" fmla="*/ 3206775 w 1276"/>
              <a:gd name="T85" fmla="*/ 1844675 h 306"/>
              <a:gd name="T86" fmla="*/ 3291163 w 1276"/>
              <a:gd name="T87" fmla="*/ 1844675 h 306"/>
              <a:gd name="T88" fmla="*/ 3429802 w 1276"/>
              <a:gd name="T89" fmla="*/ 1844675 h 306"/>
              <a:gd name="T90" fmla="*/ 3502135 w 1276"/>
              <a:gd name="T91" fmla="*/ 1844675 h 306"/>
              <a:gd name="T92" fmla="*/ 3604608 w 1276"/>
              <a:gd name="T93" fmla="*/ 1844675 h 306"/>
              <a:gd name="T94" fmla="*/ 3695024 w 1276"/>
              <a:gd name="T95" fmla="*/ 1844675 h 306"/>
              <a:gd name="T96" fmla="*/ 3930107 w 1276"/>
              <a:gd name="T97" fmla="*/ 1844675 h 306"/>
              <a:gd name="T98" fmla="*/ 4098885 w 1276"/>
              <a:gd name="T99" fmla="*/ 1844675 h 306"/>
              <a:gd name="T100" fmla="*/ 4237524 w 1276"/>
              <a:gd name="T101" fmla="*/ 1844675 h 306"/>
              <a:gd name="T102" fmla="*/ 4532885 w 1276"/>
              <a:gd name="T103" fmla="*/ 1844675 h 306"/>
              <a:gd name="T104" fmla="*/ 4737829 w 1276"/>
              <a:gd name="T105" fmla="*/ 1844675 h 306"/>
              <a:gd name="T106" fmla="*/ 4960856 w 1276"/>
              <a:gd name="T107" fmla="*/ 1844675 h 306"/>
              <a:gd name="T108" fmla="*/ 5147717 w 1276"/>
              <a:gd name="T109" fmla="*/ 1844675 h 306"/>
              <a:gd name="T110" fmla="*/ 5400884 w 1276"/>
              <a:gd name="T111" fmla="*/ 1844675 h 306"/>
              <a:gd name="T112" fmla="*/ 5738439 w 1276"/>
              <a:gd name="T113" fmla="*/ 1844675 h 306"/>
              <a:gd name="T114" fmla="*/ 6100105 w 1276"/>
              <a:gd name="T115" fmla="*/ 1844675 h 306"/>
              <a:gd name="T116" fmla="*/ 6558216 w 1276"/>
              <a:gd name="T117" fmla="*/ 1844675 h 306"/>
              <a:gd name="T118" fmla="*/ 6775216 w 1276"/>
              <a:gd name="T119" fmla="*/ 1784392 h 306"/>
              <a:gd name="T120" fmla="*/ 7118799 w 1276"/>
              <a:gd name="T121" fmla="*/ 1844675 h 306"/>
              <a:gd name="T122" fmla="*/ 7516632 w 1276"/>
              <a:gd name="T123" fmla="*/ 1844675 h 30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276" h="306">
                <a:moveTo>
                  <a:pt x="0" y="306"/>
                </a:moveTo>
                <a:lnTo>
                  <a:pt x="0" y="306"/>
                </a:lnTo>
                <a:lnTo>
                  <a:pt x="2" y="306"/>
                </a:lnTo>
                <a:lnTo>
                  <a:pt x="4" y="306"/>
                </a:lnTo>
                <a:lnTo>
                  <a:pt x="7" y="306"/>
                </a:lnTo>
                <a:lnTo>
                  <a:pt x="7" y="305"/>
                </a:lnTo>
                <a:lnTo>
                  <a:pt x="7" y="306"/>
                </a:lnTo>
                <a:lnTo>
                  <a:pt x="8" y="306"/>
                </a:lnTo>
                <a:lnTo>
                  <a:pt x="12" y="306"/>
                </a:lnTo>
                <a:lnTo>
                  <a:pt x="12" y="305"/>
                </a:lnTo>
                <a:lnTo>
                  <a:pt x="12" y="306"/>
                </a:lnTo>
                <a:lnTo>
                  <a:pt x="13" y="305"/>
                </a:lnTo>
                <a:lnTo>
                  <a:pt x="13" y="306"/>
                </a:lnTo>
                <a:lnTo>
                  <a:pt x="14" y="304"/>
                </a:lnTo>
                <a:lnTo>
                  <a:pt x="14" y="306"/>
                </a:lnTo>
                <a:lnTo>
                  <a:pt x="15" y="306"/>
                </a:lnTo>
                <a:lnTo>
                  <a:pt x="16" y="302"/>
                </a:lnTo>
                <a:lnTo>
                  <a:pt x="16" y="306"/>
                </a:lnTo>
                <a:lnTo>
                  <a:pt x="17" y="305"/>
                </a:lnTo>
                <a:lnTo>
                  <a:pt x="17" y="306"/>
                </a:lnTo>
                <a:lnTo>
                  <a:pt x="18" y="288"/>
                </a:lnTo>
                <a:lnTo>
                  <a:pt x="18" y="306"/>
                </a:lnTo>
                <a:lnTo>
                  <a:pt x="19" y="304"/>
                </a:lnTo>
                <a:lnTo>
                  <a:pt x="19" y="306"/>
                </a:lnTo>
                <a:lnTo>
                  <a:pt x="20" y="306"/>
                </a:lnTo>
                <a:lnTo>
                  <a:pt x="21" y="306"/>
                </a:lnTo>
                <a:lnTo>
                  <a:pt x="22" y="284"/>
                </a:lnTo>
                <a:lnTo>
                  <a:pt x="22" y="306"/>
                </a:lnTo>
                <a:lnTo>
                  <a:pt x="23" y="280"/>
                </a:lnTo>
                <a:lnTo>
                  <a:pt x="23" y="306"/>
                </a:lnTo>
                <a:lnTo>
                  <a:pt x="25" y="306"/>
                </a:lnTo>
                <a:lnTo>
                  <a:pt x="26" y="306"/>
                </a:lnTo>
                <a:lnTo>
                  <a:pt x="27" y="306"/>
                </a:lnTo>
                <a:lnTo>
                  <a:pt x="29" y="306"/>
                </a:lnTo>
                <a:lnTo>
                  <a:pt x="31" y="306"/>
                </a:lnTo>
                <a:lnTo>
                  <a:pt x="31" y="301"/>
                </a:lnTo>
                <a:lnTo>
                  <a:pt x="31" y="306"/>
                </a:lnTo>
                <a:lnTo>
                  <a:pt x="32" y="305"/>
                </a:lnTo>
                <a:lnTo>
                  <a:pt x="32" y="306"/>
                </a:lnTo>
                <a:lnTo>
                  <a:pt x="33" y="306"/>
                </a:lnTo>
                <a:lnTo>
                  <a:pt x="34" y="306"/>
                </a:lnTo>
                <a:lnTo>
                  <a:pt x="35" y="302"/>
                </a:lnTo>
                <a:lnTo>
                  <a:pt x="35" y="306"/>
                </a:lnTo>
                <a:lnTo>
                  <a:pt x="36" y="305"/>
                </a:lnTo>
                <a:lnTo>
                  <a:pt x="36" y="306"/>
                </a:lnTo>
                <a:lnTo>
                  <a:pt x="37" y="304"/>
                </a:lnTo>
                <a:lnTo>
                  <a:pt x="37" y="306"/>
                </a:lnTo>
                <a:lnTo>
                  <a:pt x="38" y="305"/>
                </a:lnTo>
                <a:lnTo>
                  <a:pt x="38" y="306"/>
                </a:lnTo>
                <a:lnTo>
                  <a:pt x="39" y="306"/>
                </a:lnTo>
                <a:lnTo>
                  <a:pt x="40" y="306"/>
                </a:lnTo>
                <a:lnTo>
                  <a:pt x="40" y="303"/>
                </a:lnTo>
                <a:lnTo>
                  <a:pt x="41" y="306"/>
                </a:lnTo>
                <a:lnTo>
                  <a:pt x="42" y="306"/>
                </a:lnTo>
                <a:lnTo>
                  <a:pt x="45" y="306"/>
                </a:lnTo>
                <a:lnTo>
                  <a:pt x="46" y="306"/>
                </a:lnTo>
                <a:lnTo>
                  <a:pt x="47" y="305"/>
                </a:lnTo>
                <a:lnTo>
                  <a:pt x="47" y="306"/>
                </a:lnTo>
                <a:lnTo>
                  <a:pt x="48" y="305"/>
                </a:lnTo>
                <a:lnTo>
                  <a:pt x="48" y="306"/>
                </a:lnTo>
                <a:lnTo>
                  <a:pt x="49" y="306"/>
                </a:lnTo>
                <a:lnTo>
                  <a:pt x="50" y="304"/>
                </a:lnTo>
                <a:lnTo>
                  <a:pt x="50" y="306"/>
                </a:lnTo>
                <a:lnTo>
                  <a:pt x="51" y="306"/>
                </a:lnTo>
                <a:lnTo>
                  <a:pt x="52" y="306"/>
                </a:lnTo>
                <a:lnTo>
                  <a:pt x="54" y="306"/>
                </a:lnTo>
                <a:lnTo>
                  <a:pt x="54" y="302"/>
                </a:lnTo>
                <a:lnTo>
                  <a:pt x="55" y="305"/>
                </a:lnTo>
                <a:lnTo>
                  <a:pt x="55" y="306"/>
                </a:lnTo>
                <a:lnTo>
                  <a:pt x="56" y="278"/>
                </a:lnTo>
                <a:lnTo>
                  <a:pt x="56" y="306"/>
                </a:lnTo>
                <a:lnTo>
                  <a:pt x="57" y="300"/>
                </a:lnTo>
                <a:lnTo>
                  <a:pt x="57" y="306"/>
                </a:lnTo>
                <a:lnTo>
                  <a:pt x="58" y="306"/>
                </a:lnTo>
                <a:lnTo>
                  <a:pt x="59" y="160"/>
                </a:lnTo>
                <a:lnTo>
                  <a:pt x="59" y="306"/>
                </a:lnTo>
                <a:lnTo>
                  <a:pt x="60" y="269"/>
                </a:lnTo>
                <a:lnTo>
                  <a:pt x="60" y="306"/>
                </a:lnTo>
                <a:lnTo>
                  <a:pt x="61" y="305"/>
                </a:lnTo>
                <a:lnTo>
                  <a:pt x="61" y="306"/>
                </a:lnTo>
                <a:lnTo>
                  <a:pt x="62" y="306"/>
                </a:lnTo>
                <a:lnTo>
                  <a:pt x="63" y="306"/>
                </a:lnTo>
                <a:lnTo>
                  <a:pt x="64" y="306"/>
                </a:lnTo>
                <a:lnTo>
                  <a:pt x="65" y="305"/>
                </a:lnTo>
                <a:lnTo>
                  <a:pt x="65" y="306"/>
                </a:lnTo>
                <a:lnTo>
                  <a:pt x="66" y="306"/>
                </a:lnTo>
                <a:lnTo>
                  <a:pt x="67" y="306"/>
                </a:lnTo>
                <a:lnTo>
                  <a:pt x="68" y="306"/>
                </a:lnTo>
                <a:lnTo>
                  <a:pt x="69" y="298"/>
                </a:lnTo>
                <a:lnTo>
                  <a:pt x="69" y="306"/>
                </a:lnTo>
                <a:lnTo>
                  <a:pt x="70" y="304"/>
                </a:lnTo>
                <a:lnTo>
                  <a:pt x="70" y="306"/>
                </a:lnTo>
                <a:lnTo>
                  <a:pt x="71" y="306"/>
                </a:lnTo>
                <a:lnTo>
                  <a:pt x="72" y="306"/>
                </a:lnTo>
                <a:lnTo>
                  <a:pt x="73" y="306"/>
                </a:lnTo>
                <a:lnTo>
                  <a:pt x="73" y="302"/>
                </a:lnTo>
                <a:lnTo>
                  <a:pt x="74" y="0"/>
                </a:lnTo>
                <a:lnTo>
                  <a:pt x="74" y="306"/>
                </a:lnTo>
                <a:lnTo>
                  <a:pt x="75" y="306"/>
                </a:lnTo>
                <a:lnTo>
                  <a:pt x="75" y="243"/>
                </a:lnTo>
                <a:lnTo>
                  <a:pt x="76" y="304"/>
                </a:lnTo>
                <a:lnTo>
                  <a:pt x="76" y="306"/>
                </a:lnTo>
                <a:lnTo>
                  <a:pt x="77" y="306"/>
                </a:lnTo>
                <a:lnTo>
                  <a:pt x="78" y="305"/>
                </a:lnTo>
                <a:lnTo>
                  <a:pt x="78" y="306"/>
                </a:lnTo>
                <a:lnTo>
                  <a:pt x="79" y="306"/>
                </a:lnTo>
                <a:lnTo>
                  <a:pt x="79" y="117"/>
                </a:lnTo>
                <a:lnTo>
                  <a:pt x="80" y="159"/>
                </a:lnTo>
                <a:lnTo>
                  <a:pt x="80" y="306"/>
                </a:lnTo>
                <a:lnTo>
                  <a:pt x="81" y="285"/>
                </a:lnTo>
                <a:lnTo>
                  <a:pt x="81" y="306"/>
                </a:lnTo>
                <a:lnTo>
                  <a:pt x="82" y="303"/>
                </a:lnTo>
                <a:lnTo>
                  <a:pt x="82" y="306"/>
                </a:lnTo>
                <a:lnTo>
                  <a:pt x="83" y="304"/>
                </a:lnTo>
                <a:lnTo>
                  <a:pt x="83" y="306"/>
                </a:lnTo>
                <a:lnTo>
                  <a:pt x="84" y="305"/>
                </a:lnTo>
                <a:lnTo>
                  <a:pt x="84" y="306"/>
                </a:lnTo>
                <a:lnTo>
                  <a:pt x="85" y="306"/>
                </a:lnTo>
                <a:lnTo>
                  <a:pt x="87" y="306"/>
                </a:lnTo>
                <a:lnTo>
                  <a:pt x="88" y="305"/>
                </a:lnTo>
                <a:lnTo>
                  <a:pt x="88" y="306"/>
                </a:lnTo>
                <a:lnTo>
                  <a:pt x="89" y="285"/>
                </a:lnTo>
                <a:lnTo>
                  <a:pt x="89" y="306"/>
                </a:lnTo>
                <a:lnTo>
                  <a:pt x="90" y="306"/>
                </a:lnTo>
                <a:lnTo>
                  <a:pt x="90" y="295"/>
                </a:lnTo>
                <a:lnTo>
                  <a:pt x="91" y="138"/>
                </a:lnTo>
                <a:lnTo>
                  <a:pt x="91" y="306"/>
                </a:lnTo>
                <a:lnTo>
                  <a:pt x="92" y="281"/>
                </a:lnTo>
                <a:lnTo>
                  <a:pt x="92" y="306"/>
                </a:lnTo>
                <a:lnTo>
                  <a:pt x="93" y="304"/>
                </a:lnTo>
                <a:lnTo>
                  <a:pt x="93" y="306"/>
                </a:lnTo>
                <a:lnTo>
                  <a:pt x="94" y="291"/>
                </a:lnTo>
                <a:lnTo>
                  <a:pt x="94" y="306"/>
                </a:lnTo>
                <a:lnTo>
                  <a:pt x="95" y="306"/>
                </a:lnTo>
                <a:lnTo>
                  <a:pt x="95" y="292"/>
                </a:lnTo>
                <a:lnTo>
                  <a:pt x="96" y="306"/>
                </a:lnTo>
                <a:lnTo>
                  <a:pt x="97" y="304"/>
                </a:lnTo>
                <a:lnTo>
                  <a:pt x="97" y="306"/>
                </a:lnTo>
                <a:lnTo>
                  <a:pt x="98" y="306"/>
                </a:lnTo>
                <a:lnTo>
                  <a:pt x="99" y="304"/>
                </a:lnTo>
                <a:lnTo>
                  <a:pt x="99" y="306"/>
                </a:lnTo>
                <a:lnTo>
                  <a:pt x="100" y="245"/>
                </a:lnTo>
                <a:lnTo>
                  <a:pt x="100" y="306"/>
                </a:lnTo>
                <a:lnTo>
                  <a:pt x="101" y="302"/>
                </a:lnTo>
                <a:lnTo>
                  <a:pt x="101" y="306"/>
                </a:lnTo>
                <a:lnTo>
                  <a:pt x="102" y="306"/>
                </a:lnTo>
                <a:lnTo>
                  <a:pt x="103" y="306"/>
                </a:lnTo>
                <a:lnTo>
                  <a:pt x="104" y="306"/>
                </a:lnTo>
                <a:lnTo>
                  <a:pt x="104" y="305"/>
                </a:lnTo>
                <a:lnTo>
                  <a:pt x="105" y="296"/>
                </a:lnTo>
                <a:lnTo>
                  <a:pt x="105" y="306"/>
                </a:lnTo>
                <a:lnTo>
                  <a:pt x="106" y="304"/>
                </a:lnTo>
                <a:lnTo>
                  <a:pt x="106" y="306"/>
                </a:lnTo>
                <a:lnTo>
                  <a:pt x="107" y="306"/>
                </a:lnTo>
                <a:lnTo>
                  <a:pt x="108" y="306"/>
                </a:lnTo>
                <a:lnTo>
                  <a:pt x="109" y="306"/>
                </a:lnTo>
                <a:lnTo>
                  <a:pt x="110" y="303"/>
                </a:lnTo>
                <a:lnTo>
                  <a:pt x="110" y="306"/>
                </a:lnTo>
                <a:lnTo>
                  <a:pt x="111" y="305"/>
                </a:lnTo>
                <a:lnTo>
                  <a:pt x="111" y="306"/>
                </a:lnTo>
                <a:lnTo>
                  <a:pt x="112" y="302"/>
                </a:lnTo>
                <a:lnTo>
                  <a:pt x="112" y="306"/>
                </a:lnTo>
                <a:lnTo>
                  <a:pt x="113" y="304"/>
                </a:lnTo>
                <a:lnTo>
                  <a:pt x="113" y="306"/>
                </a:lnTo>
                <a:lnTo>
                  <a:pt x="114" y="306"/>
                </a:lnTo>
                <a:lnTo>
                  <a:pt x="115" y="306"/>
                </a:lnTo>
                <a:lnTo>
                  <a:pt x="116" y="306"/>
                </a:lnTo>
                <a:lnTo>
                  <a:pt x="117" y="305"/>
                </a:lnTo>
                <a:lnTo>
                  <a:pt x="117" y="306"/>
                </a:lnTo>
                <a:lnTo>
                  <a:pt x="118" y="306"/>
                </a:lnTo>
                <a:lnTo>
                  <a:pt x="119" y="306"/>
                </a:lnTo>
                <a:lnTo>
                  <a:pt x="120" y="305"/>
                </a:lnTo>
                <a:lnTo>
                  <a:pt x="120" y="306"/>
                </a:lnTo>
                <a:lnTo>
                  <a:pt x="121" y="306"/>
                </a:lnTo>
                <a:lnTo>
                  <a:pt x="122" y="295"/>
                </a:lnTo>
                <a:lnTo>
                  <a:pt x="122" y="306"/>
                </a:lnTo>
                <a:lnTo>
                  <a:pt x="123" y="299"/>
                </a:lnTo>
                <a:lnTo>
                  <a:pt x="123" y="306"/>
                </a:lnTo>
                <a:lnTo>
                  <a:pt x="124" y="306"/>
                </a:lnTo>
                <a:lnTo>
                  <a:pt x="125" y="305"/>
                </a:lnTo>
                <a:lnTo>
                  <a:pt x="125" y="306"/>
                </a:lnTo>
                <a:lnTo>
                  <a:pt x="126" y="286"/>
                </a:lnTo>
                <a:lnTo>
                  <a:pt x="126" y="306"/>
                </a:lnTo>
                <a:lnTo>
                  <a:pt x="127" y="294"/>
                </a:lnTo>
                <a:lnTo>
                  <a:pt x="127" y="306"/>
                </a:lnTo>
                <a:lnTo>
                  <a:pt x="128" y="306"/>
                </a:lnTo>
                <a:lnTo>
                  <a:pt x="129" y="306"/>
                </a:lnTo>
                <a:lnTo>
                  <a:pt x="130" y="306"/>
                </a:lnTo>
                <a:lnTo>
                  <a:pt x="131" y="301"/>
                </a:lnTo>
                <a:lnTo>
                  <a:pt x="131" y="306"/>
                </a:lnTo>
                <a:lnTo>
                  <a:pt x="132" y="304"/>
                </a:lnTo>
                <a:lnTo>
                  <a:pt x="132" y="306"/>
                </a:lnTo>
                <a:lnTo>
                  <a:pt x="133" y="306"/>
                </a:lnTo>
                <a:lnTo>
                  <a:pt x="133" y="305"/>
                </a:lnTo>
                <a:lnTo>
                  <a:pt x="134" y="305"/>
                </a:lnTo>
                <a:lnTo>
                  <a:pt x="134" y="306"/>
                </a:lnTo>
                <a:lnTo>
                  <a:pt x="135" y="305"/>
                </a:lnTo>
                <a:lnTo>
                  <a:pt x="135" y="306"/>
                </a:lnTo>
                <a:lnTo>
                  <a:pt x="136" y="306"/>
                </a:lnTo>
                <a:lnTo>
                  <a:pt x="137" y="306"/>
                </a:lnTo>
                <a:lnTo>
                  <a:pt x="137" y="305"/>
                </a:lnTo>
                <a:lnTo>
                  <a:pt x="138" y="277"/>
                </a:lnTo>
                <a:lnTo>
                  <a:pt x="138" y="306"/>
                </a:lnTo>
                <a:lnTo>
                  <a:pt x="139" y="301"/>
                </a:lnTo>
                <a:lnTo>
                  <a:pt x="139" y="306"/>
                </a:lnTo>
                <a:lnTo>
                  <a:pt x="140" y="306"/>
                </a:lnTo>
                <a:lnTo>
                  <a:pt x="141" y="305"/>
                </a:lnTo>
                <a:lnTo>
                  <a:pt x="141" y="306"/>
                </a:lnTo>
                <a:lnTo>
                  <a:pt x="142" y="306"/>
                </a:lnTo>
                <a:lnTo>
                  <a:pt x="145" y="306"/>
                </a:lnTo>
                <a:lnTo>
                  <a:pt x="145" y="250"/>
                </a:lnTo>
                <a:lnTo>
                  <a:pt x="146" y="300"/>
                </a:lnTo>
                <a:lnTo>
                  <a:pt x="146" y="306"/>
                </a:lnTo>
                <a:lnTo>
                  <a:pt x="147" y="267"/>
                </a:lnTo>
                <a:lnTo>
                  <a:pt x="147" y="306"/>
                </a:lnTo>
                <a:lnTo>
                  <a:pt x="148" y="300"/>
                </a:lnTo>
                <a:lnTo>
                  <a:pt x="148" y="306"/>
                </a:lnTo>
                <a:lnTo>
                  <a:pt x="149" y="306"/>
                </a:lnTo>
                <a:lnTo>
                  <a:pt x="150" y="306"/>
                </a:lnTo>
                <a:lnTo>
                  <a:pt x="151" y="306"/>
                </a:lnTo>
                <a:lnTo>
                  <a:pt x="152" y="306"/>
                </a:lnTo>
                <a:lnTo>
                  <a:pt x="154" y="306"/>
                </a:lnTo>
                <a:lnTo>
                  <a:pt x="154" y="303"/>
                </a:lnTo>
                <a:lnTo>
                  <a:pt x="154" y="306"/>
                </a:lnTo>
                <a:lnTo>
                  <a:pt x="155" y="305"/>
                </a:lnTo>
                <a:lnTo>
                  <a:pt x="155" y="306"/>
                </a:lnTo>
                <a:lnTo>
                  <a:pt x="156" y="298"/>
                </a:lnTo>
                <a:lnTo>
                  <a:pt x="156" y="306"/>
                </a:lnTo>
                <a:lnTo>
                  <a:pt x="157" y="305"/>
                </a:lnTo>
                <a:lnTo>
                  <a:pt x="157" y="306"/>
                </a:lnTo>
                <a:lnTo>
                  <a:pt x="159" y="306"/>
                </a:lnTo>
                <a:lnTo>
                  <a:pt x="159" y="305"/>
                </a:lnTo>
                <a:lnTo>
                  <a:pt x="159" y="306"/>
                </a:lnTo>
                <a:lnTo>
                  <a:pt x="160" y="306"/>
                </a:lnTo>
                <a:lnTo>
                  <a:pt x="161" y="305"/>
                </a:lnTo>
                <a:lnTo>
                  <a:pt x="161" y="306"/>
                </a:lnTo>
                <a:lnTo>
                  <a:pt x="162" y="306"/>
                </a:lnTo>
                <a:lnTo>
                  <a:pt x="162" y="305"/>
                </a:lnTo>
                <a:lnTo>
                  <a:pt x="163" y="303"/>
                </a:lnTo>
                <a:lnTo>
                  <a:pt x="163" y="306"/>
                </a:lnTo>
                <a:lnTo>
                  <a:pt x="164" y="305"/>
                </a:lnTo>
                <a:lnTo>
                  <a:pt x="164" y="306"/>
                </a:lnTo>
                <a:lnTo>
                  <a:pt x="165" y="302"/>
                </a:lnTo>
                <a:lnTo>
                  <a:pt x="165" y="306"/>
                </a:lnTo>
                <a:lnTo>
                  <a:pt x="166" y="305"/>
                </a:lnTo>
                <a:lnTo>
                  <a:pt x="166" y="306"/>
                </a:lnTo>
                <a:lnTo>
                  <a:pt x="167" y="303"/>
                </a:lnTo>
                <a:lnTo>
                  <a:pt x="167" y="306"/>
                </a:lnTo>
                <a:lnTo>
                  <a:pt x="168" y="306"/>
                </a:lnTo>
                <a:lnTo>
                  <a:pt x="169" y="306"/>
                </a:lnTo>
                <a:lnTo>
                  <a:pt x="170" y="306"/>
                </a:lnTo>
                <a:lnTo>
                  <a:pt x="171" y="260"/>
                </a:lnTo>
                <a:lnTo>
                  <a:pt x="171" y="306"/>
                </a:lnTo>
                <a:lnTo>
                  <a:pt x="172" y="260"/>
                </a:lnTo>
                <a:lnTo>
                  <a:pt x="172" y="306"/>
                </a:lnTo>
                <a:lnTo>
                  <a:pt x="173" y="296"/>
                </a:lnTo>
                <a:lnTo>
                  <a:pt x="173" y="306"/>
                </a:lnTo>
                <a:lnTo>
                  <a:pt x="174" y="306"/>
                </a:lnTo>
                <a:lnTo>
                  <a:pt x="175" y="306"/>
                </a:lnTo>
                <a:lnTo>
                  <a:pt x="176" y="303"/>
                </a:lnTo>
                <a:lnTo>
                  <a:pt x="176" y="306"/>
                </a:lnTo>
                <a:lnTo>
                  <a:pt x="177" y="304"/>
                </a:lnTo>
                <a:lnTo>
                  <a:pt x="177" y="306"/>
                </a:lnTo>
                <a:lnTo>
                  <a:pt x="178" y="303"/>
                </a:lnTo>
                <a:lnTo>
                  <a:pt x="178" y="306"/>
                </a:lnTo>
                <a:lnTo>
                  <a:pt x="179" y="302"/>
                </a:lnTo>
                <a:lnTo>
                  <a:pt x="179" y="306"/>
                </a:lnTo>
                <a:lnTo>
                  <a:pt x="180" y="283"/>
                </a:lnTo>
                <a:lnTo>
                  <a:pt x="180" y="306"/>
                </a:lnTo>
                <a:lnTo>
                  <a:pt x="181" y="292"/>
                </a:lnTo>
                <a:lnTo>
                  <a:pt x="181" y="306"/>
                </a:lnTo>
                <a:lnTo>
                  <a:pt x="182" y="306"/>
                </a:lnTo>
                <a:lnTo>
                  <a:pt x="183" y="305"/>
                </a:lnTo>
                <a:lnTo>
                  <a:pt x="183" y="306"/>
                </a:lnTo>
                <a:lnTo>
                  <a:pt x="184" y="296"/>
                </a:lnTo>
                <a:lnTo>
                  <a:pt x="184" y="306"/>
                </a:lnTo>
                <a:lnTo>
                  <a:pt x="185" y="301"/>
                </a:lnTo>
                <a:lnTo>
                  <a:pt x="185" y="306"/>
                </a:lnTo>
                <a:lnTo>
                  <a:pt x="186" y="303"/>
                </a:lnTo>
                <a:lnTo>
                  <a:pt x="186" y="306"/>
                </a:lnTo>
                <a:lnTo>
                  <a:pt x="187" y="305"/>
                </a:lnTo>
                <a:lnTo>
                  <a:pt x="187" y="306"/>
                </a:lnTo>
                <a:lnTo>
                  <a:pt x="188" y="306"/>
                </a:lnTo>
                <a:lnTo>
                  <a:pt x="189" y="306"/>
                </a:lnTo>
                <a:lnTo>
                  <a:pt x="190" y="306"/>
                </a:lnTo>
                <a:lnTo>
                  <a:pt x="190" y="304"/>
                </a:lnTo>
                <a:lnTo>
                  <a:pt x="191" y="304"/>
                </a:lnTo>
                <a:lnTo>
                  <a:pt x="191" y="306"/>
                </a:lnTo>
                <a:lnTo>
                  <a:pt x="192" y="304"/>
                </a:lnTo>
                <a:lnTo>
                  <a:pt x="192" y="306"/>
                </a:lnTo>
                <a:lnTo>
                  <a:pt x="193" y="303"/>
                </a:lnTo>
                <a:lnTo>
                  <a:pt x="193" y="306"/>
                </a:lnTo>
                <a:lnTo>
                  <a:pt x="194" y="305"/>
                </a:lnTo>
                <a:lnTo>
                  <a:pt x="194" y="306"/>
                </a:lnTo>
                <a:lnTo>
                  <a:pt x="195" y="306"/>
                </a:lnTo>
                <a:lnTo>
                  <a:pt x="196" y="306"/>
                </a:lnTo>
                <a:lnTo>
                  <a:pt x="197" y="306"/>
                </a:lnTo>
                <a:lnTo>
                  <a:pt x="198" y="306"/>
                </a:lnTo>
                <a:lnTo>
                  <a:pt x="199" y="304"/>
                </a:lnTo>
                <a:lnTo>
                  <a:pt x="199" y="306"/>
                </a:lnTo>
                <a:lnTo>
                  <a:pt x="200" y="305"/>
                </a:lnTo>
                <a:lnTo>
                  <a:pt x="200" y="306"/>
                </a:lnTo>
                <a:lnTo>
                  <a:pt x="201" y="303"/>
                </a:lnTo>
                <a:lnTo>
                  <a:pt x="201" y="306"/>
                </a:lnTo>
                <a:lnTo>
                  <a:pt x="202" y="306"/>
                </a:lnTo>
                <a:lnTo>
                  <a:pt x="203" y="306"/>
                </a:lnTo>
                <a:lnTo>
                  <a:pt x="204" y="286"/>
                </a:lnTo>
                <a:lnTo>
                  <a:pt x="204" y="306"/>
                </a:lnTo>
                <a:lnTo>
                  <a:pt x="205" y="287"/>
                </a:lnTo>
                <a:lnTo>
                  <a:pt x="205" y="306"/>
                </a:lnTo>
                <a:lnTo>
                  <a:pt x="206" y="306"/>
                </a:lnTo>
                <a:lnTo>
                  <a:pt x="208" y="306"/>
                </a:lnTo>
                <a:lnTo>
                  <a:pt x="209" y="306"/>
                </a:lnTo>
                <a:lnTo>
                  <a:pt x="210" y="306"/>
                </a:lnTo>
                <a:lnTo>
                  <a:pt x="212" y="306"/>
                </a:lnTo>
                <a:lnTo>
                  <a:pt x="213" y="306"/>
                </a:lnTo>
                <a:lnTo>
                  <a:pt x="214" y="306"/>
                </a:lnTo>
                <a:lnTo>
                  <a:pt x="215" y="306"/>
                </a:lnTo>
                <a:lnTo>
                  <a:pt x="216" y="302"/>
                </a:lnTo>
                <a:lnTo>
                  <a:pt x="216" y="306"/>
                </a:lnTo>
                <a:lnTo>
                  <a:pt x="217" y="303"/>
                </a:lnTo>
                <a:lnTo>
                  <a:pt x="217" y="306"/>
                </a:lnTo>
                <a:lnTo>
                  <a:pt x="218" y="305"/>
                </a:lnTo>
                <a:lnTo>
                  <a:pt x="218" y="306"/>
                </a:lnTo>
                <a:lnTo>
                  <a:pt x="219" y="306"/>
                </a:lnTo>
                <a:lnTo>
                  <a:pt x="220" y="306"/>
                </a:lnTo>
                <a:lnTo>
                  <a:pt x="220" y="144"/>
                </a:lnTo>
                <a:lnTo>
                  <a:pt x="221" y="306"/>
                </a:lnTo>
                <a:lnTo>
                  <a:pt x="221" y="216"/>
                </a:lnTo>
                <a:lnTo>
                  <a:pt x="222" y="301"/>
                </a:lnTo>
                <a:lnTo>
                  <a:pt x="222" y="306"/>
                </a:lnTo>
                <a:lnTo>
                  <a:pt x="223" y="304"/>
                </a:lnTo>
                <a:lnTo>
                  <a:pt x="223" y="306"/>
                </a:lnTo>
                <a:lnTo>
                  <a:pt x="224" y="304"/>
                </a:lnTo>
                <a:lnTo>
                  <a:pt x="224" y="306"/>
                </a:lnTo>
                <a:lnTo>
                  <a:pt x="225" y="303"/>
                </a:lnTo>
                <a:lnTo>
                  <a:pt x="225" y="306"/>
                </a:lnTo>
                <a:lnTo>
                  <a:pt x="226" y="279"/>
                </a:lnTo>
                <a:lnTo>
                  <a:pt x="226" y="306"/>
                </a:lnTo>
                <a:lnTo>
                  <a:pt x="227" y="300"/>
                </a:lnTo>
                <a:lnTo>
                  <a:pt x="227" y="306"/>
                </a:lnTo>
                <a:lnTo>
                  <a:pt x="228" y="306"/>
                </a:lnTo>
                <a:lnTo>
                  <a:pt x="229" y="306"/>
                </a:lnTo>
                <a:lnTo>
                  <a:pt x="229" y="305"/>
                </a:lnTo>
                <a:lnTo>
                  <a:pt x="230" y="305"/>
                </a:lnTo>
                <a:lnTo>
                  <a:pt x="230" y="306"/>
                </a:lnTo>
                <a:lnTo>
                  <a:pt x="231" y="306"/>
                </a:lnTo>
                <a:lnTo>
                  <a:pt x="232" y="306"/>
                </a:lnTo>
                <a:lnTo>
                  <a:pt x="233" y="300"/>
                </a:lnTo>
                <a:lnTo>
                  <a:pt x="233" y="306"/>
                </a:lnTo>
                <a:lnTo>
                  <a:pt x="234" y="304"/>
                </a:lnTo>
                <a:lnTo>
                  <a:pt x="234" y="306"/>
                </a:lnTo>
                <a:lnTo>
                  <a:pt x="235" y="306"/>
                </a:lnTo>
                <a:lnTo>
                  <a:pt x="236" y="305"/>
                </a:lnTo>
                <a:lnTo>
                  <a:pt x="236" y="306"/>
                </a:lnTo>
                <a:lnTo>
                  <a:pt x="237" y="306"/>
                </a:lnTo>
                <a:lnTo>
                  <a:pt x="238" y="306"/>
                </a:lnTo>
                <a:lnTo>
                  <a:pt x="239" y="306"/>
                </a:lnTo>
                <a:lnTo>
                  <a:pt x="240" y="306"/>
                </a:lnTo>
                <a:lnTo>
                  <a:pt x="240" y="12"/>
                </a:lnTo>
                <a:lnTo>
                  <a:pt x="241" y="146"/>
                </a:lnTo>
                <a:lnTo>
                  <a:pt x="241" y="306"/>
                </a:lnTo>
                <a:lnTo>
                  <a:pt x="242" y="284"/>
                </a:lnTo>
                <a:lnTo>
                  <a:pt x="242" y="306"/>
                </a:lnTo>
                <a:lnTo>
                  <a:pt x="243" y="306"/>
                </a:lnTo>
                <a:lnTo>
                  <a:pt x="245" y="306"/>
                </a:lnTo>
                <a:lnTo>
                  <a:pt x="245" y="305"/>
                </a:lnTo>
                <a:lnTo>
                  <a:pt x="245" y="306"/>
                </a:lnTo>
                <a:lnTo>
                  <a:pt x="246" y="305"/>
                </a:lnTo>
                <a:lnTo>
                  <a:pt x="246" y="306"/>
                </a:lnTo>
                <a:lnTo>
                  <a:pt x="247" y="306"/>
                </a:lnTo>
                <a:lnTo>
                  <a:pt x="248" y="306"/>
                </a:lnTo>
                <a:lnTo>
                  <a:pt x="249" y="289"/>
                </a:lnTo>
                <a:lnTo>
                  <a:pt x="249" y="306"/>
                </a:lnTo>
                <a:lnTo>
                  <a:pt x="250" y="302"/>
                </a:lnTo>
                <a:lnTo>
                  <a:pt x="250" y="306"/>
                </a:lnTo>
                <a:lnTo>
                  <a:pt x="251" y="306"/>
                </a:lnTo>
                <a:lnTo>
                  <a:pt x="255" y="306"/>
                </a:lnTo>
                <a:lnTo>
                  <a:pt x="256" y="306"/>
                </a:lnTo>
                <a:lnTo>
                  <a:pt x="257" y="306"/>
                </a:lnTo>
                <a:lnTo>
                  <a:pt x="260" y="306"/>
                </a:lnTo>
                <a:lnTo>
                  <a:pt x="260" y="293"/>
                </a:lnTo>
                <a:lnTo>
                  <a:pt x="260" y="306"/>
                </a:lnTo>
                <a:lnTo>
                  <a:pt x="261" y="292"/>
                </a:lnTo>
                <a:lnTo>
                  <a:pt x="261" y="306"/>
                </a:lnTo>
                <a:lnTo>
                  <a:pt x="262" y="306"/>
                </a:lnTo>
                <a:lnTo>
                  <a:pt x="262" y="305"/>
                </a:lnTo>
                <a:lnTo>
                  <a:pt x="263" y="306"/>
                </a:lnTo>
                <a:lnTo>
                  <a:pt x="263" y="305"/>
                </a:lnTo>
                <a:lnTo>
                  <a:pt x="264" y="306"/>
                </a:lnTo>
                <a:lnTo>
                  <a:pt x="265" y="306"/>
                </a:lnTo>
                <a:lnTo>
                  <a:pt x="268" y="306"/>
                </a:lnTo>
                <a:lnTo>
                  <a:pt x="269" y="305"/>
                </a:lnTo>
                <a:lnTo>
                  <a:pt x="269" y="306"/>
                </a:lnTo>
                <a:lnTo>
                  <a:pt x="270" y="306"/>
                </a:lnTo>
                <a:lnTo>
                  <a:pt x="270" y="304"/>
                </a:lnTo>
                <a:lnTo>
                  <a:pt x="271" y="306"/>
                </a:lnTo>
                <a:lnTo>
                  <a:pt x="271" y="296"/>
                </a:lnTo>
                <a:lnTo>
                  <a:pt x="272" y="293"/>
                </a:lnTo>
                <a:lnTo>
                  <a:pt x="272" y="306"/>
                </a:lnTo>
                <a:lnTo>
                  <a:pt x="273" y="306"/>
                </a:lnTo>
                <a:lnTo>
                  <a:pt x="273" y="299"/>
                </a:lnTo>
                <a:lnTo>
                  <a:pt x="274" y="305"/>
                </a:lnTo>
                <a:lnTo>
                  <a:pt x="274" y="306"/>
                </a:lnTo>
                <a:lnTo>
                  <a:pt x="275" y="306"/>
                </a:lnTo>
                <a:lnTo>
                  <a:pt x="277" y="306"/>
                </a:lnTo>
                <a:lnTo>
                  <a:pt x="278" y="299"/>
                </a:lnTo>
                <a:lnTo>
                  <a:pt x="278" y="306"/>
                </a:lnTo>
                <a:lnTo>
                  <a:pt x="279" y="303"/>
                </a:lnTo>
                <a:lnTo>
                  <a:pt x="279" y="306"/>
                </a:lnTo>
                <a:lnTo>
                  <a:pt x="280" y="306"/>
                </a:lnTo>
                <a:lnTo>
                  <a:pt x="283" y="306"/>
                </a:lnTo>
                <a:lnTo>
                  <a:pt x="284" y="306"/>
                </a:lnTo>
                <a:lnTo>
                  <a:pt x="286" y="306"/>
                </a:lnTo>
                <a:lnTo>
                  <a:pt x="287" y="306"/>
                </a:lnTo>
                <a:lnTo>
                  <a:pt x="288" y="306"/>
                </a:lnTo>
                <a:lnTo>
                  <a:pt x="289" y="306"/>
                </a:lnTo>
                <a:lnTo>
                  <a:pt x="291" y="306"/>
                </a:lnTo>
                <a:lnTo>
                  <a:pt x="292" y="306"/>
                </a:lnTo>
                <a:lnTo>
                  <a:pt x="293" y="292"/>
                </a:lnTo>
                <a:lnTo>
                  <a:pt x="293" y="306"/>
                </a:lnTo>
                <a:lnTo>
                  <a:pt x="294" y="303"/>
                </a:lnTo>
                <a:lnTo>
                  <a:pt x="294" y="306"/>
                </a:lnTo>
                <a:lnTo>
                  <a:pt x="295" y="306"/>
                </a:lnTo>
                <a:lnTo>
                  <a:pt x="296" y="306"/>
                </a:lnTo>
                <a:lnTo>
                  <a:pt x="299" y="306"/>
                </a:lnTo>
                <a:lnTo>
                  <a:pt x="300" y="306"/>
                </a:lnTo>
                <a:lnTo>
                  <a:pt x="301" y="306"/>
                </a:lnTo>
                <a:lnTo>
                  <a:pt x="301" y="296"/>
                </a:lnTo>
                <a:lnTo>
                  <a:pt x="302" y="303"/>
                </a:lnTo>
                <a:lnTo>
                  <a:pt x="302" y="306"/>
                </a:lnTo>
                <a:lnTo>
                  <a:pt x="303" y="305"/>
                </a:lnTo>
                <a:lnTo>
                  <a:pt x="303" y="306"/>
                </a:lnTo>
                <a:lnTo>
                  <a:pt x="304" y="305"/>
                </a:lnTo>
                <a:lnTo>
                  <a:pt x="304" y="306"/>
                </a:lnTo>
                <a:lnTo>
                  <a:pt x="305" y="306"/>
                </a:lnTo>
                <a:lnTo>
                  <a:pt x="306" y="305"/>
                </a:lnTo>
                <a:lnTo>
                  <a:pt x="306" y="306"/>
                </a:lnTo>
                <a:lnTo>
                  <a:pt x="307" y="306"/>
                </a:lnTo>
                <a:lnTo>
                  <a:pt x="308" y="299"/>
                </a:lnTo>
                <a:lnTo>
                  <a:pt x="308" y="306"/>
                </a:lnTo>
                <a:lnTo>
                  <a:pt x="309" y="300"/>
                </a:lnTo>
                <a:lnTo>
                  <a:pt x="309" y="306"/>
                </a:lnTo>
                <a:lnTo>
                  <a:pt x="310" y="305"/>
                </a:lnTo>
                <a:lnTo>
                  <a:pt x="310" y="306"/>
                </a:lnTo>
                <a:lnTo>
                  <a:pt x="311" y="306"/>
                </a:lnTo>
                <a:lnTo>
                  <a:pt x="311" y="298"/>
                </a:lnTo>
                <a:lnTo>
                  <a:pt x="312" y="306"/>
                </a:lnTo>
                <a:lnTo>
                  <a:pt x="312" y="305"/>
                </a:lnTo>
                <a:lnTo>
                  <a:pt x="313" y="303"/>
                </a:lnTo>
                <a:lnTo>
                  <a:pt x="313" y="306"/>
                </a:lnTo>
                <a:lnTo>
                  <a:pt x="314" y="306"/>
                </a:lnTo>
                <a:lnTo>
                  <a:pt x="315" y="306"/>
                </a:lnTo>
                <a:lnTo>
                  <a:pt x="316" y="305"/>
                </a:lnTo>
                <a:lnTo>
                  <a:pt x="316" y="306"/>
                </a:lnTo>
                <a:lnTo>
                  <a:pt x="317" y="306"/>
                </a:lnTo>
                <a:lnTo>
                  <a:pt x="319" y="306"/>
                </a:lnTo>
                <a:lnTo>
                  <a:pt x="320" y="305"/>
                </a:lnTo>
                <a:lnTo>
                  <a:pt x="320" y="306"/>
                </a:lnTo>
                <a:lnTo>
                  <a:pt x="321" y="306"/>
                </a:lnTo>
                <a:lnTo>
                  <a:pt x="321" y="305"/>
                </a:lnTo>
                <a:lnTo>
                  <a:pt x="322" y="303"/>
                </a:lnTo>
                <a:lnTo>
                  <a:pt x="322" y="306"/>
                </a:lnTo>
                <a:lnTo>
                  <a:pt x="323" y="304"/>
                </a:lnTo>
                <a:lnTo>
                  <a:pt x="323" y="306"/>
                </a:lnTo>
                <a:lnTo>
                  <a:pt x="324" y="301"/>
                </a:lnTo>
                <a:lnTo>
                  <a:pt x="324" y="306"/>
                </a:lnTo>
                <a:lnTo>
                  <a:pt x="325" y="304"/>
                </a:lnTo>
                <a:lnTo>
                  <a:pt x="325" y="306"/>
                </a:lnTo>
                <a:lnTo>
                  <a:pt x="327" y="306"/>
                </a:lnTo>
                <a:lnTo>
                  <a:pt x="331" y="306"/>
                </a:lnTo>
                <a:lnTo>
                  <a:pt x="331" y="305"/>
                </a:lnTo>
                <a:lnTo>
                  <a:pt x="331" y="306"/>
                </a:lnTo>
                <a:lnTo>
                  <a:pt x="332" y="306"/>
                </a:lnTo>
                <a:lnTo>
                  <a:pt x="332" y="43"/>
                </a:lnTo>
                <a:lnTo>
                  <a:pt x="333" y="218"/>
                </a:lnTo>
                <a:lnTo>
                  <a:pt x="333" y="306"/>
                </a:lnTo>
                <a:lnTo>
                  <a:pt x="334" y="300"/>
                </a:lnTo>
                <a:lnTo>
                  <a:pt x="334" y="306"/>
                </a:lnTo>
                <a:lnTo>
                  <a:pt x="336" y="306"/>
                </a:lnTo>
                <a:lnTo>
                  <a:pt x="337" y="304"/>
                </a:lnTo>
                <a:lnTo>
                  <a:pt x="337" y="306"/>
                </a:lnTo>
                <a:lnTo>
                  <a:pt x="338" y="305"/>
                </a:lnTo>
                <a:lnTo>
                  <a:pt x="338" y="306"/>
                </a:lnTo>
                <a:lnTo>
                  <a:pt x="340" y="306"/>
                </a:lnTo>
                <a:lnTo>
                  <a:pt x="341" y="306"/>
                </a:lnTo>
                <a:lnTo>
                  <a:pt x="343" y="306"/>
                </a:lnTo>
                <a:lnTo>
                  <a:pt x="343" y="302"/>
                </a:lnTo>
                <a:lnTo>
                  <a:pt x="343" y="306"/>
                </a:lnTo>
                <a:lnTo>
                  <a:pt x="344" y="305"/>
                </a:lnTo>
                <a:lnTo>
                  <a:pt x="344" y="306"/>
                </a:lnTo>
                <a:lnTo>
                  <a:pt x="345" y="306"/>
                </a:lnTo>
                <a:lnTo>
                  <a:pt x="346" y="306"/>
                </a:lnTo>
                <a:lnTo>
                  <a:pt x="347" y="306"/>
                </a:lnTo>
                <a:lnTo>
                  <a:pt x="348" y="305"/>
                </a:lnTo>
                <a:lnTo>
                  <a:pt x="348" y="306"/>
                </a:lnTo>
                <a:lnTo>
                  <a:pt x="349" y="303"/>
                </a:lnTo>
                <a:lnTo>
                  <a:pt x="349" y="306"/>
                </a:lnTo>
                <a:lnTo>
                  <a:pt x="350" y="161"/>
                </a:lnTo>
                <a:lnTo>
                  <a:pt x="350" y="306"/>
                </a:lnTo>
                <a:lnTo>
                  <a:pt x="351" y="252"/>
                </a:lnTo>
                <a:lnTo>
                  <a:pt x="351" y="306"/>
                </a:lnTo>
                <a:lnTo>
                  <a:pt x="352" y="302"/>
                </a:lnTo>
                <a:lnTo>
                  <a:pt x="352" y="306"/>
                </a:lnTo>
                <a:lnTo>
                  <a:pt x="353" y="304"/>
                </a:lnTo>
                <a:lnTo>
                  <a:pt x="353" y="306"/>
                </a:lnTo>
                <a:lnTo>
                  <a:pt x="354" y="306"/>
                </a:lnTo>
                <a:lnTo>
                  <a:pt x="354" y="299"/>
                </a:lnTo>
                <a:lnTo>
                  <a:pt x="355" y="300"/>
                </a:lnTo>
                <a:lnTo>
                  <a:pt x="355" y="306"/>
                </a:lnTo>
                <a:lnTo>
                  <a:pt x="356" y="306"/>
                </a:lnTo>
                <a:lnTo>
                  <a:pt x="357" y="299"/>
                </a:lnTo>
                <a:lnTo>
                  <a:pt x="357" y="306"/>
                </a:lnTo>
                <a:lnTo>
                  <a:pt x="358" y="303"/>
                </a:lnTo>
                <a:lnTo>
                  <a:pt x="358" y="306"/>
                </a:lnTo>
                <a:lnTo>
                  <a:pt x="359" y="305"/>
                </a:lnTo>
                <a:lnTo>
                  <a:pt x="359" y="306"/>
                </a:lnTo>
                <a:lnTo>
                  <a:pt x="361" y="306"/>
                </a:lnTo>
                <a:lnTo>
                  <a:pt x="361" y="303"/>
                </a:lnTo>
                <a:lnTo>
                  <a:pt x="361" y="306"/>
                </a:lnTo>
                <a:lnTo>
                  <a:pt x="362" y="306"/>
                </a:lnTo>
                <a:lnTo>
                  <a:pt x="362" y="181"/>
                </a:lnTo>
                <a:lnTo>
                  <a:pt x="363" y="258"/>
                </a:lnTo>
                <a:lnTo>
                  <a:pt x="363" y="306"/>
                </a:lnTo>
                <a:lnTo>
                  <a:pt x="364" y="294"/>
                </a:lnTo>
                <a:lnTo>
                  <a:pt x="364" y="306"/>
                </a:lnTo>
                <a:lnTo>
                  <a:pt x="365" y="306"/>
                </a:lnTo>
                <a:lnTo>
                  <a:pt x="366" y="305"/>
                </a:lnTo>
                <a:lnTo>
                  <a:pt x="366" y="306"/>
                </a:lnTo>
                <a:lnTo>
                  <a:pt x="367" y="306"/>
                </a:lnTo>
                <a:lnTo>
                  <a:pt x="368" y="306"/>
                </a:lnTo>
                <a:lnTo>
                  <a:pt x="369" y="305"/>
                </a:lnTo>
                <a:lnTo>
                  <a:pt x="369" y="306"/>
                </a:lnTo>
                <a:lnTo>
                  <a:pt x="370" y="305"/>
                </a:lnTo>
                <a:lnTo>
                  <a:pt x="370" y="306"/>
                </a:lnTo>
                <a:lnTo>
                  <a:pt x="371" y="306"/>
                </a:lnTo>
                <a:lnTo>
                  <a:pt x="372" y="306"/>
                </a:lnTo>
                <a:lnTo>
                  <a:pt x="373" y="306"/>
                </a:lnTo>
                <a:lnTo>
                  <a:pt x="374" y="306"/>
                </a:lnTo>
                <a:lnTo>
                  <a:pt x="375" y="306"/>
                </a:lnTo>
                <a:lnTo>
                  <a:pt x="377" y="306"/>
                </a:lnTo>
                <a:lnTo>
                  <a:pt x="377" y="299"/>
                </a:lnTo>
                <a:lnTo>
                  <a:pt x="378" y="304"/>
                </a:lnTo>
                <a:lnTo>
                  <a:pt x="378" y="306"/>
                </a:lnTo>
                <a:lnTo>
                  <a:pt x="379" y="304"/>
                </a:lnTo>
                <a:lnTo>
                  <a:pt x="379" y="306"/>
                </a:lnTo>
                <a:lnTo>
                  <a:pt x="380" y="306"/>
                </a:lnTo>
                <a:lnTo>
                  <a:pt x="381" y="301"/>
                </a:lnTo>
                <a:lnTo>
                  <a:pt x="381" y="306"/>
                </a:lnTo>
                <a:lnTo>
                  <a:pt x="382" y="300"/>
                </a:lnTo>
                <a:lnTo>
                  <a:pt x="382" y="306"/>
                </a:lnTo>
                <a:lnTo>
                  <a:pt x="383" y="306"/>
                </a:lnTo>
                <a:lnTo>
                  <a:pt x="387" y="306"/>
                </a:lnTo>
                <a:lnTo>
                  <a:pt x="388" y="306"/>
                </a:lnTo>
                <a:lnTo>
                  <a:pt x="389" y="306"/>
                </a:lnTo>
                <a:lnTo>
                  <a:pt x="391" y="306"/>
                </a:lnTo>
                <a:lnTo>
                  <a:pt x="392" y="303"/>
                </a:lnTo>
                <a:lnTo>
                  <a:pt x="392" y="306"/>
                </a:lnTo>
                <a:lnTo>
                  <a:pt x="393" y="304"/>
                </a:lnTo>
                <a:lnTo>
                  <a:pt x="393" y="306"/>
                </a:lnTo>
                <a:lnTo>
                  <a:pt x="394" y="306"/>
                </a:lnTo>
                <a:lnTo>
                  <a:pt x="397" y="306"/>
                </a:lnTo>
                <a:lnTo>
                  <a:pt x="397" y="304"/>
                </a:lnTo>
                <a:lnTo>
                  <a:pt x="397" y="306"/>
                </a:lnTo>
                <a:lnTo>
                  <a:pt x="398" y="302"/>
                </a:lnTo>
                <a:lnTo>
                  <a:pt x="398" y="306"/>
                </a:lnTo>
                <a:lnTo>
                  <a:pt x="399" y="306"/>
                </a:lnTo>
                <a:lnTo>
                  <a:pt x="400" y="304"/>
                </a:lnTo>
                <a:lnTo>
                  <a:pt x="400" y="306"/>
                </a:lnTo>
                <a:lnTo>
                  <a:pt x="401" y="306"/>
                </a:lnTo>
                <a:lnTo>
                  <a:pt x="402" y="305"/>
                </a:lnTo>
                <a:lnTo>
                  <a:pt x="402" y="306"/>
                </a:lnTo>
                <a:lnTo>
                  <a:pt x="403" y="306"/>
                </a:lnTo>
                <a:lnTo>
                  <a:pt x="408" y="306"/>
                </a:lnTo>
                <a:lnTo>
                  <a:pt x="408" y="305"/>
                </a:lnTo>
                <a:lnTo>
                  <a:pt x="408" y="306"/>
                </a:lnTo>
                <a:lnTo>
                  <a:pt x="409" y="304"/>
                </a:lnTo>
                <a:lnTo>
                  <a:pt x="409" y="306"/>
                </a:lnTo>
                <a:lnTo>
                  <a:pt x="410" y="276"/>
                </a:lnTo>
                <a:lnTo>
                  <a:pt x="410" y="306"/>
                </a:lnTo>
                <a:lnTo>
                  <a:pt x="411" y="285"/>
                </a:lnTo>
                <a:lnTo>
                  <a:pt x="411" y="306"/>
                </a:lnTo>
                <a:lnTo>
                  <a:pt x="412" y="306"/>
                </a:lnTo>
                <a:lnTo>
                  <a:pt x="412" y="303"/>
                </a:lnTo>
                <a:lnTo>
                  <a:pt x="413" y="306"/>
                </a:lnTo>
                <a:lnTo>
                  <a:pt x="415" y="306"/>
                </a:lnTo>
                <a:lnTo>
                  <a:pt x="415" y="298"/>
                </a:lnTo>
                <a:lnTo>
                  <a:pt x="415" y="306"/>
                </a:lnTo>
                <a:lnTo>
                  <a:pt x="416" y="303"/>
                </a:lnTo>
                <a:lnTo>
                  <a:pt x="416" y="306"/>
                </a:lnTo>
                <a:lnTo>
                  <a:pt x="418" y="306"/>
                </a:lnTo>
                <a:lnTo>
                  <a:pt x="418" y="304"/>
                </a:lnTo>
                <a:lnTo>
                  <a:pt x="418" y="306"/>
                </a:lnTo>
                <a:lnTo>
                  <a:pt x="419" y="306"/>
                </a:lnTo>
                <a:lnTo>
                  <a:pt x="421" y="306"/>
                </a:lnTo>
                <a:lnTo>
                  <a:pt x="422" y="306"/>
                </a:lnTo>
                <a:lnTo>
                  <a:pt x="424" y="306"/>
                </a:lnTo>
                <a:lnTo>
                  <a:pt x="424" y="294"/>
                </a:lnTo>
                <a:lnTo>
                  <a:pt x="424" y="306"/>
                </a:lnTo>
                <a:lnTo>
                  <a:pt x="425" y="297"/>
                </a:lnTo>
                <a:lnTo>
                  <a:pt x="425" y="306"/>
                </a:lnTo>
                <a:lnTo>
                  <a:pt x="426" y="305"/>
                </a:lnTo>
                <a:lnTo>
                  <a:pt x="426" y="306"/>
                </a:lnTo>
                <a:lnTo>
                  <a:pt x="428" y="306"/>
                </a:lnTo>
                <a:lnTo>
                  <a:pt x="429" y="306"/>
                </a:lnTo>
                <a:lnTo>
                  <a:pt x="430" y="238"/>
                </a:lnTo>
                <a:lnTo>
                  <a:pt x="430" y="306"/>
                </a:lnTo>
                <a:lnTo>
                  <a:pt x="431" y="281"/>
                </a:lnTo>
                <a:lnTo>
                  <a:pt x="431" y="306"/>
                </a:lnTo>
                <a:lnTo>
                  <a:pt x="432" y="303"/>
                </a:lnTo>
                <a:lnTo>
                  <a:pt x="432" y="306"/>
                </a:lnTo>
                <a:lnTo>
                  <a:pt x="433" y="304"/>
                </a:lnTo>
                <a:lnTo>
                  <a:pt x="433" y="306"/>
                </a:lnTo>
                <a:lnTo>
                  <a:pt x="434" y="303"/>
                </a:lnTo>
                <a:lnTo>
                  <a:pt x="434" y="306"/>
                </a:lnTo>
                <a:lnTo>
                  <a:pt x="435" y="301"/>
                </a:lnTo>
                <a:lnTo>
                  <a:pt x="435" y="306"/>
                </a:lnTo>
                <a:lnTo>
                  <a:pt x="436" y="303"/>
                </a:lnTo>
                <a:lnTo>
                  <a:pt x="436" y="306"/>
                </a:lnTo>
                <a:lnTo>
                  <a:pt x="437" y="306"/>
                </a:lnTo>
                <a:lnTo>
                  <a:pt x="437" y="303"/>
                </a:lnTo>
                <a:lnTo>
                  <a:pt x="438" y="305"/>
                </a:lnTo>
                <a:lnTo>
                  <a:pt x="438" y="306"/>
                </a:lnTo>
                <a:lnTo>
                  <a:pt x="439" y="306"/>
                </a:lnTo>
                <a:lnTo>
                  <a:pt x="441" y="306"/>
                </a:lnTo>
                <a:lnTo>
                  <a:pt x="441" y="305"/>
                </a:lnTo>
                <a:lnTo>
                  <a:pt x="441" y="306"/>
                </a:lnTo>
                <a:lnTo>
                  <a:pt x="442" y="305"/>
                </a:lnTo>
                <a:lnTo>
                  <a:pt x="442" y="306"/>
                </a:lnTo>
                <a:lnTo>
                  <a:pt x="443" y="299"/>
                </a:lnTo>
                <a:lnTo>
                  <a:pt x="443" y="306"/>
                </a:lnTo>
                <a:lnTo>
                  <a:pt x="444" y="300"/>
                </a:lnTo>
                <a:lnTo>
                  <a:pt x="444" y="306"/>
                </a:lnTo>
                <a:lnTo>
                  <a:pt x="445" y="306"/>
                </a:lnTo>
                <a:lnTo>
                  <a:pt x="448" y="306"/>
                </a:lnTo>
                <a:lnTo>
                  <a:pt x="448" y="305"/>
                </a:lnTo>
                <a:lnTo>
                  <a:pt x="448" y="306"/>
                </a:lnTo>
                <a:lnTo>
                  <a:pt x="449" y="305"/>
                </a:lnTo>
                <a:lnTo>
                  <a:pt x="449" y="306"/>
                </a:lnTo>
                <a:lnTo>
                  <a:pt x="454" y="306"/>
                </a:lnTo>
                <a:lnTo>
                  <a:pt x="455" y="306"/>
                </a:lnTo>
                <a:lnTo>
                  <a:pt x="456" y="306"/>
                </a:lnTo>
                <a:lnTo>
                  <a:pt x="457" y="305"/>
                </a:lnTo>
                <a:lnTo>
                  <a:pt x="457" y="306"/>
                </a:lnTo>
                <a:lnTo>
                  <a:pt x="458" y="306"/>
                </a:lnTo>
                <a:lnTo>
                  <a:pt x="460" y="306"/>
                </a:lnTo>
                <a:lnTo>
                  <a:pt x="462" y="306"/>
                </a:lnTo>
                <a:lnTo>
                  <a:pt x="463" y="306"/>
                </a:lnTo>
                <a:lnTo>
                  <a:pt x="467" y="306"/>
                </a:lnTo>
                <a:lnTo>
                  <a:pt x="469" y="306"/>
                </a:lnTo>
                <a:lnTo>
                  <a:pt x="469" y="297"/>
                </a:lnTo>
                <a:lnTo>
                  <a:pt x="469" y="306"/>
                </a:lnTo>
                <a:lnTo>
                  <a:pt x="470" y="306"/>
                </a:lnTo>
                <a:lnTo>
                  <a:pt x="470" y="296"/>
                </a:lnTo>
                <a:lnTo>
                  <a:pt x="471" y="305"/>
                </a:lnTo>
                <a:lnTo>
                  <a:pt x="471" y="306"/>
                </a:lnTo>
                <a:lnTo>
                  <a:pt x="472" y="305"/>
                </a:lnTo>
                <a:lnTo>
                  <a:pt x="472" y="306"/>
                </a:lnTo>
                <a:lnTo>
                  <a:pt x="474" y="306"/>
                </a:lnTo>
                <a:lnTo>
                  <a:pt x="476" y="306"/>
                </a:lnTo>
                <a:lnTo>
                  <a:pt x="477" y="305"/>
                </a:lnTo>
                <a:lnTo>
                  <a:pt x="477" y="306"/>
                </a:lnTo>
                <a:lnTo>
                  <a:pt x="480" y="306"/>
                </a:lnTo>
                <a:lnTo>
                  <a:pt x="481" y="305"/>
                </a:lnTo>
                <a:lnTo>
                  <a:pt x="481" y="306"/>
                </a:lnTo>
                <a:lnTo>
                  <a:pt x="482" y="306"/>
                </a:lnTo>
                <a:lnTo>
                  <a:pt x="486" y="306"/>
                </a:lnTo>
                <a:lnTo>
                  <a:pt x="486" y="302"/>
                </a:lnTo>
                <a:lnTo>
                  <a:pt x="486" y="306"/>
                </a:lnTo>
                <a:lnTo>
                  <a:pt x="487" y="305"/>
                </a:lnTo>
                <a:lnTo>
                  <a:pt x="487" y="306"/>
                </a:lnTo>
                <a:lnTo>
                  <a:pt x="488" y="306"/>
                </a:lnTo>
                <a:lnTo>
                  <a:pt x="491" y="306"/>
                </a:lnTo>
                <a:lnTo>
                  <a:pt x="492" y="306"/>
                </a:lnTo>
                <a:lnTo>
                  <a:pt x="499" y="306"/>
                </a:lnTo>
                <a:lnTo>
                  <a:pt x="500" y="306"/>
                </a:lnTo>
                <a:lnTo>
                  <a:pt x="501" y="304"/>
                </a:lnTo>
                <a:lnTo>
                  <a:pt x="501" y="306"/>
                </a:lnTo>
                <a:lnTo>
                  <a:pt x="502" y="305"/>
                </a:lnTo>
                <a:lnTo>
                  <a:pt x="502" y="306"/>
                </a:lnTo>
                <a:lnTo>
                  <a:pt x="510" y="306"/>
                </a:lnTo>
                <a:lnTo>
                  <a:pt x="519" y="306"/>
                </a:lnTo>
                <a:lnTo>
                  <a:pt x="521" y="306"/>
                </a:lnTo>
                <a:lnTo>
                  <a:pt x="525" y="306"/>
                </a:lnTo>
                <a:lnTo>
                  <a:pt x="525" y="303"/>
                </a:lnTo>
                <a:lnTo>
                  <a:pt x="525" y="306"/>
                </a:lnTo>
                <a:lnTo>
                  <a:pt x="526" y="305"/>
                </a:lnTo>
                <a:lnTo>
                  <a:pt x="526" y="306"/>
                </a:lnTo>
                <a:lnTo>
                  <a:pt x="527" y="306"/>
                </a:lnTo>
                <a:lnTo>
                  <a:pt x="532" y="306"/>
                </a:lnTo>
                <a:lnTo>
                  <a:pt x="533" y="306"/>
                </a:lnTo>
                <a:lnTo>
                  <a:pt x="536" y="306"/>
                </a:lnTo>
                <a:lnTo>
                  <a:pt x="537" y="305"/>
                </a:lnTo>
                <a:lnTo>
                  <a:pt x="537" y="306"/>
                </a:lnTo>
                <a:lnTo>
                  <a:pt x="538" y="306"/>
                </a:lnTo>
                <a:lnTo>
                  <a:pt x="539" y="306"/>
                </a:lnTo>
                <a:lnTo>
                  <a:pt x="542" y="306"/>
                </a:lnTo>
                <a:lnTo>
                  <a:pt x="542" y="278"/>
                </a:lnTo>
                <a:lnTo>
                  <a:pt x="542" y="306"/>
                </a:lnTo>
                <a:lnTo>
                  <a:pt x="543" y="275"/>
                </a:lnTo>
                <a:lnTo>
                  <a:pt x="543" y="306"/>
                </a:lnTo>
                <a:lnTo>
                  <a:pt x="544" y="299"/>
                </a:lnTo>
                <a:lnTo>
                  <a:pt x="544" y="306"/>
                </a:lnTo>
                <a:lnTo>
                  <a:pt x="545" y="306"/>
                </a:lnTo>
                <a:lnTo>
                  <a:pt x="546" y="306"/>
                </a:lnTo>
                <a:lnTo>
                  <a:pt x="546" y="302"/>
                </a:lnTo>
                <a:lnTo>
                  <a:pt x="547" y="298"/>
                </a:lnTo>
                <a:lnTo>
                  <a:pt x="547" y="306"/>
                </a:lnTo>
                <a:lnTo>
                  <a:pt x="548" y="303"/>
                </a:lnTo>
                <a:lnTo>
                  <a:pt x="548" y="306"/>
                </a:lnTo>
                <a:lnTo>
                  <a:pt x="549" y="305"/>
                </a:lnTo>
                <a:lnTo>
                  <a:pt x="549" y="306"/>
                </a:lnTo>
                <a:lnTo>
                  <a:pt x="555" y="306"/>
                </a:lnTo>
                <a:lnTo>
                  <a:pt x="556" y="305"/>
                </a:lnTo>
                <a:lnTo>
                  <a:pt x="556" y="306"/>
                </a:lnTo>
                <a:lnTo>
                  <a:pt x="557" y="306"/>
                </a:lnTo>
                <a:lnTo>
                  <a:pt x="558" y="306"/>
                </a:lnTo>
                <a:lnTo>
                  <a:pt x="559" y="303"/>
                </a:lnTo>
                <a:lnTo>
                  <a:pt x="559" y="306"/>
                </a:lnTo>
                <a:lnTo>
                  <a:pt x="560" y="305"/>
                </a:lnTo>
                <a:lnTo>
                  <a:pt x="560" y="306"/>
                </a:lnTo>
                <a:lnTo>
                  <a:pt x="569" y="306"/>
                </a:lnTo>
                <a:lnTo>
                  <a:pt x="570" y="306"/>
                </a:lnTo>
                <a:lnTo>
                  <a:pt x="572" y="306"/>
                </a:lnTo>
                <a:lnTo>
                  <a:pt x="573" y="242"/>
                </a:lnTo>
                <a:lnTo>
                  <a:pt x="573" y="306"/>
                </a:lnTo>
                <a:lnTo>
                  <a:pt x="574" y="274"/>
                </a:lnTo>
                <a:lnTo>
                  <a:pt x="574" y="306"/>
                </a:lnTo>
                <a:lnTo>
                  <a:pt x="575" y="302"/>
                </a:lnTo>
                <a:lnTo>
                  <a:pt x="575" y="306"/>
                </a:lnTo>
                <a:lnTo>
                  <a:pt x="576" y="306"/>
                </a:lnTo>
                <a:lnTo>
                  <a:pt x="577" y="306"/>
                </a:lnTo>
                <a:lnTo>
                  <a:pt x="580" y="306"/>
                </a:lnTo>
                <a:lnTo>
                  <a:pt x="581" y="306"/>
                </a:lnTo>
                <a:lnTo>
                  <a:pt x="582" y="305"/>
                </a:lnTo>
                <a:lnTo>
                  <a:pt x="582" y="306"/>
                </a:lnTo>
                <a:lnTo>
                  <a:pt x="583" y="306"/>
                </a:lnTo>
                <a:lnTo>
                  <a:pt x="586" y="306"/>
                </a:lnTo>
                <a:lnTo>
                  <a:pt x="589" y="306"/>
                </a:lnTo>
                <a:lnTo>
                  <a:pt x="589" y="305"/>
                </a:lnTo>
                <a:lnTo>
                  <a:pt x="589" y="306"/>
                </a:lnTo>
                <a:lnTo>
                  <a:pt x="591" y="306"/>
                </a:lnTo>
                <a:lnTo>
                  <a:pt x="596" y="306"/>
                </a:lnTo>
                <a:lnTo>
                  <a:pt x="597" y="292"/>
                </a:lnTo>
                <a:lnTo>
                  <a:pt x="597" y="306"/>
                </a:lnTo>
                <a:lnTo>
                  <a:pt x="598" y="299"/>
                </a:lnTo>
                <a:lnTo>
                  <a:pt x="598" y="306"/>
                </a:lnTo>
                <a:lnTo>
                  <a:pt x="599" y="305"/>
                </a:lnTo>
                <a:lnTo>
                  <a:pt x="599" y="306"/>
                </a:lnTo>
                <a:lnTo>
                  <a:pt x="602" y="306"/>
                </a:lnTo>
                <a:lnTo>
                  <a:pt x="602" y="278"/>
                </a:lnTo>
                <a:lnTo>
                  <a:pt x="602" y="306"/>
                </a:lnTo>
                <a:lnTo>
                  <a:pt x="603" y="276"/>
                </a:lnTo>
                <a:lnTo>
                  <a:pt x="603" y="306"/>
                </a:lnTo>
                <a:lnTo>
                  <a:pt x="604" y="306"/>
                </a:lnTo>
                <a:lnTo>
                  <a:pt x="604" y="301"/>
                </a:lnTo>
                <a:lnTo>
                  <a:pt x="605" y="305"/>
                </a:lnTo>
                <a:lnTo>
                  <a:pt x="605" y="306"/>
                </a:lnTo>
                <a:lnTo>
                  <a:pt x="606" y="296"/>
                </a:lnTo>
                <a:lnTo>
                  <a:pt x="606" y="306"/>
                </a:lnTo>
                <a:lnTo>
                  <a:pt x="607" y="301"/>
                </a:lnTo>
                <a:lnTo>
                  <a:pt x="607" y="306"/>
                </a:lnTo>
                <a:lnTo>
                  <a:pt x="608" y="305"/>
                </a:lnTo>
                <a:lnTo>
                  <a:pt x="608" y="306"/>
                </a:lnTo>
                <a:lnTo>
                  <a:pt x="612" y="306"/>
                </a:lnTo>
                <a:lnTo>
                  <a:pt x="613" y="306"/>
                </a:lnTo>
                <a:lnTo>
                  <a:pt x="614" y="306"/>
                </a:lnTo>
                <a:lnTo>
                  <a:pt x="615" y="306"/>
                </a:lnTo>
                <a:lnTo>
                  <a:pt x="630" y="306"/>
                </a:lnTo>
                <a:lnTo>
                  <a:pt x="631" y="306"/>
                </a:lnTo>
                <a:lnTo>
                  <a:pt x="633" y="306"/>
                </a:lnTo>
                <a:lnTo>
                  <a:pt x="634" y="306"/>
                </a:lnTo>
                <a:lnTo>
                  <a:pt x="649" y="306"/>
                </a:lnTo>
                <a:lnTo>
                  <a:pt x="649" y="304"/>
                </a:lnTo>
                <a:lnTo>
                  <a:pt x="649" y="306"/>
                </a:lnTo>
                <a:lnTo>
                  <a:pt x="650" y="305"/>
                </a:lnTo>
                <a:lnTo>
                  <a:pt x="650" y="306"/>
                </a:lnTo>
                <a:lnTo>
                  <a:pt x="651" y="306"/>
                </a:lnTo>
                <a:lnTo>
                  <a:pt x="652" y="306"/>
                </a:lnTo>
                <a:lnTo>
                  <a:pt x="658" y="306"/>
                </a:lnTo>
                <a:lnTo>
                  <a:pt x="659" y="306"/>
                </a:lnTo>
                <a:lnTo>
                  <a:pt x="669" y="306"/>
                </a:lnTo>
                <a:lnTo>
                  <a:pt x="669" y="305"/>
                </a:lnTo>
                <a:lnTo>
                  <a:pt x="669" y="306"/>
                </a:lnTo>
                <a:lnTo>
                  <a:pt x="670" y="306"/>
                </a:lnTo>
                <a:lnTo>
                  <a:pt x="675" y="306"/>
                </a:lnTo>
                <a:lnTo>
                  <a:pt x="676" y="306"/>
                </a:lnTo>
                <a:lnTo>
                  <a:pt x="679" y="306"/>
                </a:lnTo>
                <a:lnTo>
                  <a:pt x="680" y="306"/>
                </a:lnTo>
                <a:lnTo>
                  <a:pt x="684" y="306"/>
                </a:lnTo>
                <a:lnTo>
                  <a:pt x="685" y="301"/>
                </a:lnTo>
                <a:lnTo>
                  <a:pt x="685" y="306"/>
                </a:lnTo>
                <a:lnTo>
                  <a:pt x="686" y="304"/>
                </a:lnTo>
                <a:lnTo>
                  <a:pt x="686" y="306"/>
                </a:lnTo>
                <a:lnTo>
                  <a:pt x="687" y="306"/>
                </a:lnTo>
                <a:lnTo>
                  <a:pt x="689" y="306"/>
                </a:lnTo>
                <a:lnTo>
                  <a:pt x="690" y="306"/>
                </a:lnTo>
                <a:lnTo>
                  <a:pt x="692" y="306"/>
                </a:lnTo>
                <a:lnTo>
                  <a:pt x="695" y="306"/>
                </a:lnTo>
                <a:lnTo>
                  <a:pt x="703" y="306"/>
                </a:lnTo>
                <a:lnTo>
                  <a:pt x="704" y="306"/>
                </a:lnTo>
                <a:lnTo>
                  <a:pt x="716" y="306"/>
                </a:lnTo>
                <a:lnTo>
                  <a:pt x="716" y="301"/>
                </a:lnTo>
                <a:lnTo>
                  <a:pt x="716" y="306"/>
                </a:lnTo>
                <a:lnTo>
                  <a:pt x="717" y="303"/>
                </a:lnTo>
                <a:lnTo>
                  <a:pt x="717" y="306"/>
                </a:lnTo>
                <a:lnTo>
                  <a:pt x="718" y="306"/>
                </a:lnTo>
                <a:lnTo>
                  <a:pt x="736" y="306"/>
                </a:lnTo>
                <a:lnTo>
                  <a:pt x="742" y="306"/>
                </a:lnTo>
                <a:lnTo>
                  <a:pt x="745" y="306"/>
                </a:lnTo>
                <a:lnTo>
                  <a:pt x="752" y="306"/>
                </a:lnTo>
                <a:lnTo>
                  <a:pt x="754" y="306"/>
                </a:lnTo>
                <a:lnTo>
                  <a:pt x="765" y="306"/>
                </a:lnTo>
                <a:lnTo>
                  <a:pt x="769" y="306"/>
                </a:lnTo>
                <a:lnTo>
                  <a:pt x="769" y="305"/>
                </a:lnTo>
                <a:lnTo>
                  <a:pt x="769" y="306"/>
                </a:lnTo>
                <a:lnTo>
                  <a:pt x="770" y="305"/>
                </a:lnTo>
                <a:lnTo>
                  <a:pt x="770" y="306"/>
                </a:lnTo>
                <a:lnTo>
                  <a:pt x="771" y="306"/>
                </a:lnTo>
                <a:lnTo>
                  <a:pt x="775" y="306"/>
                </a:lnTo>
                <a:lnTo>
                  <a:pt x="785" y="306"/>
                </a:lnTo>
                <a:lnTo>
                  <a:pt x="785" y="303"/>
                </a:lnTo>
                <a:lnTo>
                  <a:pt x="785" y="306"/>
                </a:lnTo>
                <a:lnTo>
                  <a:pt x="786" y="305"/>
                </a:lnTo>
                <a:lnTo>
                  <a:pt x="786" y="306"/>
                </a:lnTo>
                <a:lnTo>
                  <a:pt x="787" y="306"/>
                </a:lnTo>
                <a:lnTo>
                  <a:pt x="796" y="306"/>
                </a:lnTo>
                <a:lnTo>
                  <a:pt x="797" y="306"/>
                </a:lnTo>
                <a:lnTo>
                  <a:pt x="813" y="306"/>
                </a:lnTo>
                <a:lnTo>
                  <a:pt x="817" y="306"/>
                </a:lnTo>
                <a:lnTo>
                  <a:pt x="817" y="304"/>
                </a:lnTo>
                <a:lnTo>
                  <a:pt x="817" y="306"/>
                </a:lnTo>
                <a:lnTo>
                  <a:pt x="818" y="305"/>
                </a:lnTo>
                <a:lnTo>
                  <a:pt x="818" y="306"/>
                </a:lnTo>
                <a:lnTo>
                  <a:pt x="819" y="306"/>
                </a:lnTo>
                <a:lnTo>
                  <a:pt x="821" y="306"/>
                </a:lnTo>
                <a:lnTo>
                  <a:pt x="823" y="306"/>
                </a:lnTo>
                <a:lnTo>
                  <a:pt x="827" y="306"/>
                </a:lnTo>
                <a:lnTo>
                  <a:pt x="837" y="306"/>
                </a:lnTo>
                <a:lnTo>
                  <a:pt x="843" y="306"/>
                </a:lnTo>
                <a:lnTo>
                  <a:pt x="846" y="306"/>
                </a:lnTo>
                <a:lnTo>
                  <a:pt x="846" y="305"/>
                </a:lnTo>
                <a:lnTo>
                  <a:pt x="847" y="306"/>
                </a:lnTo>
                <a:lnTo>
                  <a:pt x="852" y="306"/>
                </a:lnTo>
                <a:lnTo>
                  <a:pt x="854" y="306"/>
                </a:lnTo>
                <a:lnTo>
                  <a:pt x="857" y="306"/>
                </a:lnTo>
                <a:lnTo>
                  <a:pt x="858" y="306"/>
                </a:lnTo>
                <a:lnTo>
                  <a:pt x="863" y="306"/>
                </a:lnTo>
                <a:lnTo>
                  <a:pt x="876" y="306"/>
                </a:lnTo>
                <a:lnTo>
                  <a:pt x="876" y="304"/>
                </a:lnTo>
                <a:lnTo>
                  <a:pt x="876" y="306"/>
                </a:lnTo>
                <a:lnTo>
                  <a:pt x="877" y="305"/>
                </a:lnTo>
                <a:lnTo>
                  <a:pt x="877" y="306"/>
                </a:lnTo>
                <a:lnTo>
                  <a:pt x="878" y="306"/>
                </a:lnTo>
                <a:lnTo>
                  <a:pt x="879" y="306"/>
                </a:lnTo>
                <a:lnTo>
                  <a:pt x="890" y="306"/>
                </a:lnTo>
                <a:lnTo>
                  <a:pt x="896" y="306"/>
                </a:lnTo>
                <a:lnTo>
                  <a:pt x="906" y="306"/>
                </a:lnTo>
                <a:lnTo>
                  <a:pt x="920" y="306"/>
                </a:lnTo>
                <a:lnTo>
                  <a:pt x="924" y="306"/>
                </a:lnTo>
                <a:lnTo>
                  <a:pt x="924" y="304"/>
                </a:lnTo>
                <a:lnTo>
                  <a:pt x="924" y="306"/>
                </a:lnTo>
                <a:lnTo>
                  <a:pt x="925" y="305"/>
                </a:lnTo>
                <a:lnTo>
                  <a:pt x="925" y="306"/>
                </a:lnTo>
                <a:lnTo>
                  <a:pt x="926" y="305"/>
                </a:lnTo>
                <a:lnTo>
                  <a:pt x="926" y="306"/>
                </a:lnTo>
                <a:lnTo>
                  <a:pt x="935" y="306"/>
                </a:lnTo>
                <a:lnTo>
                  <a:pt x="952" y="306"/>
                </a:lnTo>
                <a:lnTo>
                  <a:pt x="953" y="306"/>
                </a:lnTo>
                <a:lnTo>
                  <a:pt x="967" y="306"/>
                </a:lnTo>
                <a:lnTo>
                  <a:pt x="969" y="306"/>
                </a:lnTo>
                <a:lnTo>
                  <a:pt x="969" y="305"/>
                </a:lnTo>
                <a:lnTo>
                  <a:pt x="969" y="306"/>
                </a:lnTo>
                <a:lnTo>
                  <a:pt x="970" y="306"/>
                </a:lnTo>
                <a:lnTo>
                  <a:pt x="980" y="306"/>
                </a:lnTo>
                <a:lnTo>
                  <a:pt x="981" y="305"/>
                </a:lnTo>
                <a:lnTo>
                  <a:pt x="981" y="306"/>
                </a:lnTo>
                <a:lnTo>
                  <a:pt x="1010" y="306"/>
                </a:lnTo>
                <a:lnTo>
                  <a:pt x="1010" y="305"/>
                </a:lnTo>
                <a:lnTo>
                  <a:pt x="1010" y="306"/>
                </a:lnTo>
                <a:lnTo>
                  <a:pt x="1011" y="306"/>
                </a:lnTo>
                <a:lnTo>
                  <a:pt x="1011" y="305"/>
                </a:lnTo>
                <a:lnTo>
                  <a:pt x="1012" y="306"/>
                </a:lnTo>
                <a:lnTo>
                  <a:pt x="1014" y="306"/>
                </a:lnTo>
                <a:lnTo>
                  <a:pt x="1019" y="306"/>
                </a:lnTo>
                <a:lnTo>
                  <a:pt x="1021" y="306"/>
                </a:lnTo>
                <a:lnTo>
                  <a:pt x="1044" y="306"/>
                </a:lnTo>
                <a:lnTo>
                  <a:pt x="1044" y="304"/>
                </a:lnTo>
                <a:lnTo>
                  <a:pt x="1045" y="306"/>
                </a:lnTo>
                <a:lnTo>
                  <a:pt x="1046" y="305"/>
                </a:lnTo>
                <a:lnTo>
                  <a:pt x="1046" y="306"/>
                </a:lnTo>
                <a:lnTo>
                  <a:pt x="1086" y="306"/>
                </a:lnTo>
                <a:lnTo>
                  <a:pt x="1088" y="306"/>
                </a:lnTo>
                <a:lnTo>
                  <a:pt x="1088" y="302"/>
                </a:lnTo>
                <a:lnTo>
                  <a:pt x="1088" y="306"/>
                </a:lnTo>
                <a:lnTo>
                  <a:pt x="1089" y="302"/>
                </a:lnTo>
                <a:lnTo>
                  <a:pt x="1089" y="306"/>
                </a:lnTo>
                <a:lnTo>
                  <a:pt x="1090" y="305"/>
                </a:lnTo>
                <a:lnTo>
                  <a:pt x="1090" y="306"/>
                </a:lnTo>
                <a:lnTo>
                  <a:pt x="1101" y="306"/>
                </a:lnTo>
                <a:lnTo>
                  <a:pt x="1102" y="306"/>
                </a:lnTo>
                <a:lnTo>
                  <a:pt x="1111" y="306"/>
                </a:lnTo>
                <a:lnTo>
                  <a:pt x="1112" y="306"/>
                </a:lnTo>
                <a:lnTo>
                  <a:pt x="1120" y="306"/>
                </a:lnTo>
                <a:lnTo>
                  <a:pt x="1124" y="306"/>
                </a:lnTo>
                <a:lnTo>
                  <a:pt x="1124" y="296"/>
                </a:lnTo>
                <a:lnTo>
                  <a:pt x="1124" y="306"/>
                </a:lnTo>
                <a:lnTo>
                  <a:pt x="1125" y="300"/>
                </a:lnTo>
                <a:lnTo>
                  <a:pt x="1125" y="306"/>
                </a:lnTo>
                <a:lnTo>
                  <a:pt x="1126" y="304"/>
                </a:lnTo>
                <a:lnTo>
                  <a:pt x="1126" y="306"/>
                </a:lnTo>
                <a:lnTo>
                  <a:pt x="1127" y="306"/>
                </a:lnTo>
                <a:lnTo>
                  <a:pt x="1128" y="306"/>
                </a:lnTo>
                <a:lnTo>
                  <a:pt x="1138" y="306"/>
                </a:lnTo>
                <a:lnTo>
                  <a:pt x="1148" y="306"/>
                </a:lnTo>
                <a:lnTo>
                  <a:pt x="1149" y="305"/>
                </a:lnTo>
                <a:lnTo>
                  <a:pt x="1149" y="306"/>
                </a:lnTo>
                <a:lnTo>
                  <a:pt x="1150" y="305"/>
                </a:lnTo>
                <a:lnTo>
                  <a:pt x="1150" y="306"/>
                </a:lnTo>
                <a:lnTo>
                  <a:pt x="1151" y="306"/>
                </a:lnTo>
                <a:lnTo>
                  <a:pt x="1181" y="306"/>
                </a:lnTo>
                <a:lnTo>
                  <a:pt x="1187" y="306"/>
                </a:lnTo>
                <a:lnTo>
                  <a:pt x="1198" y="306"/>
                </a:lnTo>
                <a:lnTo>
                  <a:pt x="1199" y="306"/>
                </a:lnTo>
                <a:lnTo>
                  <a:pt x="1204" y="306"/>
                </a:lnTo>
                <a:lnTo>
                  <a:pt x="1212" y="306"/>
                </a:lnTo>
                <a:lnTo>
                  <a:pt x="1245" y="306"/>
                </a:lnTo>
                <a:lnTo>
                  <a:pt x="1246" y="306"/>
                </a:lnTo>
                <a:lnTo>
                  <a:pt x="1247" y="306"/>
                </a:lnTo>
                <a:lnTo>
                  <a:pt x="1248" y="306"/>
                </a:lnTo>
                <a:lnTo>
                  <a:pt x="1254" y="306"/>
                </a:lnTo>
                <a:lnTo>
                  <a:pt x="1273" y="306"/>
                </a:lnTo>
                <a:lnTo>
                  <a:pt x="1274" y="306"/>
                </a:lnTo>
                <a:lnTo>
                  <a:pt x="1276" y="306"/>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38" name="Rectangle 325"/>
          <p:cNvSpPr>
            <a:spLocks noChangeArrowheads="1"/>
          </p:cNvSpPr>
          <p:nvPr/>
        </p:nvSpPr>
        <p:spPr bwMode="auto">
          <a:xfrm>
            <a:off x="1190625" y="417671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470.2288</a:t>
            </a:r>
            <a:endParaRPr lang="en-US" altLang="en-US">
              <a:solidFill>
                <a:srgbClr val="000000"/>
              </a:solidFill>
              <a:latin typeface="Calibri" panose="020F0502020204030204" pitchFamily="34" charset="0"/>
            </a:endParaRPr>
          </a:p>
        </p:txBody>
      </p:sp>
      <p:sp>
        <p:nvSpPr>
          <p:cNvPr id="39239" name="Rectangle 326"/>
          <p:cNvSpPr>
            <a:spLocks noChangeArrowheads="1"/>
          </p:cNvSpPr>
          <p:nvPr/>
        </p:nvSpPr>
        <p:spPr bwMode="auto">
          <a:xfrm>
            <a:off x="2192338" y="4249738"/>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626.6356</a:t>
            </a:r>
            <a:endParaRPr lang="en-US" altLang="en-US">
              <a:solidFill>
                <a:srgbClr val="000000"/>
              </a:solidFill>
              <a:latin typeface="Calibri" panose="020F0502020204030204" pitchFamily="34" charset="0"/>
            </a:endParaRPr>
          </a:p>
        </p:txBody>
      </p:sp>
      <p:sp>
        <p:nvSpPr>
          <p:cNvPr id="39240" name="Rectangle 327"/>
          <p:cNvSpPr>
            <a:spLocks noChangeArrowheads="1"/>
          </p:cNvSpPr>
          <p:nvPr/>
        </p:nvSpPr>
        <p:spPr bwMode="auto">
          <a:xfrm>
            <a:off x="2746375" y="4435475"/>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712.3458</a:t>
            </a:r>
            <a:endParaRPr lang="en-US" altLang="en-US">
              <a:solidFill>
                <a:srgbClr val="000000"/>
              </a:solidFill>
              <a:latin typeface="Calibri" panose="020F0502020204030204" pitchFamily="34" charset="0"/>
            </a:endParaRPr>
          </a:p>
        </p:txBody>
      </p:sp>
      <p:sp>
        <p:nvSpPr>
          <p:cNvPr id="39241" name="Rectangle 328"/>
          <p:cNvSpPr>
            <a:spLocks noChangeArrowheads="1"/>
          </p:cNvSpPr>
          <p:nvPr/>
        </p:nvSpPr>
        <p:spPr bwMode="auto">
          <a:xfrm>
            <a:off x="1384300" y="488156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485.7762</a:t>
            </a:r>
            <a:endParaRPr lang="en-US" altLang="en-US">
              <a:solidFill>
                <a:srgbClr val="000000"/>
              </a:solidFill>
              <a:latin typeface="Calibri" panose="020F0502020204030204" pitchFamily="34" charset="0"/>
            </a:endParaRPr>
          </a:p>
        </p:txBody>
      </p:sp>
      <p:sp>
        <p:nvSpPr>
          <p:cNvPr id="39243" name="Rectangle 330"/>
          <p:cNvSpPr>
            <a:spLocks noChangeArrowheads="1"/>
          </p:cNvSpPr>
          <p:nvPr/>
        </p:nvSpPr>
        <p:spPr bwMode="auto">
          <a:xfrm>
            <a:off x="1998663" y="5045075"/>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607.6291</a:t>
            </a:r>
            <a:endParaRPr lang="en-US" altLang="en-US">
              <a:solidFill>
                <a:srgbClr val="000000"/>
              </a:solidFill>
              <a:latin typeface="Calibri" panose="020F0502020204030204" pitchFamily="34" charset="0"/>
            </a:endParaRPr>
          </a:p>
        </p:txBody>
      </p:sp>
      <p:sp>
        <p:nvSpPr>
          <p:cNvPr id="39244" name="Line 331"/>
          <p:cNvSpPr>
            <a:spLocks noChangeShapeType="1"/>
          </p:cNvSpPr>
          <p:nvPr/>
        </p:nvSpPr>
        <p:spPr bwMode="auto">
          <a:xfrm flipH="1" flipV="1">
            <a:off x="2176463" y="5124450"/>
            <a:ext cx="73025" cy="4763"/>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45" name="Rectangle 332"/>
          <p:cNvSpPr>
            <a:spLocks noChangeArrowheads="1"/>
          </p:cNvSpPr>
          <p:nvPr/>
        </p:nvSpPr>
        <p:spPr bwMode="auto">
          <a:xfrm>
            <a:off x="992188" y="514191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455.9736</a:t>
            </a:r>
            <a:endParaRPr lang="en-US" altLang="en-US">
              <a:solidFill>
                <a:srgbClr val="000000"/>
              </a:solidFill>
              <a:latin typeface="Calibri" panose="020F0502020204030204" pitchFamily="34" charset="0"/>
            </a:endParaRPr>
          </a:p>
        </p:txBody>
      </p:sp>
      <p:sp>
        <p:nvSpPr>
          <p:cNvPr id="39247" name="Rectangle 334"/>
          <p:cNvSpPr>
            <a:spLocks noChangeArrowheads="1"/>
          </p:cNvSpPr>
          <p:nvPr/>
        </p:nvSpPr>
        <p:spPr bwMode="auto">
          <a:xfrm>
            <a:off x="2944813" y="5146675"/>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729.3666</a:t>
            </a:r>
            <a:endParaRPr lang="en-US" altLang="en-US">
              <a:solidFill>
                <a:srgbClr val="000000"/>
              </a:solidFill>
              <a:latin typeface="Calibri" panose="020F0502020204030204" pitchFamily="34" charset="0"/>
            </a:endParaRPr>
          </a:p>
        </p:txBody>
      </p:sp>
      <p:sp>
        <p:nvSpPr>
          <p:cNvPr id="39248" name="Line 335"/>
          <p:cNvSpPr>
            <a:spLocks noChangeShapeType="1"/>
          </p:cNvSpPr>
          <p:nvPr/>
        </p:nvSpPr>
        <p:spPr bwMode="auto">
          <a:xfrm flipV="1">
            <a:off x="3032125" y="5226050"/>
            <a:ext cx="90488" cy="6350"/>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49" name="Rectangle 336"/>
          <p:cNvSpPr>
            <a:spLocks noChangeArrowheads="1"/>
          </p:cNvSpPr>
          <p:nvPr/>
        </p:nvSpPr>
        <p:spPr bwMode="auto">
          <a:xfrm>
            <a:off x="3035300" y="5267325"/>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740.8558</a:t>
            </a:r>
            <a:endParaRPr lang="en-US" altLang="en-US">
              <a:solidFill>
                <a:srgbClr val="000000"/>
              </a:solidFill>
              <a:latin typeface="Calibri" panose="020F0502020204030204" pitchFamily="34" charset="0"/>
            </a:endParaRPr>
          </a:p>
        </p:txBody>
      </p:sp>
      <p:sp>
        <p:nvSpPr>
          <p:cNvPr id="39250" name="Line 337"/>
          <p:cNvSpPr>
            <a:spLocks noChangeShapeType="1"/>
          </p:cNvSpPr>
          <p:nvPr/>
        </p:nvSpPr>
        <p:spPr bwMode="auto">
          <a:xfrm flipV="1">
            <a:off x="3105150" y="5346700"/>
            <a:ext cx="107950" cy="6350"/>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51" name="Rectangle 338"/>
          <p:cNvSpPr>
            <a:spLocks noChangeArrowheads="1"/>
          </p:cNvSpPr>
          <p:nvPr/>
        </p:nvSpPr>
        <p:spPr bwMode="auto">
          <a:xfrm>
            <a:off x="3336925" y="561181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804.4256</a:t>
            </a:r>
            <a:endParaRPr lang="en-US" altLang="en-US">
              <a:solidFill>
                <a:srgbClr val="000000"/>
              </a:solidFill>
              <a:latin typeface="Calibri" panose="020F0502020204030204" pitchFamily="34" charset="0"/>
            </a:endParaRPr>
          </a:p>
        </p:txBody>
      </p:sp>
      <p:sp>
        <p:nvSpPr>
          <p:cNvPr id="39252" name="Rectangle 339"/>
          <p:cNvSpPr>
            <a:spLocks noChangeArrowheads="1"/>
          </p:cNvSpPr>
          <p:nvPr/>
        </p:nvSpPr>
        <p:spPr bwMode="auto">
          <a:xfrm>
            <a:off x="4198938" y="5635625"/>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939.4512</a:t>
            </a:r>
            <a:endParaRPr lang="en-US" altLang="en-US">
              <a:solidFill>
                <a:srgbClr val="000000"/>
              </a:solidFill>
              <a:latin typeface="Calibri" panose="020F0502020204030204" pitchFamily="34" charset="0"/>
            </a:endParaRPr>
          </a:p>
        </p:txBody>
      </p:sp>
      <p:sp>
        <p:nvSpPr>
          <p:cNvPr id="39253" name="Rectangle 340"/>
          <p:cNvSpPr>
            <a:spLocks noChangeArrowheads="1"/>
          </p:cNvSpPr>
          <p:nvPr/>
        </p:nvSpPr>
        <p:spPr bwMode="auto">
          <a:xfrm>
            <a:off x="1619250" y="5683250"/>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536.6187</a:t>
            </a:r>
            <a:endParaRPr lang="en-US" altLang="en-US">
              <a:solidFill>
                <a:srgbClr val="000000"/>
              </a:solidFill>
              <a:latin typeface="Calibri" panose="020F0502020204030204" pitchFamily="34" charset="0"/>
            </a:endParaRPr>
          </a:p>
        </p:txBody>
      </p:sp>
      <p:sp>
        <p:nvSpPr>
          <p:cNvPr id="39254" name="Rectangle 341"/>
          <p:cNvSpPr>
            <a:spLocks noChangeArrowheads="1"/>
          </p:cNvSpPr>
          <p:nvPr/>
        </p:nvSpPr>
        <p:spPr bwMode="auto">
          <a:xfrm>
            <a:off x="4000500" y="583406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910.9407</a:t>
            </a:r>
            <a:endParaRPr lang="en-US" altLang="en-US">
              <a:solidFill>
                <a:srgbClr val="000000"/>
              </a:solidFill>
              <a:latin typeface="Calibri" panose="020F0502020204030204" pitchFamily="34" charset="0"/>
            </a:endParaRPr>
          </a:p>
        </p:txBody>
      </p:sp>
      <p:sp>
        <p:nvSpPr>
          <p:cNvPr id="39255" name="Line 342"/>
          <p:cNvSpPr>
            <a:spLocks noChangeShapeType="1"/>
          </p:cNvSpPr>
          <p:nvPr/>
        </p:nvSpPr>
        <p:spPr bwMode="auto">
          <a:xfrm flipH="1" flipV="1">
            <a:off x="4178300" y="5913438"/>
            <a:ext cx="17463" cy="6350"/>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56" name="Rectangle 343"/>
          <p:cNvSpPr>
            <a:spLocks noChangeArrowheads="1"/>
          </p:cNvSpPr>
          <p:nvPr/>
        </p:nvSpPr>
        <p:spPr bwMode="auto">
          <a:xfrm>
            <a:off x="4397375" y="584041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967.4455</a:t>
            </a:r>
            <a:endParaRPr lang="en-US" altLang="en-US">
              <a:solidFill>
                <a:srgbClr val="000000"/>
              </a:solidFill>
              <a:latin typeface="Calibri" panose="020F0502020204030204" pitchFamily="34" charset="0"/>
            </a:endParaRPr>
          </a:p>
        </p:txBody>
      </p:sp>
      <p:sp>
        <p:nvSpPr>
          <p:cNvPr id="39257" name="Line 344"/>
          <p:cNvSpPr>
            <a:spLocks noChangeShapeType="1"/>
          </p:cNvSpPr>
          <p:nvPr/>
        </p:nvSpPr>
        <p:spPr bwMode="auto">
          <a:xfrm flipV="1">
            <a:off x="4557713" y="5919788"/>
            <a:ext cx="17462" cy="6350"/>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58" name="Rectangle 345"/>
          <p:cNvSpPr>
            <a:spLocks noChangeArrowheads="1"/>
          </p:cNvSpPr>
          <p:nvPr/>
        </p:nvSpPr>
        <p:spPr bwMode="auto">
          <a:xfrm>
            <a:off x="3144838" y="584041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786.3691</a:t>
            </a:r>
            <a:endParaRPr lang="en-US" altLang="en-US">
              <a:solidFill>
                <a:srgbClr val="000000"/>
              </a:solidFill>
              <a:latin typeface="Calibri" panose="020F0502020204030204" pitchFamily="34" charset="0"/>
            </a:endParaRPr>
          </a:p>
        </p:txBody>
      </p:sp>
      <p:sp>
        <p:nvSpPr>
          <p:cNvPr id="39259" name="Line 346"/>
          <p:cNvSpPr>
            <a:spLocks noChangeShapeType="1"/>
          </p:cNvSpPr>
          <p:nvPr/>
        </p:nvSpPr>
        <p:spPr bwMode="auto">
          <a:xfrm flipH="1" flipV="1">
            <a:off x="3322638" y="5919788"/>
            <a:ext cx="71437" cy="6350"/>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60" name="Rectangle 347"/>
          <p:cNvSpPr>
            <a:spLocks noChangeArrowheads="1"/>
          </p:cNvSpPr>
          <p:nvPr/>
        </p:nvSpPr>
        <p:spPr bwMode="auto">
          <a:xfrm>
            <a:off x="1830388" y="5575300"/>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569.8100</a:t>
            </a:r>
            <a:endParaRPr lang="en-US" altLang="en-US">
              <a:solidFill>
                <a:srgbClr val="000000"/>
              </a:solidFill>
              <a:latin typeface="Calibri" panose="020F0502020204030204" pitchFamily="34" charset="0"/>
            </a:endParaRPr>
          </a:p>
        </p:txBody>
      </p:sp>
      <p:sp>
        <p:nvSpPr>
          <p:cNvPr id="39261" name="Line 348"/>
          <p:cNvSpPr>
            <a:spLocks noChangeShapeType="1"/>
          </p:cNvSpPr>
          <p:nvPr/>
        </p:nvSpPr>
        <p:spPr bwMode="auto">
          <a:xfrm flipV="1">
            <a:off x="2008188" y="5654675"/>
            <a:ext cx="1587" cy="312738"/>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62" name="Rectangle 349"/>
          <p:cNvSpPr>
            <a:spLocks noChangeArrowheads="1"/>
          </p:cNvSpPr>
          <p:nvPr/>
        </p:nvSpPr>
        <p:spPr bwMode="auto">
          <a:xfrm>
            <a:off x="2427288" y="5937250"/>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645.6426</a:t>
            </a:r>
            <a:endParaRPr lang="en-US" altLang="en-US">
              <a:solidFill>
                <a:srgbClr val="000000"/>
              </a:solidFill>
              <a:latin typeface="Calibri" panose="020F0502020204030204" pitchFamily="34" charset="0"/>
            </a:endParaRPr>
          </a:p>
        </p:txBody>
      </p:sp>
      <p:sp>
        <p:nvSpPr>
          <p:cNvPr id="39263" name="Line 350"/>
          <p:cNvSpPr>
            <a:spLocks noChangeShapeType="1"/>
          </p:cNvSpPr>
          <p:nvPr/>
        </p:nvSpPr>
        <p:spPr bwMode="auto">
          <a:xfrm flipV="1">
            <a:off x="2495550" y="6015038"/>
            <a:ext cx="109538" cy="6350"/>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64" name="Rectangle 351"/>
          <p:cNvSpPr>
            <a:spLocks noChangeArrowheads="1"/>
          </p:cNvSpPr>
          <p:nvPr/>
        </p:nvSpPr>
        <p:spPr bwMode="auto">
          <a:xfrm>
            <a:off x="1485900" y="523081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499.2962</a:t>
            </a:r>
            <a:endParaRPr lang="en-US" altLang="en-US">
              <a:solidFill>
                <a:srgbClr val="000000"/>
              </a:solidFill>
              <a:latin typeface="Calibri" panose="020F0502020204030204" pitchFamily="34" charset="0"/>
            </a:endParaRPr>
          </a:p>
        </p:txBody>
      </p:sp>
      <p:sp>
        <p:nvSpPr>
          <p:cNvPr id="39266" name="Rectangle 353"/>
          <p:cNvSpPr>
            <a:spLocks noChangeArrowheads="1"/>
          </p:cNvSpPr>
          <p:nvPr/>
        </p:nvSpPr>
        <p:spPr bwMode="auto">
          <a:xfrm>
            <a:off x="3578225" y="5961063"/>
            <a:ext cx="28854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842.4164</a:t>
            </a:r>
            <a:endParaRPr lang="en-US" altLang="en-US">
              <a:solidFill>
                <a:srgbClr val="000000"/>
              </a:solidFill>
              <a:latin typeface="Calibri" panose="020F0502020204030204" pitchFamily="34" charset="0"/>
            </a:endParaRPr>
          </a:p>
        </p:txBody>
      </p:sp>
      <p:sp>
        <p:nvSpPr>
          <p:cNvPr id="39267" name="Rectangle 354"/>
          <p:cNvSpPr>
            <a:spLocks noChangeArrowheads="1"/>
          </p:cNvSpPr>
          <p:nvPr/>
        </p:nvSpPr>
        <p:spPr bwMode="auto">
          <a:xfrm>
            <a:off x="7499350" y="5961063"/>
            <a:ext cx="327013"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1457.7279</a:t>
            </a:r>
            <a:endParaRPr lang="en-US" altLang="en-US">
              <a:solidFill>
                <a:srgbClr val="000000"/>
              </a:solidFill>
              <a:latin typeface="Calibri" panose="020F0502020204030204" pitchFamily="34" charset="0"/>
            </a:endParaRPr>
          </a:p>
        </p:txBody>
      </p:sp>
      <p:sp>
        <p:nvSpPr>
          <p:cNvPr id="39268" name="Rectangle 355"/>
          <p:cNvSpPr>
            <a:spLocks noChangeArrowheads="1"/>
          </p:cNvSpPr>
          <p:nvPr/>
        </p:nvSpPr>
        <p:spPr bwMode="auto">
          <a:xfrm>
            <a:off x="4852988" y="5991225"/>
            <a:ext cx="327013"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1044.5447</a:t>
            </a:r>
            <a:endParaRPr lang="en-US" altLang="en-US">
              <a:solidFill>
                <a:srgbClr val="000000"/>
              </a:solidFill>
              <a:latin typeface="Calibri" panose="020F0502020204030204" pitchFamily="34" charset="0"/>
            </a:endParaRPr>
          </a:p>
        </p:txBody>
      </p:sp>
      <p:sp>
        <p:nvSpPr>
          <p:cNvPr id="39269" name="Rectangle 356"/>
          <p:cNvSpPr>
            <a:spLocks noChangeArrowheads="1"/>
          </p:cNvSpPr>
          <p:nvPr/>
        </p:nvSpPr>
        <p:spPr bwMode="auto">
          <a:xfrm>
            <a:off x="5456238" y="6002338"/>
            <a:ext cx="327013"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1138.6152</a:t>
            </a:r>
            <a:endParaRPr lang="en-US" altLang="en-US">
              <a:solidFill>
                <a:srgbClr val="000000"/>
              </a:solidFill>
              <a:latin typeface="Calibri" panose="020F0502020204030204" pitchFamily="34" charset="0"/>
            </a:endParaRPr>
          </a:p>
        </p:txBody>
      </p:sp>
      <p:sp>
        <p:nvSpPr>
          <p:cNvPr id="39270" name="Rectangle 357"/>
          <p:cNvSpPr>
            <a:spLocks noChangeArrowheads="1"/>
          </p:cNvSpPr>
          <p:nvPr/>
        </p:nvSpPr>
        <p:spPr bwMode="auto">
          <a:xfrm>
            <a:off x="6003925" y="6008688"/>
            <a:ext cx="327013"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1224.5548</a:t>
            </a:r>
            <a:endParaRPr lang="en-US" altLang="en-US">
              <a:solidFill>
                <a:srgbClr val="000000"/>
              </a:solidFill>
              <a:latin typeface="Calibri" panose="020F0502020204030204" pitchFamily="34" charset="0"/>
            </a:endParaRPr>
          </a:p>
        </p:txBody>
      </p:sp>
      <p:sp>
        <p:nvSpPr>
          <p:cNvPr id="39271" name="Rectangle 358"/>
          <p:cNvSpPr>
            <a:spLocks noChangeArrowheads="1"/>
          </p:cNvSpPr>
          <p:nvPr/>
        </p:nvSpPr>
        <p:spPr bwMode="auto">
          <a:xfrm>
            <a:off x="6402388" y="6008688"/>
            <a:ext cx="327013"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1269.4844</a:t>
            </a:r>
            <a:endParaRPr lang="en-US" altLang="en-US">
              <a:solidFill>
                <a:srgbClr val="000000"/>
              </a:solidFill>
              <a:latin typeface="Calibri" panose="020F0502020204030204" pitchFamily="34" charset="0"/>
            </a:endParaRPr>
          </a:p>
        </p:txBody>
      </p:sp>
      <p:sp>
        <p:nvSpPr>
          <p:cNvPr id="39272" name="Line 359"/>
          <p:cNvSpPr>
            <a:spLocks noChangeShapeType="1"/>
          </p:cNvSpPr>
          <p:nvPr/>
        </p:nvSpPr>
        <p:spPr bwMode="auto">
          <a:xfrm flipV="1">
            <a:off x="6492875" y="6088063"/>
            <a:ext cx="107950" cy="6350"/>
          </a:xfrm>
          <a:prstGeom prst="line">
            <a:avLst/>
          </a:prstGeom>
          <a:noFill/>
          <a:ln w="0">
            <a:solidFill>
              <a:srgbClr val="46B446"/>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73" name="Rectangle 360"/>
          <p:cNvSpPr>
            <a:spLocks noChangeArrowheads="1"/>
          </p:cNvSpPr>
          <p:nvPr/>
        </p:nvSpPr>
        <p:spPr bwMode="auto">
          <a:xfrm>
            <a:off x="7016750" y="6008688"/>
            <a:ext cx="327013"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1382.7244</a:t>
            </a:r>
            <a:endParaRPr lang="en-US" altLang="en-US">
              <a:solidFill>
                <a:srgbClr val="000000"/>
              </a:solidFill>
              <a:latin typeface="Calibri" panose="020F0502020204030204" pitchFamily="34" charset="0"/>
            </a:endParaRPr>
          </a:p>
        </p:txBody>
      </p:sp>
      <p:sp>
        <p:nvSpPr>
          <p:cNvPr id="39274" name="Rectangle 361"/>
          <p:cNvSpPr>
            <a:spLocks noChangeArrowheads="1"/>
          </p:cNvSpPr>
          <p:nvPr/>
        </p:nvSpPr>
        <p:spPr bwMode="auto">
          <a:xfrm>
            <a:off x="8228013" y="6021388"/>
            <a:ext cx="327013"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a:solidFill>
                  <a:srgbClr val="000000"/>
                </a:solidFill>
                <a:latin typeface="Calibri" panose="020F0502020204030204" pitchFamily="34" charset="0"/>
              </a:rPr>
              <a:t>1571.7335</a:t>
            </a:r>
            <a:endParaRPr lang="en-US" altLang="en-US">
              <a:solidFill>
                <a:srgbClr val="000000"/>
              </a:solidFill>
              <a:latin typeface="Calibri" panose="020F0502020204030204" pitchFamily="34" charset="0"/>
            </a:endParaRPr>
          </a:p>
        </p:txBody>
      </p:sp>
      <p:pic>
        <p:nvPicPr>
          <p:cNvPr id="39276" name="Picture 3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0" y="3962400"/>
            <a:ext cx="1143000"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277" name="Text Box 364"/>
          <p:cNvSpPr txBox="1">
            <a:spLocks noChangeArrowheads="1"/>
          </p:cNvSpPr>
          <p:nvPr/>
        </p:nvSpPr>
        <p:spPr bwMode="auto">
          <a:xfrm>
            <a:off x="2971800" y="3886200"/>
            <a:ext cx="912429" cy="2154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  MS-MS 910.94</a:t>
            </a:r>
          </a:p>
        </p:txBody>
      </p:sp>
      <p:pic>
        <p:nvPicPr>
          <p:cNvPr id="39278" name="Picture 36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91000" y="4267200"/>
            <a:ext cx="1066800"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279" name="Text Box 366"/>
          <p:cNvSpPr txBox="1">
            <a:spLocks noChangeArrowheads="1"/>
          </p:cNvSpPr>
          <p:nvPr/>
        </p:nvSpPr>
        <p:spPr bwMode="auto">
          <a:xfrm>
            <a:off x="4114800" y="4114800"/>
            <a:ext cx="912429" cy="2154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2.  MS-MS 519.26</a:t>
            </a:r>
          </a:p>
        </p:txBody>
      </p:sp>
      <p:pic>
        <p:nvPicPr>
          <p:cNvPr id="39280" name="Picture 36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81600" y="4495800"/>
            <a:ext cx="1219200"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281" name="Text Box 368"/>
          <p:cNvSpPr txBox="1">
            <a:spLocks noChangeArrowheads="1"/>
          </p:cNvSpPr>
          <p:nvPr/>
        </p:nvSpPr>
        <p:spPr bwMode="auto">
          <a:xfrm>
            <a:off x="5105400" y="4343400"/>
            <a:ext cx="912429" cy="2154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3.  MS-MS 489.24</a:t>
            </a:r>
          </a:p>
        </p:txBody>
      </p:sp>
      <p:pic>
        <p:nvPicPr>
          <p:cNvPr id="39282" name="Picture 36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24600" y="4800600"/>
            <a:ext cx="1143000"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283" name="Text Box 370"/>
          <p:cNvSpPr txBox="1">
            <a:spLocks noChangeArrowheads="1"/>
          </p:cNvSpPr>
          <p:nvPr/>
        </p:nvSpPr>
        <p:spPr bwMode="auto">
          <a:xfrm>
            <a:off x="6248400" y="4648200"/>
            <a:ext cx="912429" cy="2154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  MS-MS 570.31</a:t>
            </a:r>
          </a:p>
        </p:txBody>
      </p:sp>
      <p:pic>
        <p:nvPicPr>
          <p:cNvPr id="39284" name="Picture 37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91400" y="5029200"/>
            <a:ext cx="1296988"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285" name="Text Box 372"/>
          <p:cNvSpPr txBox="1">
            <a:spLocks noChangeArrowheads="1"/>
          </p:cNvSpPr>
          <p:nvPr/>
        </p:nvSpPr>
        <p:spPr bwMode="auto">
          <a:xfrm>
            <a:off x="7315200" y="4876800"/>
            <a:ext cx="912429" cy="2154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5.  MS-MS 573.61</a:t>
            </a:r>
          </a:p>
        </p:txBody>
      </p:sp>
      <p:sp>
        <p:nvSpPr>
          <p:cNvPr id="39286" name="Line 373"/>
          <p:cNvSpPr>
            <a:spLocks noChangeShapeType="1"/>
          </p:cNvSpPr>
          <p:nvPr/>
        </p:nvSpPr>
        <p:spPr bwMode="auto">
          <a:xfrm>
            <a:off x="887413" y="3833813"/>
            <a:ext cx="7339012"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87" name="Line 374"/>
          <p:cNvSpPr>
            <a:spLocks noChangeShapeType="1"/>
          </p:cNvSpPr>
          <p:nvPr/>
        </p:nvSpPr>
        <p:spPr bwMode="auto">
          <a:xfrm>
            <a:off x="91122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88" name="Line 375"/>
          <p:cNvSpPr>
            <a:spLocks noChangeShapeType="1"/>
          </p:cNvSpPr>
          <p:nvPr/>
        </p:nvSpPr>
        <p:spPr bwMode="auto">
          <a:xfrm>
            <a:off x="105251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89" name="Line 376"/>
          <p:cNvSpPr>
            <a:spLocks noChangeShapeType="1"/>
          </p:cNvSpPr>
          <p:nvPr/>
        </p:nvSpPr>
        <p:spPr bwMode="auto">
          <a:xfrm>
            <a:off x="11890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0" name="Line 377"/>
          <p:cNvSpPr>
            <a:spLocks noChangeShapeType="1"/>
          </p:cNvSpPr>
          <p:nvPr/>
        </p:nvSpPr>
        <p:spPr bwMode="auto">
          <a:xfrm>
            <a:off x="133032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1" name="Line 378"/>
          <p:cNvSpPr>
            <a:spLocks noChangeShapeType="1"/>
          </p:cNvSpPr>
          <p:nvPr/>
        </p:nvSpPr>
        <p:spPr bwMode="auto">
          <a:xfrm>
            <a:off x="161448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2" name="Line 379"/>
          <p:cNvSpPr>
            <a:spLocks noChangeShapeType="1"/>
          </p:cNvSpPr>
          <p:nvPr/>
        </p:nvSpPr>
        <p:spPr bwMode="auto">
          <a:xfrm>
            <a:off x="175101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3" name="Line 380"/>
          <p:cNvSpPr>
            <a:spLocks noChangeShapeType="1"/>
          </p:cNvSpPr>
          <p:nvPr/>
        </p:nvSpPr>
        <p:spPr bwMode="auto">
          <a:xfrm>
            <a:off x="189230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4" name="Line 381"/>
          <p:cNvSpPr>
            <a:spLocks noChangeShapeType="1"/>
          </p:cNvSpPr>
          <p:nvPr/>
        </p:nvSpPr>
        <p:spPr bwMode="auto">
          <a:xfrm>
            <a:off x="203517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5" name="Line 382"/>
          <p:cNvSpPr>
            <a:spLocks noChangeShapeType="1"/>
          </p:cNvSpPr>
          <p:nvPr/>
        </p:nvSpPr>
        <p:spPr bwMode="auto">
          <a:xfrm>
            <a:off x="23193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6" name="Line 383"/>
          <p:cNvSpPr>
            <a:spLocks noChangeShapeType="1"/>
          </p:cNvSpPr>
          <p:nvPr/>
        </p:nvSpPr>
        <p:spPr bwMode="auto">
          <a:xfrm>
            <a:off x="245427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7" name="Line 384"/>
          <p:cNvSpPr>
            <a:spLocks noChangeShapeType="1"/>
          </p:cNvSpPr>
          <p:nvPr/>
        </p:nvSpPr>
        <p:spPr bwMode="auto">
          <a:xfrm>
            <a:off x="259715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8" name="Line 385"/>
          <p:cNvSpPr>
            <a:spLocks noChangeShapeType="1"/>
          </p:cNvSpPr>
          <p:nvPr/>
        </p:nvSpPr>
        <p:spPr bwMode="auto">
          <a:xfrm>
            <a:off x="27384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299" name="Line 386"/>
          <p:cNvSpPr>
            <a:spLocks noChangeShapeType="1"/>
          </p:cNvSpPr>
          <p:nvPr/>
        </p:nvSpPr>
        <p:spPr bwMode="auto">
          <a:xfrm>
            <a:off x="301625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0" name="Line 387"/>
          <p:cNvSpPr>
            <a:spLocks noChangeShapeType="1"/>
          </p:cNvSpPr>
          <p:nvPr/>
        </p:nvSpPr>
        <p:spPr bwMode="auto">
          <a:xfrm>
            <a:off x="31575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1" name="Line 388"/>
          <p:cNvSpPr>
            <a:spLocks noChangeShapeType="1"/>
          </p:cNvSpPr>
          <p:nvPr/>
        </p:nvSpPr>
        <p:spPr bwMode="auto">
          <a:xfrm>
            <a:off x="330041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2" name="Line 389"/>
          <p:cNvSpPr>
            <a:spLocks noChangeShapeType="1"/>
          </p:cNvSpPr>
          <p:nvPr/>
        </p:nvSpPr>
        <p:spPr bwMode="auto">
          <a:xfrm>
            <a:off x="344170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3" name="Line 390"/>
          <p:cNvSpPr>
            <a:spLocks noChangeShapeType="1"/>
          </p:cNvSpPr>
          <p:nvPr/>
        </p:nvSpPr>
        <p:spPr bwMode="auto">
          <a:xfrm>
            <a:off x="371951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4" name="Line 391"/>
          <p:cNvSpPr>
            <a:spLocks noChangeShapeType="1"/>
          </p:cNvSpPr>
          <p:nvPr/>
        </p:nvSpPr>
        <p:spPr bwMode="auto">
          <a:xfrm>
            <a:off x="386238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5" name="Line 392"/>
          <p:cNvSpPr>
            <a:spLocks noChangeShapeType="1"/>
          </p:cNvSpPr>
          <p:nvPr/>
        </p:nvSpPr>
        <p:spPr bwMode="auto">
          <a:xfrm>
            <a:off x="400367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6" name="Line 393"/>
          <p:cNvSpPr>
            <a:spLocks noChangeShapeType="1"/>
          </p:cNvSpPr>
          <p:nvPr/>
        </p:nvSpPr>
        <p:spPr bwMode="auto">
          <a:xfrm>
            <a:off x="414020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7" name="Line 394"/>
          <p:cNvSpPr>
            <a:spLocks noChangeShapeType="1"/>
          </p:cNvSpPr>
          <p:nvPr/>
        </p:nvSpPr>
        <p:spPr bwMode="auto">
          <a:xfrm>
            <a:off x="442436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8" name="Line 395"/>
          <p:cNvSpPr>
            <a:spLocks noChangeShapeType="1"/>
          </p:cNvSpPr>
          <p:nvPr/>
        </p:nvSpPr>
        <p:spPr bwMode="auto">
          <a:xfrm>
            <a:off x="456565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09" name="Line 396"/>
          <p:cNvSpPr>
            <a:spLocks noChangeShapeType="1"/>
          </p:cNvSpPr>
          <p:nvPr/>
        </p:nvSpPr>
        <p:spPr bwMode="auto">
          <a:xfrm>
            <a:off x="470217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0" name="Line 397"/>
          <p:cNvSpPr>
            <a:spLocks noChangeShapeType="1"/>
          </p:cNvSpPr>
          <p:nvPr/>
        </p:nvSpPr>
        <p:spPr bwMode="auto">
          <a:xfrm>
            <a:off x="484346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1" name="Line 398"/>
          <p:cNvSpPr>
            <a:spLocks noChangeShapeType="1"/>
          </p:cNvSpPr>
          <p:nvPr/>
        </p:nvSpPr>
        <p:spPr bwMode="auto">
          <a:xfrm>
            <a:off x="512762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2" name="Line 399"/>
          <p:cNvSpPr>
            <a:spLocks noChangeShapeType="1"/>
          </p:cNvSpPr>
          <p:nvPr/>
        </p:nvSpPr>
        <p:spPr bwMode="auto">
          <a:xfrm>
            <a:off x="526415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3" name="Line 400"/>
          <p:cNvSpPr>
            <a:spLocks noChangeShapeType="1"/>
          </p:cNvSpPr>
          <p:nvPr/>
        </p:nvSpPr>
        <p:spPr bwMode="auto">
          <a:xfrm>
            <a:off x="54054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4" name="Line 401"/>
          <p:cNvSpPr>
            <a:spLocks noChangeShapeType="1"/>
          </p:cNvSpPr>
          <p:nvPr/>
        </p:nvSpPr>
        <p:spPr bwMode="auto">
          <a:xfrm>
            <a:off x="554672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5" name="Line 402"/>
          <p:cNvSpPr>
            <a:spLocks noChangeShapeType="1"/>
          </p:cNvSpPr>
          <p:nvPr/>
        </p:nvSpPr>
        <p:spPr bwMode="auto">
          <a:xfrm>
            <a:off x="58245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6" name="Line 403"/>
          <p:cNvSpPr>
            <a:spLocks noChangeShapeType="1"/>
          </p:cNvSpPr>
          <p:nvPr/>
        </p:nvSpPr>
        <p:spPr bwMode="auto">
          <a:xfrm>
            <a:off x="596741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7" name="Line 404"/>
          <p:cNvSpPr>
            <a:spLocks noChangeShapeType="1"/>
          </p:cNvSpPr>
          <p:nvPr/>
        </p:nvSpPr>
        <p:spPr bwMode="auto">
          <a:xfrm>
            <a:off x="610870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8" name="Line 405"/>
          <p:cNvSpPr>
            <a:spLocks noChangeShapeType="1"/>
          </p:cNvSpPr>
          <p:nvPr/>
        </p:nvSpPr>
        <p:spPr bwMode="auto">
          <a:xfrm>
            <a:off x="625157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19" name="Line 406"/>
          <p:cNvSpPr>
            <a:spLocks noChangeShapeType="1"/>
          </p:cNvSpPr>
          <p:nvPr/>
        </p:nvSpPr>
        <p:spPr bwMode="auto">
          <a:xfrm>
            <a:off x="652938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0" name="Line 407"/>
          <p:cNvSpPr>
            <a:spLocks noChangeShapeType="1"/>
          </p:cNvSpPr>
          <p:nvPr/>
        </p:nvSpPr>
        <p:spPr bwMode="auto">
          <a:xfrm>
            <a:off x="667067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1" name="Line 408"/>
          <p:cNvSpPr>
            <a:spLocks noChangeShapeType="1"/>
          </p:cNvSpPr>
          <p:nvPr/>
        </p:nvSpPr>
        <p:spPr bwMode="auto">
          <a:xfrm>
            <a:off x="681355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2" name="Line 409"/>
          <p:cNvSpPr>
            <a:spLocks noChangeShapeType="1"/>
          </p:cNvSpPr>
          <p:nvPr/>
        </p:nvSpPr>
        <p:spPr bwMode="auto">
          <a:xfrm>
            <a:off x="694848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3" name="Line 410"/>
          <p:cNvSpPr>
            <a:spLocks noChangeShapeType="1"/>
          </p:cNvSpPr>
          <p:nvPr/>
        </p:nvSpPr>
        <p:spPr bwMode="auto">
          <a:xfrm>
            <a:off x="7232650"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4" name="Line 411"/>
          <p:cNvSpPr>
            <a:spLocks noChangeShapeType="1"/>
          </p:cNvSpPr>
          <p:nvPr/>
        </p:nvSpPr>
        <p:spPr bwMode="auto">
          <a:xfrm>
            <a:off x="73739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5" name="Line 412"/>
          <p:cNvSpPr>
            <a:spLocks noChangeShapeType="1"/>
          </p:cNvSpPr>
          <p:nvPr/>
        </p:nvSpPr>
        <p:spPr bwMode="auto">
          <a:xfrm>
            <a:off x="751046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6" name="Line 413"/>
          <p:cNvSpPr>
            <a:spLocks noChangeShapeType="1"/>
          </p:cNvSpPr>
          <p:nvPr/>
        </p:nvSpPr>
        <p:spPr bwMode="auto">
          <a:xfrm>
            <a:off x="76533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7" name="Line 414"/>
          <p:cNvSpPr>
            <a:spLocks noChangeShapeType="1"/>
          </p:cNvSpPr>
          <p:nvPr/>
        </p:nvSpPr>
        <p:spPr bwMode="auto">
          <a:xfrm>
            <a:off x="7935913"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8" name="Line 415"/>
          <p:cNvSpPr>
            <a:spLocks noChangeShapeType="1"/>
          </p:cNvSpPr>
          <p:nvPr/>
        </p:nvSpPr>
        <p:spPr bwMode="auto">
          <a:xfrm>
            <a:off x="8072438" y="383381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29" name="Line 416"/>
          <p:cNvSpPr>
            <a:spLocks noChangeShapeType="1"/>
          </p:cNvSpPr>
          <p:nvPr/>
        </p:nvSpPr>
        <p:spPr bwMode="auto">
          <a:xfrm>
            <a:off x="8213725" y="383381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0" name="Line 417"/>
          <p:cNvSpPr>
            <a:spLocks noChangeShapeType="1"/>
          </p:cNvSpPr>
          <p:nvPr/>
        </p:nvSpPr>
        <p:spPr bwMode="auto">
          <a:xfrm>
            <a:off x="9461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1" name="Line 418"/>
          <p:cNvSpPr>
            <a:spLocks noChangeShapeType="1"/>
          </p:cNvSpPr>
          <p:nvPr/>
        </p:nvSpPr>
        <p:spPr bwMode="auto">
          <a:xfrm>
            <a:off x="9826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2" name="Line 419"/>
          <p:cNvSpPr>
            <a:spLocks noChangeShapeType="1"/>
          </p:cNvSpPr>
          <p:nvPr/>
        </p:nvSpPr>
        <p:spPr bwMode="auto">
          <a:xfrm>
            <a:off x="10175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3" name="Line 420"/>
          <p:cNvSpPr>
            <a:spLocks noChangeShapeType="1"/>
          </p:cNvSpPr>
          <p:nvPr/>
        </p:nvSpPr>
        <p:spPr bwMode="auto">
          <a:xfrm>
            <a:off x="10890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4" name="Line 421"/>
          <p:cNvSpPr>
            <a:spLocks noChangeShapeType="1"/>
          </p:cNvSpPr>
          <p:nvPr/>
        </p:nvSpPr>
        <p:spPr bwMode="auto">
          <a:xfrm>
            <a:off x="11239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5" name="Line 422"/>
          <p:cNvSpPr>
            <a:spLocks noChangeShapeType="1"/>
          </p:cNvSpPr>
          <p:nvPr/>
        </p:nvSpPr>
        <p:spPr bwMode="auto">
          <a:xfrm>
            <a:off x="11588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6" name="Line 423"/>
          <p:cNvSpPr>
            <a:spLocks noChangeShapeType="1"/>
          </p:cNvSpPr>
          <p:nvPr/>
        </p:nvSpPr>
        <p:spPr bwMode="auto">
          <a:xfrm>
            <a:off x="12239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7" name="Line 424"/>
          <p:cNvSpPr>
            <a:spLocks noChangeShapeType="1"/>
          </p:cNvSpPr>
          <p:nvPr/>
        </p:nvSpPr>
        <p:spPr bwMode="auto">
          <a:xfrm>
            <a:off x="12604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8" name="Line 425"/>
          <p:cNvSpPr>
            <a:spLocks noChangeShapeType="1"/>
          </p:cNvSpPr>
          <p:nvPr/>
        </p:nvSpPr>
        <p:spPr bwMode="auto">
          <a:xfrm>
            <a:off x="12954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39" name="Line 426"/>
          <p:cNvSpPr>
            <a:spLocks noChangeShapeType="1"/>
          </p:cNvSpPr>
          <p:nvPr/>
        </p:nvSpPr>
        <p:spPr bwMode="auto">
          <a:xfrm>
            <a:off x="13668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0" name="Line 427"/>
          <p:cNvSpPr>
            <a:spLocks noChangeShapeType="1"/>
          </p:cNvSpPr>
          <p:nvPr/>
        </p:nvSpPr>
        <p:spPr bwMode="auto">
          <a:xfrm>
            <a:off x="14017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1" name="Line 428"/>
          <p:cNvSpPr>
            <a:spLocks noChangeShapeType="1"/>
          </p:cNvSpPr>
          <p:nvPr/>
        </p:nvSpPr>
        <p:spPr bwMode="auto">
          <a:xfrm>
            <a:off x="14382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2" name="Line 429"/>
          <p:cNvSpPr>
            <a:spLocks noChangeShapeType="1"/>
          </p:cNvSpPr>
          <p:nvPr/>
        </p:nvSpPr>
        <p:spPr bwMode="auto">
          <a:xfrm>
            <a:off x="15081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3" name="Line 430"/>
          <p:cNvSpPr>
            <a:spLocks noChangeShapeType="1"/>
          </p:cNvSpPr>
          <p:nvPr/>
        </p:nvSpPr>
        <p:spPr bwMode="auto">
          <a:xfrm>
            <a:off x="15446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4" name="Line 431"/>
          <p:cNvSpPr>
            <a:spLocks noChangeShapeType="1"/>
          </p:cNvSpPr>
          <p:nvPr/>
        </p:nvSpPr>
        <p:spPr bwMode="auto">
          <a:xfrm>
            <a:off x="15795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5" name="Line 432"/>
          <p:cNvSpPr>
            <a:spLocks noChangeShapeType="1"/>
          </p:cNvSpPr>
          <p:nvPr/>
        </p:nvSpPr>
        <p:spPr bwMode="auto">
          <a:xfrm>
            <a:off x="16510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6" name="Line 433"/>
          <p:cNvSpPr>
            <a:spLocks noChangeShapeType="1"/>
          </p:cNvSpPr>
          <p:nvPr/>
        </p:nvSpPr>
        <p:spPr bwMode="auto">
          <a:xfrm>
            <a:off x="16859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7" name="Line 434"/>
          <p:cNvSpPr>
            <a:spLocks noChangeShapeType="1"/>
          </p:cNvSpPr>
          <p:nvPr/>
        </p:nvSpPr>
        <p:spPr bwMode="auto">
          <a:xfrm>
            <a:off x="17208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8" name="Line 435"/>
          <p:cNvSpPr>
            <a:spLocks noChangeShapeType="1"/>
          </p:cNvSpPr>
          <p:nvPr/>
        </p:nvSpPr>
        <p:spPr bwMode="auto">
          <a:xfrm>
            <a:off x="17859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49" name="Line 436"/>
          <p:cNvSpPr>
            <a:spLocks noChangeShapeType="1"/>
          </p:cNvSpPr>
          <p:nvPr/>
        </p:nvSpPr>
        <p:spPr bwMode="auto">
          <a:xfrm>
            <a:off x="18224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0" name="Line 437"/>
          <p:cNvSpPr>
            <a:spLocks noChangeShapeType="1"/>
          </p:cNvSpPr>
          <p:nvPr/>
        </p:nvSpPr>
        <p:spPr bwMode="auto">
          <a:xfrm>
            <a:off x="18573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1" name="Line 438"/>
          <p:cNvSpPr>
            <a:spLocks noChangeShapeType="1"/>
          </p:cNvSpPr>
          <p:nvPr/>
        </p:nvSpPr>
        <p:spPr bwMode="auto">
          <a:xfrm>
            <a:off x="19288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2" name="Line 439"/>
          <p:cNvSpPr>
            <a:spLocks noChangeShapeType="1"/>
          </p:cNvSpPr>
          <p:nvPr/>
        </p:nvSpPr>
        <p:spPr bwMode="auto">
          <a:xfrm>
            <a:off x="19637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3" name="Line 440"/>
          <p:cNvSpPr>
            <a:spLocks noChangeShapeType="1"/>
          </p:cNvSpPr>
          <p:nvPr/>
        </p:nvSpPr>
        <p:spPr bwMode="auto">
          <a:xfrm>
            <a:off x="19986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4" name="Line 441"/>
          <p:cNvSpPr>
            <a:spLocks noChangeShapeType="1"/>
          </p:cNvSpPr>
          <p:nvPr/>
        </p:nvSpPr>
        <p:spPr bwMode="auto">
          <a:xfrm>
            <a:off x="20701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5" name="Line 442"/>
          <p:cNvSpPr>
            <a:spLocks noChangeShapeType="1"/>
          </p:cNvSpPr>
          <p:nvPr/>
        </p:nvSpPr>
        <p:spPr bwMode="auto">
          <a:xfrm>
            <a:off x="21050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6" name="Line 443"/>
          <p:cNvSpPr>
            <a:spLocks noChangeShapeType="1"/>
          </p:cNvSpPr>
          <p:nvPr/>
        </p:nvSpPr>
        <p:spPr bwMode="auto">
          <a:xfrm>
            <a:off x="21415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7" name="Line 444"/>
          <p:cNvSpPr>
            <a:spLocks noChangeShapeType="1"/>
          </p:cNvSpPr>
          <p:nvPr/>
        </p:nvSpPr>
        <p:spPr bwMode="auto">
          <a:xfrm>
            <a:off x="22113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8" name="Line 445"/>
          <p:cNvSpPr>
            <a:spLocks noChangeShapeType="1"/>
          </p:cNvSpPr>
          <p:nvPr/>
        </p:nvSpPr>
        <p:spPr bwMode="auto">
          <a:xfrm>
            <a:off x="22479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59" name="Line 446"/>
          <p:cNvSpPr>
            <a:spLocks noChangeShapeType="1"/>
          </p:cNvSpPr>
          <p:nvPr/>
        </p:nvSpPr>
        <p:spPr bwMode="auto">
          <a:xfrm>
            <a:off x="22828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0" name="Line 447"/>
          <p:cNvSpPr>
            <a:spLocks noChangeShapeType="1"/>
          </p:cNvSpPr>
          <p:nvPr/>
        </p:nvSpPr>
        <p:spPr bwMode="auto">
          <a:xfrm>
            <a:off x="23479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1" name="Line 448"/>
          <p:cNvSpPr>
            <a:spLocks noChangeShapeType="1"/>
          </p:cNvSpPr>
          <p:nvPr/>
        </p:nvSpPr>
        <p:spPr bwMode="auto">
          <a:xfrm>
            <a:off x="23844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2" name="Line 449"/>
          <p:cNvSpPr>
            <a:spLocks noChangeShapeType="1"/>
          </p:cNvSpPr>
          <p:nvPr/>
        </p:nvSpPr>
        <p:spPr bwMode="auto">
          <a:xfrm>
            <a:off x="24193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3" name="Line 450"/>
          <p:cNvSpPr>
            <a:spLocks noChangeShapeType="1"/>
          </p:cNvSpPr>
          <p:nvPr/>
        </p:nvSpPr>
        <p:spPr bwMode="auto">
          <a:xfrm>
            <a:off x="24907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4" name="Line 451"/>
          <p:cNvSpPr>
            <a:spLocks noChangeShapeType="1"/>
          </p:cNvSpPr>
          <p:nvPr/>
        </p:nvSpPr>
        <p:spPr bwMode="auto">
          <a:xfrm>
            <a:off x="25257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5" name="Line 452"/>
          <p:cNvSpPr>
            <a:spLocks noChangeShapeType="1"/>
          </p:cNvSpPr>
          <p:nvPr/>
        </p:nvSpPr>
        <p:spPr bwMode="auto">
          <a:xfrm>
            <a:off x="25606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6" name="Line 453"/>
          <p:cNvSpPr>
            <a:spLocks noChangeShapeType="1"/>
          </p:cNvSpPr>
          <p:nvPr/>
        </p:nvSpPr>
        <p:spPr bwMode="auto">
          <a:xfrm>
            <a:off x="26320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7" name="Line 454"/>
          <p:cNvSpPr>
            <a:spLocks noChangeShapeType="1"/>
          </p:cNvSpPr>
          <p:nvPr/>
        </p:nvSpPr>
        <p:spPr bwMode="auto">
          <a:xfrm>
            <a:off x="26670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8" name="Line 455"/>
          <p:cNvSpPr>
            <a:spLocks noChangeShapeType="1"/>
          </p:cNvSpPr>
          <p:nvPr/>
        </p:nvSpPr>
        <p:spPr bwMode="auto">
          <a:xfrm>
            <a:off x="27035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69" name="Line 456"/>
          <p:cNvSpPr>
            <a:spLocks noChangeShapeType="1"/>
          </p:cNvSpPr>
          <p:nvPr/>
        </p:nvSpPr>
        <p:spPr bwMode="auto">
          <a:xfrm>
            <a:off x="27733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0" name="Line 457"/>
          <p:cNvSpPr>
            <a:spLocks noChangeShapeType="1"/>
          </p:cNvSpPr>
          <p:nvPr/>
        </p:nvSpPr>
        <p:spPr bwMode="auto">
          <a:xfrm>
            <a:off x="28098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1" name="Line 458"/>
          <p:cNvSpPr>
            <a:spLocks noChangeShapeType="1"/>
          </p:cNvSpPr>
          <p:nvPr/>
        </p:nvSpPr>
        <p:spPr bwMode="auto">
          <a:xfrm>
            <a:off x="28448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2" name="Line 459"/>
          <p:cNvSpPr>
            <a:spLocks noChangeShapeType="1"/>
          </p:cNvSpPr>
          <p:nvPr/>
        </p:nvSpPr>
        <p:spPr bwMode="auto">
          <a:xfrm>
            <a:off x="29098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3" name="Line 460"/>
          <p:cNvSpPr>
            <a:spLocks noChangeShapeType="1"/>
          </p:cNvSpPr>
          <p:nvPr/>
        </p:nvSpPr>
        <p:spPr bwMode="auto">
          <a:xfrm>
            <a:off x="29448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4" name="Line 461"/>
          <p:cNvSpPr>
            <a:spLocks noChangeShapeType="1"/>
          </p:cNvSpPr>
          <p:nvPr/>
        </p:nvSpPr>
        <p:spPr bwMode="auto">
          <a:xfrm>
            <a:off x="29813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5" name="Line 462"/>
          <p:cNvSpPr>
            <a:spLocks noChangeShapeType="1"/>
          </p:cNvSpPr>
          <p:nvPr/>
        </p:nvSpPr>
        <p:spPr bwMode="auto">
          <a:xfrm>
            <a:off x="30511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6" name="Line 463"/>
          <p:cNvSpPr>
            <a:spLocks noChangeShapeType="1"/>
          </p:cNvSpPr>
          <p:nvPr/>
        </p:nvSpPr>
        <p:spPr bwMode="auto">
          <a:xfrm>
            <a:off x="30876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7" name="Line 464"/>
          <p:cNvSpPr>
            <a:spLocks noChangeShapeType="1"/>
          </p:cNvSpPr>
          <p:nvPr/>
        </p:nvSpPr>
        <p:spPr bwMode="auto">
          <a:xfrm>
            <a:off x="31226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8" name="Line 465"/>
          <p:cNvSpPr>
            <a:spLocks noChangeShapeType="1"/>
          </p:cNvSpPr>
          <p:nvPr/>
        </p:nvSpPr>
        <p:spPr bwMode="auto">
          <a:xfrm>
            <a:off x="31940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79" name="Line 466"/>
          <p:cNvSpPr>
            <a:spLocks noChangeShapeType="1"/>
          </p:cNvSpPr>
          <p:nvPr/>
        </p:nvSpPr>
        <p:spPr bwMode="auto">
          <a:xfrm>
            <a:off x="32289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0" name="Line 467"/>
          <p:cNvSpPr>
            <a:spLocks noChangeShapeType="1"/>
          </p:cNvSpPr>
          <p:nvPr/>
        </p:nvSpPr>
        <p:spPr bwMode="auto">
          <a:xfrm>
            <a:off x="32654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1" name="Line 468"/>
          <p:cNvSpPr>
            <a:spLocks noChangeShapeType="1"/>
          </p:cNvSpPr>
          <p:nvPr/>
        </p:nvSpPr>
        <p:spPr bwMode="auto">
          <a:xfrm>
            <a:off x="33353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2" name="Line 469"/>
          <p:cNvSpPr>
            <a:spLocks noChangeShapeType="1"/>
          </p:cNvSpPr>
          <p:nvPr/>
        </p:nvSpPr>
        <p:spPr bwMode="auto">
          <a:xfrm>
            <a:off x="33718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3" name="Line 470"/>
          <p:cNvSpPr>
            <a:spLocks noChangeShapeType="1"/>
          </p:cNvSpPr>
          <p:nvPr/>
        </p:nvSpPr>
        <p:spPr bwMode="auto">
          <a:xfrm>
            <a:off x="34067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4" name="Line 471"/>
          <p:cNvSpPr>
            <a:spLocks noChangeShapeType="1"/>
          </p:cNvSpPr>
          <p:nvPr/>
        </p:nvSpPr>
        <p:spPr bwMode="auto">
          <a:xfrm>
            <a:off x="34718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5" name="Line 472"/>
          <p:cNvSpPr>
            <a:spLocks noChangeShapeType="1"/>
          </p:cNvSpPr>
          <p:nvPr/>
        </p:nvSpPr>
        <p:spPr bwMode="auto">
          <a:xfrm>
            <a:off x="35067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6" name="Line 473"/>
          <p:cNvSpPr>
            <a:spLocks noChangeShapeType="1"/>
          </p:cNvSpPr>
          <p:nvPr/>
        </p:nvSpPr>
        <p:spPr bwMode="auto">
          <a:xfrm>
            <a:off x="35433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7" name="Line 474"/>
          <p:cNvSpPr>
            <a:spLocks noChangeShapeType="1"/>
          </p:cNvSpPr>
          <p:nvPr/>
        </p:nvSpPr>
        <p:spPr bwMode="auto">
          <a:xfrm>
            <a:off x="36131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8" name="Line 475"/>
          <p:cNvSpPr>
            <a:spLocks noChangeShapeType="1"/>
          </p:cNvSpPr>
          <p:nvPr/>
        </p:nvSpPr>
        <p:spPr bwMode="auto">
          <a:xfrm>
            <a:off x="36496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89" name="Line 476"/>
          <p:cNvSpPr>
            <a:spLocks noChangeShapeType="1"/>
          </p:cNvSpPr>
          <p:nvPr/>
        </p:nvSpPr>
        <p:spPr bwMode="auto">
          <a:xfrm>
            <a:off x="36845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0" name="Line 477"/>
          <p:cNvSpPr>
            <a:spLocks noChangeShapeType="1"/>
          </p:cNvSpPr>
          <p:nvPr/>
        </p:nvSpPr>
        <p:spPr bwMode="auto">
          <a:xfrm>
            <a:off x="37560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1" name="Line 478"/>
          <p:cNvSpPr>
            <a:spLocks noChangeShapeType="1"/>
          </p:cNvSpPr>
          <p:nvPr/>
        </p:nvSpPr>
        <p:spPr bwMode="auto">
          <a:xfrm>
            <a:off x="37909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2" name="Line 479"/>
          <p:cNvSpPr>
            <a:spLocks noChangeShapeType="1"/>
          </p:cNvSpPr>
          <p:nvPr/>
        </p:nvSpPr>
        <p:spPr bwMode="auto">
          <a:xfrm>
            <a:off x="38258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3" name="Line 480"/>
          <p:cNvSpPr>
            <a:spLocks noChangeShapeType="1"/>
          </p:cNvSpPr>
          <p:nvPr/>
        </p:nvSpPr>
        <p:spPr bwMode="auto">
          <a:xfrm>
            <a:off x="38973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4" name="Line 481"/>
          <p:cNvSpPr>
            <a:spLocks noChangeShapeType="1"/>
          </p:cNvSpPr>
          <p:nvPr/>
        </p:nvSpPr>
        <p:spPr bwMode="auto">
          <a:xfrm>
            <a:off x="39322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5" name="Line 482"/>
          <p:cNvSpPr>
            <a:spLocks noChangeShapeType="1"/>
          </p:cNvSpPr>
          <p:nvPr/>
        </p:nvSpPr>
        <p:spPr bwMode="auto">
          <a:xfrm>
            <a:off x="39687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6" name="Line 483"/>
          <p:cNvSpPr>
            <a:spLocks noChangeShapeType="1"/>
          </p:cNvSpPr>
          <p:nvPr/>
        </p:nvSpPr>
        <p:spPr bwMode="auto">
          <a:xfrm>
            <a:off x="40401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7" name="Line 484"/>
          <p:cNvSpPr>
            <a:spLocks noChangeShapeType="1"/>
          </p:cNvSpPr>
          <p:nvPr/>
        </p:nvSpPr>
        <p:spPr bwMode="auto">
          <a:xfrm>
            <a:off x="40687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8" name="Line 485"/>
          <p:cNvSpPr>
            <a:spLocks noChangeShapeType="1"/>
          </p:cNvSpPr>
          <p:nvPr/>
        </p:nvSpPr>
        <p:spPr bwMode="auto">
          <a:xfrm>
            <a:off x="41052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399" name="Line 486"/>
          <p:cNvSpPr>
            <a:spLocks noChangeShapeType="1"/>
          </p:cNvSpPr>
          <p:nvPr/>
        </p:nvSpPr>
        <p:spPr bwMode="auto">
          <a:xfrm>
            <a:off x="41751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0" name="Line 487"/>
          <p:cNvSpPr>
            <a:spLocks noChangeShapeType="1"/>
          </p:cNvSpPr>
          <p:nvPr/>
        </p:nvSpPr>
        <p:spPr bwMode="auto">
          <a:xfrm>
            <a:off x="42116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1" name="Line 488"/>
          <p:cNvSpPr>
            <a:spLocks noChangeShapeType="1"/>
          </p:cNvSpPr>
          <p:nvPr/>
        </p:nvSpPr>
        <p:spPr bwMode="auto">
          <a:xfrm>
            <a:off x="42465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2" name="Line 489"/>
          <p:cNvSpPr>
            <a:spLocks noChangeShapeType="1"/>
          </p:cNvSpPr>
          <p:nvPr/>
        </p:nvSpPr>
        <p:spPr bwMode="auto">
          <a:xfrm>
            <a:off x="43180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3" name="Line 490"/>
          <p:cNvSpPr>
            <a:spLocks noChangeShapeType="1"/>
          </p:cNvSpPr>
          <p:nvPr/>
        </p:nvSpPr>
        <p:spPr bwMode="auto">
          <a:xfrm>
            <a:off x="43529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4" name="Line 491"/>
          <p:cNvSpPr>
            <a:spLocks noChangeShapeType="1"/>
          </p:cNvSpPr>
          <p:nvPr/>
        </p:nvSpPr>
        <p:spPr bwMode="auto">
          <a:xfrm>
            <a:off x="43878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5" name="Line 492"/>
          <p:cNvSpPr>
            <a:spLocks noChangeShapeType="1"/>
          </p:cNvSpPr>
          <p:nvPr/>
        </p:nvSpPr>
        <p:spPr bwMode="auto">
          <a:xfrm>
            <a:off x="44592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6" name="Line 493"/>
          <p:cNvSpPr>
            <a:spLocks noChangeShapeType="1"/>
          </p:cNvSpPr>
          <p:nvPr/>
        </p:nvSpPr>
        <p:spPr bwMode="auto">
          <a:xfrm>
            <a:off x="44942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7" name="Line 494"/>
          <p:cNvSpPr>
            <a:spLocks noChangeShapeType="1"/>
          </p:cNvSpPr>
          <p:nvPr/>
        </p:nvSpPr>
        <p:spPr bwMode="auto">
          <a:xfrm>
            <a:off x="45307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8" name="Line 495"/>
          <p:cNvSpPr>
            <a:spLocks noChangeShapeType="1"/>
          </p:cNvSpPr>
          <p:nvPr/>
        </p:nvSpPr>
        <p:spPr bwMode="auto">
          <a:xfrm>
            <a:off x="46005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09" name="Line 496"/>
          <p:cNvSpPr>
            <a:spLocks noChangeShapeType="1"/>
          </p:cNvSpPr>
          <p:nvPr/>
        </p:nvSpPr>
        <p:spPr bwMode="auto">
          <a:xfrm>
            <a:off x="46307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0" name="Line 497"/>
          <p:cNvSpPr>
            <a:spLocks noChangeShapeType="1"/>
          </p:cNvSpPr>
          <p:nvPr/>
        </p:nvSpPr>
        <p:spPr bwMode="auto">
          <a:xfrm>
            <a:off x="46656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1" name="Line 498"/>
          <p:cNvSpPr>
            <a:spLocks noChangeShapeType="1"/>
          </p:cNvSpPr>
          <p:nvPr/>
        </p:nvSpPr>
        <p:spPr bwMode="auto">
          <a:xfrm>
            <a:off x="47371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2" name="Line 499"/>
          <p:cNvSpPr>
            <a:spLocks noChangeShapeType="1"/>
          </p:cNvSpPr>
          <p:nvPr/>
        </p:nvSpPr>
        <p:spPr bwMode="auto">
          <a:xfrm>
            <a:off x="47720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3" name="Line 500"/>
          <p:cNvSpPr>
            <a:spLocks noChangeShapeType="1"/>
          </p:cNvSpPr>
          <p:nvPr/>
        </p:nvSpPr>
        <p:spPr bwMode="auto">
          <a:xfrm>
            <a:off x="48085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4" name="Line 501"/>
          <p:cNvSpPr>
            <a:spLocks noChangeShapeType="1"/>
          </p:cNvSpPr>
          <p:nvPr/>
        </p:nvSpPr>
        <p:spPr bwMode="auto">
          <a:xfrm>
            <a:off x="48783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5" name="Line 502"/>
          <p:cNvSpPr>
            <a:spLocks noChangeShapeType="1"/>
          </p:cNvSpPr>
          <p:nvPr/>
        </p:nvSpPr>
        <p:spPr bwMode="auto">
          <a:xfrm>
            <a:off x="49149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6" name="Line 503"/>
          <p:cNvSpPr>
            <a:spLocks noChangeShapeType="1"/>
          </p:cNvSpPr>
          <p:nvPr/>
        </p:nvSpPr>
        <p:spPr bwMode="auto">
          <a:xfrm>
            <a:off x="49498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7" name="Line 504"/>
          <p:cNvSpPr>
            <a:spLocks noChangeShapeType="1"/>
          </p:cNvSpPr>
          <p:nvPr/>
        </p:nvSpPr>
        <p:spPr bwMode="auto">
          <a:xfrm>
            <a:off x="50212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8" name="Line 505"/>
          <p:cNvSpPr>
            <a:spLocks noChangeShapeType="1"/>
          </p:cNvSpPr>
          <p:nvPr/>
        </p:nvSpPr>
        <p:spPr bwMode="auto">
          <a:xfrm>
            <a:off x="50561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19" name="Line 506"/>
          <p:cNvSpPr>
            <a:spLocks noChangeShapeType="1"/>
          </p:cNvSpPr>
          <p:nvPr/>
        </p:nvSpPr>
        <p:spPr bwMode="auto">
          <a:xfrm>
            <a:off x="50927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0" name="Line 507"/>
          <p:cNvSpPr>
            <a:spLocks noChangeShapeType="1"/>
          </p:cNvSpPr>
          <p:nvPr/>
        </p:nvSpPr>
        <p:spPr bwMode="auto">
          <a:xfrm>
            <a:off x="51625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1" name="Line 508"/>
          <p:cNvSpPr>
            <a:spLocks noChangeShapeType="1"/>
          </p:cNvSpPr>
          <p:nvPr/>
        </p:nvSpPr>
        <p:spPr bwMode="auto">
          <a:xfrm>
            <a:off x="51927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2" name="Line 509"/>
          <p:cNvSpPr>
            <a:spLocks noChangeShapeType="1"/>
          </p:cNvSpPr>
          <p:nvPr/>
        </p:nvSpPr>
        <p:spPr bwMode="auto">
          <a:xfrm>
            <a:off x="52276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3" name="Line 510"/>
          <p:cNvSpPr>
            <a:spLocks noChangeShapeType="1"/>
          </p:cNvSpPr>
          <p:nvPr/>
        </p:nvSpPr>
        <p:spPr bwMode="auto">
          <a:xfrm>
            <a:off x="52990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4" name="Line 511"/>
          <p:cNvSpPr>
            <a:spLocks noChangeShapeType="1"/>
          </p:cNvSpPr>
          <p:nvPr/>
        </p:nvSpPr>
        <p:spPr bwMode="auto">
          <a:xfrm>
            <a:off x="53340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5" name="Line 512"/>
          <p:cNvSpPr>
            <a:spLocks noChangeShapeType="1"/>
          </p:cNvSpPr>
          <p:nvPr/>
        </p:nvSpPr>
        <p:spPr bwMode="auto">
          <a:xfrm>
            <a:off x="53705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6" name="Line 513"/>
          <p:cNvSpPr>
            <a:spLocks noChangeShapeType="1"/>
          </p:cNvSpPr>
          <p:nvPr/>
        </p:nvSpPr>
        <p:spPr bwMode="auto">
          <a:xfrm>
            <a:off x="54403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7" name="Line 514"/>
          <p:cNvSpPr>
            <a:spLocks noChangeShapeType="1"/>
          </p:cNvSpPr>
          <p:nvPr/>
        </p:nvSpPr>
        <p:spPr bwMode="auto">
          <a:xfrm>
            <a:off x="54768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8" name="Line 515"/>
          <p:cNvSpPr>
            <a:spLocks noChangeShapeType="1"/>
          </p:cNvSpPr>
          <p:nvPr/>
        </p:nvSpPr>
        <p:spPr bwMode="auto">
          <a:xfrm>
            <a:off x="55118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29" name="Line 516"/>
          <p:cNvSpPr>
            <a:spLocks noChangeShapeType="1"/>
          </p:cNvSpPr>
          <p:nvPr/>
        </p:nvSpPr>
        <p:spPr bwMode="auto">
          <a:xfrm>
            <a:off x="55832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0" name="Line 517"/>
          <p:cNvSpPr>
            <a:spLocks noChangeShapeType="1"/>
          </p:cNvSpPr>
          <p:nvPr/>
        </p:nvSpPr>
        <p:spPr bwMode="auto">
          <a:xfrm>
            <a:off x="56181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1" name="Line 518"/>
          <p:cNvSpPr>
            <a:spLocks noChangeShapeType="1"/>
          </p:cNvSpPr>
          <p:nvPr/>
        </p:nvSpPr>
        <p:spPr bwMode="auto">
          <a:xfrm>
            <a:off x="56530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2" name="Line 519"/>
          <p:cNvSpPr>
            <a:spLocks noChangeShapeType="1"/>
          </p:cNvSpPr>
          <p:nvPr/>
        </p:nvSpPr>
        <p:spPr bwMode="auto">
          <a:xfrm>
            <a:off x="57245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3" name="Line 520"/>
          <p:cNvSpPr>
            <a:spLocks noChangeShapeType="1"/>
          </p:cNvSpPr>
          <p:nvPr/>
        </p:nvSpPr>
        <p:spPr bwMode="auto">
          <a:xfrm>
            <a:off x="57546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4" name="Line 521"/>
          <p:cNvSpPr>
            <a:spLocks noChangeShapeType="1"/>
          </p:cNvSpPr>
          <p:nvPr/>
        </p:nvSpPr>
        <p:spPr bwMode="auto">
          <a:xfrm>
            <a:off x="57896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5" name="Line 522"/>
          <p:cNvSpPr>
            <a:spLocks noChangeShapeType="1"/>
          </p:cNvSpPr>
          <p:nvPr/>
        </p:nvSpPr>
        <p:spPr bwMode="auto">
          <a:xfrm>
            <a:off x="58610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6" name="Line 523"/>
          <p:cNvSpPr>
            <a:spLocks noChangeShapeType="1"/>
          </p:cNvSpPr>
          <p:nvPr/>
        </p:nvSpPr>
        <p:spPr bwMode="auto">
          <a:xfrm>
            <a:off x="58959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7" name="Line 524"/>
          <p:cNvSpPr>
            <a:spLocks noChangeShapeType="1"/>
          </p:cNvSpPr>
          <p:nvPr/>
        </p:nvSpPr>
        <p:spPr bwMode="auto">
          <a:xfrm>
            <a:off x="59324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8" name="Line 525"/>
          <p:cNvSpPr>
            <a:spLocks noChangeShapeType="1"/>
          </p:cNvSpPr>
          <p:nvPr/>
        </p:nvSpPr>
        <p:spPr bwMode="auto">
          <a:xfrm>
            <a:off x="60023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39" name="Line 526"/>
          <p:cNvSpPr>
            <a:spLocks noChangeShapeType="1"/>
          </p:cNvSpPr>
          <p:nvPr/>
        </p:nvSpPr>
        <p:spPr bwMode="auto">
          <a:xfrm>
            <a:off x="60388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0" name="Line 527"/>
          <p:cNvSpPr>
            <a:spLocks noChangeShapeType="1"/>
          </p:cNvSpPr>
          <p:nvPr/>
        </p:nvSpPr>
        <p:spPr bwMode="auto">
          <a:xfrm>
            <a:off x="60737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1" name="Line 528"/>
          <p:cNvSpPr>
            <a:spLocks noChangeShapeType="1"/>
          </p:cNvSpPr>
          <p:nvPr/>
        </p:nvSpPr>
        <p:spPr bwMode="auto">
          <a:xfrm>
            <a:off x="61452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2" name="Line 529"/>
          <p:cNvSpPr>
            <a:spLocks noChangeShapeType="1"/>
          </p:cNvSpPr>
          <p:nvPr/>
        </p:nvSpPr>
        <p:spPr bwMode="auto">
          <a:xfrm>
            <a:off x="61801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3" name="Line 530"/>
          <p:cNvSpPr>
            <a:spLocks noChangeShapeType="1"/>
          </p:cNvSpPr>
          <p:nvPr/>
        </p:nvSpPr>
        <p:spPr bwMode="auto">
          <a:xfrm>
            <a:off x="62150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4" name="Line 531"/>
          <p:cNvSpPr>
            <a:spLocks noChangeShapeType="1"/>
          </p:cNvSpPr>
          <p:nvPr/>
        </p:nvSpPr>
        <p:spPr bwMode="auto">
          <a:xfrm>
            <a:off x="62865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5" name="Line 532"/>
          <p:cNvSpPr>
            <a:spLocks noChangeShapeType="1"/>
          </p:cNvSpPr>
          <p:nvPr/>
        </p:nvSpPr>
        <p:spPr bwMode="auto">
          <a:xfrm>
            <a:off x="63214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6" name="Line 533"/>
          <p:cNvSpPr>
            <a:spLocks noChangeShapeType="1"/>
          </p:cNvSpPr>
          <p:nvPr/>
        </p:nvSpPr>
        <p:spPr bwMode="auto">
          <a:xfrm>
            <a:off x="63515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7" name="Line 534"/>
          <p:cNvSpPr>
            <a:spLocks noChangeShapeType="1"/>
          </p:cNvSpPr>
          <p:nvPr/>
        </p:nvSpPr>
        <p:spPr bwMode="auto">
          <a:xfrm>
            <a:off x="64230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8" name="Line 535"/>
          <p:cNvSpPr>
            <a:spLocks noChangeShapeType="1"/>
          </p:cNvSpPr>
          <p:nvPr/>
        </p:nvSpPr>
        <p:spPr bwMode="auto">
          <a:xfrm>
            <a:off x="64579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49" name="Line 536"/>
          <p:cNvSpPr>
            <a:spLocks noChangeShapeType="1"/>
          </p:cNvSpPr>
          <p:nvPr/>
        </p:nvSpPr>
        <p:spPr bwMode="auto">
          <a:xfrm>
            <a:off x="64928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0" name="Line 537"/>
          <p:cNvSpPr>
            <a:spLocks noChangeShapeType="1"/>
          </p:cNvSpPr>
          <p:nvPr/>
        </p:nvSpPr>
        <p:spPr bwMode="auto">
          <a:xfrm>
            <a:off x="65643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1" name="Line 538"/>
          <p:cNvSpPr>
            <a:spLocks noChangeShapeType="1"/>
          </p:cNvSpPr>
          <p:nvPr/>
        </p:nvSpPr>
        <p:spPr bwMode="auto">
          <a:xfrm>
            <a:off x="65992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2" name="Line 539"/>
          <p:cNvSpPr>
            <a:spLocks noChangeShapeType="1"/>
          </p:cNvSpPr>
          <p:nvPr/>
        </p:nvSpPr>
        <p:spPr bwMode="auto">
          <a:xfrm>
            <a:off x="66357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3" name="Line 540"/>
          <p:cNvSpPr>
            <a:spLocks noChangeShapeType="1"/>
          </p:cNvSpPr>
          <p:nvPr/>
        </p:nvSpPr>
        <p:spPr bwMode="auto">
          <a:xfrm>
            <a:off x="67071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4" name="Line 541"/>
          <p:cNvSpPr>
            <a:spLocks noChangeShapeType="1"/>
          </p:cNvSpPr>
          <p:nvPr/>
        </p:nvSpPr>
        <p:spPr bwMode="auto">
          <a:xfrm>
            <a:off x="67421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5" name="Line 542"/>
          <p:cNvSpPr>
            <a:spLocks noChangeShapeType="1"/>
          </p:cNvSpPr>
          <p:nvPr/>
        </p:nvSpPr>
        <p:spPr bwMode="auto">
          <a:xfrm>
            <a:off x="67770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6" name="Line 543"/>
          <p:cNvSpPr>
            <a:spLocks noChangeShapeType="1"/>
          </p:cNvSpPr>
          <p:nvPr/>
        </p:nvSpPr>
        <p:spPr bwMode="auto">
          <a:xfrm>
            <a:off x="68484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7" name="Line 544"/>
          <p:cNvSpPr>
            <a:spLocks noChangeShapeType="1"/>
          </p:cNvSpPr>
          <p:nvPr/>
        </p:nvSpPr>
        <p:spPr bwMode="auto">
          <a:xfrm>
            <a:off x="68834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8" name="Line 545"/>
          <p:cNvSpPr>
            <a:spLocks noChangeShapeType="1"/>
          </p:cNvSpPr>
          <p:nvPr/>
        </p:nvSpPr>
        <p:spPr bwMode="auto">
          <a:xfrm>
            <a:off x="69135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59" name="Line 546"/>
          <p:cNvSpPr>
            <a:spLocks noChangeShapeType="1"/>
          </p:cNvSpPr>
          <p:nvPr/>
        </p:nvSpPr>
        <p:spPr bwMode="auto">
          <a:xfrm>
            <a:off x="69850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0" name="Line 547"/>
          <p:cNvSpPr>
            <a:spLocks noChangeShapeType="1"/>
          </p:cNvSpPr>
          <p:nvPr/>
        </p:nvSpPr>
        <p:spPr bwMode="auto">
          <a:xfrm>
            <a:off x="70199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1" name="Line 548"/>
          <p:cNvSpPr>
            <a:spLocks noChangeShapeType="1"/>
          </p:cNvSpPr>
          <p:nvPr/>
        </p:nvSpPr>
        <p:spPr bwMode="auto">
          <a:xfrm>
            <a:off x="70548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2" name="Line 549"/>
          <p:cNvSpPr>
            <a:spLocks noChangeShapeType="1"/>
          </p:cNvSpPr>
          <p:nvPr/>
        </p:nvSpPr>
        <p:spPr bwMode="auto">
          <a:xfrm>
            <a:off x="71262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3" name="Line 550"/>
          <p:cNvSpPr>
            <a:spLocks noChangeShapeType="1"/>
          </p:cNvSpPr>
          <p:nvPr/>
        </p:nvSpPr>
        <p:spPr bwMode="auto">
          <a:xfrm>
            <a:off x="71612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4" name="Line 551"/>
          <p:cNvSpPr>
            <a:spLocks noChangeShapeType="1"/>
          </p:cNvSpPr>
          <p:nvPr/>
        </p:nvSpPr>
        <p:spPr bwMode="auto">
          <a:xfrm>
            <a:off x="71977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5" name="Line 552"/>
          <p:cNvSpPr>
            <a:spLocks noChangeShapeType="1"/>
          </p:cNvSpPr>
          <p:nvPr/>
        </p:nvSpPr>
        <p:spPr bwMode="auto">
          <a:xfrm>
            <a:off x="72675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6" name="Line 553"/>
          <p:cNvSpPr>
            <a:spLocks noChangeShapeType="1"/>
          </p:cNvSpPr>
          <p:nvPr/>
        </p:nvSpPr>
        <p:spPr bwMode="auto">
          <a:xfrm>
            <a:off x="73040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7" name="Line 554"/>
          <p:cNvSpPr>
            <a:spLocks noChangeShapeType="1"/>
          </p:cNvSpPr>
          <p:nvPr/>
        </p:nvSpPr>
        <p:spPr bwMode="auto">
          <a:xfrm>
            <a:off x="733901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8" name="Line 555"/>
          <p:cNvSpPr>
            <a:spLocks noChangeShapeType="1"/>
          </p:cNvSpPr>
          <p:nvPr/>
        </p:nvSpPr>
        <p:spPr bwMode="auto">
          <a:xfrm>
            <a:off x="74104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69" name="Line 556"/>
          <p:cNvSpPr>
            <a:spLocks noChangeShapeType="1"/>
          </p:cNvSpPr>
          <p:nvPr/>
        </p:nvSpPr>
        <p:spPr bwMode="auto">
          <a:xfrm>
            <a:off x="74453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0" name="Line 557"/>
          <p:cNvSpPr>
            <a:spLocks noChangeShapeType="1"/>
          </p:cNvSpPr>
          <p:nvPr/>
        </p:nvSpPr>
        <p:spPr bwMode="auto">
          <a:xfrm>
            <a:off x="747553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1" name="Line 558"/>
          <p:cNvSpPr>
            <a:spLocks noChangeShapeType="1"/>
          </p:cNvSpPr>
          <p:nvPr/>
        </p:nvSpPr>
        <p:spPr bwMode="auto">
          <a:xfrm>
            <a:off x="75453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2" name="Line 559"/>
          <p:cNvSpPr>
            <a:spLocks noChangeShapeType="1"/>
          </p:cNvSpPr>
          <p:nvPr/>
        </p:nvSpPr>
        <p:spPr bwMode="auto">
          <a:xfrm>
            <a:off x="75819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3" name="Line 560"/>
          <p:cNvSpPr>
            <a:spLocks noChangeShapeType="1"/>
          </p:cNvSpPr>
          <p:nvPr/>
        </p:nvSpPr>
        <p:spPr bwMode="auto">
          <a:xfrm>
            <a:off x="76168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4" name="Line 561"/>
          <p:cNvSpPr>
            <a:spLocks noChangeShapeType="1"/>
          </p:cNvSpPr>
          <p:nvPr/>
        </p:nvSpPr>
        <p:spPr bwMode="auto">
          <a:xfrm>
            <a:off x="76882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5" name="Line 562"/>
          <p:cNvSpPr>
            <a:spLocks noChangeShapeType="1"/>
          </p:cNvSpPr>
          <p:nvPr/>
        </p:nvSpPr>
        <p:spPr bwMode="auto">
          <a:xfrm>
            <a:off x="77231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6" name="Line 563"/>
          <p:cNvSpPr>
            <a:spLocks noChangeShapeType="1"/>
          </p:cNvSpPr>
          <p:nvPr/>
        </p:nvSpPr>
        <p:spPr bwMode="auto">
          <a:xfrm>
            <a:off x="77597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7" name="Line 564"/>
          <p:cNvSpPr>
            <a:spLocks noChangeShapeType="1"/>
          </p:cNvSpPr>
          <p:nvPr/>
        </p:nvSpPr>
        <p:spPr bwMode="auto">
          <a:xfrm>
            <a:off x="78295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8" name="Line 565"/>
          <p:cNvSpPr>
            <a:spLocks noChangeShapeType="1"/>
          </p:cNvSpPr>
          <p:nvPr/>
        </p:nvSpPr>
        <p:spPr bwMode="auto">
          <a:xfrm>
            <a:off x="78660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79" name="Line 566"/>
          <p:cNvSpPr>
            <a:spLocks noChangeShapeType="1"/>
          </p:cNvSpPr>
          <p:nvPr/>
        </p:nvSpPr>
        <p:spPr bwMode="auto">
          <a:xfrm>
            <a:off x="7900988"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0" name="Line 567"/>
          <p:cNvSpPr>
            <a:spLocks noChangeShapeType="1"/>
          </p:cNvSpPr>
          <p:nvPr/>
        </p:nvSpPr>
        <p:spPr bwMode="auto">
          <a:xfrm>
            <a:off x="797242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1" name="Line 568"/>
          <p:cNvSpPr>
            <a:spLocks noChangeShapeType="1"/>
          </p:cNvSpPr>
          <p:nvPr/>
        </p:nvSpPr>
        <p:spPr bwMode="auto">
          <a:xfrm>
            <a:off x="800735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2" name="Line 569"/>
          <p:cNvSpPr>
            <a:spLocks noChangeShapeType="1"/>
          </p:cNvSpPr>
          <p:nvPr/>
        </p:nvSpPr>
        <p:spPr bwMode="auto">
          <a:xfrm>
            <a:off x="80422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3" name="Line 570"/>
          <p:cNvSpPr>
            <a:spLocks noChangeShapeType="1"/>
          </p:cNvSpPr>
          <p:nvPr/>
        </p:nvSpPr>
        <p:spPr bwMode="auto">
          <a:xfrm>
            <a:off x="8107363" y="3833813"/>
            <a:ext cx="1587"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4" name="Line 571"/>
          <p:cNvSpPr>
            <a:spLocks noChangeShapeType="1"/>
          </p:cNvSpPr>
          <p:nvPr/>
        </p:nvSpPr>
        <p:spPr bwMode="auto">
          <a:xfrm>
            <a:off x="8143875"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5" name="Line 572"/>
          <p:cNvSpPr>
            <a:spLocks noChangeShapeType="1"/>
          </p:cNvSpPr>
          <p:nvPr/>
        </p:nvSpPr>
        <p:spPr bwMode="auto">
          <a:xfrm>
            <a:off x="8178800" y="3833813"/>
            <a:ext cx="1588" cy="79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6" name="Line 573"/>
          <p:cNvSpPr>
            <a:spLocks noChangeShapeType="1"/>
          </p:cNvSpPr>
          <p:nvPr/>
        </p:nvSpPr>
        <p:spPr bwMode="auto">
          <a:xfrm>
            <a:off x="1473200" y="3833813"/>
            <a:ext cx="1588"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7" name="Rectangle 574"/>
          <p:cNvSpPr>
            <a:spLocks noChangeArrowheads="1"/>
          </p:cNvSpPr>
          <p:nvPr/>
        </p:nvSpPr>
        <p:spPr bwMode="auto">
          <a:xfrm>
            <a:off x="1366838"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30.63</a:t>
            </a:r>
            <a:endParaRPr lang="en-US" altLang="en-US">
              <a:solidFill>
                <a:srgbClr val="000000"/>
              </a:solidFill>
              <a:latin typeface="Calibri" panose="020F0502020204030204" pitchFamily="34" charset="0"/>
            </a:endParaRPr>
          </a:p>
        </p:txBody>
      </p:sp>
      <p:sp>
        <p:nvSpPr>
          <p:cNvPr id="39488" name="Line 575"/>
          <p:cNvSpPr>
            <a:spLocks noChangeShapeType="1"/>
          </p:cNvSpPr>
          <p:nvPr/>
        </p:nvSpPr>
        <p:spPr bwMode="auto">
          <a:xfrm>
            <a:off x="2176463" y="3833813"/>
            <a:ext cx="1587"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89" name="Rectangle 576"/>
          <p:cNvSpPr>
            <a:spLocks noChangeArrowheads="1"/>
          </p:cNvSpPr>
          <p:nvPr/>
        </p:nvSpPr>
        <p:spPr bwMode="auto">
          <a:xfrm>
            <a:off x="2070100"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30.64</a:t>
            </a:r>
            <a:endParaRPr lang="en-US" altLang="en-US">
              <a:solidFill>
                <a:srgbClr val="000000"/>
              </a:solidFill>
              <a:latin typeface="Calibri" panose="020F0502020204030204" pitchFamily="34" charset="0"/>
            </a:endParaRPr>
          </a:p>
        </p:txBody>
      </p:sp>
      <p:sp>
        <p:nvSpPr>
          <p:cNvPr id="39490" name="Line 577"/>
          <p:cNvSpPr>
            <a:spLocks noChangeShapeType="1"/>
          </p:cNvSpPr>
          <p:nvPr/>
        </p:nvSpPr>
        <p:spPr bwMode="auto">
          <a:xfrm>
            <a:off x="2879725" y="3833813"/>
            <a:ext cx="1588"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91" name="Rectangle 578"/>
          <p:cNvSpPr>
            <a:spLocks noChangeArrowheads="1"/>
          </p:cNvSpPr>
          <p:nvPr/>
        </p:nvSpPr>
        <p:spPr bwMode="auto">
          <a:xfrm>
            <a:off x="2773363"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30.65</a:t>
            </a:r>
            <a:endParaRPr lang="en-US" altLang="en-US">
              <a:solidFill>
                <a:srgbClr val="000000"/>
              </a:solidFill>
              <a:latin typeface="Calibri" panose="020F0502020204030204" pitchFamily="34" charset="0"/>
            </a:endParaRPr>
          </a:p>
        </p:txBody>
      </p:sp>
      <p:sp>
        <p:nvSpPr>
          <p:cNvPr id="39492" name="Line 579"/>
          <p:cNvSpPr>
            <a:spLocks noChangeShapeType="1"/>
          </p:cNvSpPr>
          <p:nvPr/>
        </p:nvSpPr>
        <p:spPr bwMode="auto">
          <a:xfrm>
            <a:off x="3578225" y="3833813"/>
            <a:ext cx="1588"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93" name="Rectangle 580"/>
          <p:cNvSpPr>
            <a:spLocks noChangeArrowheads="1"/>
          </p:cNvSpPr>
          <p:nvPr/>
        </p:nvSpPr>
        <p:spPr bwMode="auto">
          <a:xfrm>
            <a:off x="3471863"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30.66</a:t>
            </a:r>
            <a:endParaRPr lang="en-US" altLang="en-US">
              <a:solidFill>
                <a:srgbClr val="000000"/>
              </a:solidFill>
              <a:latin typeface="Calibri" panose="020F0502020204030204" pitchFamily="34" charset="0"/>
            </a:endParaRPr>
          </a:p>
        </p:txBody>
      </p:sp>
      <p:sp>
        <p:nvSpPr>
          <p:cNvPr id="39494" name="Line 581"/>
          <p:cNvSpPr>
            <a:spLocks noChangeShapeType="1"/>
          </p:cNvSpPr>
          <p:nvPr/>
        </p:nvSpPr>
        <p:spPr bwMode="auto">
          <a:xfrm>
            <a:off x="4281488" y="3833813"/>
            <a:ext cx="1587"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95" name="Rectangle 582"/>
          <p:cNvSpPr>
            <a:spLocks noChangeArrowheads="1"/>
          </p:cNvSpPr>
          <p:nvPr/>
        </p:nvSpPr>
        <p:spPr bwMode="auto">
          <a:xfrm>
            <a:off x="4175125"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30.67</a:t>
            </a:r>
            <a:endParaRPr lang="en-US" altLang="en-US">
              <a:solidFill>
                <a:srgbClr val="000000"/>
              </a:solidFill>
              <a:latin typeface="Calibri" panose="020F0502020204030204" pitchFamily="34" charset="0"/>
            </a:endParaRPr>
          </a:p>
        </p:txBody>
      </p:sp>
      <p:sp>
        <p:nvSpPr>
          <p:cNvPr id="39496" name="Line 583"/>
          <p:cNvSpPr>
            <a:spLocks noChangeShapeType="1"/>
          </p:cNvSpPr>
          <p:nvPr/>
        </p:nvSpPr>
        <p:spPr bwMode="auto">
          <a:xfrm>
            <a:off x="4986338" y="3833813"/>
            <a:ext cx="1587"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97" name="Rectangle 584"/>
          <p:cNvSpPr>
            <a:spLocks noChangeArrowheads="1"/>
          </p:cNvSpPr>
          <p:nvPr/>
        </p:nvSpPr>
        <p:spPr bwMode="auto">
          <a:xfrm>
            <a:off x="4879975"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30.68</a:t>
            </a:r>
            <a:endParaRPr lang="en-US" altLang="en-US">
              <a:solidFill>
                <a:srgbClr val="000000"/>
              </a:solidFill>
              <a:latin typeface="Calibri" panose="020F0502020204030204" pitchFamily="34" charset="0"/>
            </a:endParaRPr>
          </a:p>
        </p:txBody>
      </p:sp>
      <p:sp>
        <p:nvSpPr>
          <p:cNvPr id="39498" name="Line 585"/>
          <p:cNvSpPr>
            <a:spLocks noChangeShapeType="1"/>
          </p:cNvSpPr>
          <p:nvPr/>
        </p:nvSpPr>
        <p:spPr bwMode="auto">
          <a:xfrm>
            <a:off x="5689600" y="3833813"/>
            <a:ext cx="1588"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499" name="Rectangle 586"/>
          <p:cNvSpPr>
            <a:spLocks noChangeArrowheads="1"/>
          </p:cNvSpPr>
          <p:nvPr/>
        </p:nvSpPr>
        <p:spPr bwMode="auto">
          <a:xfrm>
            <a:off x="5583238"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30.69</a:t>
            </a:r>
            <a:endParaRPr lang="en-US" altLang="en-US">
              <a:solidFill>
                <a:srgbClr val="000000"/>
              </a:solidFill>
              <a:latin typeface="Calibri" panose="020F0502020204030204" pitchFamily="34" charset="0"/>
            </a:endParaRPr>
          </a:p>
        </p:txBody>
      </p:sp>
      <p:sp>
        <p:nvSpPr>
          <p:cNvPr id="39500" name="Line 587"/>
          <p:cNvSpPr>
            <a:spLocks noChangeShapeType="1"/>
          </p:cNvSpPr>
          <p:nvPr/>
        </p:nvSpPr>
        <p:spPr bwMode="auto">
          <a:xfrm>
            <a:off x="6386513" y="3833813"/>
            <a:ext cx="1587"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01" name="Rectangle 588"/>
          <p:cNvSpPr>
            <a:spLocks noChangeArrowheads="1"/>
          </p:cNvSpPr>
          <p:nvPr/>
        </p:nvSpPr>
        <p:spPr bwMode="auto">
          <a:xfrm>
            <a:off x="6280150"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30.70</a:t>
            </a:r>
            <a:endParaRPr lang="en-US" altLang="en-US">
              <a:solidFill>
                <a:srgbClr val="000000"/>
              </a:solidFill>
              <a:latin typeface="Calibri" panose="020F0502020204030204" pitchFamily="34" charset="0"/>
            </a:endParaRPr>
          </a:p>
        </p:txBody>
      </p:sp>
      <p:sp>
        <p:nvSpPr>
          <p:cNvPr id="39502" name="Line 589"/>
          <p:cNvSpPr>
            <a:spLocks noChangeShapeType="1"/>
          </p:cNvSpPr>
          <p:nvPr/>
        </p:nvSpPr>
        <p:spPr bwMode="auto">
          <a:xfrm>
            <a:off x="7091363" y="3833813"/>
            <a:ext cx="1587"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03" name="Rectangle 590"/>
          <p:cNvSpPr>
            <a:spLocks noChangeArrowheads="1"/>
          </p:cNvSpPr>
          <p:nvPr/>
        </p:nvSpPr>
        <p:spPr bwMode="auto">
          <a:xfrm>
            <a:off x="6985000"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30.71</a:t>
            </a:r>
            <a:endParaRPr lang="en-US" altLang="en-US">
              <a:solidFill>
                <a:srgbClr val="000000"/>
              </a:solidFill>
              <a:latin typeface="Calibri" panose="020F0502020204030204" pitchFamily="34" charset="0"/>
            </a:endParaRPr>
          </a:p>
        </p:txBody>
      </p:sp>
      <p:sp>
        <p:nvSpPr>
          <p:cNvPr id="39504" name="Line 591"/>
          <p:cNvSpPr>
            <a:spLocks noChangeShapeType="1"/>
          </p:cNvSpPr>
          <p:nvPr/>
        </p:nvSpPr>
        <p:spPr bwMode="auto">
          <a:xfrm>
            <a:off x="7794625" y="3833813"/>
            <a:ext cx="1588" cy="269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05" name="Rectangle 592"/>
          <p:cNvSpPr>
            <a:spLocks noChangeArrowheads="1"/>
          </p:cNvSpPr>
          <p:nvPr/>
        </p:nvSpPr>
        <p:spPr bwMode="auto">
          <a:xfrm>
            <a:off x="7688263" y="3860800"/>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30.72</a:t>
            </a:r>
            <a:endParaRPr lang="en-US" altLang="en-US">
              <a:solidFill>
                <a:srgbClr val="000000"/>
              </a:solidFill>
              <a:latin typeface="Calibri" panose="020F0502020204030204" pitchFamily="34" charset="0"/>
            </a:endParaRPr>
          </a:p>
        </p:txBody>
      </p:sp>
      <p:sp>
        <p:nvSpPr>
          <p:cNvPr id="39506" name="Rectangle 593"/>
          <p:cNvSpPr>
            <a:spLocks noChangeArrowheads="1"/>
          </p:cNvSpPr>
          <p:nvPr/>
        </p:nvSpPr>
        <p:spPr bwMode="auto">
          <a:xfrm>
            <a:off x="6324600" y="3962400"/>
            <a:ext cx="81592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200" b="1" dirty="0">
                <a:solidFill>
                  <a:srgbClr val="000000"/>
                </a:solidFill>
                <a:latin typeface="Calibri" panose="020F0502020204030204" pitchFamily="34" charset="0"/>
              </a:rPr>
              <a:t>Time (</a:t>
            </a:r>
            <a:r>
              <a:rPr lang="en-US" altLang="en-US" dirty="0">
                <a:solidFill>
                  <a:srgbClr val="000000"/>
                </a:solidFill>
                <a:latin typeface="Calibri" panose="020F0502020204030204" pitchFamily="34" charset="0"/>
              </a:rPr>
              <a:t>min</a:t>
            </a:r>
            <a:r>
              <a:rPr lang="en-US" altLang="en-US" sz="1200" b="1" dirty="0">
                <a:solidFill>
                  <a:srgbClr val="000000"/>
                </a:solidFill>
                <a:latin typeface="Calibri" panose="020F0502020204030204" pitchFamily="34" charset="0"/>
              </a:rPr>
              <a:t>)</a:t>
            </a:r>
          </a:p>
        </p:txBody>
      </p:sp>
      <p:sp>
        <p:nvSpPr>
          <p:cNvPr id="39507" name="Line 594"/>
          <p:cNvSpPr>
            <a:spLocks noChangeShapeType="1"/>
          </p:cNvSpPr>
          <p:nvPr/>
        </p:nvSpPr>
        <p:spPr bwMode="auto">
          <a:xfrm flipV="1">
            <a:off x="887413" y="1444625"/>
            <a:ext cx="1587" cy="238601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08" name="Line 595"/>
          <p:cNvSpPr>
            <a:spLocks noChangeShapeType="1"/>
          </p:cNvSpPr>
          <p:nvPr/>
        </p:nvSpPr>
        <p:spPr bwMode="auto">
          <a:xfrm flipH="1">
            <a:off x="852488" y="38084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09" name="Line 596"/>
          <p:cNvSpPr>
            <a:spLocks noChangeShapeType="1"/>
          </p:cNvSpPr>
          <p:nvPr/>
        </p:nvSpPr>
        <p:spPr bwMode="auto">
          <a:xfrm flipH="1">
            <a:off x="852488" y="37830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0" name="Line 597"/>
          <p:cNvSpPr>
            <a:spLocks noChangeShapeType="1"/>
          </p:cNvSpPr>
          <p:nvPr/>
        </p:nvSpPr>
        <p:spPr bwMode="auto">
          <a:xfrm flipH="1">
            <a:off x="852488" y="376078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1" name="Line 598"/>
          <p:cNvSpPr>
            <a:spLocks noChangeShapeType="1"/>
          </p:cNvSpPr>
          <p:nvPr/>
        </p:nvSpPr>
        <p:spPr bwMode="auto">
          <a:xfrm flipH="1">
            <a:off x="852488" y="37369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2" name="Line 599"/>
          <p:cNvSpPr>
            <a:spLocks noChangeShapeType="1"/>
          </p:cNvSpPr>
          <p:nvPr/>
        </p:nvSpPr>
        <p:spPr bwMode="auto">
          <a:xfrm flipH="1">
            <a:off x="852488" y="36893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3" name="Line 600"/>
          <p:cNvSpPr>
            <a:spLocks noChangeShapeType="1"/>
          </p:cNvSpPr>
          <p:nvPr/>
        </p:nvSpPr>
        <p:spPr bwMode="auto">
          <a:xfrm flipH="1">
            <a:off x="852488" y="36639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4" name="Line 601"/>
          <p:cNvSpPr>
            <a:spLocks noChangeShapeType="1"/>
          </p:cNvSpPr>
          <p:nvPr/>
        </p:nvSpPr>
        <p:spPr bwMode="auto">
          <a:xfrm flipH="1">
            <a:off x="852488" y="36401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5" name="Line 602"/>
          <p:cNvSpPr>
            <a:spLocks noChangeShapeType="1"/>
          </p:cNvSpPr>
          <p:nvPr/>
        </p:nvSpPr>
        <p:spPr bwMode="auto">
          <a:xfrm flipH="1">
            <a:off x="852488" y="36179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6" name="Line 603"/>
          <p:cNvSpPr>
            <a:spLocks noChangeShapeType="1"/>
          </p:cNvSpPr>
          <p:nvPr/>
        </p:nvSpPr>
        <p:spPr bwMode="auto">
          <a:xfrm flipH="1">
            <a:off x="852488" y="35671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7" name="Line 604"/>
          <p:cNvSpPr>
            <a:spLocks noChangeShapeType="1"/>
          </p:cNvSpPr>
          <p:nvPr/>
        </p:nvSpPr>
        <p:spPr bwMode="auto">
          <a:xfrm flipH="1">
            <a:off x="852488" y="35464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8" name="Line 605"/>
          <p:cNvSpPr>
            <a:spLocks noChangeShapeType="1"/>
          </p:cNvSpPr>
          <p:nvPr/>
        </p:nvSpPr>
        <p:spPr bwMode="auto">
          <a:xfrm flipH="1">
            <a:off x="852488" y="35210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19" name="Line 606"/>
          <p:cNvSpPr>
            <a:spLocks noChangeShapeType="1"/>
          </p:cNvSpPr>
          <p:nvPr/>
        </p:nvSpPr>
        <p:spPr bwMode="auto">
          <a:xfrm flipH="1">
            <a:off x="852488" y="34988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0" name="Line 607"/>
          <p:cNvSpPr>
            <a:spLocks noChangeShapeType="1"/>
          </p:cNvSpPr>
          <p:nvPr/>
        </p:nvSpPr>
        <p:spPr bwMode="auto">
          <a:xfrm flipH="1">
            <a:off x="852488" y="34496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1" name="Line 608"/>
          <p:cNvSpPr>
            <a:spLocks noChangeShapeType="1"/>
          </p:cNvSpPr>
          <p:nvPr/>
        </p:nvSpPr>
        <p:spPr bwMode="auto">
          <a:xfrm flipH="1">
            <a:off x="852488" y="34274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2" name="Line 609"/>
          <p:cNvSpPr>
            <a:spLocks noChangeShapeType="1"/>
          </p:cNvSpPr>
          <p:nvPr/>
        </p:nvSpPr>
        <p:spPr bwMode="auto">
          <a:xfrm flipH="1">
            <a:off x="852488" y="34020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3" name="Line 610"/>
          <p:cNvSpPr>
            <a:spLocks noChangeShapeType="1"/>
          </p:cNvSpPr>
          <p:nvPr/>
        </p:nvSpPr>
        <p:spPr bwMode="auto">
          <a:xfrm flipH="1">
            <a:off x="852488" y="33782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4" name="Line 611"/>
          <p:cNvSpPr>
            <a:spLocks noChangeShapeType="1"/>
          </p:cNvSpPr>
          <p:nvPr/>
        </p:nvSpPr>
        <p:spPr bwMode="auto">
          <a:xfrm flipH="1">
            <a:off x="852488" y="33305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5" name="Line 612"/>
          <p:cNvSpPr>
            <a:spLocks noChangeShapeType="1"/>
          </p:cNvSpPr>
          <p:nvPr/>
        </p:nvSpPr>
        <p:spPr bwMode="auto">
          <a:xfrm flipH="1">
            <a:off x="852488" y="33051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6" name="Line 613"/>
          <p:cNvSpPr>
            <a:spLocks noChangeShapeType="1"/>
          </p:cNvSpPr>
          <p:nvPr/>
        </p:nvSpPr>
        <p:spPr bwMode="auto">
          <a:xfrm flipH="1">
            <a:off x="852488" y="32845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7" name="Line 614"/>
          <p:cNvSpPr>
            <a:spLocks noChangeShapeType="1"/>
          </p:cNvSpPr>
          <p:nvPr/>
        </p:nvSpPr>
        <p:spPr bwMode="auto">
          <a:xfrm flipH="1">
            <a:off x="852488" y="32591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8" name="Line 615"/>
          <p:cNvSpPr>
            <a:spLocks noChangeShapeType="1"/>
          </p:cNvSpPr>
          <p:nvPr/>
        </p:nvSpPr>
        <p:spPr bwMode="auto">
          <a:xfrm flipH="1">
            <a:off x="852488" y="32115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29" name="Line 616"/>
          <p:cNvSpPr>
            <a:spLocks noChangeShapeType="1"/>
          </p:cNvSpPr>
          <p:nvPr/>
        </p:nvSpPr>
        <p:spPr bwMode="auto">
          <a:xfrm flipH="1">
            <a:off x="852488" y="31877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0" name="Line 617"/>
          <p:cNvSpPr>
            <a:spLocks noChangeShapeType="1"/>
          </p:cNvSpPr>
          <p:nvPr/>
        </p:nvSpPr>
        <p:spPr bwMode="auto">
          <a:xfrm flipH="1">
            <a:off x="852488" y="31654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1" name="Line 618"/>
          <p:cNvSpPr>
            <a:spLocks noChangeShapeType="1"/>
          </p:cNvSpPr>
          <p:nvPr/>
        </p:nvSpPr>
        <p:spPr bwMode="auto">
          <a:xfrm flipH="1">
            <a:off x="852488" y="31400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2" name="Line 619"/>
          <p:cNvSpPr>
            <a:spLocks noChangeShapeType="1"/>
          </p:cNvSpPr>
          <p:nvPr/>
        </p:nvSpPr>
        <p:spPr bwMode="auto">
          <a:xfrm flipH="1">
            <a:off x="852488" y="30940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3" name="Line 620"/>
          <p:cNvSpPr>
            <a:spLocks noChangeShapeType="1"/>
          </p:cNvSpPr>
          <p:nvPr/>
        </p:nvSpPr>
        <p:spPr bwMode="auto">
          <a:xfrm flipH="1">
            <a:off x="852488" y="30686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4" name="Line 621"/>
          <p:cNvSpPr>
            <a:spLocks noChangeShapeType="1"/>
          </p:cNvSpPr>
          <p:nvPr/>
        </p:nvSpPr>
        <p:spPr bwMode="auto">
          <a:xfrm flipH="1">
            <a:off x="852488" y="30432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5" name="Line 622"/>
          <p:cNvSpPr>
            <a:spLocks noChangeShapeType="1"/>
          </p:cNvSpPr>
          <p:nvPr/>
        </p:nvSpPr>
        <p:spPr bwMode="auto">
          <a:xfrm flipH="1">
            <a:off x="852488" y="30210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6" name="Line 623"/>
          <p:cNvSpPr>
            <a:spLocks noChangeShapeType="1"/>
          </p:cNvSpPr>
          <p:nvPr/>
        </p:nvSpPr>
        <p:spPr bwMode="auto">
          <a:xfrm flipH="1">
            <a:off x="852488" y="29718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7" name="Line 624"/>
          <p:cNvSpPr>
            <a:spLocks noChangeShapeType="1"/>
          </p:cNvSpPr>
          <p:nvPr/>
        </p:nvSpPr>
        <p:spPr bwMode="auto">
          <a:xfrm flipH="1">
            <a:off x="852488" y="29495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8" name="Line 625"/>
          <p:cNvSpPr>
            <a:spLocks noChangeShapeType="1"/>
          </p:cNvSpPr>
          <p:nvPr/>
        </p:nvSpPr>
        <p:spPr bwMode="auto">
          <a:xfrm flipH="1">
            <a:off x="852488" y="29241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39" name="Line 626"/>
          <p:cNvSpPr>
            <a:spLocks noChangeShapeType="1"/>
          </p:cNvSpPr>
          <p:nvPr/>
        </p:nvSpPr>
        <p:spPr bwMode="auto">
          <a:xfrm flipH="1">
            <a:off x="852488" y="29035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0" name="Line 627"/>
          <p:cNvSpPr>
            <a:spLocks noChangeShapeType="1"/>
          </p:cNvSpPr>
          <p:nvPr/>
        </p:nvSpPr>
        <p:spPr bwMode="auto">
          <a:xfrm flipH="1">
            <a:off x="852488" y="28527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1" name="Line 628"/>
          <p:cNvSpPr>
            <a:spLocks noChangeShapeType="1"/>
          </p:cNvSpPr>
          <p:nvPr/>
        </p:nvSpPr>
        <p:spPr bwMode="auto">
          <a:xfrm flipH="1">
            <a:off x="852488" y="283051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2" name="Line 629"/>
          <p:cNvSpPr>
            <a:spLocks noChangeShapeType="1"/>
          </p:cNvSpPr>
          <p:nvPr/>
        </p:nvSpPr>
        <p:spPr bwMode="auto">
          <a:xfrm flipH="1">
            <a:off x="852488" y="28067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3" name="Line 630"/>
          <p:cNvSpPr>
            <a:spLocks noChangeShapeType="1"/>
          </p:cNvSpPr>
          <p:nvPr/>
        </p:nvSpPr>
        <p:spPr bwMode="auto">
          <a:xfrm flipH="1">
            <a:off x="852488" y="27813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4" name="Line 631"/>
          <p:cNvSpPr>
            <a:spLocks noChangeShapeType="1"/>
          </p:cNvSpPr>
          <p:nvPr/>
        </p:nvSpPr>
        <p:spPr bwMode="auto">
          <a:xfrm flipH="1">
            <a:off x="852488" y="27336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5" name="Line 632"/>
          <p:cNvSpPr>
            <a:spLocks noChangeShapeType="1"/>
          </p:cNvSpPr>
          <p:nvPr/>
        </p:nvSpPr>
        <p:spPr bwMode="auto">
          <a:xfrm flipH="1">
            <a:off x="852488" y="27098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6" name="Line 633"/>
          <p:cNvSpPr>
            <a:spLocks noChangeShapeType="1"/>
          </p:cNvSpPr>
          <p:nvPr/>
        </p:nvSpPr>
        <p:spPr bwMode="auto">
          <a:xfrm flipH="1">
            <a:off x="852488" y="26876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7" name="Line 634"/>
          <p:cNvSpPr>
            <a:spLocks noChangeShapeType="1"/>
          </p:cNvSpPr>
          <p:nvPr/>
        </p:nvSpPr>
        <p:spPr bwMode="auto">
          <a:xfrm flipH="1">
            <a:off x="852488" y="26622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8" name="Line 635"/>
          <p:cNvSpPr>
            <a:spLocks noChangeShapeType="1"/>
          </p:cNvSpPr>
          <p:nvPr/>
        </p:nvSpPr>
        <p:spPr bwMode="auto">
          <a:xfrm flipH="1">
            <a:off x="852488" y="26162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49" name="Line 636"/>
          <p:cNvSpPr>
            <a:spLocks noChangeShapeType="1"/>
          </p:cNvSpPr>
          <p:nvPr/>
        </p:nvSpPr>
        <p:spPr bwMode="auto">
          <a:xfrm flipH="1">
            <a:off x="852488" y="25908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0" name="Line 637"/>
          <p:cNvSpPr>
            <a:spLocks noChangeShapeType="1"/>
          </p:cNvSpPr>
          <p:nvPr/>
        </p:nvSpPr>
        <p:spPr bwMode="auto">
          <a:xfrm flipH="1">
            <a:off x="852488" y="256857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1" name="Line 638"/>
          <p:cNvSpPr>
            <a:spLocks noChangeShapeType="1"/>
          </p:cNvSpPr>
          <p:nvPr/>
        </p:nvSpPr>
        <p:spPr bwMode="auto">
          <a:xfrm flipH="1">
            <a:off x="852488" y="25447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2" name="Line 639"/>
          <p:cNvSpPr>
            <a:spLocks noChangeShapeType="1"/>
          </p:cNvSpPr>
          <p:nvPr/>
        </p:nvSpPr>
        <p:spPr bwMode="auto">
          <a:xfrm flipH="1">
            <a:off x="852488" y="24971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3" name="Line 640"/>
          <p:cNvSpPr>
            <a:spLocks noChangeShapeType="1"/>
          </p:cNvSpPr>
          <p:nvPr/>
        </p:nvSpPr>
        <p:spPr bwMode="auto">
          <a:xfrm flipH="1">
            <a:off x="852488" y="24717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4" name="Line 641"/>
          <p:cNvSpPr>
            <a:spLocks noChangeShapeType="1"/>
          </p:cNvSpPr>
          <p:nvPr/>
        </p:nvSpPr>
        <p:spPr bwMode="auto">
          <a:xfrm flipH="1">
            <a:off x="852488" y="24479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5" name="Line 642"/>
          <p:cNvSpPr>
            <a:spLocks noChangeShapeType="1"/>
          </p:cNvSpPr>
          <p:nvPr/>
        </p:nvSpPr>
        <p:spPr bwMode="auto">
          <a:xfrm flipH="1">
            <a:off x="852488" y="24257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6" name="Line 643"/>
          <p:cNvSpPr>
            <a:spLocks noChangeShapeType="1"/>
          </p:cNvSpPr>
          <p:nvPr/>
        </p:nvSpPr>
        <p:spPr bwMode="auto">
          <a:xfrm flipH="1">
            <a:off x="852488" y="23749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7" name="Line 644"/>
          <p:cNvSpPr>
            <a:spLocks noChangeShapeType="1"/>
          </p:cNvSpPr>
          <p:nvPr/>
        </p:nvSpPr>
        <p:spPr bwMode="auto">
          <a:xfrm flipH="1">
            <a:off x="852488" y="23542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8" name="Line 645"/>
          <p:cNvSpPr>
            <a:spLocks noChangeShapeType="1"/>
          </p:cNvSpPr>
          <p:nvPr/>
        </p:nvSpPr>
        <p:spPr bwMode="auto">
          <a:xfrm flipH="1">
            <a:off x="852488" y="23288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59" name="Line 646"/>
          <p:cNvSpPr>
            <a:spLocks noChangeShapeType="1"/>
          </p:cNvSpPr>
          <p:nvPr/>
        </p:nvSpPr>
        <p:spPr bwMode="auto">
          <a:xfrm flipH="1">
            <a:off x="852488" y="23066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0" name="Line 647"/>
          <p:cNvSpPr>
            <a:spLocks noChangeShapeType="1"/>
          </p:cNvSpPr>
          <p:nvPr/>
        </p:nvSpPr>
        <p:spPr bwMode="auto">
          <a:xfrm flipH="1">
            <a:off x="852488" y="22574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1" name="Line 648"/>
          <p:cNvSpPr>
            <a:spLocks noChangeShapeType="1"/>
          </p:cNvSpPr>
          <p:nvPr/>
        </p:nvSpPr>
        <p:spPr bwMode="auto">
          <a:xfrm flipH="1">
            <a:off x="852488" y="22352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2" name="Line 649"/>
          <p:cNvSpPr>
            <a:spLocks noChangeShapeType="1"/>
          </p:cNvSpPr>
          <p:nvPr/>
        </p:nvSpPr>
        <p:spPr bwMode="auto">
          <a:xfrm flipH="1">
            <a:off x="852488" y="22098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3" name="Line 650"/>
          <p:cNvSpPr>
            <a:spLocks noChangeShapeType="1"/>
          </p:cNvSpPr>
          <p:nvPr/>
        </p:nvSpPr>
        <p:spPr bwMode="auto">
          <a:xfrm flipH="1">
            <a:off x="852488" y="21844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4" name="Line 651"/>
          <p:cNvSpPr>
            <a:spLocks noChangeShapeType="1"/>
          </p:cNvSpPr>
          <p:nvPr/>
        </p:nvSpPr>
        <p:spPr bwMode="auto">
          <a:xfrm flipH="1">
            <a:off x="852488" y="21383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5" name="Line 652"/>
          <p:cNvSpPr>
            <a:spLocks noChangeShapeType="1"/>
          </p:cNvSpPr>
          <p:nvPr/>
        </p:nvSpPr>
        <p:spPr bwMode="auto">
          <a:xfrm flipH="1">
            <a:off x="852488" y="21129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6" name="Line 653"/>
          <p:cNvSpPr>
            <a:spLocks noChangeShapeType="1"/>
          </p:cNvSpPr>
          <p:nvPr/>
        </p:nvSpPr>
        <p:spPr bwMode="auto">
          <a:xfrm flipH="1">
            <a:off x="852488" y="20907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7" name="Line 654"/>
          <p:cNvSpPr>
            <a:spLocks noChangeShapeType="1"/>
          </p:cNvSpPr>
          <p:nvPr/>
        </p:nvSpPr>
        <p:spPr bwMode="auto">
          <a:xfrm flipH="1">
            <a:off x="852488" y="20669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8" name="Line 655"/>
          <p:cNvSpPr>
            <a:spLocks noChangeShapeType="1"/>
          </p:cNvSpPr>
          <p:nvPr/>
        </p:nvSpPr>
        <p:spPr bwMode="auto">
          <a:xfrm flipH="1">
            <a:off x="852488" y="20193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69" name="Line 656"/>
          <p:cNvSpPr>
            <a:spLocks noChangeShapeType="1"/>
          </p:cNvSpPr>
          <p:nvPr/>
        </p:nvSpPr>
        <p:spPr bwMode="auto">
          <a:xfrm flipH="1">
            <a:off x="852488" y="19939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0" name="Line 657"/>
          <p:cNvSpPr>
            <a:spLocks noChangeShapeType="1"/>
          </p:cNvSpPr>
          <p:nvPr/>
        </p:nvSpPr>
        <p:spPr bwMode="auto">
          <a:xfrm flipH="1">
            <a:off x="852488" y="19732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1" name="Line 658"/>
          <p:cNvSpPr>
            <a:spLocks noChangeShapeType="1"/>
          </p:cNvSpPr>
          <p:nvPr/>
        </p:nvSpPr>
        <p:spPr bwMode="auto">
          <a:xfrm flipH="1">
            <a:off x="852488" y="19478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2" name="Line 659"/>
          <p:cNvSpPr>
            <a:spLocks noChangeShapeType="1"/>
          </p:cNvSpPr>
          <p:nvPr/>
        </p:nvSpPr>
        <p:spPr bwMode="auto">
          <a:xfrm flipH="1">
            <a:off x="852488" y="190023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3" name="Line 660"/>
          <p:cNvSpPr>
            <a:spLocks noChangeShapeType="1"/>
          </p:cNvSpPr>
          <p:nvPr/>
        </p:nvSpPr>
        <p:spPr bwMode="auto">
          <a:xfrm flipH="1">
            <a:off x="852488" y="18764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4" name="Line 661"/>
          <p:cNvSpPr>
            <a:spLocks noChangeShapeType="1"/>
          </p:cNvSpPr>
          <p:nvPr/>
        </p:nvSpPr>
        <p:spPr bwMode="auto">
          <a:xfrm flipH="1">
            <a:off x="852488" y="18510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5" name="Line 662"/>
          <p:cNvSpPr>
            <a:spLocks noChangeShapeType="1"/>
          </p:cNvSpPr>
          <p:nvPr/>
        </p:nvSpPr>
        <p:spPr bwMode="auto">
          <a:xfrm flipH="1">
            <a:off x="852488" y="18288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6" name="Line 663"/>
          <p:cNvSpPr>
            <a:spLocks noChangeShapeType="1"/>
          </p:cNvSpPr>
          <p:nvPr/>
        </p:nvSpPr>
        <p:spPr bwMode="auto">
          <a:xfrm flipH="1">
            <a:off x="852488" y="177958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7" name="Line 664"/>
          <p:cNvSpPr>
            <a:spLocks noChangeShapeType="1"/>
          </p:cNvSpPr>
          <p:nvPr/>
        </p:nvSpPr>
        <p:spPr bwMode="auto">
          <a:xfrm flipH="1">
            <a:off x="852488" y="17573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8" name="Line 665"/>
          <p:cNvSpPr>
            <a:spLocks noChangeShapeType="1"/>
          </p:cNvSpPr>
          <p:nvPr/>
        </p:nvSpPr>
        <p:spPr bwMode="auto">
          <a:xfrm flipH="1">
            <a:off x="852488" y="17319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79" name="Line 666"/>
          <p:cNvSpPr>
            <a:spLocks noChangeShapeType="1"/>
          </p:cNvSpPr>
          <p:nvPr/>
        </p:nvSpPr>
        <p:spPr bwMode="auto">
          <a:xfrm flipH="1">
            <a:off x="852488" y="17113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0" name="Line 667"/>
          <p:cNvSpPr>
            <a:spLocks noChangeShapeType="1"/>
          </p:cNvSpPr>
          <p:nvPr/>
        </p:nvSpPr>
        <p:spPr bwMode="auto">
          <a:xfrm flipH="1">
            <a:off x="852488" y="16605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1" name="Line 668"/>
          <p:cNvSpPr>
            <a:spLocks noChangeShapeType="1"/>
          </p:cNvSpPr>
          <p:nvPr/>
        </p:nvSpPr>
        <p:spPr bwMode="auto">
          <a:xfrm flipH="1">
            <a:off x="852488" y="163830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2" name="Line 669"/>
          <p:cNvSpPr>
            <a:spLocks noChangeShapeType="1"/>
          </p:cNvSpPr>
          <p:nvPr/>
        </p:nvSpPr>
        <p:spPr bwMode="auto">
          <a:xfrm flipH="1">
            <a:off x="852488" y="161448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3" name="Line 670"/>
          <p:cNvSpPr>
            <a:spLocks noChangeShapeType="1"/>
          </p:cNvSpPr>
          <p:nvPr/>
        </p:nvSpPr>
        <p:spPr bwMode="auto">
          <a:xfrm flipH="1">
            <a:off x="852488" y="1589088"/>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4" name="Line 671"/>
          <p:cNvSpPr>
            <a:spLocks noChangeShapeType="1"/>
          </p:cNvSpPr>
          <p:nvPr/>
        </p:nvSpPr>
        <p:spPr bwMode="auto">
          <a:xfrm flipH="1">
            <a:off x="852488" y="1541463"/>
            <a:ext cx="349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5" name="Line 672"/>
          <p:cNvSpPr>
            <a:spLocks noChangeShapeType="1"/>
          </p:cNvSpPr>
          <p:nvPr/>
        </p:nvSpPr>
        <p:spPr bwMode="auto">
          <a:xfrm flipH="1">
            <a:off x="852488" y="1517650"/>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6" name="Line 673"/>
          <p:cNvSpPr>
            <a:spLocks noChangeShapeType="1"/>
          </p:cNvSpPr>
          <p:nvPr/>
        </p:nvSpPr>
        <p:spPr bwMode="auto">
          <a:xfrm flipH="1">
            <a:off x="852488" y="14954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7" name="Line 674"/>
          <p:cNvSpPr>
            <a:spLocks noChangeShapeType="1"/>
          </p:cNvSpPr>
          <p:nvPr/>
        </p:nvSpPr>
        <p:spPr bwMode="auto">
          <a:xfrm flipH="1">
            <a:off x="852488" y="1470025"/>
            <a:ext cx="34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8" name="Line 675"/>
          <p:cNvSpPr>
            <a:spLocks noChangeShapeType="1"/>
          </p:cNvSpPr>
          <p:nvPr/>
        </p:nvSpPr>
        <p:spPr bwMode="auto">
          <a:xfrm flipH="1">
            <a:off x="835025" y="3830638"/>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89" name="Rectangle 676"/>
          <p:cNvSpPr>
            <a:spLocks noChangeArrowheads="1"/>
          </p:cNvSpPr>
          <p:nvPr/>
        </p:nvSpPr>
        <p:spPr bwMode="auto">
          <a:xfrm>
            <a:off x="763588" y="3806825"/>
            <a:ext cx="19236"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0</a:t>
            </a:r>
            <a:endParaRPr lang="en-US" altLang="en-US">
              <a:solidFill>
                <a:srgbClr val="000000"/>
              </a:solidFill>
              <a:latin typeface="Calibri" panose="020F0502020204030204" pitchFamily="34" charset="0"/>
            </a:endParaRPr>
          </a:p>
        </p:txBody>
      </p:sp>
      <p:sp>
        <p:nvSpPr>
          <p:cNvPr id="39590" name="Line 677"/>
          <p:cNvSpPr>
            <a:spLocks noChangeShapeType="1"/>
          </p:cNvSpPr>
          <p:nvPr/>
        </p:nvSpPr>
        <p:spPr bwMode="auto">
          <a:xfrm flipH="1">
            <a:off x="835025" y="371157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91" name="Rectangle 678"/>
          <p:cNvSpPr>
            <a:spLocks noChangeArrowheads="1"/>
          </p:cNvSpPr>
          <p:nvPr/>
        </p:nvSpPr>
        <p:spPr bwMode="auto">
          <a:xfrm>
            <a:off x="763588" y="3689350"/>
            <a:ext cx="19236"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5</a:t>
            </a:r>
            <a:endParaRPr lang="en-US" altLang="en-US">
              <a:solidFill>
                <a:srgbClr val="000000"/>
              </a:solidFill>
              <a:latin typeface="Calibri" panose="020F0502020204030204" pitchFamily="34" charset="0"/>
            </a:endParaRPr>
          </a:p>
        </p:txBody>
      </p:sp>
      <p:sp>
        <p:nvSpPr>
          <p:cNvPr id="39592" name="Line 679"/>
          <p:cNvSpPr>
            <a:spLocks noChangeShapeType="1"/>
          </p:cNvSpPr>
          <p:nvPr/>
        </p:nvSpPr>
        <p:spPr bwMode="auto">
          <a:xfrm flipH="1">
            <a:off x="835025" y="3592513"/>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93" name="Rectangle 680"/>
          <p:cNvSpPr>
            <a:spLocks noChangeArrowheads="1"/>
          </p:cNvSpPr>
          <p:nvPr/>
        </p:nvSpPr>
        <p:spPr bwMode="auto">
          <a:xfrm>
            <a:off x="722313" y="3570288"/>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10</a:t>
            </a:r>
            <a:endParaRPr lang="en-US" altLang="en-US">
              <a:solidFill>
                <a:srgbClr val="000000"/>
              </a:solidFill>
              <a:latin typeface="Calibri" panose="020F0502020204030204" pitchFamily="34" charset="0"/>
            </a:endParaRPr>
          </a:p>
        </p:txBody>
      </p:sp>
      <p:sp>
        <p:nvSpPr>
          <p:cNvPr id="39594" name="Line 681"/>
          <p:cNvSpPr>
            <a:spLocks noChangeShapeType="1"/>
          </p:cNvSpPr>
          <p:nvPr/>
        </p:nvSpPr>
        <p:spPr bwMode="auto">
          <a:xfrm flipH="1">
            <a:off x="835025" y="3473450"/>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95" name="Rectangle 682"/>
          <p:cNvSpPr>
            <a:spLocks noChangeArrowheads="1"/>
          </p:cNvSpPr>
          <p:nvPr/>
        </p:nvSpPr>
        <p:spPr bwMode="auto">
          <a:xfrm>
            <a:off x="722313" y="3451225"/>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15</a:t>
            </a:r>
            <a:endParaRPr lang="en-US" altLang="en-US">
              <a:solidFill>
                <a:srgbClr val="000000"/>
              </a:solidFill>
              <a:latin typeface="Calibri" panose="020F0502020204030204" pitchFamily="34" charset="0"/>
            </a:endParaRPr>
          </a:p>
        </p:txBody>
      </p:sp>
      <p:sp>
        <p:nvSpPr>
          <p:cNvPr id="39596" name="Line 683"/>
          <p:cNvSpPr>
            <a:spLocks noChangeShapeType="1"/>
          </p:cNvSpPr>
          <p:nvPr/>
        </p:nvSpPr>
        <p:spPr bwMode="auto">
          <a:xfrm flipH="1">
            <a:off x="835025" y="335597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97" name="Rectangle 684"/>
          <p:cNvSpPr>
            <a:spLocks noChangeArrowheads="1"/>
          </p:cNvSpPr>
          <p:nvPr/>
        </p:nvSpPr>
        <p:spPr bwMode="auto">
          <a:xfrm>
            <a:off x="722313" y="3333750"/>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20</a:t>
            </a:r>
            <a:endParaRPr lang="en-US" altLang="en-US">
              <a:solidFill>
                <a:srgbClr val="000000"/>
              </a:solidFill>
              <a:latin typeface="Calibri" panose="020F0502020204030204" pitchFamily="34" charset="0"/>
            </a:endParaRPr>
          </a:p>
        </p:txBody>
      </p:sp>
      <p:sp>
        <p:nvSpPr>
          <p:cNvPr id="39598" name="Line 685"/>
          <p:cNvSpPr>
            <a:spLocks noChangeShapeType="1"/>
          </p:cNvSpPr>
          <p:nvPr/>
        </p:nvSpPr>
        <p:spPr bwMode="auto">
          <a:xfrm flipH="1">
            <a:off x="835025" y="3233738"/>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599" name="Rectangle 686"/>
          <p:cNvSpPr>
            <a:spLocks noChangeArrowheads="1"/>
          </p:cNvSpPr>
          <p:nvPr/>
        </p:nvSpPr>
        <p:spPr bwMode="auto">
          <a:xfrm>
            <a:off x="722313" y="3211513"/>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25</a:t>
            </a:r>
            <a:endParaRPr lang="en-US" altLang="en-US">
              <a:solidFill>
                <a:srgbClr val="000000"/>
              </a:solidFill>
              <a:latin typeface="Calibri" panose="020F0502020204030204" pitchFamily="34" charset="0"/>
            </a:endParaRPr>
          </a:p>
        </p:txBody>
      </p:sp>
      <p:sp>
        <p:nvSpPr>
          <p:cNvPr id="39600" name="Line 687"/>
          <p:cNvSpPr>
            <a:spLocks noChangeShapeType="1"/>
          </p:cNvSpPr>
          <p:nvPr/>
        </p:nvSpPr>
        <p:spPr bwMode="auto">
          <a:xfrm flipH="1">
            <a:off x="835025" y="311467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01" name="Rectangle 688"/>
          <p:cNvSpPr>
            <a:spLocks noChangeArrowheads="1"/>
          </p:cNvSpPr>
          <p:nvPr/>
        </p:nvSpPr>
        <p:spPr bwMode="auto">
          <a:xfrm>
            <a:off x="722313" y="3092450"/>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a:t>
            </a:r>
            <a:endParaRPr lang="en-US" altLang="en-US">
              <a:solidFill>
                <a:srgbClr val="000000"/>
              </a:solidFill>
              <a:latin typeface="Calibri" panose="020F0502020204030204" pitchFamily="34" charset="0"/>
            </a:endParaRPr>
          </a:p>
        </p:txBody>
      </p:sp>
      <p:sp>
        <p:nvSpPr>
          <p:cNvPr id="39602" name="Line 689"/>
          <p:cNvSpPr>
            <a:spLocks noChangeShapeType="1"/>
          </p:cNvSpPr>
          <p:nvPr/>
        </p:nvSpPr>
        <p:spPr bwMode="auto">
          <a:xfrm flipH="1">
            <a:off x="835025" y="2997200"/>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03" name="Rectangle 690"/>
          <p:cNvSpPr>
            <a:spLocks noChangeArrowheads="1"/>
          </p:cNvSpPr>
          <p:nvPr/>
        </p:nvSpPr>
        <p:spPr bwMode="auto">
          <a:xfrm>
            <a:off x="722313" y="2973388"/>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35</a:t>
            </a:r>
            <a:endParaRPr lang="en-US" altLang="en-US">
              <a:solidFill>
                <a:srgbClr val="000000"/>
              </a:solidFill>
              <a:latin typeface="Calibri" panose="020F0502020204030204" pitchFamily="34" charset="0"/>
            </a:endParaRPr>
          </a:p>
        </p:txBody>
      </p:sp>
      <p:sp>
        <p:nvSpPr>
          <p:cNvPr id="39604" name="Line 691"/>
          <p:cNvSpPr>
            <a:spLocks noChangeShapeType="1"/>
          </p:cNvSpPr>
          <p:nvPr/>
        </p:nvSpPr>
        <p:spPr bwMode="auto">
          <a:xfrm flipH="1">
            <a:off x="835025" y="2878138"/>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05" name="Rectangle 692"/>
          <p:cNvSpPr>
            <a:spLocks noChangeArrowheads="1"/>
          </p:cNvSpPr>
          <p:nvPr/>
        </p:nvSpPr>
        <p:spPr bwMode="auto">
          <a:xfrm>
            <a:off x="722313" y="2855913"/>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40</a:t>
            </a:r>
            <a:endParaRPr lang="en-US" altLang="en-US">
              <a:solidFill>
                <a:srgbClr val="000000"/>
              </a:solidFill>
              <a:latin typeface="Calibri" panose="020F0502020204030204" pitchFamily="34" charset="0"/>
            </a:endParaRPr>
          </a:p>
        </p:txBody>
      </p:sp>
      <p:sp>
        <p:nvSpPr>
          <p:cNvPr id="39606" name="Line 693"/>
          <p:cNvSpPr>
            <a:spLocks noChangeShapeType="1"/>
          </p:cNvSpPr>
          <p:nvPr/>
        </p:nvSpPr>
        <p:spPr bwMode="auto">
          <a:xfrm flipH="1">
            <a:off x="835025" y="275907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07" name="Rectangle 694"/>
          <p:cNvSpPr>
            <a:spLocks noChangeArrowheads="1"/>
          </p:cNvSpPr>
          <p:nvPr/>
        </p:nvSpPr>
        <p:spPr bwMode="auto">
          <a:xfrm>
            <a:off x="722313" y="2736850"/>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45</a:t>
            </a:r>
            <a:endParaRPr lang="en-US" altLang="en-US">
              <a:solidFill>
                <a:srgbClr val="000000"/>
              </a:solidFill>
              <a:latin typeface="Calibri" panose="020F0502020204030204" pitchFamily="34" charset="0"/>
            </a:endParaRPr>
          </a:p>
        </p:txBody>
      </p:sp>
      <p:sp>
        <p:nvSpPr>
          <p:cNvPr id="39608" name="Line 695"/>
          <p:cNvSpPr>
            <a:spLocks noChangeShapeType="1"/>
          </p:cNvSpPr>
          <p:nvPr/>
        </p:nvSpPr>
        <p:spPr bwMode="auto">
          <a:xfrm flipH="1">
            <a:off x="835025" y="263842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09" name="Rectangle 696"/>
          <p:cNvSpPr>
            <a:spLocks noChangeArrowheads="1"/>
          </p:cNvSpPr>
          <p:nvPr/>
        </p:nvSpPr>
        <p:spPr bwMode="auto">
          <a:xfrm>
            <a:off x="722313" y="2614613"/>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50</a:t>
            </a:r>
            <a:endParaRPr lang="en-US" altLang="en-US">
              <a:solidFill>
                <a:srgbClr val="000000"/>
              </a:solidFill>
              <a:latin typeface="Calibri" panose="020F0502020204030204" pitchFamily="34" charset="0"/>
            </a:endParaRPr>
          </a:p>
        </p:txBody>
      </p:sp>
      <p:sp>
        <p:nvSpPr>
          <p:cNvPr id="39610" name="Line 697"/>
          <p:cNvSpPr>
            <a:spLocks noChangeShapeType="1"/>
          </p:cNvSpPr>
          <p:nvPr/>
        </p:nvSpPr>
        <p:spPr bwMode="auto">
          <a:xfrm flipH="1">
            <a:off x="835025" y="2519363"/>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11" name="Rectangle 698"/>
          <p:cNvSpPr>
            <a:spLocks noChangeArrowheads="1"/>
          </p:cNvSpPr>
          <p:nvPr/>
        </p:nvSpPr>
        <p:spPr bwMode="auto">
          <a:xfrm>
            <a:off x="722313" y="2497138"/>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55</a:t>
            </a:r>
            <a:endParaRPr lang="en-US" altLang="en-US">
              <a:solidFill>
                <a:srgbClr val="000000"/>
              </a:solidFill>
              <a:latin typeface="Calibri" panose="020F0502020204030204" pitchFamily="34" charset="0"/>
            </a:endParaRPr>
          </a:p>
        </p:txBody>
      </p:sp>
      <p:sp>
        <p:nvSpPr>
          <p:cNvPr id="39612" name="Line 699"/>
          <p:cNvSpPr>
            <a:spLocks noChangeShapeType="1"/>
          </p:cNvSpPr>
          <p:nvPr/>
        </p:nvSpPr>
        <p:spPr bwMode="auto">
          <a:xfrm flipH="1">
            <a:off x="835025" y="2400300"/>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13" name="Rectangle 700"/>
          <p:cNvSpPr>
            <a:spLocks noChangeArrowheads="1"/>
          </p:cNvSpPr>
          <p:nvPr/>
        </p:nvSpPr>
        <p:spPr bwMode="auto">
          <a:xfrm>
            <a:off x="722313" y="2378075"/>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60</a:t>
            </a:r>
            <a:endParaRPr lang="en-US" altLang="en-US">
              <a:solidFill>
                <a:srgbClr val="000000"/>
              </a:solidFill>
              <a:latin typeface="Calibri" panose="020F0502020204030204" pitchFamily="34" charset="0"/>
            </a:endParaRPr>
          </a:p>
        </p:txBody>
      </p:sp>
      <p:sp>
        <p:nvSpPr>
          <p:cNvPr id="39614" name="Line 701"/>
          <p:cNvSpPr>
            <a:spLocks noChangeShapeType="1"/>
          </p:cNvSpPr>
          <p:nvPr/>
        </p:nvSpPr>
        <p:spPr bwMode="auto">
          <a:xfrm flipH="1">
            <a:off x="835025" y="2281238"/>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15" name="Rectangle 702"/>
          <p:cNvSpPr>
            <a:spLocks noChangeArrowheads="1"/>
          </p:cNvSpPr>
          <p:nvPr/>
        </p:nvSpPr>
        <p:spPr bwMode="auto">
          <a:xfrm>
            <a:off x="722313" y="2259013"/>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65</a:t>
            </a:r>
            <a:endParaRPr lang="en-US" altLang="en-US">
              <a:solidFill>
                <a:srgbClr val="000000"/>
              </a:solidFill>
              <a:latin typeface="Calibri" panose="020F0502020204030204" pitchFamily="34" charset="0"/>
            </a:endParaRPr>
          </a:p>
        </p:txBody>
      </p:sp>
      <p:sp>
        <p:nvSpPr>
          <p:cNvPr id="39616" name="Line 703"/>
          <p:cNvSpPr>
            <a:spLocks noChangeShapeType="1"/>
          </p:cNvSpPr>
          <p:nvPr/>
        </p:nvSpPr>
        <p:spPr bwMode="auto">
          <a:xfrm flipH="1">
            <a:off x="835025" y="2163763"/>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17" name="Rectangle 704"/>
          <p:cNvSpPr>
            <a:spLocks noChangeArrowheads="1"/>
          </p:cNvSpPr>
          <p:nvPr/>
        </p:nvSpPr>
        <p:spPr bwMode="auto">
          <a:xfrm>
            <a:off x="722313" y="2139950"/>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70</a:t>
            </a:r>
            <a:endParaRPr lang="en-US" altLang="en-US">
              <a:solidFill>
                <a:srgbClr val="000000"/>
              </a:solidFill>
              <a:latin typeface="Calibri" panose="020F0502020204030204" pitchFamily="34" charset="0"/>
            </a:endParaRPr>
          </a:p>
        </p:txBody>
      </p:sp>
      <p:sp>
        <p:nvSpPr>
          <p:cNvPr id="39618" name="Line 705"/>
          <p:cNvSpPr>
            <a:spLocks noChangeShapeType="1"/>
          </p:cNvSpPr>
          <p:nvPr/>
        </p:nvSpPr>
        <p:spPr bwMode="auto">
          <a:xfrm flipH="1">
            <a:off x="835025" y="204152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19" name="Rectangle 706"/>
          <p:cNvSpPr>
            <a:spLocks noChangeArrowheads="1"/>
          </p:cNvSpPr>
          <p:nvPr/>
        </p:nvSpPr>
        <p:spPr bwMode="auto">
          <a:xfrm>
            <a:off x="722313" y="2019300"/>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75</a:t>
            </a:r>
            <a:endParaRPr lang="en-US" altLang="en-US">
              <a:solidFill>
                <a:srgbClr val="000000"/>
              </a:solidFill>
              <a:latin typeface="Calibri" panose="020F0502020204030204" pitchFamily="34" charset="0"/>
            </a:endParaRPr>
          </a:p>
        </p:txBody>
      </p:sp>
      <p:sp>
        <p:nvSpPr>
          <p:cNvPr id="39620" name="Line 707"/>
          <p:cNvSpPr>
            <a:spLocks noChangeShapeType="1"/>
          </p:cNvSpPr>
          <p:nvPr/>
        </p:nvSpPr>
        <p:spPr bwMode="auto">
          <a:xfrm flipH="1">
            <a:off x="835025" y="1922463"/>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21" name="Rectangle 708"/>
          <p:cNvSpPr>
            <a:spLocks noChangeArrowheads="1"/>
          </p:cNvSpPr>
          <p:nvPr/>
        </p:nvSpPr>
        <p:spPr bwMode="auto">
          <a:xfrm>
            <a:off x="722313" y="1900238"/>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80</a:t>
            </a:r>
            <a:endParaRPr lang="en-US" altLang="en-US">
              <a:solidFill>
                <a:srgbClr val="000000"/>
              </a:solidFill>
              <a:latin typeface="Calibri" panose="020F0502020204030204" pitchFamily="34" charset="0"/>
            </a:endParaRPr>
          </a:p>
        </p:txBody>
      </p:sp>
      <p:sp>
        <p:nvSpPr>
          <p:cNvPr id="39622" name="Line 709"/>
          <p:cNvSpPr>
            <a:spLocks noChangeShapeType="1"/>
          </p:cNvSpPr>
          <p:nvPr/>
        </p:nvSpPr>
        <p:spPr bwMode="auto">
          <a:xfrm flipH="1">
            <a:off x="835025" y="1804988"/>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23" name="Rectangle 710"/>
          <p:cNvSpPr>
            <a:spLocks noChangeArrowheads="1"/>
          </p:cNvSpPr>
          <p:nvPr/>
        </p:nvSpPr>
        <p:spPr bwMode="auto">
          <a:xfrm>
            <a:off x="722313" y="1781175"/>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85</a:t>
            </a:r>
            <a:endParaRPr lang="en-US" altLang="en-US">
              <a:solidFill>
                <a:srgbClr val="000000"/>
              </a:solidFill>
              <a:latin typeface="Calibri" panose="020F0502020204030204" pitchFamily="34" charset="0"/>
            </a:endParaRPr>
          </a:p>
        </p:txBody>
      </p:sp>
      <p:sp>
        <p:nvSpPr>
          <p:cNvPr id="39624" name="Line 711"/>
          <p:cNvSpPr>
            <a:spLocks noChangeShapeType="1"/>
          </p:cNvSpPr>
          <p:nvPr/>
        </p:nvSpPr>
        <p:spPr bwMode="auto">
          <a:xfrm flipH="1">
            <a:off x="835025" y="168592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25" name="Rectangle 712"/>
          <p:cNvSpPr>
            <a:spLocks noChangeArrowheads="1"/>
          </p:cNvSpPr>
          <p:nvPr/>
        </p:nvSpPr>
        <p:spPr bwMode="auto">
          <a:xfrm>
            <a:off x="722313" y="1663700"/>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90</a:t>
            </a:r>
            <a:endParaRPr lang="en-US" altLang="en-US">
              <a:solidFill>
                <a:srgbClr val="000000"/>
              </a:solidFill>
              <a:latin typeface="Calibri" panose="020F0502020204030204" pitchFamily="34" charset="0"/>
            </a:endParaRPr>
          </a:p>
        </p:txBody>
      </p:sp>
      <p:sp>
        <p:nvSpPr>
          <p:cNvPr id="39626" name="Line 713"/>
          <p:cNvSpPr>
            <a:spLocks noChangeShapeType="1"/>
          </p:cNvSpPr>
          <p:nvPr/>
        </p:nvSpPr>
        <p:spPr bwMode="auto">
          <a:xfrm flipH="1">
            <a:off x="835025" y="1566863"/>
            <a:ext cx="523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27" name="Rectangle 714"/>
          <p:cNvSpPr>
            <a:spLocks noChangeArrowheads="1"/>
          </p:cNvSpPr>
          <p:nvPr/>
        </p:nvSpPr>
        <p:spPr bwMode="auto">
          <a:xfrm>
            <a:off x="722313" y="1544638"/>
            <a:ext cx="3847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95</a:t>
            </a:r>
            <a:endParaRPr lang="en-US" altLang="en-US">
              <a:solidFill>
                <a:srgbClr val="000000"/>
              </a:solidFill>
              <a:latin typeface="Calibri" panose="020F0502020204030204" pitchFamily="34" charset="0"/>
            </a:endParaRPr>
          </a:p>
        </p:txBody>
      </p:sp>
      <p:sp>
        <p:nvSpPr>
          <p:cNvPr id="39628" name="Line 715"/>
          <p:cNvSpPr>
            <a:spLocks noChangeShapeType="1"/>
          </p:cNvSpPr>
          <p:nvPr/>
        </p:nvSpPr>
        <p:spPr bwMode="auto">
          <a:xfrm flipH="1">
            <a:off x="835025" y="1444625"/>
            <a:ext cx="523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29" name="Rectangle 716"/>
          <p:cNvSpPr>
            <a:spLocks noChangeArrowheads="1"/>
          </p:cNvSpPr>
          <p:nvPr/>
        </p:nvSpPr>
        <p:spPr bwMode="auto">
          <a:xfrm>
            <a:off x="681038" y="1422400"/>
            <a:ext cx="57708"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100</a:t>
            </a:r>
            <a:endParaRPr lang="en-US" altLang="en-US">
              <a:solidFill>
                <a:srgbClr val="000000"/>
              </a:solidFill>
              <a:latin typeface="Calibri" panose="020F0502020204030204" pitchFamily="34" charset="0"/>
            </a:endParaRPr>
          </a:p>
        </p:txBody>
      </p:sp>
      <p:sp>
        <p:nvSpPr>
          <p:cNvPr id="39630" name="Rectangle 717"/>
          <p:cNvSpPr>
            <a:spLocks noChangeArrowheads="1"/>
          </p:cNvSpPr>
          <p:nvPr/>
        </p:nvSpPr>
        <p:spPr bwMode="auto">
          <a:xfrm rot="16200000">
            <a:off x="-403093" y="2418170"/>
            <a:ext cx="19031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b="1" dirty="0">
                <a:solidFill>
                  <a:srgbClr val="000000"/>
                </a:solidFill>
                <a:latin typeface="Calibri" panose="020F0502020204030204" pitchFamily="34" charset="0"/>
              </a:rPr>
              <a:t>Relative Abundance</a:t>
            </a:r>
          </a:p>
        </p:txBody>
      </p:sp>
      <p:sp>
        <p:nvSpPr>
          <p:cNvPr id="39631" name="Freeform 718"/>
          <p:cNvSpPr>
            <a:spLocks/>
          </p:cNvSpPr>
          <p:nvPr/>
        </p:nvSpPr>
        <p:spPr bwMode="auto">
          <a:xfrm>
            <a:off x="887413" y="1444625"/>
            <a:ext cx="7339012" cy="2386013"/>
          </a:xfrm>
          <a:custGeom>
            <a:avLst/>
            <a:gdLst>
              <a:gd name="T0" fmla="*/ 0 w 1241"/>
              <a:gd name="T1" fmla="*/ 2386013 h 764"/>
              <a:gd name="T2" fmla="*/ 301603 w 1241"/>
              <a:gd name="T3" fmla="*/ 2386013 h 764"/>
              <a:gd name="T4" fmla="*/ 579551 w 1241"/>
              <a:gd name="T5" fmla="*/ 0 h 764"/>
              <a:gd name="T6" fmla="*/ 1212327 w 1241"/>
              <a:gd name="T7" fmla="*/ 2386013 h 764"/>
              <a:gd name="T8" fmla="*/ 1508016 w 1241"/>
              <a:gd name="T9" fmla="*/ 2386013 h 764"/>
              <a:gd name="T10" fmla="*/ 1827361 w 1241"/>
              <a:gd name="T11" fmla="*/ 2386013 h 764"/>
              <a:gd name="T12" fmla="*/ 2111223 w 1241"/>
              <a:gd name="T13" fmla="*/ 2386013 h 764"/>
              <a:gd name="T14" fmla="*/ 2389171 w 1241"/>
              <a:gd name="T15" fmla="*/ 2386013 h 764"/>
              <a:gd name="T16" fmla="*/ 2661205 w 1241"/>
              <a:gd name="T17" fmla="*/ 140537 h 764"/>
              <a:gd name="T18" fmla="*/ 3288067 w 1241"/>
              <a:gd name="T19" fmla="*/ 2386013 h 764"/>
              <a:gd name="T20" fmla="*/ 3589670 w 1241"/>
              <a:gd name="T21" fmla="*/ 2386013 h 764"/>
              <a:gd name="T22" fmla="*/ 3909014 w 1241"/>
              <a:gd name="T23" fmla="*/ 2386013 h 764"/>
              <a:gd name="T24" fmla="*/ 4210618 w 1241"/>
              <a:gd name="T25" fmla="*/ 2386013 h 764"/>
              <a:gd name="T26" fmla="*/ 4458997 w 1241"/>
              <a:gd name="T27" fmla="*/ 2386013 h 764"/>
              <a:gd name="T28" fmla="*/ 4701462 w 1241"/>
              <a:gd name="T29" fmla="*/ 281075 h 764"/>
              <a:gd name="T30" fmla="*/ 5310582 w 1241"/>
              <a:gd name="T31" fmla="*/ 2382890 h 764"/>
              <a:gd name="T32" fmla="*/ 5576703 w 1241"/>
              <a:gd name="T33" fmla="*/ 2386013 h 764"/>
              <a:gd name="T34" fmla="*/ 5890134 w 1241"/>
              <a:gd name="T35" fmla="*/ 2386013 h 764"/>
              <a:gd name="T36" fmla="*/ 6168082 w 1241"/>
              <a:gd name="T37" fmla="*/ 2386013 h 764"/>
              <a:gd name="T38" fmla="*/ 6463771 w 1241"/>
              <a:gd name="T39" fmla="*/ 2386013 h 764"/>
              <a:gd name="T40" fmla="*/ 6729892 w 1241"/>
              <a:gd name="T41" fmla="*/ 318551 h 764"/>
              <a:gd name="T42" fmla="*/ 7309443 w 1241"/>
              <a:gd name="T43" fmla="*/ 2386013 h 764"/>
              <a:gd name="T44" fmla="*/ 7339012 w 1241"/>
              <a:gd name="T45" fmla="*/ 2386013 h 76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41" h="764">
                <a:moveTo>
                  <a:pt x="0" y="764"/>
                </a:moveTo>
                <a:lnTo>
                  <a:pt x="51" y="764"/>
                </a:lnTo>
                <a:lnTo>
                  <a:pt x="98" y="0"/>
                </a:lnTo>
                <a:lnTo>
                  <a:pt x="205" y="764"/>
                </a:lnTo>
                <a:lnTo>
                  <a:pt x="255" y="764"/>
                </a:lnTo>
                <a:lnTo>
                  <a:pt x="309" y="764"/>
                </a:lnTo>
                <a:lnTo>
                  <a:pt x="357" y="764"/>
                </a:lnTo>
                <a:lnTo>
                  <a:pt x="404" y="764"/>
                </a:lnTo>
                <a:lnTo>
                  <a:pt x="450" y="45"/>
                </a:lnTo>
                <a:lnTo>
                  <a:pt x="556" y="764"/>
                </a:lnTo>
                <a:lnTo>
                  <a:pt x="607" y="764"/>
                </a:lnTo>
                <a:lnTo>
                  <a:pt x="661" y="764"/>
                </a:lnTo>
                <a:lnTo>
                  <a:pt x="712" y="764"/>
                </a:lnTo>
                <a:lnTo>
                  <a:pt x="754" y="764"/>
                </a:lnTo>
                <a:lnTo>
                  <a:pt x="795" y="90"/>
                </a:lnTo>
                <a:lnTo>
                  <a:pt x="898" y="763"/>
                </a:lnTo>
                <a:lnTo>
                  <a:pt x="943" y="764"/>
                </a:lnTo>
                <a:lnTo>
                  <a:pt x="996" y="764"/>
                </a:lnTo>
                <a:lnTo>
                  <a:pt x="1043" y="764"/>
                </a:lnTo>
                <a:lnTo>
                  <a:pt x="1093" y="764"/>
                </a:lnTo>
                <a:lnTo>
                  <a:pt x="1138" y="102"/>
                </a:lnTo>
                <a:lnTo>
                  <a:pt x="1236" y="764"/>
                </a:lnTo>
                <a:lnTo>
                  <a:pt x="1241" y="764"/>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32" name="Rectangle 719"/>
          <p:cNvSpPr>
            <a:spLocks noChangeArrowheads="1"/>
          </p:cNvSpPr>
          <p:nvPr/>
        </p:nvSpPr>
        <p:spPr bwMode="auto">
          <a:xfrm>
            <a:off x="2298700" y="3732213"/>
            <a:ext cx="76944"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5797</a:t>
            </a:r>
            <a:endParaRPr lang="en-US" altLang="en-US">
              <a:solidFill>
                <a:srgbClr val="000000"/>
              </a:solidFill>
              <a:latin typeface="Calibri" panose="020F0502020204030204" pitchFamily="34" charset="0"/>
            </a:endParaRPr>
          </a:p>
        </p:txBody>
      </p:sp>
      <p:sp>
        <p:nvSpPr>
          <p:cNvPr id="39633" name="Rectangle 720"/>
          <p:cNvSpPr>
            <a:spLocks noChangeArrowheads="1"/>
          </p:cNvSpPr>
          <p:nvPr/>
        </p:nvSpPr>
        <p:spPr bwMode="auto">
          <a:xfrm>
            <a:off x="2289175" y="3779838"/>
            <a:ext cx="86562" cy="46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300">
                <a:solidFill>
                  <a:srgbClr val="000000"/>
                </a:solidFill>
                <a:latin typeface="Calibri" panose="020F0502020204030204" pitchFamily="34" charset="0"/>
              </a:rPr>
              <a:t>30.64</a:t>
            </a:r>
            <a:endParaRPr lang="en-US" altLang="en-US">
              <a:solidFill>
                <a:srgbClr val="000000"/>
              </a:solidFill>
              <a:latin typeface="Calibri" panose="020F0502020204030204" pitchFamily="34" charset="0"/>
            </a:endParaRPr>
          </a:p>
        </p:txBody>
      </p:sp>
      <p:sp>
        <p:nvSpPr>
          <p:cNvPr id="39634" name="Text Box 721"/>
          <p:cNvSpPr txBox="1">
            <a:spLocks noChangeArrowheads="1"/>
          </p:cNvSpPr>
          <p:nvPr/>
        </p:nvSpPr>
        <p:spPr bwMode="auto">
          <a:xfrm>
            <a:off x="746125" y="1001713"/>
            <a:ext cx="5164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b="1" dirty="0">
                <a:solidFill>
                  <a:srgbClr val="000000"/>
                </a:solidFill>
                <a:latin typeface="Calibri" panose="020F0502020204030204" pitchFamily="34" charset="0"/>
              </a:rPr>
              <a:t>TIC</a:t>
            </a:r>
          </a:p>
        </p:txBody>
      </p:sp>
      <p:sp>
        <p:nvSpPr>
          <p:cNvPr id="39635" name="Text Box 722"/>
          <p:cNvSpPr txBox="1">
            <a:spLocks noChangeArrowheads="1"/>
          </p:cNvSpPr>
          <p:nvPr/>
        </p:nvSpPr>
        <p:spPr bwMode="auto">
          <a:xfrm>
            <a:off x="838200" y="3886200"/>
            <a:ext cx="5309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b="1" dirty="0">
                <a:solidFill>
                  <a:srgbClr val="000000"/>
                </a:solidFill>
                <a:latin typeface="Calibri" panose="020F0502020204030204" pitchFamily="34" charset="0"/>
              </a:rPr>
              <a:t>MS</a:t>
            </a:r>
          </a:p>
        </p:txBody>
      </p:sp>
      <p:sp>
        <p:nvSpPr>
          <p:cNvPr id="39636" name="Line 723"/>
          <p:cNvSpPr>
            <a:spLocks noChangeShapeType="1"/>
          </p:cNvSpPr>
          <p:nvPr/>
        </p:nvSpPr>
        <p:spPr bwMode="auto">
          <a:xfrm flipH="1">
            <a:off x="1828800" y="1600200"/>
            <a:ext cx="1676400" cy="2743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37" name="Text Box 724"/>
          <p:cNvSpPr txBox="1">
            <a:spLocks noChangeArrowheads="1"/>
          </p:cNvSpPr>
          <p:nvPr/>
        </p:nvSpPr>
        <p:spPr bwMode="auto">
          <a:xfrm>
            <a:off x="1587647" y="770880"/>
            <a:ext cx="67259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Data Dependent Acquisition (DDA) - “Top 5 method”</a:t>
            </a:r>
          </a:p>
        </p:txBody>
      </p:sp>
      <p:sp>
        <p:nvSpPr>
          <p:cNvPr id="39638" name="Line 725"/>
          <p:cNvSpPr>
            <a:spLocks noChangeShapeType="1"/>
          </p:cNvSpPr>
          <p:nvPr/>
        </p:nvSpPr>
        <p:spPr bwMode="auto">
          <a:xfrm>
            <a:off x="4267200" y="33528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39" name="Line 726"/>
          <p:cNvSpPr>
            <a:spLocks noChangeShapeType="1"/>
          </p:cNvSpPr>
          <p:nvPr/>
        </p:nvSpPr>
        <p:spPr bwMode="auto">
          <a:xfrm>
            <a:off x="4495800" y="33528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0" name="Line 727"/>
          <p:cNvSpPr>
            <a:spLocks noChangeShapeType="1"/>
          </p:cNvSpPr>
          <p:nvPr/>
        </p:nvSpPr>
        <p:spPr bwMode="auto">
          <a:xfrm>
            <a:off x="5181600" y="33528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1" name="Line 728"/>
          <p:cNvSpPr>
            <a:spLocks noChangeShapeType="1"/>
          </p:cNvSpPr>
          <p:nvPr/>
        </p:nvSpPr>
        <p:spPr bwMode="auto">
          <a:xfrm>
            <a:off x="4953000" y="33528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2" name="Line 729"/>
          <p:cNvSpPr>
            <a:spLocks noChangeShapeType="1"/>
          </p:cNvSpPr>
          <p:nvPr/>
        </p:nvSpPr>
        <p:spPr bwMode="auto">
          <a:xfrm>
            <a:off x="4724400" y="3352800"/>
            <a:ext cx="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3" name="Line 730"/>
          <p:cNvSpPr>
            <a:spLocks noChangeShapeType="1"/>
          </p:cNvSpPr>
          <p:nvPr/>
        </p:nvSpPr>
        <p:spPr bwMode="auto">
          <a:xfrm flipH="1">
            <a:off x="3886200" y="3657600"/>
            <a:ext cx="3810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4" name="Line 731"/>
          <p:cNvSpPr>
            <a:spLocks noChangeShapeType="1"/>
          </p:cNvSpPr>
          <p:nvPr/>
        </p:nvSpPr>
        <p:spPr bwMode="auto">
          <a:xfrm>
            <a:off x="4495800" y="3657600"/>
            <a:ext cx="1524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5" name="Line 732"/>
          <p:cNvSpPr>
            <a:spLocks noChangeShapeType="1"/>
          </p:cNvSpPr>
          <p:nvPr/>
        </p:nvSpPr>
        <p:spPr bwMode="auto">
          <a:xfrm>
            <a:off x="4724400" y="3657600"/>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6" name="Line 733"/>
          <p:cNvSpPr>
            <a:spLocks noChangeShapeType="1"/>
          </p:cNvSpPr>
          <p:nvPr/>
        </p:nvSpPr>
        <p:spPr bwMode="auto">
          <a:xfrm>
            <a:off x="4953000" y="3657600"/>
            <a:ext cx="1447800" cy="990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7" name="Line 734"/>
          <p:cNvSpPr>
            <a:spLocks noChangeShapeType="1"/>
          </p:cNvSpPr>
          <p:nvPr/>
        </p:nvSpPr>
        <p:spPr bwMode="auto">
          <a:xfrm>
            <a:off x="5181600" y="3657600"/>
            <a:ext cx="243840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648" name="Text Box 735"/>
          <p:cNvSpPr txBox="1">
            <a:spLocks noChangeArrowheads="1"/>
          </p:cNvSpPr>
          <p:nvPr/>
        </p:nvSpPr>
        <p:spPr bwMode="auto">
          <a:xfrm>
            <a:off x="3664743" y="1517650"/>
            <a:ext cx="125175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1 MS Scan</a:t>
            </a:r>
          </a:p>
        </p:txBody>
      </p:sp>
      <p:sp>
        <p:nvSpPr>
          <p:cNvPr id="39649" name="Text Box 736"/>
          <p:cNvSpPr txBox="1">
            <a:spLocks noChangeArrowheads="1"/>
          </p:cNvSpPr>
          <p:nvPr/>
        </p:nvSpPr>
        <p:spPr bwMode="auto">
          <a:xfrm>
            <a:off x="4064360" y="2637696"/>
            <a:ext cx="120577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5 MS/MS </a:t>
            </a:r>
          </a:p>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Scans</a:t>
            </a:r>
          </a:p>
        </p:txBody>
      </p:sp>
      <p:sp>
        <p:nvSpPr>
          <p:cNvPr id="39650" name="Oval 737"/>
          <p:cNvSpPr>
            <a:spLocks noChangeArrowheads="1"/>
          </p:cNvSpPr>
          <p:nvPr/>
        </p:nvSpPr>
        <p:spPr bwMode="auto">
          <a:xfrm>
            <a:off x="2819400" y="3581400"/>
            <a:ext cx="1600200" cy="14478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sp>
        <p:nvSpPr>
          <p:cNvPr id="740" name="Text Box 724"/>
          <p:cNvSpPr txBox="1">
            <a:spLocks noChangeArrowheads="1"/>
          </p:cNvSpPr>
          <p:nvPr/>
        </p:nvSpPr>
        <p:spPr bwMode="auto">
          <a:xfrm>
            <a:off x="5916014" y="1524378"/>
            <a:ext cx="157286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MS/MS </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based </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on MS ion </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abundance</a:t>
            </a:r>
          </a:p>
        </p:txBody>
      </p:sp>
    </p:spTree>
    <p:extLst>
      <p:ext uri="{BB962C8B-B14F-4D97-AF65-F5344CB8AC3E}">
        <p14:creationId xmlns:p14="http://schemas.microsoft.com/office/powerpoint/2010/main" val="11679742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4"/>
          <p:cNvSpPr>
            <a:spLocks noGrp="1" noChangeArrowheads="1"/>
          </p:cNvSpPr>
          <p:nvPr>
            <p:ph type="title"/>
          </p:nvPr>
        </p:nvSpPr>
        <p:spPr bwMode="auto">
          <a:xfrm>
            <a:off x="0" y="262330"/>
            <a:ext cx="3794125"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latin typeface="Calibri" panose="020F0502020204030204" pitchFamily="34" charset="0"/>
              </a:rPr>
              <a:t>MS Data Example</a:t>
            </a:r>
            <a:endParaRPr lang="en-US" altLang="en-US" sz="2800" b="1" i="1" dirty="0">
              <a:solidFill>
                <a:schemeClr val="accent2"/>
              </a:solidFill>
              <a:latin typeface="Calibri" panose="020F0502020204030204" pitchFamily="34" charset="0"/>
            </a:endParaRPr>
          </a:p>
        </p:txBody>
      </p:sp>
      <p:sp>
        <p:nvSpPr>
          <p:cNvPr id="2" name="Date Placeholder 1"/>
          <p:cNvSpPr>
            <a:spLocks noGrp="1"/>
          </p:cNvSpPr>
          <p:nvPr>
            <p:ph type="dt" sz="half" idx="10"/>
          </p:nvPr>
        </p:nvSpPr>
        <p:spPr>
          <a:xfrm>
            <a:off x="0" y="6008688"/>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a:xfrm>
            <a:off x="3028950" y="6009081"/>
            <a:ext cx="3086100" cy="365125"/>
          </a:xfrm>
        </p:spPr>
        <p:txBody>
          <a:bodyPr/>
          <a:lstStyle/>
          <a:p>
            <a:r>
              <a:rPr lang="en-US"/>
              <a:t>Hsu group meeting</a:t>
            </a:r>
          </a:p>
        </p:txBody>
      </p:sp>
      <p:sp>
        <p:nvSpPr>
          <p:cNvPr id="39938" name="Slide Number Placeholder 4"/>
          <p:cNvSpPr>
            <a:spLocks noGrp="1"/>
          </p:cNvSpPr>
          <p:nvPr>
            <p:ph type="sldNum" sz="quarter" idx="12"/>
          </p:nvPr>
        </p:nvSpPr>
        <p:spPr>
          <a:xfrm>
            <a:off x="6457950" y="6009081"/>
            <a:ext cx="2057400" cy="365125"/>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70C46043-1332-4AE3-AC48-DBC454301DCC}" type="slidenum">
              <a:rPr lang="en-US" altLang="en-US" smtClean="0">
                <a:solidFill>
                  <a:srgbClr val="000000"/>
                </a:solidFill>
                <a:latin typeface="Calibri" panose="020F0502020204030204" pitchFamily="34" charset="0"/>
              </a:rPr>
              <a:pPr eaLnBrk="1" hangingPunct="1"/>
              <a:t>30</a:t>
            </a:fld>
            <a:endParaRPr lang="en-US" altLang="en-US">
              <a:solidFill>
                <a:srgbClr val="000000"/>
              </a:solidFill>
              <a:latin typeface="Calibri" panose="020F0502020204030204" pitchFamily="34" charset="0"/>
            </a:endParaRPr>
          </a:p>
        </p:txBody>
      </p:sp>
      <p:sp>
        <p:nvSpPr>
          <p:cNvPr id="39940" name="Text Box 9"/>
          <p:cNvSpPr txBox="1">
            <a:spLocks noChangeArrowheads="1"/>
          </p:cNvSpPr>
          <p:nvPr/>
        </p:nvSpPr>
        <p:spPr bwMode="auto">
          <a:xfrm>
            <a:off x="828631" y="4834330"/>
            <a:ext cx="722980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This MS/MS spectrum and peptide precursor ion mass </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were matched to: TYF</a:t>
            </a:r>
            <a:r>
              <a:rPr lang="en-US" altLang="en-US" sz="2400" b="1" dirty="0">
                <a:solidFill>
                  <a:srgbClr val="FF0000"/>
                </a:solidFill>
                <a:latin typeface="Calibri" panose="020F0502020204030204" pitchFamily="34" charset="0"/>
              </a:rPr>
              <a:t>PHF</a:t>
            </a:r>
            <a:r>
              <a:rPr lang="en-US" altLang="en-US" sz="2400" dirty="0">
                <a:solidFill>
                  <a:srgbClr val="000000"/>
                </a:solidFill>
                <a:latin typeface="Calibri" panose="020F0502020204030204" pitchFamily="34" charset="0"/>
              </a:rPr>
              <a:t>DVSHGSAQVK, </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which is part of the </a:t>
            </a:r>
            <a:r>
              <a:rPr lang="en-US" altLang="en-US" sz="2400" u="sng" dirty="0">
                <a:solidFill>
                  <a:srgbClr val="000000"/>
                </a:solidFill>
                <a:latin typeface="Calibri" panose="020F0502020204030204" pitchFamily="34" charset="0"/>
              </a:rPr>
              <a:t>Hemoglobin alpha 1 chain</a:t>
            </a:r>
            <a:r>
              <a:rPr lang="en-US" altLang="en-US" sz="2400" dirty="0">
                <a:solidFill>
                  <a:srgbClr val="000000"/>
                </a:solidFill>
                <a:latin typeface="Calibri" panose="020F0502020204030204" pitchFamily="34" charset="0"/>
              </a:rPr>
              <a:t> sequence</a:t>
            </a:r>
            <a:endParaRPr lang="en-US" altLang="en-US" sz="2400" u="sng" dirty="0">
              <a:solidFill>
                <a:srgbClr val="000000"/>
              </a:solidFill>
              <a:latin typeface="Calibri" panose="020F0502020204030204" pitchFamily="34" charset="0"/>
            </a:endParaRPr>
          </a:p>
        </p:txBody>
      </p:sp>
      <p:sp>
        <p:nvSpPr>
          <p:cNvPr id="39941" name="Text Box 7"/>
          <p:cNvSpPr txBox="1">
            <a:spLocks noChangeArrowheads="1"/>
          </p:cNvSpPr>
          <p:nvPr/>
        </p:nvSpPr>
        <p:spPr bwMode="auto">
          <a:xfrm>
            <a:off x="1203325" y="117673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sp>
        <p:nvSpPr>
          <p:cNvPr id="39942" name="AutoShape 10"/>
          <p:cNvSpPr>
            <a:spLocks noChangeAspect="1" noChangeArrowheads="1" noTextEdit="1"/>
          </p:cNvSpPr>
          <p:nvPr/>
        </p:nvSpPr>
        <p:spPr bwMode="auto">
          <a:xfrm>
            <a:off x="609600" y="948130"/>
            <a:ext cx="7467600"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43" name="Line 13"/>
          <p:cNvSpPr>
            <a:spLocks noChangeShapeType="1"/>
          </p:cNvSpPr>
          <p:nvPr/>
        </p:nvSpPr>
        <p:spPr bwMode="auto">
          <a:xfrm>
            <a:off x="989013" y="4042168"/>
            <a:ext cx="69056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44" name="Line 14"/>
          <p:cNvSpPr>
            <a:spLocks noChangeShapeType="1"/>
          </p:cNvSpPr>
          <p:nvPr/>
        </p:nvSpPr>
        <p:spPr bwMode="auto">
          <a:xfrm>
            <a:off x="106838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45" name="Line 15"/>
          <p:cNvSpPr>
            <a:spLocks noChangeShapeType="1"/>
          </p:cNvSpPr>
          <p:nvPr/>
        </p:nvSpPr>
        <p:spPr bwMode="auto">
          <a:xfrm>
            <a:off x="11493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46" name="Line 16"/>
          <p:cNvSpPr>
            <a:spLocks noChangeShapeType="1"/>
          </p:cNvSpPr>
          <p:nvPr/>
        </p:nvSpPr>
        <p:spPr bwMode="auto">
          <a:xfrm>
            <a:off x="122872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47" name="Line 17"/>
          <p:cNvSpPr>
            <a:spLocks noChangeShapeType="1"/>
          </p:cNvSpPr>
          <p:nvPr/>
        </p:nvSpPr>
        <p:spPr bwMode="auto">
          <a:xfrm>
            <a:off x="130968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48" name="Line 18"/>
          <p:cNvSpPr>
            <a:spLocks noChangeShapeType="1"/>
          </p:cNvSpPr>
          <p:nvPr/>
        </p:nvSpPr>
        <p:spPr bwMode="auto">
          <a:xfrm>
            <a:off x="14779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49" name="Line 19"/>
          <p:cNvSpPr>
            <a:spLocks noChangeShapeType="1"/>
          </p:cNvSpPr>
          <p:nvPr/>
        </p:nvSpPr>
        <p:spPr bwMode="auto">
          <a:xfrm>
            <a:off x="155733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0" name="Line 20"/>
          <p:cNvSpPr>
            <a:spLocks noChangeShapeType="1"/>
          </p:cNvSpPr>
          <p:nvPr/>
        </p:nvSpPr>
        <p:spPr bwMode="auto">
          <a:xfrm>
            <a:off x="16383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1" name="Line 21"/>
          <p:cNvSpPr>
            <a:spLocks noChangeShapeType="1"/>
          </p:cNvSpPr>
          <p:nvPr/>
        </p:nvSpPr>
        <p:spPr bwMode="auto">
          <a:xfrm>
            <a:off x="17256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2" name="Line 22"/>
          <p:cNvSpPr>
            <a:spLocks noChangeShapeType="1"/>
          </p:cNvSpPr>
          <p:nvPr/>
        </p:nvSpPr>
        <p:spPr bwMode="auto">
          <a:xfrm>
            <a:off x="18859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3" name="Line 23"/>
          <p:cNvSpPr>
            <a:spLocks noChangeShapeType="1"/>
          </p:cNvSpPr>
          <p:nvPr/>
        </p:nvSpPr>
        <p:spPr bwMode="auto">
          <a:xfrm>
            <a:off x="196532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4" name="Line 24"/>
          <p:cNvSpPr>
            <a:spLocks noChangeShapeType="1"/>
          </p:cNvSpPr>
          <p:nvPr/>
        </p:nvSpPr>
        <p:spPr bwMode="auto">
          <a:xfrm>
            <a:off x="205422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5" name="Line 25"/>
          <p:cNvSpPr>
            <a:spLocks noChangeShapeType="1"/>
          </p:cNvSpPr>
          <p:nvPr/>
        </p:nvSpPr>
        <p:spPr bwMode="auto">
          <a:xfrm>
            <a:off x="21336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6" name="Line 26"/>
          <p:cNvSpPr>
            <a:spLocks noChangeShapeType="1"/>
          </p:cNvSpPr>
          <p:nvPr/>
        </p:nvSpPr>
        <p:spPr bwMode="auto">
          <a:xfrm>
            <a:off x="229393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7" name="Line 27"/>
          <p:cNvSpPr>
            <a:spLocks noChangeShapeType="1"/>
          </p:cNvSpPr>
          <p:nvPr/>
        </p:nvSpPr>
        <p:spPr bwMode="auto">
          <a:xfrm>
            <a:off x="23749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8" name="Line 28"/>
          <p:cNvSpPr>
            <a:spLocks noChangeShapeType="1"/>
          </p:cNvSpPr>
          <p:nvPr/>
        </p:nvSpPr>
        <p:spPr bwMode="auto">
          <a:xfrm>
            <a:off x="24622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59" name="Line 29"/>
          <p:cNvSpPr>
            <a:spLocks noChangeShapeType="1"/>
          </p:cNvSpPr>
          <p:nvPr/>
        </p:nvSpPr>
        <p:spPr bwMode="auto">
          <a:xfrm>
            <a:off x="254158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0" name="Line 30"/>
          <p:cNvSpPr>
            <a:spLocks noChangeShapeType="1"/>
          </p:cNvSpPr>
          <p:nvPr/>
        </p:nvSpPr>
        <p:spPr bwMode="auto">
          <a:xfrm>
            <a:off x="270192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1" name="Line 31"/>
          <p:cNvSpPr>
            <a:spLocks noChangeShapeType="1"/>
          </p:cNvSpPr>
          <p:nvPr/>
        </p:nvSpPr>
        <p:spPr bwMode="auto">
          <a:xfrm>
            <a:off x="279082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2" name="Line 32"/>
          <p:cNvSpPr>
            <a:spLocks noChangeShapeType="1"/>
          </p:cNvSpPr>
          <p:nvPr/>
        </p:nvSpPr>
        <p:spPr bwMode="auto">
          <a:xfrm>
            <a:off x="28702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3" name="Line 33"/>
          <p:cNvSpPr>
            <a:spLocks noChangeShapeType="1"/>
          </p:cNvSpPr>
          <p:nvPr/>
        </p:nvSpPr>
        <p:spPr bwMode="auto">
          <a:xfrm>
            <a:off x="29511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4" name="Line 34"/>
          <p:cNvSpPr>
            <a:spLocks noChangeShapeType="1"/>
          </p:cNvSpPr>
          <p:nvPr/>
        </p:nvSpPr>
        <p:spPr bwMode="auto">
          <a:xfrm>
            <a:off x="31178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5" name="Line 35"/>
          <p:cNvSpPr>
            <a:spLocks noChangeShapeType="1"/>
          </p:cNvSpPr>
          <p:nvPr/>
        </p:nvSpPr>
        <p:spPr bwMode="auto">
          <a:xfrm>
            <a:off x="31988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6" name="Line 36"/>
          <p:cNvSpPr>
            <a:spLocks noChangeShapeType="1"/>
          </p:cNvSpPr>
          <p:nvPr/>
        </p:nvSpPr>
        <p:spPr bwMode="auto">
          <a:xfrm>
            <a:off x="327818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7" name="Line 37"/>
          <p:cNvSpPr>
            <a:spLocks noChangeShapeType="1"/>
          </p:cNvSpPr>
          <p:nvPr/>
        </p:nvSpPr>
        <p:spPr bwMode="auto">
          <a:xfrm>
            <a:off x="33591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8" name="Line 38"/>
          <p:cNvSpPr>
            <a:spLocks noChangeShapeType="1"/>
          </p:cNvSpPr>
          <p:nvPr/>
        </p:nvSpPr>
        <p:spPr bwMode="auto">
          <a:xfrm>
            <a:off x="352742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69" name="Line 39"/>
          <p:cNvSpPr>
            <a:spLocks noChangeShapeType="1"/>
          </p:cNvSpPr>
          <p:nvPr/>
        </p:nvSpPr>
        <p:spPr bwMode="auto">
          <a:xfrm>
            <a:off x="36068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0" name="Line 40"/>
          <p:cNvSpPr>
            <a:spLocks noChangeShapeType="1"/>
          </p:cNvSpPr>
          <p:nvPr/>
        </p:nvSpPr>
        <p:spPr bwMode="auto">
          <a:xfrm>
            <a:off x="36877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1" name="Line 41"/>
          <p:cNvSpPr>
            <a:spLocks noChangeShapeType="1"/>
          </p:cNvSpPr>
          <p:nvPr/>
        </p:nvSpPr>
        <p:spPr bwMode="auto">
          <a:xfrm>
            <a:off x="376713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2" name="Line 42"/>
          <p:cNvSpPr>
            <a:spLocks noChangeShapeType="1"/>
          </p:cNvSpPr>
          <p:nvPr/>
        </p:nvSpPr>
        <p:spPr bwMode="auto">
          <a:xfrm>
            <a:off x="39354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3" name="Line 43"/>
          <p:cNvSpPr>
            <a:spLocks noChangeShapeType="1"/>
          </p:cNvSpPr>
          <p:nvPr/>
        </p:nvSpPr>
        <p:spPr bwMode="auto">
          <a:xfrm>
            <a:off x="401478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4" name="Line 44"/>
          <p:cNvSpPr>
            <a:spLocks noChangeShapeType="1"/>
          </p:cNvSpPr>
          <p:nvPr/>
        </p:nvSpPr>
        <p:spPr bwMode="auto">
          <a:xfrm>
            <a:off x="40957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5" name="Line 45"/>
          <p:cNvSpPr>
            <a:spLocks noChangeShapeType="1"/>
          </p:cNvSpPr>
          <p:nvPr/>
        </p:nvSpPr>
        <p:spPr bwMode="auto">
          <a:xfrm>
            <a:off x="41830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6" name="Line 46"/>
          <p:cNvSpPr>
            <a:spLocks noChangeShapeType="1"/>
          </p:cNvSpPr>
          <p:nvPr/>
        </p:nvSpPr>
        <p:spPr bwMode="auto">
          <a:xfrm>
            <a:off x="43434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7" name="Line 47"/>
          <p:cNvSpPr>
            <a:spLocks noChangeShapeType="1"/>
          </p:cNvSpPr>
          <p:nvPr/>
        </p:nvSpPr>
        <p:spPr bwMode="auto">
          <a:xfrm>
            <a:off x="44243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8" name="Line 48"/>
          <p:cNvSpPr>
            <a:spLocks noChangeShapeType="1"/>
          </p:cNvSpPr>
          <p:nvPr/>
        </p:nvSpPr>
        <p:spPr bwMode="auto">
          <a:xfrm>
            <a:off x="451167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79" name="Line 49"/>
          <p:cNvSpPr>
            <a:spLocks noChangeShapeType="1"/>
          </p:cNvSpPr>
          <p:nvPr/>
        </p:nvSpPr>
        <p:spPr bwMode="auto">
          <a:xfrm>
            <a:off x="45910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0" name="Line 50"/>
          <p:cNvSpPr>
            <a:spLocks noChangeShapeType="1"/>
          </p:cNvSpPr>
          <p:nvPr/>
        </p:nvSpPr>
        <p:spPr bwMode="auto">
          <a:xfrm>
            <a:off x="475138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1" name="Line 51"/>
          <p:cNvSpPr>
            <a:spLocks noChangeShapeType="1"/>
          </p:cNvSpPr>
          <p:nvPr/>
        </p:nvSpPr>
        <p:spPr bwMode="auto">
          <a:xfrm>
            <a:off x="48323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2" name="Line 52"/>
          <p:cNvSpPr>
            <a:spLocks noChangeShapeType="1"/>
          </p:cNvSpPr>
          <p:nvPr/>
        </p:nvSpPr>
        <p:spPr bwMode="auto">
          <a:xfrm>
            <a:off x="49196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3" name="Line 53"/>
          <p:cNvSpPr>
            <a:spLocks noChangeShapeType="1"/>
          </p:cNvSpPr>
          <p:nvPr/>
        </p:nvSpPr>
        <p:spPr bwMode="auto">
          <a:xfrm>
            <a:off x="499903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4" name="Line 54"/>
          <p:cNvSpPr>
            <a:spLocks noChangeShapeType="1"/>
          </p:cNvSpPr>
          <p:nvPr/>
        </p:nvSpPr>
        <p:spPr bwMode="auto">
          <a:xfrm>
            <a:off x="51609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5" name="Line 55"/>
          <p:cNvSpPr>
            <a:spLocks noChangeShapeType="1"/>
          </p:cNvSpPr>
          <p:nvPr/>
        </p:nvSpPr>
        <p:spPr bwMode="auto">
          <a:xfrm>
            <a:off x="524827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6" name="Line 56"/>
          <p:cNvSpPr>
            <a:spLocks noChangeShapeType="1"/>
          </p:cNvSpPr>
          <p:nvPr/>
        </p:nvSpPr>
        <p:spPr bwMode="auto">
          <a:xfrm>
            <a:off x="53276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7" name="Line 57"/>
          <p:cNvSpPr>
            <a:spLocks noChangeShapeType="1"/>
          </p:cNvSpPr>
          <p:nvPr/>
        </p:nvSpPr>
        <p:spPr bwMode="auto">
          <a:xfrm>
            <a:off x="54086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8" name="Line 58"/>
          <p:cNvSpPr>
            <a:spLocks noChangeShapeType="1"/>
          </p:cNvSpPr>
          <p:nvPr/>
        </p:nvSpPr>
        <p:spPr bwMode="auto">
          <a:xfrm>
            <a:off x="55753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89" name="Line 59"/>
          <p:cNvSpPr>
            <a:spLocks noChangeShapeType="1"/>
          </p:cNvSpPr>
          <p:nvPr/>
        </p:nvSpPr>
        <p:spPr bwMode="auto">
          <a:xfrm>
            <a:off x="56562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0" name="Line 60"/>
          <p:cNvSpPr>
            <a:spLocks noChangeShapeType="1"/>
          </p:cNvSpPr>
          <p:nvPr/>
        </p:nvSpPr>
        <p:spPr bwMode="auto">
          <a:xfrm>
            <a:off x="573563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1" name="Line 61"/>
          <p:cNvSpPr>
            <a:spLocks noChangeShapeType="1"/>
          </p:cNvSpPr>
          <p:nvPr/>
        </p:nvSpPr>
        <p:spPr bwMode="auto">
          <a:xfrm>
            <a:off x="58166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2" name="Line 62"/>
          <p:cNvSpPr>
            <a:spLocks noChangeShapeType="1"/>
          </p:cNvSpPr>
          <p:nvPr/>
        </p:nvSpPr>
        <p:spPr bwMode="auto">
          <a:xfrm>
            <a:off x="598487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3" name="Line 63"/>
          <p:cNvSpPr>
            <a:spLocks noChangeShapeType="1"/>
          </p:cNvSpPr>
          <p:nvPr/>
        </p:nvSpPr>
        <p:spPr bwMode="auto">
          <a:xfrm>
            <a:off x="60642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4" name="Line 64"/>
          <p:cNvSpPr>
            <a:spLocks noChangeShapeType="1"/>
          </p:cNvSpPr>
          <p:nvPr/>
        </p:nvSpPr>
        <p:spPr bwMode="auto">
          <a:xfrm>
            <a:off x="61452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5" name="Line 65"/>
          <p:cNvSpPr>
            <a:spLocks noChangeShapeType="1"/>
          </p:cNvSpPr>
          <p:nvPr/>
        </p:nvSpPr>
        <p:spPr bwMode="auto">
          <a:xfrm>
            <a:off x="622458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6" name="Line 66"/>
          <p:cNvSpPr>
            <a:spLocks noChangeShapeType="1"/>
          </p:cNvSpPr>
          <p:nvPr/>
        </p:nvSpPr>
        <p:spPr bwMode="auto">
          <a:xfrm>
            <a:off x="63928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7" name="Line 67"/>
          <p:cNvSpPr>
            <a:spLocks noChangeShapeType="1"/>
          </p:cNvSpPr>
          <p:nvPr/>
        </p:nvSpPr>
        <p:spPr bwMode="auto">
          <a:xfrm>
            <a:off x="647223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8" name="Line 68"/>
          <p:cNvSpPr>
            <a:spLocks noChangeShapeType="1"/>
          </p:cNvSpPr>
          <p:nvPr/>
        </p:nvSpPr>
        <p:spPr bwMode="auto">
          <a:xfrm>
            <a:off x="65532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9999" name="Line 69"/>
          <p:cNvSpPr>
            <a:spLocks noChangeShapeType="1"/>
          </p:cNvSpPr>
          <p:nvPr/>
        </p:nvSpPr>
        <p:spPr bwMode="auto">
          <a:xfrm>
            <a:off x="66405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0" name="Line 70"/>
          <p:cNvSpPr>
            <a:spLocks noChangeShapeType="1"/>
          </p:cNvSpPr>
          <p:nvPr/>
        </p:nvSpPr>
        <p:spPr bwMode="auto">
          <a:xfrm>
            <a:off x="680085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1" name="Line 71"/>
          <p:cNvSpPr>
            <a:spLocks noChangeShapeType="1"/>
          </p:cNvSpPr>
          <p:nvPr/>
        </p:nvSpPr>
        <p:spPr bwMode="auto">
          <a:xfrm>
            <a:off x="68818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2" name="Line 72"/>
          <p:cNvSpPr>
            <a:spLocks noChangeShapeType="1"/>
          </p:cNvSpPr>
          <p:nvPr/>
        </p:nvSpPr>
        <p:spPr bwMode="auto">
          <a:xfrm>
            <a:off x="696912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3" name="Line 73"/>
          <p:cNvSpPr>
            <a:spLocks noChangeShapeType="1"/>
          </p:cNvSpPr>
          <p:nvPr/>
        </p:nvSpPr>
        <p:spPr bwMode="auto">
          <a:xfrm>
            <a:off x="70485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4" name="Line 74"/>
          <p:cNvSpPr>
            <a:spLocks noChangeShapeType="1"/>
          </p:cNvSpPr>
          <p:nvPr/>
        </p:nvSpPr>
        <p:spPr bwMode="auto">
          <a:xfrm>
            <a:off x="7208838"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5" name="Line 75"/>
          <p:cNvSpPr>
            <a:spLocks noChangeShapeType="1"/>
          </p:cNvSpPr>
          <p:nvPr/>
        </p:nvSpPr>
        <p:spPr bwMode="auto">
          <a:xfrm>
            <a:off x="72898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6" name="Line 76"/>
          <p:cNvSpPr>
            <a:spLocks noChangeShapeType="1"/>
          </p:cNvSpPr>
          <p:nvPr/>
        </p:nvSpPr>
        <p:spPr bwMode="auto">
          <a:xfrm>
            <a:off x="73771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7" name="Line 77"/>
          <p:cNvSpPr>
            <a:spLocks noChangeShapeType="1"/>
          </p:cNvSpPr>
          <p:nvPr/>
        </p:nvSpPr>
        <p:spPr bwMode="auto">
          <a:xfrm>
            <a:off x="745807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8" name="Line 78"/>
          <p:cNvSpPr>
            <a:spLocks noChangeShapeType="1"/>
          </p:cNvSpPr>
          <p:nvPr/>
        </p:nvSpPr>
        <p:spPr bwMode="auto">
          <a:xfrm>
            <a:off x="761841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09" name="Line 79"/>
          <p:cNvSpPr>
            <a:spLocks noChangeShapeType="1"/>
          </p:cNvSpPr>
          <p:nvPr/>
        </p:nvSpPr>
        <p:spPr bwMode="auto">
          <a:xfrm>
            <a:off x="7705725"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10" name="Line 80"/>
          <p:cNvSpPr>
            <a:spLocks noChangeShapeType="1"/>
          </p:cNvSpPr>
          <p:nvPr/>
        </p:nvSpPr>
        <p:spPr bwMode="auto">
          <a:xfrm>
            <a:off x="7785100" y="4042168"/>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11" name="Line 81"/>
          <p:cNvSpPr>
            <a:spLocks noChangeShapeType="1"/>
          </p:cNvSpPr>
          <p:nvPr/>
        </p:nvSpPr>
        <p:spPr bwMode="auto">
          <a:xfrm>
            <a:off x="7866063" y="4042168"/>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12" name="Line 82"/>
          <p:cNvSpPr>
            <a:spLocks noChangeShapeType="1"/>
          </p:cNvSpPr>
          <p:nvPr/>
        </p:nvSpPr>
        <p:spPr bwMode="auto">
          <a:xfrm>
            <a:off x="989013"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13" name="Rectangle 83"/>
          <p:cNvSpPr>
            <a:spLocks noChangeArrowheads="1"/>
          </p:cNvSpPr>
          <p:nvPr/>
        </p:nvSpPr>
        <p:spPr bwMode="auto">
          <a:xfrm>
            <a:off x="941388" y="4080268"/>
            <a:ext cx="320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0</a:t>
            </a:r>
            <a:endParaRPr lang="en-US" altLang="en-US">
              <a:solidFill>
                <a:srgbClr val="000000"/>
              </a:solidFill>
              <a:latin typeface="Calibri" panose="020F0502020204030204" pitchFamily="34" charset="0"/>
            </a:endParaRPr>
          </a:p>
        </p:txBody>
      </p:sp>
      <p:sp>
        <p:nvSpPr>
          <p:cNvPr id="40014" name="Line 84"/>
          <p:cNvSpPr>
            <a:spLocks noChangeShapeType="1"/>
          </p:cNvSpPr>
          <p:nvPr/>
        </p:nvSpPr>
        <p:spPr bwMode="auto">
          <a:xfrm>
            <a:off x="1397000" y="4042168"/>
            <a:ext cx="1588"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15" name="Rectangle 85"/>
          <p:cNvSpPr>
            <a:spLocks noChangeArrowheads="1"/>
          </p:cNvSpPr>
          <p:nvPr/>
        </p:nvSpPr>
        <p:spPr bwMode="auto">
          <a:xfrm>
            <a:off x="1298575"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100</a:t>
            </a:r>
            <a:endParaRPr lang="en-US" altLang="en-US">
              <a:solidFill>
                <a:srgbClr val="000000"/>
              </a:solidFill>
              <a:latin typeface="Calibri" panose="020F0502020204030204" pitchFamily="34" charset="0"/>
            </a:endParaRPr>
          </a:p>
        </p:txBody>
      </p:sp>
      <p:sp>
        <p:nvSpPr>
          <p:cNvPr id="40016" name="Line 86"/>
          <p:cNvSpPr>
            <a:spLocks noChangeShapeType="1"/>
          </p:cNvSpPr>
          <p:nvPr/>
        </p:nvSpPr>
        <p:spPr bwMode="auto">
          <a:xfrm>
            <a:off x="1804988"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17" name="Rectangle 87"/>
          <p:cNvSpPr>
            <a:spLocks noChangeArrowheads="1"/>
          </p:cNvSpPr>
          <p:nvPr/>
        </p:nvSpPr>
        <p:spPr bwMode="auto">
          <a:xfrm>
            <a:off x="1706563"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200</a:t>
            </a:r>
            <a:endParaRPr lang="en-US" altLang="en-US">
              <a:solidFill>
                <a:srgbClr val="000000"/>
              </a:solidFill>
              <a:latin typeface="Calibri" panose="020F0502020204030204" pitchFamily="34" charset="0"/>
            </a:endParaRPr>
          </a:p>
        </p:txBody>
      </p:sp>
      <p:sp>
        <p:nvSpPr>
          <p:cNvPr id="40018" name="Line 88"/>
          <p:cNvSpPr>
            <a:spLocks noChangeShapeType="1"/>
          </p:cNvSpPr>
          <p:nvPr/>
        </p:nvSpPr>
        <p:spPr bwMode="auto">
          <a:xfrm>
            <a:off x="2214563"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19" name="Rectangle 89"/>
          <p:cNvSpPr>
            <a:spLocks noChangeArrowheads="1"/>
          </p:cNvSpPr>
          <p:nvPr/>
        </p:nvSpPr>
        <p:spPr bwMode="auto">
          <a:xfrm>
            <a:off x="2116138"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300</a:t>
            </a:r>
            <a:endParaRPr lang="en-US" altLang="en-US">
              <a:solidFill>
                <a:srgbClr val="000000"/>
              </a:solidFill>
              <a:latin typeface="Calibri" panose="020F0502020204030204" pitchFamily="34" charset="0"/>
            </a:endParaRPr>
          </a:p>
        </p:txBody>
      </p:sp>
      <p:sp>
        <p:nvSpPr>
          <p:cNvPr id="40020" name="Line 90"/>
          <p:cNvSpPr>
            <a:spLocks noChangeShapeType="1"/>
          </p:cNvSpPr>
          <p:nvPr/>
        </p:nvSpPr>
        <p:spPr bwMode="auto">
          <a:xfrm>
            <a:off x="2622550" y="4042168"/>
            <a:ext cx="1588"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21" name="Rectangle 91"/>
          <p:cNvSpPr>
            <a:spLocks noChangeArrowheads="1"/>
          </p:cNvSpPr>
          <p:nvPr/>
        </p:nvSpPr>
        <p:spPr bwMode="auto">
          <a:xfrm>
            <a:off x="2524125"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400</a:t>
            </a:r>
            <a:endParaRPr lang="en-US" altLang="en-US">
              <a:solidFill>
                <a:srgbClr val="000000"/>
              </a:solidFill>
              <a:latin typeface="Calibri" panose="020F0502020204030204" pitchFamily="34" charset="0"/>
            </a:endParaRPr>
          </a:p>
        </p:txBody>
      </p:sp>
      <p:sp>
        <p:nvSpPr>
          <p:cNvPr id="40022" name="Line 92"/>
          <p:cNvSpPr>
            <a:spLocks noChangeShapeType="1"/>
          </p:cNvSpPr>
          <p:nvPr/>
        </p:nvSpPr>
        <p:spPr bwMode="auto">
          <a:xfrm>
            <a:off x="3030538"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23" name="Rectangle 93"/>
          <p:cNvSpPr>
            <a:spLocks noChangeArrowheads="1"/>
          </p:cNvSpPr>
          <p:nvPr/>
        </p:nvSpPr>
        <p:spPr bwMode="auto">
          <a:xfrm>
            <a:off x="2932113"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500</a:t>
            </a:r>
            <a:endParaRPr lang="en-US" altLang="en-US">
              <a:solidFill>
                <a:srgbClr val="000000"/>
              </a:solidFill>
              <a:latin typeface="Calibri" panose="020F0502020204030204" pitchFamily="34" charset="0"/>
            </a:endParaRPr>
          </a:p>
        </p:txBody>
      </p:sp>
      <p:sp>
        <p:nvSpPr>
          <p:cNvPr id="40024" name="Line 94"/>
          <p:cNvSpPr>
            <a:spLocks noChangeShapeType="1"/>
          </p:cNvSpPr>
          <p:nvPr/>
        </p:nvSpPr>
        <p:spPr bwMode="auto">
          <a:xfrm>
            <a:off x="3446463"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25" name="Rectangle 95"/>
          <p:cNvSpPr>
            <a:spLocks noChangeArrowheads="1"/>
          </p:cNvSpPr>
          <p:nvPr/>
        </p:nvSpPr>
        <p:spPr bwMode="auto">
          <a:xfrm>
            <a:off x="3348038"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600</a:t>
            </a:r>
            <a:endParaRPr lang="en-US" altLang="en-US">
              <a:solidFill>
                <a:srgbClr val="000000"/>
              </a:solidFill>
              <a:latin typeface="Calibri" panose="020F0502020204030204" pitchFamily="34" charset="0"/>
            </a:endParaRPr>
          </a:p>
        </p:txBody>
      </p:sp>
      <p:sp>
        <p:nvSpPr>
          <p:cNvPr id="40026" name="Line 96"/>
          <p:cNvSpPr>
            <a:spLocks noChangeShapeType="1"/>
          </p:cNvSpPr>
          <p:nvPr/>
        </p:nvSpPr>
        <p:spPr bwMode="auto">
          <a:xfrm>
            <a:off x="3854450" y="4042168"/>
            <a:ext cx="1588"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27" name="Rectangle 97"/>
          <p:cNvSpPr>
            <a:spLocks noChangeArrowheads="1"/>
          </p:cNvSpPr>
          <p:nvPr/>
        </p:nvSpPr>
        <p:spPr bwMode="auto">
          <a:xfrm>
            <a:off x="3756025"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700</a:t>
            </a:r>
            <a:endParaRPr lang="en-US" altLang="en-US">
              <a:solidFill>
                <a:srgbClr val="000000"/>
              </a:solidFill>
              <a:latin typeface="Calibri" panose="020F0502020204030204" pitchFamily="34" charset="0"/>
            </a:endParaRPr>
          </a:p>
        </p:txBody>
      </p:sp>
      <p:sp>
        <p:nvSpPr>
          <p:cNvPr id="40028" name="Line 98"/>
          <p:cNvSpPr>
            <a:spLocks noChangeShapeType="1"/>
          </p:cNvSpPr>
          <p:nvPr/>
        </p:nvSpPr>
        <p:spPr bwMode="auto">
          <a:xfrm>
            <a:off x="4262438"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29" name="Rectangle 99"/>
          <p:cNvSpPr>
            <a:spLocks noChangeArrowheads="1"/>
          </p:cNvSpPr>
          <p:nvPr/>
        </p:nvSpPr>
        <p:spPr bwMode="auto">
          <a:xfrm>
            <a:off x="4164013"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800</a:t>
            </a:r>
            <a:endParaRPr lang="en-US" altLang="en-US">
              <a:solidFill>
                <a:srgbClr val="000000"/>
              </a:solidFill>
              <a:latin typeface="Calibri" panose="020F0502020204030204" pitchFamily="34" charset="0"/>
            </a:endParaRPr>
          </a:p>
        </p:txBody>
      </p:sp>
      <p:sp>
        <p:nvSpPr>
          <p:cNvPr id="40030" name="Line 100"/>
          <p:cNvSpPr>
            <a:spLocks noChangeShapeType="1"/>
          </p:cNvSpPr>
          <p:nvPr/>
        </p:nvSpPr>
        <p:spPr bwMode="auto">
          <a:xfrm>
            <a:off x="4672013"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31" name="Rectangle 101"/>
          <p:cNvSpPr>
            <a:spLocks noChangeArrowheads="1"/>
          </p:cNvSpPr>
          <p:nvPr/>
        </p:nvSpPr>
        <p:spPr bwMode="auto">
          <a:xfrm>
            <a:off x="4573588" y="4080268"/>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900</a:t>
            </a:r>
            <a:endParaRPr lang="en-US" altLang="en-US">
              <a:solidFill>
                <a:srgbClr val="000000"/>
              </a:solidFill>
              <a:latin typeface="Calibri" panose="020F0502020204030204" pitchFamily="34" charset="0"/>
            </a:endParaRPr>
          </a:p>
        </p:txBody>
      </p:sp>
      <p:sp>
        <p:nvSpPr>
          <p:cNvPr id="40032" name="Line 102"/>
          <p:cNvSpPr>
            <a:spLocks noChangeShapeType="1"/>
          </p:cNvSpPr>
          <p:nvPr/>
        </p:nvSpPr>
        <p:spPr bwMode="auto">
          <a:xfrm>
            <a:off x="5080000" y="4042168"/>
            <a:ext cx="1588"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33" name="Rectangle 103"/>
          <p:cNvSpPr>
            <a:spLocks noChangeArrowheads="1"/>
          </p:cNvSpPr>
          <p:nvPr/>
        </p:nvSpPr>
        <p:spPr bwMode="auto">
          <a:xfrm>
            <a:off x="4956175" y="4080268"/>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1000</a:t>
            </a:r>
            <a:endParaRPr lang="en-US" altLang="en-US">
              <a:solidFill>
                <a:srgbClr val="000000"/>
              </a:solidFill>
              <a:latin typeface="Calibri" panose="020F0502020204030204" pitchFamily="34" charset="0"/>
            </a:endParaRPr>
          </a:p>
        </p:txBody>
      </p:sp>
      <p:sp>
        <p:nvSpPr>
          <p:cNvPr id="40034" name="Line 104"/>
          <p:cNvSpPr>
            <a:spLocks noChangeShapeType="1"/>
          </p:cNvSpPr>
          <p:nvPr/>
        </p:nvSpPr>
        <p:spPr bwMode="auto">
          <a:xfrm>
            <a:off x="5487988"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35" name="Rectangle 105"/>
          <p:cNvSpPr>
            <a:spLocks noChangeArrowheads="1"/>
          </p:cNvSpPr>
          <p:nvPr/>
        </p:nvSpPr>
        <p:spPr bwMode="auto">
          <a:xfrm>
            <a:off x="5364163" y="4080268"/>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1100</a:t>
            </a:r>
            <a:endParaRPr lang="en-US" altLang="en-US">
              <a:solidFill>
                <a:srgbClr val="000000"/>
              </a:solidFill>
              <a:latin typeface="Calibri" panose="020F0502020204030204" pitchFamily="34" charset="0"/>
            </a:endParaRPr>
          </a:p>
        </p:txBody>
      </p:sp>
      <p:sp>
        <p:nvSpPr>
          <p:cNvPr id="40036" name="Line 106"/>
          <p:cNvSpPr>
            <a:spLocks noChangeShapeType="1"/>
          </p:cNvSpPr>
          <p:nvPr/>
        </p:nvSpPr>
        <p:spPr bwMode="auto">
          <a:xfrm>
            <a:off x="5903913"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37" name="Rectangle 107"/>
          <p:cNvSpPr>
            <a:spLocks noChangeArrowheads="1"/>
          </p:cNvSpPr>
          <p:nvPr/>
        </p:nvSpPr>
        <p:spPr bwMode="auto">
          <a:xfrm>
            <a:off x="5780088" y="4080268"/>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1200</a:t>
            </a:r>
            <a:endParaRPr lang="en-US" altLang="en-US">
              <a:solidFill>
                <a:srgbClr val="000000"/>
              </a:solidFill>
              <a:latin typeface="Calibri" panose="020F0502020204030204" pitchFamily="34" charset="0"/>
            </a:endParaRPr>
          </a:p>
        </p:txBody>
      </p:sp>
      <p:sp>
        <p:nvSpPr>
          <p:cNvPr id="40038" name="Line 108"/>
          <p:cNvSpPr>
            <a:spLocks noChangeShapeType="1"/>
          </p:cNvSpPr>
          <p:nvPr/>
        </p:nvSpPr>
        <p:spPr bwMode="auto">
          <a:xfrm>
            <a:off x="6311900" y="4042168"/>
            <a:ext cx="1588"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39" name="Rectangle 109"/>
          <p:cNvSpPr>
            <a:spLocks noChangeArrowheads="1"/>
          </p:cNvSpPr>
          <p:nvPr/>
        </p:nvSpPr>
        <p:spPr bwMode="auto">
          <a:xfrm>
            <a:off x="6188075" y="4080268"/>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1300</a:t>
            </a:r>
            <a:endParaRPr lang="en-US" altLang="en-US">
              <a:solidFill>
                <a:srgbClr val="000000"/>
              </a:solidFill>
              <a:latin typeface="Calibri" panose="020F0502020204030204" pitchFamily="34" charset="0"/>
            </a:endParaRPr>
          </a:p>
        </p:txBody>
      </p:sp>
      <p:sp>
        <p:nvSpPr>
          <p:cNvPr id="40040" name="Line 110"/>
          <p:cNvSpPr>
            <a:spLocks noChangeShapeType="1"/>
          </p:cNvSpPr>
          <p:nvPr/>
        </p:nvSpPr>
        <p:spPr bwMode="auto">
          <a:xfrm>
            <a:off x="6721475" y="4042168"/>
            <a:ext cx="1588"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41" name="Rectangle 111"/>
          <p:cNvSpPr>
            <a:spLocks noChangeArrowheads="1"/>
          </p:cNvSpPr>
          <p:nvPr/>
        </p:nvSpPr>
        <p:spPr bwMode="auto">
          <a:xfrm>
            <a:off x="6597650" y="4080268"/>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1400</a:t>
            </a:r>
            <a:endParaRPr lang="en-US" altLang="en-US">
              <a:solidFill>
                <a:srgbClr val="000000"/>
              </a:solidFill>
              <a:latin typeface="Calibri" panose="020F0502020204030204" pitchFamily="34" charset="0"/>
            </a:endParaRPr>
          </a:p>
        </p:txBody>
      </p:sp>
      <p:sp>
        <p:nvSpPr>
          <p:cNvPr id="40042" name="Line 112"/>
          <p:cNvSpPr>
            <a:spLocks noChangeShapeType="1"/>
          </p:cNvSpPr>
          <p:nvPr/>
        </p:nvSpPr>
        <p:spPr bwMode="auto">
          <a:xfrm>
            <a:off x="7129463" y="4042168"/>
            <a:ext cx="1587"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43" name="Rectangle 113"/>
          <p:cNvSpPr>
            <a:spLocks noChangeArrowheads="1"/>
          </p:cNvSpPr>
          <p:nvPr/>
        </p:nvSpPr>
        <p:spPr bwMode="auto">
          <a:xfrm>
            <a:off x="7005638" y="4080268"/>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1500</a:t>
            </a:r>
            <a:endParaRPr lang="en-US" altLang="en-US">
              <a:solidFill>
                <a:srgbClr val="000000"/>
              </a:solidFill>
              <a:latin typeface="Calibri" panose="020F0502020204030204" pitchFamily="34" charset="0"/>
            </a:endParaRPr>
          </a:p>
        </p:txBody>
      </p:sp>
      <p:sp>
        <p:nvSpPr>
          <p:cNvPr id="40044" name="Line 114"/>
          <p:cNvSpPr>
            <a:spLocks noChangeShapeType="1"/>
          </p:cNvSpPr>
          <p:nvPr/>
        </p:nvSpPr>
        <p:spPr bwMode="auto">
          <a:xfrm>
            <a:off x="7537450" y="4042168"/>
            <a:ext cx="1588" cy="381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45" name="Rectangle 115"/>
          <p:cNvSpPr>
            <a:spLocks noChangeArrowheads="1"/>
          </p:cNvSpPr>
          <p:nvPr/>
        </p:nvSpPr>
        <p:spPr bwMode="auto">
          <a:xfrm>
            <a:off x="7413625" y="4080268"/>
            <a:ext cx="12824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1600</a:t>
            </a:r>
            <a:endParaRPr lang="en-US" altLang="en-US">
              <a:solidFill>
                <a:srgbClr val="000000"/>
              </a:solidFill>
              <a:latin typeface="Calibri" panose="020F0502020204030204" pitchFamily="34" charset="0"/>
            </a:endParaRPr>
          </a:p>
        </p:txBody>
      </p:sp>
      <p:sp>
        <p:nvSpPr>
          <p:cNvPr id="40046" name="Rectangle 116"/>
          <p:cNvSpPr>
            <a:spLocks noChangeArrowheads="1"/>
          </p:cNvSpPr>
          <p:nvPr/>
        </p:nvSpPr>
        <p:spPr bwMode="auto">
          <a:xfrm>
            <a:off x="4267200" y="4169168"/>
            <a:ext cx="20478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m/z</a:t>
            </a:r>
          </a:p>
        </p:txBody>
      </p:sp>
      <p:sp>
        <p:nvSpPr>
          <p:cNvPr id="40047" name="Line 117"/>
          <p:cNvSpPr>
            <a:spLocks noChangeShapeType="1"/>
          </p:cNvSpPr>
          <p:nvPr/>
        </p:nvSpPr>
        <p:spPr bwMode="auto">
          <a:xfrm flipV="1">
            <a:off x="989013" y="1229118"/>
            <a:ext cx="1587" cy="28082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48" name="Line 118"/>
          <p:cNvSpPr>
            <a:spLocks noChangeShapeType="1"/>
          </p:cNvSpPr>
          <p:nvPr/>
        </p:nvSpPr>
        <p:spPr bwMode="auto">
          <a:xfrm flipH="1">
            <a:off x="944563" y="401200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49" name="Line 119"/>
          <p:cNvSpPr>
            <a:spLocks noChangeShapeType="1"/>
          </p:cNvSpPr>
          <p:nvPr/>
        </p:nvSpPr>
        <p:spPr bwMode="auto">
          <a:xfrm flipH="1">
            <a:off x="944563" y="39818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0" name="Line 120"/>
          <p:cNvSpPr>
            <a:spLocks noChangeShapeType="1"/>
          </p:cNvSpPr>
          <p:nvPr/>
        </p:nvSpPr>
        <p:spPr bwMode="auto">
          <a:xfrm flipH="1">
            <a:off x="944563" y="39564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1" name="Line 121"/>
          <p:cNvSpPr>
            <a:spLocks noChangeShapeType="1"/>
          </p:cNvSpPr>
          <p:nvPr/>
        </p:nvSpPr>
        <p:spPr bwMode="auto">
          <a:xfrm flipH="1">
            <a:off x="944563" y="39262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2" name="Line 122"/>
          <p:cNvSpPr>
            <a:spLocks noChangeShapeType="1"/>
          </p:cNvSpPr>
          <p:nvPr/>
        </p:nvSpPr>
        <p:spPr bwMode="auto">
          <a:xfrm flipH="1">
            <a:off x="944563" y="386913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3" name="Line 123"/>
          <p:cNvSpPr>
            <a:spLocks noChangeShapeType="1"/>
          </p:cNvSpPr>
          <p:nvPr/>
        </p:nvSpPr>
        <p:spPr bwMode="auto">
          <a:xfrm flipH="1">
            <a:off x="944563" y="384373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4" name="Line 124"/>
          <p:cNvSpPr>
            <a:spLocks noChangeShapeType="1"/>
          </p:cNvSpPr>
          <p:nvPr/>
        </p:nvSpPr>
        <p:spPr bwMode="auto">
          <a:xfrm flipH="1">
            <a:off x="944563" y="381356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5" name="Line 125"/>
          <p:cNvSpPr>
            <a:spLocks noChangeShapeType="1"/>
          </p:cNvSpPr>
          <p:nvPr/>
        </p:nvSpPr>
        <p:spPr bwMode="auto">
          <a:xfrm flipH="1">
            <a:off x="944563" y="3788168"/>
            <a:ext cx="4445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6" name="Line 126"/>
          <p:cNvSpPr>
            <a:spLocks noChangeShapeType="1"/>
          </p:cNvSpPr>
          <p:nvPr/>
        </p:nvSpPr>
        <p:spPr bwMode="auto">
          <a:xfrm flipH="1">
            <a:off x="944563" y="373101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7" name="Line 127"/>
          <p:cNvSpPr>
            <a:spLocks noChangeShapeType="1"/>
          </p:cNvSpPr>
          <p:nvPr/>
        </p:nvSpPr>
        <p:spPr bwMode="auto">
          <a:xfrm flipH="1">
            <a:off x="944563" y="37008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8" name="Line 128"/>
          <p:cNvSpPr>
            <a:spLocks noChangeShapeType="1"/>
          </p:cNvSpPr>
          <p:nvPr/>
        </p:nvSpPr>
        <p:spPr bwMode="auto">
          <a:xfrm flipH="1">
            <a:off x="944563" y="36754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59" name="Line 129"/>
          <p:cNvSpPr>
            <a:spLocks noChangeShapeType="1"/>
          </p:cNvSpPr>
          <p:nvPr/>
        </p:nvSpPr>
        <p:spPr bwMode="auto">
          <a:xfrm flipH="1">
            <a:off x="944563" y="36452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0" name="Line 130"/>
          <p:cNvSpPr>
            <a:spLocks noChangeShapeType="1"/>
          </p:cNvSpPr>
          <p:nvPr/>
        </p:nvSpPr>
        <p:spPr bwMode="auto">
          <a:xfrm flipH="1">
            <a:off x="944563" y="35881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1" name="Line 131"/>
          <p:cNvSpPr>
            <a:spLocks noChangeShapeType="1"/>
          </p:cNvSpPr>
          <p:nvPr/>
        </p:nvSpPr>
        <p:spPr bwMode="auto">
          <a:xfrm flipH="1">
            <a:off x="944563" y="35627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2" name="Line 132"/>
          <p:cNvSpPr>
            <a:spLocks noChangeShapeType="1"/>
          </p:cNvSpPr>
          <p:nvPr/>
        </p:nvSpPr>
        <p:spPr bwMode="auto">
          <a:xfrm flipH="1">
            <a:off x="944563" y="35325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3" name="Line 133"/>
          <p:cNvSpPr>
            <a:spLocks noChangeShapeType="1"/>
          </p:cNvSpPr>
          <p:nvPr/>
        </p:nvSpPr>
        <p:spPr bwMode="auto">
          <a:xfrm flipH="1">
            <a:off x="944563" y="35071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4" name="Line 134"/>
          <p:cNvSpPr>
            <a:spLocks noChangeShapeType="1"/>
          </p:cNvSpPr>
          <p:nvPr/>
        </p:nvSpPr>
        <p:spPr bwMode="auto">
          <a:xfrm flipH="1">
            <a:off x="944563" y="345003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5" name="Line 135"/>
          <p:cNvSpPr>
            <a:spLocks noChangeShapeType="1"/>
          </p:cNvSpPr>
          <p:nvPr/>
        </p:nvSpPr>
        <p:spPr bwMode="auto">
          <a:xfrm flipH="1">
            <a:off x="944563" y="341986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6" name="Line 136"/>
          <p:cNvSpPr>
            <a:spLocks noChangeShapeType="1"/>
          </p:cNvSpPr>
          <p:nvPr/>
        </p:nvSpPr>
        <p:spPr bwMode="auto">
          <a:xfrm flipH="1">
            <a:off x="944563" y="339446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7" name="Line 137"/>
          <p:cNvSpPr>
            <a:spLocks noChangeShapeType="1"/>
          </p:cNvSpPr>
          <p:nvPr/>
        </p:nvSpPr>
        <p:spPr bwMode="auto">
          <a:xfrm flipH="1">
            <a:off x="944563" y="336430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8" name="Line 138"/>
          <p:cNvSpPr>
            <a:spLocks noChangeShapeType="1"/>
          </p:cNvSpPr>
          <p:nvPr/>
        </p:nvSpPr>
        <p:spPr bwMode="auto">
          <a:xfrm flipH="1">
            <a:off x="944563" y="3308743"/>
            <a:ext cx="4445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69" name="Line 139"/>
          <p:cNvSpPr>
            <a:spLocks noChangeShapeType="1"/>
          </p:cNvSpPr>
          <p:nvPr/>
        </p:nvSpPr>
        <p:spPr bwMode="auto">
          <a:xfrm flipH="1">
            <a:off x="944563" y="32817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0" name="Line 140"/>
          <p:cNvSpPr>
            <a:spLocks noChangeShapeType="1"/>
          </p:cNvSpPr>
          <p:nvPr/>
        </p:nvSpPr>
        <p:spPr bwMode="auto">
          <a:xfrm flipH="1">
            <a:off x="944563" y="32515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1" name="Line 141"/>
          <p:cNvSpPr>
            <a:spLocks noChangeShapeType="1"/>
          </p:cNvSpPr>
          <p:nvPr/>
        </p:nvSpPr>
        <p:spPr bwMode="auto">
          <a:xfrm flipH="1">
            <a:off x="944563" y="32261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2" name="Line 142"/>
          <p:cNvSpPr>
            <a:spLocks noChangeShapeType="1"/>
          </p:cNvSpPr>
          <p:nvPr/>
        </p:nvSpPr>
        <p:spPr bwMode="auto">
          <a:xfrm flipH="1">
            <a:off x="944563" y="31690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3" name="Line 143"/>
          <p:cNvSpPr>
            <a:spLocks noChangeShapeType="1"/>
          </p:cNvSpPr>
          <p:nvPr/>
        </p:nvSpPr>
        <p:spPr bwMode="auto">
          <a:xfrm flipH="1">
            <a:off x="944563" y="31388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4" name="Line 144"/>
          <p:cNvSpPr>
            <a:spLocks noChangeShapeType="1"/>
          </p:cNvSpPr>
          <p:nvPr/>
        </p:nvSpPr>
        <p:spPr bwMode="auto">
          <a:xfrm flipH="1">
            <a:off x="944563" y="31134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5" name="Line 145"/>
          <p:cNvSpPr>
            <a:spLocks noChangeShapeType="1"/>
          </p:cNvSpPr>
          <p:nvPr/>
        </p:nvSpPr>
        <p:spPr bwMode="auto">
          <a:xfrm flipH="1">
            <a:off x="944563" y="308331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6" name="Line 146"/>
          <p:cNvSpPr>
            <a:spLocks noChangeShapeType="1"/>
          </p:cNvSpPr>
          <p:nvPr/>
        </p:nvSpPr>
        <p:spPr bwMode="auto">
          <a:xfrm flipH="1">
            <a:off x="944563" y="30277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7" name="Line 147"/>
          <p:cNvSpPr>
            <a:spLocks noChangeShapeType="1"/>
          </p:cNvSpPr>
          <p:nvPr/>
        </p:nvSpPr>
        <p:spPr bwMode="auto">
          <a:xfrm flipH="1">
            <a:off x="944563" y="300076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8" name="Line 148"/>
          <p:cNvSpPr>
            <a:spLocks noChangeShapeType="1"/>
          </p:cNvSpPr>
          <p:nvPr/>
        </p:nvSpPr>
        <p:spPr bwMode="auto">
          <a:xfrm flipH="1">
            <a:off x="944563" y="297060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79" name="Line 149"/>
          <p:cNvSpPr>
            <a:spLocks noChangeShapeType="1"/>
          </p:cNvSpPr>
          <p:nvPr/>
        </p:nvSpPr>
        <p:spPr bwMode="auto">
          <a:xfrm flipH="1">
            <a:off x="944563" y="294520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0" name="Line 150"/>
          <p:cNvSpPr>
            <a:spLocks noChangeShapeType="1"/>
          </p:cNvSpPr>
          <p:nvPr/>
        </p:nvSpPr>
        <p:spPr bwMode="auto">
          <a:xfrm flipH="1">
            <a:off x="944563" y="2889643"/>
            <a:ext cx="4445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1" name="Line 151"/>
          <p:cNvSpPr>
            <a:spLocks noChangeShapeType="1"/>
          </p:cNvSpPr>
          <p:nvPr/>
        </p:nvSpPr>
        <p:spPr bwMode="auto">
          <a:xfrm flipH="1">
            <a:off x="944563" y="28578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2" name="Line 152"/>
          <p:cNvSpPr>
            <a:spLocks noChangeShapeType="1"/>
          </p:cNvSpPr>
          <p:nvPr/>
        </p:nvSpPr>
        <p:spPr bwMode="auto">
          <a:xfrm flipH="1">
            <a:off x="944563" y="28324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3" name="Line 153"/>
          <p:cNvSpPr>
            <a:spLocks noChangeShapeType="1"/>
          </p:cNvSpPr>
          <p:nvPr/>
        </p:nvSpPr>
        <p:spPr bwMode="auto">
          <a:xfrm flipH="1">
            <a:off x="944563" y="28007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4" name="Line 154"/>
          <p:cNvSpPr>
            <a:spLocks noChangeShapeType="1"/>
          </p:cNvSpPr>
          <p:nvPr/>
        </p:nvSpPr>
        <p:spPr bwMode="auto">
          <a:xfrm flipH="1">
            <a:off x="944563" y="27451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5" name="Line 155"/>
          <p:cNvSpPr>
            <a:spLocks noChangeShapeType="1"/>
          </p:cNvSpPr>
          <p:nvPr/>
        </p:nvSpPr>
        <p:spPr bwMode="auto">
          <a:xfrm flipH="1">
            <a:off x="944563" y="27197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6" name="Line 156"/>
          <p:cNvSpPr>
            <a:spLocks noChangeShapeType="1"/>
          </p:cNvSpPr>
          <p:nvPr/>
        </p:nvSpPr>
        <p:spPr bwMode="auto">
          <a:xfrm flipH="1">
            <a:off x="944563" y="2689618"/>
            <a:ext cx="4445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7" name="Line 157"/>
          <p:cNvSpPr>
            <a:spLocks noChangeShapeType="1"/>
          </p:cNvSpPr>
          <p:nvPr/>
        </p:nvSpPr>
        <p:spPr bwMode="auto">
          <a:xfrm flipH="1">
            <a:off x="944563" y="266421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8" name="Line 158"/>
          <p:cNvSpPr>
            <a:spLocks noChangeShapeType="1"/>
          </p:cNvSpPr>
          <p:nvPr/>
        </p:nvSpPr>
        <p:spPr bwMode="auto">
          <a:xfrm flipH="1">
            <a:off x="944563" y="26086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89" name="Line 159"/>
          <p:cNvSpPr>
            <a:spLocks noChangeShapeType="1"/>
          </p:cNvSpPr>
          <p:nvPr/>
        </p:nvSpPr>
        <p:spPr bwMode="auto">
          <a:xfrm flipH="1">
            <a:off x="944563" y="257690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0" name="Line 160"/>
          <p:cNvSpPr>
            <a:spLocks noChangeShapeType="1"/>
          </p:cNvSpPr>
          <p:nvPr/>
        </p:nvSpPr>
        <p:spPr bwMode="auto">
          <a:xfrm flipH="1">
            <a:off x="944563" y="254991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1" name="Line 161"/>
          <p:cNvSpPr>
            <a:spLocks noChangeShapeType="1"/>
          </p:cNvSpPr>
          <p:nvPr/>
        </p:nvSpPr>
        <p:spPr bwMode="auto">
          <a:xfrm flipH="1">
            <a:off x="944563" y="25197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2" name="Line 162"/>
          <p:cNvSpPr>
            <a:spLocks noChangeShapeType="1"/>
          </p:cNvSpPr>
          <p:nvPr/>
        </p:nvSpPr>
        <p:spPr bwMode="auto">
          <a:xfrm flipH="1">
            <a:off x="944563" y="24641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3" name="Line 163"/>
          <p:cNvSpPr>
            <a:spLocks noChangeShapeType="1"/>
          </p:cNvSpPr>
          <p:nvPr/>
        </p:nvSpPr>
        <p:spPr bwMode="auto">
          <a:xfrm flipH="1">
            <a:off x="944563" y="24387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4" name="Line 164"/>
          <p:cNvSpPr>
            <a:spLocks noChangeShapeType="1"/>
          </p:cNvSpPr>
          <p:nvPr/>
        </p:nvSpPr>
        <p:spPr bwMode="auto">
          <a:xfrm flipH="1">
            <a:off x="944563" y="240863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5" name="Line 165"/>
          <p:cNvSpPr>
            <a:spLocks noChangeShapeType="1"/>
          </p:cNvSpPr>
          <p:nvPr/>
        </p:nvSpPr>
        <p:spPr bwMode="auto">
          <a:xfrm flipH="1">
            <a:off x="944563" y="23816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6" name="Line 166"/>
          <p:cNvSpPr>
            <a:spLocks noChangeShapeType="1"/>
          </p:cNvSpPr>
          <p:nvPr/>
        </p:nvSpPr>
        <p:spPr bwMode="auto">
          <a:xfrm flipH="1">
            <a:off x="944563" y="23260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7" name="Line 167"/>
          <p:cNvSpPr>
            <a:spLocks noChangeShapeType="1"/>
          </p:cNvSpPr>
          <p:nvPr/>
        </p:nvSpPr>
        <p:spPr bwMode="auto">
          <a:xfrm flipH="1">
            <a:off x="944563" y="229591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8" name="Line 168"/>
          <p:cNvSpPr>
            <a:spLocks noChangeShapeType="1"/>
          </p:cNvSpPr>
          <p:nvPr/>
        </p:nvSpPr>
        <p:spPr bwMode="auto">
          <a:xfrm flipH="1">
            <a:off x="944563" y="2270518"/>
            <a:ext cx="4445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099" name="Line 169"/>
          <p:cNvSpPr>
            <a:spLocks noChangeShapeType="1"/>
          </p:cNvSpPr>
          <p:nvPr/>
        </p:nvSpPr>
        <p:spPr bwMode="auto">
          <a:xfrm flipH="1">
            <a:off x="944563" y="2240355"/>
            <a:ext cx="4445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0" name="Line 170"/>
          <p:cNvSpPr>
            <a:spLocks noChangeShapeType="1"/>
          </p:cNvSpPr>
          <p:nvPr/>
        </p:nvSpPr>
        <p:spPr bwMode="auto">
          <a:xfrm flipH="1">
            <a:off x="944563" y="218320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1" name="Line 171"/>
          <p:cNvSpPr>
            <a:spLocks noChangeShapeType="1"/>
          </p:cNvSpPr>
          <p:nvPr/>
        </p:nvSpPr>
        <p:spPr bwMode="auto">
          <a:xfrm flipH="1">
            <a:off x="944563" y="215780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2" name="Line 172"/>
          <p:cNvSpPr>
            <a:spLocks noChangeShapeType="1"/>
          </p:cNvSpPr>
          <p:nvPr/>
        </p:nvSpPr>
        <p:spPr bwMode="auto">
          <a:xfrm flipH="1">
            <a:off x="944563" y="21276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3" name="Line 173"/>
          <p:cNvSpPr>
            <a:spLocks noChangeShapeType="1"/>
          </p:cNvSpPr>
          <p:nvPr/>
        </p:nvSpPr>
        <p:spPr bwMode="auto">
          <a:xfrm flipH="1">
            <a:off x="944563" y="21006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4" name="Line 174"/>
          <p:cNvSpPr>
            <a:spLocks noChangeShapeType="1"/>
          </p:cNvSpPr>
          <p:nvPr/>
        </p:nvSpPr>
        <p:spPr bwMode="auto">
          <a:xfrm flipH="1">
            <a:off x="944563" y="20450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5" name="Line 175"/>
          <p:cNvSpPr>
            <a:spLocks noChangeShapeType="1"/>
          </p:cNvSpPr>
          <p:nvPr/>
        </p:nvSpPr>
        <p:spPr bwMode="auto">
          <a:xfrm flipH="1">
            <a:off x="944563" y="201493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6" name="Line 176"/>
          <p:cNvSpPr>
            <a:spLocks noChangeShapeType="1"/>
          </p:cNvSpPr>
          <p:nvPr/>
        </p:nvSpPr>
        <p:spPr bwMode="auto">
          <a:xfrm flipH="1">
            <a:off x="944563" y="198953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7" name="Line 177"/>
          <p:cNvSpPr>
            <a:spLocks noChangeShapeType="1"/>
          </p:cNvSpPr>
          <p:nvPr/>
        </p:nvSpPr>
        <p:spPr bwMode="auto">
          <a:xfrm flipH="1">
            <a:off x="944563" y="195936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8" name="Line 178"/>
          <p:cNvSpPr>
            <a:spLocks noChangeShapeType="1"/>
          </p:cNvSpPr>
          <p:nvPr/>
        </p:nvSpPr>
        <p:spPr bwMode="auto">
          <a:xfrm flipH="1">
            <a:off x="944563" y="190221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09" name="Line 179"/>
          <p:cNvSpPr>
            <a:spLocks noChangeShapeType="1"/>
          </p:cNvSpPr>
          <p:nvPr/>
        </p:nvSpPr>
        <p:spPr bwMode="auto">
          <a:xfrm flipH="1">
            <a:off x="944563" y="187681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0" name="Line 180"/>
          <p:cNvSpPr>
            <a:spLocks noChangeShapeType="1"/>
          </p:cNvSpPr>
          <p:nvPr/>
        </p:nvSpPr>
        <p:spPr bwMode="auto">
          <a:xfrm flipH="1">
            <a:off x="944563" y="18466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1" name="Line 181"/>
          <p:cNvSpPr>
            <a:spLocks noChangeShapeType="1"/>
          </p:cNvSpPr>
          <p:nvPr/>
        </p:nvSpPr>
        <p:spPr bwMode="auto">
          <a:xfrm flipH="1">
            <a:off x="944563" y="1821255"/>
            <a:ext cx="4445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2" name="Line 182"/>
          <p:cNvSpPr>
            <a:spLocks noChangeShapeType="1"/>
          </p:cNvSpPr>
          <p:nvPr/>
        </p:nvSpPr>
        <p:spPr bwMode="auto">
          <a:xfrm flipH="1">
            <a:off x="944563" y="176410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3" name="Line 183"/>
          <p:cNvSpPr>
            <a:spLocks noChangeShapeType="1"/>
          </p:cNvSpPr>
          <p:nvPr/>
        </p:nvSpPr>
        <p:spPr bwMode="auto">
          <a:xfrm flipH="1">
            <a:off x="944563" y="17339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4" name="Line 184"/>
          <p:cNvSpPr>
            <a:spLocks noChangeShapeType="1"/>
          </p:cNvSpPr>
          <p:nvPr/>
        </p:nvSpPr>
        <p:spPr bwMode="auto">
          <a:xfrm flipH="1">
            <a:off x="944563" y="17085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5" name="Line 185"/>
          <p:cNvSpPr>
            <a:spLocks noChangeShapeType="1"/>
          </p:cNvSpPr>
          <p:nvPr/>
        </p:nvSpPr>
        <p:spPr bwMode="auto">
          <a:xfrm flipH="1">
            <a:off x="944563" y="16783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6" name="Line 186"/>
          <p:cNvSpPr>
            <a:spLocks noChangeShapeType="1"/>
          </p:cNvSpPr>
          <p:nvPr/>
        </p:nvSpPr>
        <p:spPr bwMode="auto">
          <a:xfrm flipH="1">
            <a:off x="944563" y="162123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7" name="Line 187"/>
          <p:cNvSpPr>
            <a:spLocks noChangeShapeType="1"/>
          </p:cNvSpPr>
          <p:nvPr/>
        </p:nvSpPr>
        <p:spPr bwMode="auto">
          <a:xfrm flipH="1">
            <a:off x="944563" y="159583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8" name="Line 188"/>
          <p:cNvSpPr>
            <a:spLocks noChangeShapeType="1"/>
          </p:cNvSpPr>
          <p:nvPr/>
        </p:nvSpPr>
        <p:spPr bwMode="auto">
          <a:xfrm flipH="1">
            <a:off x="944563" y="156566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19" name="Line 189"/>
          <p:cNvSpPr>
            <a:spLocks noChangeShapeType="1"/>
          </p:cNvSpPr>
          <p:nvPr/>
        </p:nvSpPr>
        <p:spPr bwMode="auto">
          <a:xfrm flipH="1">
            <a:off x="944563" y="154026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0" name="Line 190"/>
          <p:cNvSpPr>
            <a:spLocks noChangeShapeType="1"/>
          </p:cNvSpPr>
          <p:nvPr/>
        </p:nvSpPr>
        <p:spPr bwMode="auto">
          <a:xfrm flipH="1">
            <a:off x="944563" y="1483118"/>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1" name="Line 191"/>
          <p:cNvSpPr>
            <a:spLocks noChangeShapeType="1"/>
          </p:cNvSpPr>
          <p:nvPr/>
        </p:nvSpPr>
        <p:spPr bwMode="auto">
          <a:xfrm flipH="1">
            <a:off x="944563" y="14529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2" name="Line 192"/>
          <p:cNvSpPr>
            <a:spLocks noChangeShapeType="1"/>
          </p:cNvSpPr>
          <p:nvPr/>
        </p:nvSpPr>
        <p:spPr bwMode="auto">
          <a:xfrm flipH="1">
            <a:off x="944563" y="1427555"/>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3" name="Line 193"/>
          <p:cNvSpPr>
            <a:spLocks noChangeShapeType="1"/>
          </p:cNvSpPr>
          <p:nvPr/>
        </p:nvSpPr>
        <p:spPr bwMode="auto">
          <a:xfrm flipH="1">
            <a:off x="944563" y="139739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4" name="Line 194"/>
          <p:cNvSpPr>
            <a:spLocks noChangeShapeType="1"/>
          </p:cNvSpPr>
          <p:nvPr/>
        </p:nvSpPr>
        <p:spPr bwMode="auto">
          <a:xfrm flipH="1">
            <a:off x="944563" y="1341830"/>
            <a:ext cx="44450"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5" name="Line 195"/>
          <p:cNvSpPr>
            <a:spLocks noChangeShapeType="1"/>
          </p:cNvSpPr>
          <p:nvPr/>
        </p:nvSpPr>
        <p:spPr bwMode="auto">
          <a:xfrm flipH="1">
            <a:off x="944563" y="1314843"/>
            <a:ext cx="444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6" name="Line 196"/>
          <p:cNvSpPr>
            <a:spLocks noChangeShapeType="1"/>
          </p:cNvSpPr>
          <p:nvPr/>
        </p:nvSpPr>
        <p:spPr bwMode="auto">
          <a:xfrm flipH="1">
            <a:off x="944563" y="12846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7" name="Line 197"/>
          <p:cNvSpPr>
            <a:spLocks noChangeShapeType="1"/>
          </p:cNvSpPr>
          <p:nvPr/>
        </p:nvSpPr>
        <p:spPr bwMode="auto">
          <a:xfrm flipH="1">
            <a:off x="944563" y="1259280"/>
            <a:ext cx="444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8" name="Line 198"/>
          <p:cNvSpPr>
            <a:spLocks noChangeShapeType="1"/>
          </p:cNvSpPr>
          <p:nvPr/>
        </p:nvSpPr>
        <p:spPr bwMode="auto">
          <a:xfrm flipH="1">
            <a:off x="923925" y="4037405"/>
            <a:ext cx="650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29" name="Rectangle 199"/>
          <p:cNvSpPr>
            <a:spLocks noChangeArrowheads="1"/>
          </p:cNvSpPr>
          <p:nvPr/>
        </p:nvSpPr>
        <p:spPr bwMode="auto">
          <a:xfrm>
            <a:off x="828675" y="4007243"/>
            <a:ext cx="320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0</a:t>
            </a:r>
            <a:endParaRPr lang="en-US" altLang="en-US">
              <a:solidFill>
                <a:srgbClr val="000000"/>
              </a:solidFill>
              <a:latin typeface="Calibri" panose="020F0502020204030204" pitchFamily="34" charset="0"/>
            </a:endParaRPr>
          </a:p>
        </p:txBody>
      </p:sp>
      <p:sp>
        <p:nvSpPr>
          <p:cNvPr id="40130" name="Line 200"/>
          <p:cNvSpPr>
            <a:spLocks noChangeShapeType="1"/>
          </p:cNvSpPr>
          <p:nvPr/>
        </p:nvSpPr>
        <p:spPr bwMode="auto">
          <a:xfrm flipH="1">
            <a:off x="923925" y="3899293"/>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31" name="Rectangle 201"/>
          <p:cNvSpPr>
            <a:spLocks noChangeArrowheads="1"/>
          </p:cNvSpPr>
          <p:nvPr/>
        </p:nvSpPr>
        <p:spPr bwMode="auto">
          <a:xfrm>
            <a:off x="828675" y="3869130"/>
            <a:ext cx="3206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a:t>
            </a:r>
            <a:endParaRPr lang="en-US" altLang="en-US">
              <a:solidFill>
                <a:srgbClr val="000000"/>
              </a:solidFill>
              <a:latin typeface="Calibri" panose="020F0502020204030204" pitchFamily="34" charset="0"/>
            </a:endParaRPr>
          </a:p>
        </p:txBody>
      </p:sp>
      <p:sp>
        <p:nvSpPr>
          <p:cNvPr id="40132" name="Line 202"/>
          <p:cNvSpPr>
            <a:spLocks noChangeShapeType="1"/>
          </p:cNvSpPr>
          <p:nvPr/>
        </p:nvSpPr>
        <p:spPr bwMode="auto">
          <a:xfrm flipH="1">
            <a:off x="923925" y="3758005"/>
            <a:ext cx="650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33" name="Rectangle 203"/>
          <p:cNvSpPr>
            <a:spLocks noChangeArrowheads="1"/>
          </p:cNvSpPr>
          <p:nvPr/>
        </p:nvSpPr>
        <p:spPr bwMode="auto">
          <a:xfrm>
            <a:off x="777875" y="372625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a:t>
            </a:r>
            <a:endParaRPr lang="en-US" altLang="en-US">
              <a:solidFill>
                <a:srgbClr val="000000"/>
              </a:solidFill>
              <a:latin typeface="Calibri" panose="020F0502020204030204" pitchFamily="34" charset="0"/>
            </a:endParaRPr>
          </a:p>
        </p:txBody>
      </p:sp>
      <p:sp>
        <p:nvSpPr>
          <p:cNvPr id="40134" name="Line 204"/>
          <p:cNvSpPr>
            <a:spLocks noChangeShapeType="1"/>
          </p:cNvSpPr>
          <p:nvPr/>
        </p:nvSpPr>
        <p:spPr bwMode="auto">
          <a:xfrm flipH="1">
            <a:off x="923925" y="3618305"/>
            <a:ext cx="650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35" name="Rectangle 205"/>
          <p:cNvSpPr>
            <a:spLocks noChangeArrowheads="1"/>
          </p:cNvSpPr>
          <p:nvPr/>
        </p:nvSpPr>
        <p:spPr bwMode="auto">
          <a:xfrm>
            <a:off x="777875" y="3588143"/>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15</a:t>
            </a:r>
            <a:endParaRPr lang="en-US" altLang="en-US">
              <a:solidFill>
                <a:srgbClr val="000000"/>
              </a:solidFill>
              <a:latin typeface="Calibri" panose="020F0502020204030204" pitchFamily="34" charset="0"/>
            </a:endParaRPr>
          </a:p>
        </p:txBody>
      </p:sp>
      <p:sp>
        <p:nvSpPr>
          <p:cNvPr id="40136" name="Line 206"/>
          <p:cNvSpPr>
            <a:spLocks noChangeShapeType="1"/>
          </p:cNvSpPr>
          <p:nvPr/>
        </p:nvSpPr>
        <p:spPr bwMode="auto">
          <a:xfrm flipH="1">
            <a:off x="923925" y="3477018"/>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37" name="Rectangle 207"/>
          <p:cNvSpPr>
            <a:spLocks noChangeArrowheads="1"/>
          </p:cNvSpPr>
          <p:nvPr/>
        </p:nvSpPr>
        <p:spPr bwMode="auto">
          <a:xfrm>
            <a:off x="777875" y="3445268"/>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20</a:t>
            </a:r>
            <a:endParaRPr lang="en-US" altLang="en-US">
              <a:solidFill>
                <a:srgbClr val="000000"/>
              </a:solidFill>
              <a:latin typeface="Calibri" panose="020F0502020204030204" pitchFamily="34" charset="0"/>
            </a:endParaRPr>
          </a:p>
        </p:txBody>
      </p:sp>
      <p:sp>
        <p:nvSpPr>
          <p:cNvPr id="40138" name="Line 208"/>
          <p:cNvSpPr>
            <a:spLocks noChangeShapeType="1"/>
          </p:cNvSpPr>
          <p:nvPr/>
        </p:nvSpPr>
        <p:spPr bwMode="auto">
          <a:xfrm flipH="1">
            <a:off x="923925" y="3338905"/>
            <a:ext cx="650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39" name="Rectangle 209"/>
          <p:cNvSpPr>
            <a:spLocks noChangeArrowheads="1"/>
          </p:cNvSpPr>
          <p:nvPr/>
        </p:nvSpPr>
        <p:spPr bwMode="auto">
          <a:xfrm>
            <a:off x="777875" y="330715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25</a:t>
            </a:r>
            <a:endParaRPr lang="en-US" altLang="en-US">
              <a:solidFill>
                <a:srgbClr val="000000"/>
              </a:solidFill>
              <a:latin typeface="Calibri" panose="020F0502020204030204" pitchFamily="34" charset="0"/>
            </a:endParaRPr>
          </a:p>
        </p:txBody>
      </p:sp>
      <p:sp>
        <p:nvSpPr>
          <p:cNvPr id="40140" name="Line 210"/>
          <p:cNvSpPr>
            <a:spLocks noChangeShapeType="1"/>
          </p:cNvSpPr>
          <p:nvPr/>
        </p:nvSpPr>
        <p:spPr bwMode="auto">
          <a:xfrm flipH="1">
            <a:off x="923925" y="3196030"/>
            <a:ext cx="650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41" name="Rectangle 211"/>
          <p:cNvSpPr>
            <a:spLocks noChangeArrowheads="1"/>
          </p:cNvSpPr>
          <p:nvPr/>
        </p:nvSpPr>
        <p:spPr bwMode="auto">
          <a:xfrm>
            <a:off x="777875" y="316428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30</a:t>
            </a:r>
            <a:endParaRPr lang="en-US" altLang="en-US">
              <a:solidFill>
                <a:srgbClr val="000000"/>
              </a:solidFill>
              <a:latin typeface="Calibri" panose="020F0502020204030204" pitchFamily="34" charset="0"/>
            </a:endParaRPr>
          </a:p>
        </p:txBody>
      </p:sp>
      <p:sp>
        <p:nvSpPr>
          <p:cNvPr id="40142" name="Line 213"/>
          <p:cNvSpPr>
            <a:spLocks noChangeShapeType="1"/>
          </p:cNvSpPr>
          <p:nvPr/>
        </p:nvSpPr>
        <p:spPr bwMode="auto">
          <a:xfrm flipH="1">
            <a:off x="923925" y="3057918"/>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43" name="Rectangle 214"/>
          <p:cNvSpPr>
            <a:spLocks noChangeArrowheads="1"/>
          </p:cNvSpPr>
          <p:nvPr/>
        </p:nvSpPr>
        <p:spPr bwMode="auto">
          <a:xfrm>
            <a:off x="777875" y="3026168"/>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35</a:t>
            </a:r>
            <a:endParaRPr lang="en-US" altLang="en-US">
              <a:solidFill>
                <a:srgbClr val="000000"/>
              </a:solidFill>
              <a:latin typeface="Calibri" panose="020F0502020204030204" pitchFamily="34" charset="0"/>
            </a:endParaRPr>
          </a:p>
        </p:txBody>
      </p:sp>
      <p:sp>
        <p:nvSpPr>
          <p:cNvPr id="40144" name="Line 215"/>
          <p:cNvSpPr>
            <a:spLocks noChangeShapeType="1"/>
          </p:cNvSpPr>
          <p:nvPr/>
        </p:nvSpPr>
        <p:spPr bwMode="auto">
          <a:xfrm flipH="1">
            <a:off x="923925" y="2915043"/>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45" name="Rectangle 216"/>
          <p:cNvSpPr>
            <a:spLocks noChangeArrowheads="1"/>
          </p:cNvSpPr>
          <p:nvPr/>
        </p:nvSpPr>
        <p:spPr bwMode="auto">
          <a:xfrm>
            <a:off x="777875" y="2883293"/>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40</a:t>
            </a:r>
            <a:endParaRPr lang="en-US" altLang="en-US">
              <a:solidFill>
                <a:srgbClr val="000000"/>
              </a:solidFill>
              <a:latin typeface="Calibri" panose="020F0502020204030204" pitchFamily="34" charset="0"/>
            </a:endParaRPr>
          </a:p>
        </p:txBody>
      </p:sp>
      <p:sp>
        <p:nvSpPr>
          <p:cNvPr id="40146" name="Line 217"/>
          <p:cNvSpPr>
            <a:spLocks noChangeShapeType="1"/>
          </p:cNvSpPr>
          <p:nvPr/>
        </p:nvSpPr>
        <p:spPr bwMode="auto">
          <a:xfrm flipH="1">
            <a:off x="923925" y="2776930"/>
            <a:ext cx="650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47" name="Rectangle 218"/>
          <p:cNvSpPr>
            <a:spLocks noChangeArrowheads="1"/>
          </p:cNvSpPr>
          <p:nvPr/>
        </p:nvSpPr>
        <p:spPr bwMode="auto">
          <a:xfrm>
            <a:off x="777875" y="274518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45</a:t>
            </a:r>
            <a:endParaRPr lang="en-US" altLang="en-US">
              <a:solidFill>
                <a:srgbClr val="000000"/>
              </a:solidFill>
              <a:latin typeface="Calibri" panose="020F0502020204030204" pitchFamily="34" charset="0"/>
            </a:endParaRPr>
          </a:p>
        </p:txBody>
      </p:sp>
      <p:sp>
        <p:nvSpPr>
          <p:cNvPr id="40148" name="Line 219"/>
          <p:cNvSpPr>
            <a:spLocks noChangeShapeType="1"/>
          </p:cNvSpPr>
          <p:nvPr/>
        </p:nvSpPr>
        <p:spPr bwMode="auto">
          <a:xfrm flipH="1">
            <a:off x="923925" y="2632468"/>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49" name="Rectangle 220"/>
          <p:cNvSpPr>
            <a:spLocks noChangeArrowheads="1"/>
          </p:cNvSpPr>
          <p:nvPr/>
        </p:nvSpPr>
        <p:spPr bwMode="auto">
          <a:xfrm>
            <a:off x="777875" y="260230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50</a:t>
            </a:r>
            <a:endParaRPr lang="en-US" altLang="en-US">
              <a:solidFill>
                <a:srgbClr val="000000"/>
              </a:solidFill>
              <a:latin typeface="Calibri" panose="020F0502020204030204" pitchFamily="34" charset="0"/>
            </a:endParaRPr>
          </a:p>
        </p:txBody>
      </p:sp>
      <p:sp>
        <p:nvSpPr>
          <p:cNvPr id="40150" name="Line 221"/>
          <p:cNvSpPr>
            <a:spLocks noChangeShapeType="1"/>
          </p:cNvSpPr>
          <p:nvPr/>
        </p:nvSpPr>
        <p:spPr bwMode="auto">
          <a:xfrm flipH="1">
            <a:off x="923925" y="2494355"/>
            <a:ext cx="650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51" name="Rectangle 222"/>
          <p:cNvSpPr>
            <a:spLocks noChangeArrowheads="1"/>
          </p:cNvSpPr>
          <p:nvPr/>
        </p:nvSpPr>
        <p:spPr bwMode="auto">
          <a:xfrm>
            <a:off x="777875" y="2464193"/>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55</a:t>
            </a:r>
            <a:endParaRPr lang="en-US" altLang="en-US">
              <a:solidFill>
                <a:srgbClr val="000000"/>
              </a:solidFill>
              <a:latin typeface="Calibri" panose="020F0502020204030204" pitchFamily="34" charset="0"/>
            </a:endParaRPr>
          </a:p>
        </p:txBody>
      </p:sp>
      <p:sp>
        <p:nvSpPr>
          <p:cNvPr id="40152" name="Line 223"/>
          <p:cNvSpPr>
            <a:spLocks noChangeShapeType="1"/>
          </p:cNvSpPr>
          <p:nvPr/>
        </p:nvSpPr>
        <p:spPr bwMode="auto">
          <a:xfrm flipH="1">
            <a:off x="923925" y="2351480"/>
            <a:ext cx="650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53" name="Rectangle 224"/>
          <p:cNvSpPr>
            <a:spLocks noChangeArrowheads="1"/>
          </p:cNvSpPr>
          <p:nvPr/>
        </p:nvSpPr>
        <p:spPr bwMode="auto">
          <a:xfrm>
            <a:off x="777875" y="2321318"/>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60</a:t>
            </a:r>
            <a:endParaRPr lang="en-US" altLang="en-US">
              <a:solidFill>
                <a:srgbClr val="000000"/>
              </a:solidFill>
              <a:latin typeface="Calibri" panose="020F0502020204030204" pitchFamily="34" charset="0"/>
            </a:endParaRPr>
          </a:p>
        </p:txBody>
      </p:sp>
      <p:sp>
        <p:nvSpPr>
          <p:cNvPr id="40154" name="Line 225"/>
          <p:cNvSpPr>
            <a:spLocks noChangeShapeType="1"/>
          </p:cNvSpPr>
          <p:nvPr/>
        </p:nvSpPr>
        <p:spPr bwMode="auto">
          <a:xfrm flipH="1">
            <a:off x="923925" y="2213368"/>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55" name="Rectangle 226"/>
          <p:cNvSpPr>
            <a:spLocks noChangeArrowheads="1"/>
          </p:cNvSpPr>
          <p:nvPr/>
        </p:nvSpPr>
        <p:spPr bwMode="auto">
          <a:xfrm>
            <a:off x="777875" y="2183205"/>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65</a:t>
            </a:r>
            <a:endParaRPr lang="en-US" altLang="en-US">
              <a:solidFill>
                <a:srgbClr val="000000"/>
              </a:solidFill>
              <a:latin typeface="Calibri" panose="020F0502020204030204" pitchFamily="34" charset="0"/>
            </a:endParaRPr>
          </a:p>
        </p:txBody>
      </p:sp>
      <p:sp>
        <p:nvSpPr>
          <p:cNvPr id="40156" name="Line 227"/>
          <p:cNvSpPr>
            <a:spLocks noChangeShapeType="1"/>
          </p:cNvSpPr>
          <p:nvPr/>
        </p:nvSpPr>
        <p:spPr bwMode="auto">
          <a:xfrm flipH="1">
            <a:off x="923925" y="2070493"/>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57" name="Rectangle 228"/>
          <p:cNvSpPr>
            <a:spLocks noChangeArrowheads="1"/>
          </p:cNvSpPr>
          <p:nvPr/>
        </p:nvSpPr>
        <p:spPr bwMode="auto">
          <a:xfrm>
            <a:off x="777875" y="204033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70</a:t>
            </a:r>
            <a:endParaRPr lang="en-US" altLang="en-US">
              <a:solidFill>
                <a:srgbClr val="000000"/>
              </a:solidFill>
              <a:latin typeface="Calibri" panose="020F0502020204030204" pitchFamily="34" charset="0"/>
            </a:endParaRPr>
          </a:p>
        </p:txBody>
      </p:sp>
      <p:sp>
        <p:nvSpPr>
          <p:cNvPr id="40158" name="Line 229"/>
          <p:cNvSpPr>
            <a:spLocks noChangeShapeType="1"/>
          </p:cNvSpPr>
          <p:nvPr/>
        </p:nvSpPr>
        <p:spPr bwMode="auto">
          <a:xfrm flipH="1">
            <a:off x="923925" y="1932380"/>
            <a:ext cx="650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59" name="Rectangle 230"/>
          <p:cNvSpPr>
            <a:spLocks noChangeArrowheads="1"/>
          </p:cNvSpPr>
          <p:nvPr/>
        </p:nvSpPr>
        <p:spPr bwMode="auto">
          <a:xfrm>
            <a:off x="777875" y="1902218"/>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75</a:t>
            </a:r>
            <a:endParaRPr lang="en-US" altLang="en-US">
              <a:solidFill>
                <a:srgbClr val="000000"/>
              </a:solidFill>
              <a:latin typeface="Calibri" panose="020F0502020204030204" pitchFamily="34" charset="0"/>
            </a:endParaRPr>
          </a:p>
        </p:txBody>
      </p:sp>
      <p:sp>
        <p:nvSpPr>
          <p:cNvPr id="40160" name="Line 231"/>
          <p:cNvSpPr>
            <a:spLocks noChangeShapeType="1"/>
          </p:cNvSpPr>
          <p:nvPr/>
        </p:nvSpPr>
        <p:spPr bwMode="auto">
          <a:xfrm flipH="1">
            <a:off x="923925" y="1791093"/>
            <a:ext cx="650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61" name="Rectangle 232"/>
          <p:cNvSpPr>
            <a:spLocks noChangeArrowheads="1"/>
          </p:cNvSpPr>
          <p:nvPr/>
        </p:nvSpPr>
        <p:spPr bwMode="auto">
          <a:xfrm>
            <a:off x="777875" y="176093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80</a:t>
            </a:r>
            <a:endParaRPr lang="en-US" altLang="en-US">
              <a:solidFill>
                <a:srgbClr val="000000"/>
              </a:solidFill>
              <a:latin typeface="Calibri" panose="020F0502020204030204" pitchFamily="34" charset="0"/>
            </a:endParaRPr>
          </a:p>
        </p:txBody>
      </p:sp>
      <p:sp>
        <p:nvSpPr>
          <p:cNvPr id="40162" name="Line 233"/>
          <p:cNvSpPr>
            <a:spLocks noChangeShapeType="1"/>
          </p:cNvSpPr>
          <p:nvPr/>
        </p:nvSpPr>
        <p:spPr bwMode="auto">
          <a:xfrm flipH="1">
            <a:off x="923925" y="1651393"/>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63" name="Rectangle 234"/>
          <p:cNvSpPr>
            <a:spLocks noChangeArrowheads="1"/>
          </p:cNvSpPr>
          <p:nvPr/>
        </p:nvSpPr>
        <p:spPr bwMode="auto">
          <a:xfrm>
            <a:off x="777875" y="162123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85</a:t>
            </a:r>
            <a:endParaRPr lang="en-US" altLang="en-US">
              <a:solidFill>
                <a:srgbClr val="000000"/>
              </a:solidFill>
              <a:latin typeface="Calibri" panose="020F0502020204030204" pitchFamily="34" charset="0"/>
            </a:endParaRPr>
          </a:p>
        </p:txBody>
      </p:sp>
      <p:sp>
        <p:nvSpPr>
          <p:cNvPr id="40164" name="Line 235"/>
          <p:cNvSpPr>
            <a:spLocks noChangeShapeType="1"/>
          </p:cNvSpPr>
          <p:nvPr/>
        </p:nvSpPr>
        <p:spPr bwMode="auto">
          <a:xfrm flipH="1">
            <a:off x="923925" y="1510105"/>
            <a:ext cx="6508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65" name="Rectangle 236"/>
          <p:cNvSpPr>
            <a:spLocks noChangeArrowheads="1"/>
          </p:cNvSpPr>
          <p:nvPr/>
        </p:nvSpPr>
        <p:spPr bwMode="auto">
          <a:xfrm>
            <a:off x="777875" y="1479943"/>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90</a:t>
            </a:r>
            <a:endParaRPr lang="en-US" altLang="en-US">
              <a:solidFill>
                <a:srgbClr val="000000"/>
              </a:solidFill>
              <a:latin typeface="Calibri" panose="020F0502020204030204" pitchFamily="34" charset="0"/>
            </a:endParaRPr>
          </a:p>
        </p:txBody>
      </p:sp>
      <p:sp>
        <p:nvSpPr>
          <p:cNvPr id="40166" name="Line 237"/>
          <p:cNvSpPr>
            <a:spLocks noChangeShapeType="1"/>
          </p:cNvSpPr>
          <p:nvPr/>
        </p:nvSpPr>
        <p:spPr bwMode="auto">
          <a:xfrm flipH="1">
            <a:off x="923925" y="1371993"/>
            <a:ext cx="65088"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67" name="Rectangle 238"/>
          <p:cNvSpPr>
            <a:spLocks noChangeArrowheads="1"/>
          </p:cNvSpPr>
          <p:nvPr/>
        </p:nvSpPr>
        <p:spPr bwMode="auto">
          <a:xfrm>
            <a:off x="777875" y="1341830"/>
            <a:ext cx="6412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95</a:t>
            </a:r>
            <a:endParaRPr lang="en-US" altLang="en-US">
              <a:solidFill>
                <a:srgbClr val="000000"/>
              </a:solidFill>
              <a:latin typeface="Calibri" panose="020F0502020204030204" pitchFamily="34" charset="0"/>
            </a:endParaRPr>
          </a:p>
        </p:txBody>
      </p:sp>
      <p:sp>
        <p:nvSpPr>
          <p:cNvPr id="40168" name="Line 239"/>
          <p:cNvSpPr>
            <a:spLocks noChangeShapeType="1"/>
          </p:cNvSpPr>
          <p:nvPr/>
        </p:nvSpPr>
        <p:spPr bwMode="auto">
          <a:xfrm flipH="1">
            <a:off x="923925" y="1229118"/>
            <a:ext cx="6508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69" name="Rectangle 240"/>
          <p:cNvSpPr>
            <a:spLocks noChangeArrowheads="1"/>
          </p:cNvSpPr>
          <p:nvPr/>
        </p:nvSpPr>
        <p:spPr bwMode="auto">
          <a:xfrm>
            <a:off x="727075" y="1198955"/>
            <a:ext cx="9618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100</a:t>
            </a:r>
            <a:endParaRPr lang="en-US" altLang="en-US">
              <a:solidFill>
                <a:srgbClr val="000000"/>
              </a:solidFill>
              <a:latin typeface="Calibri" panose="020F0502020204030204" pitchFamily="34" charset="0"/>
            </a:endParaRPr>
          </a:p>
        </p:txBody>
      </p:sp>
      <p:sp>
        <p:nvSpPr>
          <p:cNvPr id="40170" name="Rectangle 241"/>
          <p:cNvSpPr>
            <a:spLocks noChangeArrowheads="1"/>
          </p:cNvSpPr>
          <p:nvPr/>
        </p:nvSpPr>
        <p:spPr bwMode="auto">
          <a:xfrm rot="16200000">
            <a:off x="91829" y="2397568"/>
            <a:ext cx="1035540"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00">
                <a:solidFill>
                  <a:srgbClr val="000000"/>
                </a:solidFill>
                <a:latin typeface="Calibri" panose="020F0502020204030204" pitchFamily="34" charset="0"/>
              </a:rPr>
              <a:t>Relative Abundance</a:t>
            </a:r>
          </a:p>
        </p:txBody>
      </p:sp>
      <p:sp>
        <p:nvSpPr>
          <p:cNvPr id="40171" name="Line 242"/>
          <p:cNvSpPr>
            <a:spLocks noChangeShapeType="1"/>
          </p:cNvSpPr>
          <p:nvPr/>
        </p:nvSpPr>
        <p:spPr bwMode="auto">
          <a:xfrm flipV="1">
            <a:off x="20462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72" name="Line 243"/>
          <p:cNvSpPr>
            <a:spLocks noChangeShapeType="1"/>
          </p:cNvSpPr>
          <p:nvPr/>
        </p:nvSpPr>
        <p:spPr bwMode="auto">
          <a:xfrm flipV="1">
            <a:off x="2068513" y="4027880"/>
            <a:ext cx="1587" cy="9525"/>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73" name="Line 244"/>
          <p:cNvSpPr>
            <a:spLocks noChangeShapeType="1"/>
          </p:cNvSpPr>
          <p:nvPr/>
        </p:nvSpPr>
        <p:spPr bwMode="auto">
          <a:xfrm flipV="1">
            <a:off x="2074863" y="4034230"/>
            <a:ext cx="1587" cy="3175"/>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74" name="Line 245"/>
          <p:cNvSpPr>
            <a:spLocks noChangeShapeType="1"/>
          </p:cNvSpPr>
          <p:nvPr/>
        </p:nvSpPr>
        <p:spPr bwMode="auto">
          <a:xfrm flipV="1">
            <a:off x="20828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75" name="Line 246"/>
          <p:cNvSpPr>
            <a:spLocks noChangeShapeType="1"/>
          </p:cNvSpPr>
          <p:nvPr/>
        </p:nvSpPr>
        <p:spPr bwMode="auto">
          <a:xfrm flipV="1">
            <a:off x="20907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76" name="Line 247"/>
          <p:cNvSpPr>
            <a:spLocks noChangeShapeType="1"/>
          </p:cNvSpPr>
          <p:nvPr/>
        </p:nvSpPr>
        <p:spPr bwMode="auto">
          <a:xfrm flipV="1">
            <a:off x="21415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77" name="Line 248"/>
          <p:cNvSpPr>
            <a:spLocks noChangeShapeType="1"/>
          </p:cNvSpPr>
          <p:nvPr/>
        </p:nvSpPr>
        <p:spPr bwMode="auto">
          <a:xfrm flipV="1">
            <a:off x="21478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78" name="Line 249"/>
          <p:cNvSpPr>
            <a:spLocks noChangeShapeType="1"/>
          </p:cNvSpPr>
          <p:nvPr/>
        </p:nvSpPr>
        <p:spPr bwMode="auto">
          <a:xfrm flipV="1">
            <a:off x="21558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79" name="Line 250"/>
          <p:cNvSpPr>
            <a:spLocks noChangeShapeType="1"/>
          </p:cNvSpPr>
          <p:nvPr/>
        </p:nvSpPr>
        <p:spPr bwMode="auto">
          <a:xfrm flipV="1">
            <a:off x="21621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0" name="Line 251"/>
          <p:cNvSpPr>
            <a:spLocks noChangeShapeType="1"/>
          </p:cNvSpPr>
          <p:nvPr/>
        </p:nvSpPr>
        <p:spPr bwMode="auto">
          <a:xfrm flipV="1">
            <a:off x="21701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1" name="Line 252"/>
          <p:cNvSpPr>
            <a:spLocks noChangeShapeType="1"/>
          </p:cNvSpPr>
          <p:nvPr/>
        </p:nvSpPr>
        <p:spPr bwMode="auto">
          <a:xfrm flipV="1">
            <a:off x="2192338" y="4034230"/>
            <a:ext cx="1587" cy="3175"/>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2" name="Line 253"/>
          <p:cNvSpPr>
            <a:spLocks noChangeShapeType="1"/>
          </p:cNvSpPr>
          <p:nvPr/>
        </p:nvSpPr>
        <p:spPr bwMode="auto">
          <a:xfrm flipV="1">
            <a:off x="22145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3" name="Line 254"/>
          <p:cNvSpPr>
            <a:spLocks noChangeShapeType="1"/>
          </p:cNvSpPr>
          <p:nvPr/>
        </p:nvSpPr>
        <p:spPr bwMode="auto">
          <a:xfrm flipV="1">
            <a:off x="22431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4" name="Line 255"/>
          <p:cNvSpPr>
            <a:spLocks noChangeShapeType="1"/>
          </p:cNvSpPr>
          <p:nvPr/>
        </p:nvSpPr>
        <p:spPr bwMode="auto">
          <a:xfrm flipV="1">
            <a:off x="22574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5" name="Line 256"/>
          <p:cNvSpPr>
            <a:spLocks noChangeShapeType="1"/>
          </p:cNvSpPr>
          <p:nvPr/>
        </p:nvSpPr>
        <p:spPr bwMode="auto">
          <a:xfrm flipV="1">
            <a:off x="22717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6" name="Line 257"/>
          <p:cNvSpPr>
            <a:spLocks noChangeShapeType="1"/>
          </p:cNvSpPr>
          <p:nvPr/>
        </p:nvSpPr>
        <p:spPr bwMode="auto">
          <a:xfrm flipV="1">
            <a:off x="22875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7" name="Line 258"/>
          <p:cNvSpPr>
            <a:spLocks noChangeShapeType="1"/>
          </p:cNvSpPr>
          <p:nvPr/>
        </p:nvSpPr>
        <p:spPr bwMode="auto">
          <a:xfrm flipV="1">
            <a:off x="22939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8" name="Line 259"/>
          <p:cNvSpPr>
            <a:spLocks noChangeShapeType="1"/>
          </p:cNvSpPr>
          <p:nvPr/>
        </p:nvSpPr>
        <p:spPr bwMode="auto">
          <a:xfrm flipV="1">
            <a:off x="23241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89" name="Line 260"/>
          <p:cNvSpPr>
            <a:spLocks noChangeShapeType="1"/>
          </p:cNvSpPr>
          <p:nvPr/>
        </p:nvSpPr>
        <p:spPr bwMode="auto">
          <a:xfrm flipV="1">
            <a:off x="236696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0" name="Line 261"/>
          <p:cNvSpPr>
            <a:spLocks noChangeShapeType="1"/>
          </p:cNvSpPr>
          <p:nvPr/>
        </p:nvSpPr>
        <p:spPr bwMode="auto">
          <a:xfrm flipV="1">
            <a:off x="23749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1" name="Line 262"/>
          <p:cNvSpPr>
            <a:spLocks noChangeShapeType="1"/>
          </p:cNvSpPr>
          <p:nvPr/>
        </p:nvSpPr>
        <p:spPr bwMode="auto">
          <a:xfrm flipV="1">
            <a:off x="23812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2" name="Line 263"/>
          <p:cNvSpPr>
            <a:spLocks noChangeShapeType="1"/>
          </p:cNvSpPr>
          <p:nvPr/>
        </p:nvSpPr>
        <p:spPr bwMode="auto">
          <a:xfrm flipV="1">
            <a:off x="2395538"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3" name="Line 264"/>
          <p:cNvSpPr>
            <a:spLocks noChangeShapeType="1"/>
          </p:cNvSpPr>
          <p:nvPr/>
        </p:nvSpPr>
        <p:spPr bwMode="auto">
          <a:xfrm flipV="1">
            <a:off x="24177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4" name="Line 265"/>
          <p:cNvSpPr>
            <a:spLocks noChangeShapeType="1"/>
          </p:cNvSpPr>
          <p:nvPr/>
        </p:nvSpPr>
        <p:spPr bwMode="auto">
          <a:xfrm flipV="1">
            <a:off x="24257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5" name="Line 266"/>
          <p:cNvSpPr>
            <a:spLocks noChangeShapeType="1"/>
          </p:cNvSpPr>
          <p:nvPr/>
        </p:nvSpPr>
        <p:spPr bwMode="auto">
          <a:xfrm flipV="1">
            <a:off x="24399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6" name="Line 267"/>
          <p:cNvSpPr>
            <a:spLocks noChangeShapeType="1"/>
          </p:cNvSpPr>
          <p:nvPr/>
        </p:nvSpPr>
        <p:spPr bwMode="auto">
          <a:xfrm flipV="1">
            <a:off x="2447925" y="4004068"/>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7" name="Line 268"/>
          <p:cNvSpPr>
            <a:spLocks noChangeShapeType="1"/>
          </p:cNvSpPr>
          <p:nvPr/>
        </p:nvSpPr>
        <p:spPr bwMode="auto">
          <a:xfrm flipV="1">
            <a:off x="245427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8" name="Line 269"/>
          <p:cNvSpPr>
            <a:spLocks noChangeShapeType="1"/>
          </p:cNvSpPr>
          <p:nvPr/>
        </p:nvSpPr>
        <p:spPr bwMode="auto">
          <a:xfrm flipV="1">
            <a:off x="24765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199" name="Line 270"/>
          <p:cNvSpPr>
            <a:spLocks noChangeShapeType="1"/>
          </p:cNvSpPr>
          <p:nvPr/>
        </p:nvSpPr>
        <p:spPr bwMode="auto">
          <a:xfrm flipV="1">
            <a:off x="24844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0" name="Line 271"/>
          <p:cNvSpPr>
            <a:spLocks noChangeShapeType="1"/>
          </p:cNvSpPr>
          <p:nvPr/>
        </p:nvSpPr>
        <p:spPr bwMode="auto">
          <a:xfrm flipV="1">
            <a:off x="24907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1" name="Line 272"/>
          <p:cNvSpPr>
            <a:spLocks noChangeShapeType="1"/>
          </p:cNvSpPr>
          <p:nvPr/>
        </p:nvSpPr>
        <p:spPr bwMode="auto">
          <a:xfrm flipV="1">
            <a:off x="2520950" y="4016768"/>
            <a:ext cx="1588" cy="20637"/>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2" name="Line 273"/>
          <p:cNvSpPr>
            <a:spLocks noChangeShapeType="1"/>
          </p:cNvSpPr>
          <p:nvPr/>
        </p:nvSpPr>
        <p:spPr bwMode="auto">
          <a:xfrm flipV="1">
            <a:off x="25352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3" name="Line 274"/>
          <p:cNvSpPr>
            <a:spLocks noChangeShapeType="1"/>
          </p:cNvSpPr>
          <p:nvPr/>
        </p:nvSpPr>
        <p:spPr bwMode="auto">
          <a:xfrm flipV="1">
            <a:off x="2549525" y="4012005"/>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4" name="Line 275"/>
          <p:cNvSpPr>
            <a:spLocks noChangeShapeType="1"/>
          </p:cNvSpPr>
          <p:nvPr/>
        </p:nvSpPr>
        <p:spPr bwMode="auto">
          <a:xfrm flipV="1">
            <a:off x="2557463" y="4012005"/>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5" name="Line 276"/>
          <p:cNvSpPr>
            <a:spLocks noChangeShapeType="1"/>
          </p:cNvSpPr>
          <p:nvPr/>
        </p:nvSpPr>
        <p:spPr bwMode="auto">
          <a:xfrm flipV="1">
            <a:off x="25638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6" name="Line 277"/>
          <p:cNvSpPr>
            <a:spLocks noChangeShapeType="1"/>
          </p:cNvSpPr>
          <p:nvPr/>
        </p:nvSpPr>
        <p:spPr bwMode="auto">
          <a:xfrm flipV="1">
            <a:off x="25717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7" name="Line 278"/>
          <p:cNvSpPr>
            <a:spLocks noChangeShapeType="1"/>
          </p:cNvSpPr>
          <p:nvPr/>
        </p:nvSpPr>
        <p:spPr bwMode="auto">
          <a:xfrm flipV="1">
            <a:off x="25939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8" name="Line 279"/>
          <p:cNvSpPr>
            <a:spLocks noChangeShapeType="1"/>
          </p:cNvSpPr>
          <p:nvPr/>
        </p:nvSpPr>
        <p:spPr bwMode="auto">
          <a:xfrm flipV="1">
            <a:off x="26003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09" name="Line 280"/>
          <p:cNvSpPr>
            <a:spLocks noChangeShapeType="1"/>
          </p:cNvSpPr>
          <p:nvPr/>
        </p:nvSpPr>
        <p:spPr bwMode="auto">
          <a:xfrm flipV="1">
            <a:off x="26146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0" name="Line 281"/>
          <p:cNvSpPr>
            <a:spLocks noChangeShapeType="1"/>
          </p:cNvSpPr>
          <p:nvPr/>
        </p:nvSpPr>
        <p:spPr bwMode="auto">
          <a:xfrm flipV="1">
            <a:off x="2622550" y="4012005"/>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1" name="Line 282"/>
          <p:cNvSpPr>
            <a:spLocks noChangeShapeType="1"/>
          </p:cNvSpPr>
          <p:nvPr/>
        </p:nvSpPr>
        <p:spPr bwMode="auto">
          <a:xfrm flipV="1">
            <a:off x="26289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2" name="Line 283"/>
          <p:cNvSpPr>
            <a:spLocks noChangeShapeType="1"/>
          </p:cNvSpPr>
          <p:nvPr/>
        </p:nvSpPr>
        <p:spPr bwMode="auto">
          <a:xfrm flipV="1">
            <a:off x="26368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3" name="Line 284"/>
          <p:cNvSpPr>
            <a:spLocks noChangeShapeType="1"/>
          </p:cNvSpPr>
          <p:nvPr/>
        </p:nvSpPr>
        <p:spPr bwMode="auto">
          <a:xfrm flipV="1">
            <a:off x="26447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4" name="Line 285"/>
          <p:cNvSpPr>
            <a:spLocks noChangeShapeType="1"/>
          </p:cNvSpPr>
          <p:nvPr/>
        </p:nvSpPr>
        <p:spPr bwMode="auto">
          <a:xfrm flipV="1">
            <a:off x="2651125" y="4034230"/>
            <a:ext cx="1588" cy="3175"/>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5" name="Line 286"/>
          <p:cNvSpPr>
            <a:spLocks noChangeShapeType="1"/>
          </p:cNvSpPr>
          <p:nvPr/>
        </p:nvSpPr>
        <p:spPr bwMode="auto">
          <a:xfrm flipV="1">
            <a:off x="265906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6" name="Line 287"/>
          <p:cNvSpPr>
            <a:spLocks noChangeShapeType="1"/>
          </p:cNvSpPr>
          <p:nvPr/>
        </p:nvSpPr>
        <p:spPr bwMode="auto">
          <a:xfrm flipV="1">
            <a:off x="2665413"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7" name="Line 288"/>
          <p:cNvSpPr>
            <a:spLocks noChangeShapeType="1"/>
          </p:cNvSpPr>
          <p:nvPr/>
        </p:nvSpPr>
        <p:spPr bwMode="auto">
          <a:xfrm flipV="1">
            <a:off x="2673350" y="4007243"/>
            <a:ext cx="1588" cy="30162"/>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8" name="Line 289"/>
          <p:cNvSpPr>
            <a:spLocks noChangeShapeType="1"/>
          </p:cNvSpPr>
          <p:nvPr/>
        </p:nvSpPr>
        <p:spPr bwMode="auto">
          <a:xfrm flipV="1">
            <a:off x="26812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19" name="Line 290"/>
          <p:cNvSpPr>
            <a:spLocks noChangeShapeType="1"/>
          </p:cNvSpPr>
          <p:nvPr/>
        </p:nvSpPr>
        <p:spPr bwMode="auto">
          <a:xfrm flipV="1">
            <a:off x="27241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0" name="Line 291"/>
          <p:cNvSpPr>
            <a:spLocks noChangeShapeType="1"/>
          </p:cNvSpPr>
          <p:nvPr/>
        </p:nvSpPr>
        <p:spPr bwMode="auto">
          <a:xfrm flipV="1">
            <a:off x="27320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1" name="Line 292"/>
          <p:cNvSpPr>
            <a:spLocks noChangeShapeType="1"/>
          </p:cNvSpPr>
          <p:nvPr/>
        </p:nvSpPr>
        <p:spPr bwMode="auto">
          <a:xfrm flipV="1">
            <a:off x="273843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2" name="Line 293"/>
          <p:cNvSpPr>
            <a:spLocks noChangeShapeType="1"/>
          </p:cNvSpPr>
          <p:nvPr/>
        </p:nvSpPr>
        <p:spPr bwMode="auto">
          <a:xfrm flipV="1">
            <a:off x="27463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3" name="Line 294"/>
          <p:cNvSpPr>
            <a:spLocks noChangeShapeType="1"/>
          </p:cNvSpPr>
          <p:nvPr/>
        </p:nvSpPr>
        <p:spPr bwMode="auto">
          <a:xfrm flipV="1">
            <a:off x="27686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4" name="Line 295"/>
          <p:cNvSpPr>
            <a:spLocks noChangeShapeType="1"/>
          </p:cNvSpPr>
          <p:nvPr/>
        </p:nvSpPr>
        <p:spPr bwMode="auto">
          <a:xfrm flipV="1">
            <a:off x="27828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5" name="Line 296"/>
          <p:cNvSpPr>
            <a:spLocks noChangeShapeType="1"/>
          </p:cNvSpPr>
          <p:nvPr/>
        </p:nvSpPr>
        <p:spPr bwMode="auto">
          <a:xfrm flipV="1">
            <a:off x="27971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6" name="Line 297"/>
          <p:cNvSpPr>
            <a:spLocks noChangeShapeType="1"/>
          </p:cNvSpPr>
          <p:nvPr/>
        </p:nvSpPr>
        <p:spPr bwMode="auto">
          <a:xfrm flipV="1">
            <a:off x="28051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7" name="Line 298"/>
          <p:cNvSpPr>
            <a:spLocks noChangeShapeType="1"/>
          </p:cNvSpPr>
          <p:nvPr/>
        </p:nvSpPr>
        <p:spPr bwMode="auto">
          <a:xfrm flipV="1">
            <a:off x="2811463" y="4016768"/>
            <a:ext cx="1587" cy="20637"/>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8" name="Line 299"/>
          <p:cNvSpPr>
            <a:spLocks noChangeShapeType="1"/>
          </p:cNvSpPr>
          <p:nvPr/>
        </p:nvSpPr>
        <p:spPr bwMode="auto">
          <a:xfrm flipV="1">
            <a:off x="28273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29" name="Line 300"/>
          <p:cNvSpPr>
            <a:spLocks noChangeShapeType="1"/>
          </p:cNvSpPr>
          <p:nvPr/>
        </p:nvSpPr>
        <p:spPr bwMode="auto">
          <a:xfrm flipV="1">
            <a:off x="28336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0" name="Line 301"/>
          <p:cNvSpPr>
            <a:spLocks noChangeShapeType="1"/>
          </p:cNvSpPr>
          <p:nvPr/>
        </p:nvSpPr>
        <p:spPr bwMode="auto">
          <a:xfrm flipV="1">
            <a:off x="28559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1" name="Line 302"/>
          <p:cNvSpPr>
            <a:spLocks noChangeShapeType="1"/>
          </p:cNvSpPr>
          <p:nvPr/>
        </p:nvSpPr>
        <p:spPr bwMode="auto">
          <a:xfrm flipV="1">
            <a:off x="28844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2" name="Line 303"/>
          <p:cNvSpPr>
            <a:spLocks noChangeShapeType="1"/>
          </p:cNvSpPr>
          <p:nvPr/>
        </p:nvSpPr>
        <p:spPr bwMode="auto">
          <a:xfrm flipV="1">
            <a:off x="28924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3" name="Line 304"/>
          <p:cNvSpPr>
            <a:spLocks noChangeShapeType="1"/>
          </p:cNvSpPr>
          <p:nvPr/>
        </p:nvSpPr>
        <p:spPr bwMode="auto">
          <a:xfrm flipV="1">
            <a:off x="28987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4" name="Line 305"/>
          <p:cNvSpPr>
            <a:spLocks noChangeShapeType="1"/>
          </p:cNvSpPr>
          <p:nvPr/>
        </p:nvSpPr>
        <p:spPr bwMode="auto">
          <a:xfrm flipV="1">
            <a:off x="29067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5" name="Line 306"/>
          <p:cNvSpPr>
            <a:spLocks noChangeShapeType="1"/>
          </p:cNvSpPr>
          <p:nvPr/>
        </p:nvSpPr>
        <p:spPr bwMode="auto">
          <a:xfrm flipV="1">
            <a:off x="29146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6" name="Line 307"/>
          <p:cNvSpPr>
            <a:spLocks noChangeShapeType="1"/>
          </p:cNvSpPr>
          <p:nvPr/>
        </p:nvSpPr>
        <p:spPr bwMode="auto">
          <a:xfrm flipV="1">
            <a:off x="29210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7" name="Line 308"/>
          <p:cNvSpPr>
            <a:spLocks noChangeShapeType="1"/>
          </p:cNvSpPr>
          <p:nvPr/>
        </p:nvSpPr>
        <p:spPr bwMode="auto">
          <a:xfrm flipV="1">
            <a:off x="29289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8" name="Line 309"/>
          <p:cNvSpPr>
            <a:spLocks noChangeShapeType="1"/>
          </p:cNvSpPr>
          <p:nvPr/>
        </p:nvSpPr>
        <p:spPr bwMode="auto">
          <a:xfrm flipV="1">
            <a:off x="2951163" y="4004068"/>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39" name="Line 310"/>
          <p:cNvSpPr>
            <a:spLocks noChangeShapeType="1"/>
          </p:cNvSpPr>
          <p:nvPr/>
        </p:nvSpPr>
        <p:spPr bwMode="auto">
          <a:xfrm flipV="1">
            <a:off x="2957513"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0" name="Line 311"/>
          <p:cNvSpPr>
            <a:spLocks noChangeShapeType="1"/>
          </p:cNvSpPr>
          <p:nvPr/>
        </p:nvSpPr>
        <p:spPr bwMode="auto">
          <a:xfrm flipV="1">
            <a:off x="29654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1" name="Line 312"/>
          <p:cNvSpPr>
            <a:spLocks noChangeShapeType="1"/>
          </p:cNvSpPr>
          <p:nvPr/>
        </p:nvSpPr>
        <p:spPr bwMode="auto">
          <a:xfrm flipV="1">
            <a:off x="300196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2" name="Line 313"/>
          <p:cNvSpPr>
            <a:spLocks noChangeShapeType="1"/>
          </p:cNvSpPr>
          <p:nvPr/>
        </p:nvSpPr>
        <p:spPr bwMode="auto">
          <a:xfrm flipV="1">
            <a:off x="3024188" y="3916755"/>
            <a:ext cx="1587" cy="1206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3" name="Line 314"/>
          <p:cNvSpPr>
            <a:spLocks noChangeShapeType="1"/>
          </p:cNvSpPr>
          <p:nvPr/>
        </p:nvSpPr>
        <p:spPr bwMode="auto">
          <a:xfrm flipV="1">
            <a:off x="3030538"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4" name="Line 315"/>
          <p:cNvSpPr>
            <a:spLocks noChangeShapeType="1"/>
          </p:cNvSpPr>
          <p:nvPr/>
        </p:nvSpPr>
        <p:spPr bwMode="auto">
          <a:xfrm flipV="1">
            <a:off x="30384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5" name="Line 316"/>
          <p:cNvSpPr>
            <a:spLocks noChangeShapeType="1"/>
          </p:cNvSpPr>
          <p:nvPr/>
        </p:nvSpPr>
        <p:spPr bwMode="auto">
          <a:xfrm flipV="1">
            <a:off x="30448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6" name="Line 317"/>
          <p:cNvSpPr>
            <a:spLocks noChangeShapeType="1"/>
          </p:cNvSpPr>
          <p:nvPr/>
        </p:nvSpPr>
        <p:spPr bwMode="auto">
          <a:xfrm flipV="1">
            <a:off x="3052763" y="4024705"/>
            <a:ext cx="1587" cy="12700"/>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7" name="Line 318"/>
          <p:cNvSpPr>
            <a:spLocks noChangeShapeType="1"/>
          </p:cNvSpPr>
          <p:nvPr/>
        </p:nvSpPr>
        <p:spPr bwMode="auto">
          <a:xfrm flipV="1">
            <a:off x="3074988" y="4024705"/>
            <a:ext cx="1587" cy="12700"/>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8" name="Line 319"/>
          <p:cNvSpPr>
            <a:spLocks noChangeShapeType="1"/>
          </p:cNvSpPr>
          <p:nvPr/>
        </p:nvSpPr>
        <p:spPr bwMode="auto">
          <a:xfrm flipV="1">
            <a:off x="308133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49" name="Line 320"/>
          <p:cNvSpPr>
            <a:spLocks noChangeShapeType="1"/>
          </p:cNvSpPr>
          <p:nvPr/>
        </p:nvSpPr>
        <p:spPr bwMode="auto">
          <a:xfrm flipV="1">
            <a:off x="30956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0" name="Line 321"/>
          <p:cNvSpPr>
            <a:spLocks noChangeShapeType="1"/>
          </p:cNvSpPr>
          <p:nvPr/>
        </p:nvSpPr>
        <p:spPr bwMode="auto">
          <a:xfrm flipV="1">
            <a:off x="31115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1" name="Line 322"/>
          <p:cNvSpPr>
            <a:spLocks noChangeShapeType="1"/>
          </p:cNvSpPr>
          <p:nvPr/>
        </p:nvSpPr>
        <p:spPr bwMode="auto">
          <a:xfrm flipV="1">
            <a:off x="31178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2" name="Line 323"/>
          <p:cNvSpPr>
            <a:spLocks noChangeShapeType="1"/>
          </p:cNvSpPr>
          <p:nvPr/>
        </p:nvSpPr>
        <p:spPr bwMode="auto">
          <a:xfrm flipV="1">
            <a:off x="31321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3" name="Line 324"/>
          <p:cNvSpPr>
            <a:spLocks noChangeShapeType="1"/>
          </p:cNvSpPr>
          <p:nvPr/>
        </p:nvSpPr>
        <p:spPr bwMode="auto">
          <a:xfrm flipV="1">
            <a:off x="3148013"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4" name="Line 325"/>
          <p:cNvSpPr>
            <a:spLocks noChangeShapeType="1"/>
          </p:cNvSpPr>
          <p:nvPr/>
        </p:nvSpPr>
        <p:spPr bwMode="auto">
          <a:xfrm flipV="1">
            <a:off x="315436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5" name="Line 326"/>
          <p:cNvSpPr>
            <a:spLocks noChangeShapeType="1"/>
          </p:cNvSpPr>
          <p:nvPr/>
        </p:nvSpPr>
        <p:spPr bwMode="auto">
          <a:xfrm flipV="1">
            <a:off x="31623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6" name="Line 327"/>
          <p:cNvSpPr>
            <a:spLocks noChangeShapeType="1"/>
          </p:cNvSpPr>
          <p:nvPr/>
        </p:nvSpPr>
        <p:spPr bwMode="auto">
          <a:xfrm flipV="1">
            <a:off x="3168650" y="3986605"/>
            <a:ext cx="1588" cy="50800"/>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7" name="Line 328"/>
          <p:cNvSpPr>
            <a:spLocks noChangeShapeType="1"/>
          </p:cNvSpPr>
          <p:nvPr/>
        </p:nvSpPr>
        <p:spPr bwMode="auto">
          <a:xfrm flipV="1">
            <a:off x="3176588"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8" name="Line 329"/>
          <p:cNvSpPr>
            <a:spLocks noChangeShapeType="1"/>
          </p:cNvSpPr>
          <p:nvPr/>
        </p:nvSpPr>
        <p:spPr bwMode="auto">
          <a:xfrm flipV="1">
            <a:off x="31845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59" name="Line 330"/>
          <p:cNvSpPr>
            <a:spLocks noChangeShapeType="1"/>
          </p:cNvSpPr>
          <p:nvPr/>
        </p:nvSpPr>
        <p:spPr bwMode="auto">
          <a:xfrm flipV="1">
            <a:off x="319087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0" name="Line 331"/>
          <p:cNvSpPr>
            <a:spLocks noChangeShapeType="1"/>
          </p:cNvSpPr>
          <p:nvPr/>
        </p:nvSpPr>
        <p:spPr bwMode="auto">
          <a:xfrm flipV="1">
            <a:off x="31988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1" name="Line 332"/>
          <p:cNvSpPr>
            <a:spLocks noChangeShapeType="1"/>
          </p:cNvSpPr>
          <p:nvPr/>
        </p:nvSpPr>
        <p:spPr bwMode="auto">
          <a:xfrm flipV="1">
            <a:off x="32051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2" name="Line 333"/>
          <p:cNvSpPr>
            <a:spLocks noChangeShapeType="1"/>
          </p:cNvSpPr>
          <p:nvPr/>
        </p:nvSpPr>
        <p:spPr bwMode="auto">
          <a:xfrm flipV="1">
            <a:off x="32131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3" name="Line 334"/>
          <p:cNvSpPr>
            <a:spLocks noChangeShapeType="1"/>
          </p:cNvSpPr>
          <p:nvPr/>
        </p:nvSpPr>
        <p:spPr bwMode="auto">
          <a:xfrm flipV="1">
            <a:off x="32273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4" name="Line 335"/>
          <p:cNvSpPr>
            <a:spLocks noChangeShapeType="1"/>
          </p:cNvSpPr>
          <p:nvPr/>
        </p:nvSpPr>
        <p:spPr bwMode="auto">
          <a:xfrm flipV="1">
            <a:off x="32353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5" name="Line 336"/>
          <p:cNvSpPr>
            <a:spLocks noChangeShapeType="1"/>
          </p:cNvSpPr>
          <p:nvPr/>
        </p:nvSpPr>
        <p:spPr bwMode="auto">
          <a:xfrm flipV="1">
            <a:off x="32416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6" name="Line 337"/>
          <p:cNvSpPr>
            <a:spLocks noChangeShapeType="1"/>
          </p:cNvSpPr>
          <p:nvPr/>
        </p:nvSpPr>
        <p:spPr bwMode="auto">
          <a:xfrm flipV="1">
            <a:off x="32496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7" name="Line 338"/>
          <p:cNvSpPr>
            <a:spLocks noChangeShapeType="1"/>
          </p:cNvSpPr>
          <p:nvPr/>
        </p:nvSpPr>
        <p:spPr bwMode="auto">
          <a:xfrm flipV="1">
            <a:off x="32575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8" name="Line 339"/>
          <p:cNvSpPr>
            <a:spLocks noChangeShapeType="1"/>
          </p:cNvSpPr>
          <p:nvPr/>
        </p:nvSpPr>
        <p:spPr bwMode="auto">
          <a:xfrm flipV="1">
            <a:off x="32639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69" name="Line 340"/>
          <p:cNvSpPr>
            <a:spLocks noChangeShapeType="1"/>
          </p:cNvSpPr>
          <p:nvPr/>
        </p:nvSpPr>
        <p:spPr bwMode="auto">
          <a:xfrm flipV="1">
            <a:off x="32781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0" name="Line 341"/>
          <p:cNvSpPr>
            <a:spLocks noChangeShapeType="1"/>
          </p:cNvSpPr>
          <p:nvPr/>
        </p:nvSpPr>
        <p:spPr bwMode="auto">
          <a:xfrm flipV="1">
            <a:off x="32861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1" name="Line 342"/>
          <p:cNvSpPr>
            <a:spLocks noChangeShapeType="1"/>
          </p:cNvSpPr>
          <p:nvPr/>
        </p:nvSpPr>
        <p:spPr bwMode="auto">
          <a:xfrm flipV="1">
            <a:off x="33004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2" name="Line 343"/>
          <p:cNvSpPr>
            <a:spLocks noChangeShapeType="1"/>
          </p:cNvSpPr>
          <p:nvPr/>
        </p:nvSpPr>
        <p:spPr bwMode="auto">
          <a:xfrm flipV="1">
            <a:off x="33147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3" name="Line 344"/>
          <p:cNvSpPr>
            <a:spLocks noChangeShapeType="1"/>
          </p:cNvSpPr>
          <p:nvPr/>
        </p:nvSpPr>
        <p:spPr bwMode="auto">
          <a:xfrm flipV="1">
            <a:off x="33226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4" name="Line 345"/>
          <p:cNvSpPr>
            <a:spLocks noChangeShapeType="1"/>
          </p:cNvSpPr>
          <p:nvPr/>
        </p:nvSpPr>
        <p:spPr bwMode="auto">
          <a:xfrm flipV="1">
            <a:off x="3328988"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5" name="Line 346"/>
          <p:cNvSpPr>
            <a:spLocks noChangeShapeType="1"/>
          </p:cNvSpPr>
          <p:nvPr/>
        </p:nvSpPr>
        <p:spPr bwMode="auto">
          <a:xfrm flipV="1">
            <a:off x="3336925" y="4007243"/>
            <a:ext cx="1588"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6" name="Line 347"/>
          <p:cNvSpPr>
            <a:spLocks noChangeShapeType="1"/>
          </p:cNvSpPr>
          <p:nvPr/>
        </p:nvSpPr>
        <p:spPr bwMode="auto">
          <a:xfrm flipV="1">
            <a:off x="335121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7" name="Line 348"/>
          <p:cNvSpPr>
            <a:spLocks noChangeShapeType="1"/>
          </p:cNvSpPr>
          <p:nvPr/>
        </p:nvSpPr>
        <p:spPr bwMode="auto">
          <a:xfrm flipV="1">
            <a:off x="33591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8" name="Line 349"/>
          <p:cNvSpPr>
            <a:spLocks noChangeShapeType="1"/>
          </p:cNvSpPr>
          <p:nvPr/>
        </p:nvSpPr>
        <p:spPr bwMode="auto">
          <a:xfrm flipV="1">
            <a:off x="33655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79" name="Line 350"/>
          <p:cNvSpPr>
            <a:spLocks noChangeShapeType="1"/>
          </p:cNvSpPr>
          <p:nvPr/>
        </p:nvSpPr>
        <p:spPr bwMode="auto">
          <a:xfrm flipV="1">
            <a:off x="3373438" y="3946918"/>
            <a:ext cx="1587" cy="904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0" name="Line 351"/>
          <p:cNvSpPr>
            <a:spLocks noChangeShapeType="1"/>
          </p:cNvSpPr>
          <p:nvPr/>
        </p:nvSpPr>
        <p:spPr bwMode="auto">
          <a:xfrm flipV="1">
            <a:off x="33813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1" name="Line 352"/>
          <p:cNvSpPr>
            <a:spLocks noChangeShapeType="1"/>
          </p:cNvSpPr>
          <p:nvPr/>
        </p:nvSpPr>
        <p:spPr bwMode="auto">
          <a:xfrm flipV="1">
            <a:off x="33877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2" name="Line 353"/>
          <p:cNvSpPr>
            <a:spLocks noChangeShapeType="1"/>
          </p:cNvSpPr>
          <p:nvPr/>
        </p:nvSpPr>
        <p:spPr bwMode="auto">
          <a:xfrm flipV="1">
            <a:off x="3395663" y="3967555"/>
            <a:ext cx="1587"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3" name="Line 354"/>
          <p:cNvSpPr>
            <a:spLocks noChangeShapeType="1"/>
          </p:cNvSpPr>
          <p:nvPr/>
        </p:nvSpPr>
        <p:spPr bwMode="auto">
          <a:xfrm flipV="1">
            <a:off x="3402013" y="3896118"/>
            <a:ext cx="1587" cy="141287"/>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4" name="Line 355"/>
          <p:cNvSpPr>
            <a:spLocks noChangeShapeType="1"/>
          </p:cNvSpPr>
          <p:nvPr/>
        </p:nvSpPr>
        <p:spPr bwMode="auto">
          <a:xfrm flipV="1">
            <a:off x="34099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5" name="Line 356"/>
          <p:cNvSpPr>
            <a:spLocks noChangeShapeType="1"/>
          </p:cNvSpPr>
          <p:nvPr/>
        </p:nvSpPr>
        <p:spPr bwMode="auto">
          <a:xfrm flipV="1">
            <a:off x="34178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6" name="Line 357"/>
          <p:cNvSpPr>
            <a:spLocks noChangeShapeType="1"/>
          </p:cNvSpPr>
          <p:nvPr/>
        </p:nvSpPr>
        <p:spPr bwMode="auto">
          <a:xfrm flipV="1">
            <a:off x="3424238" y="3989780"/>
            <a:ext cx="1587"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7" name="Line 358"/>
          <p:cNvSpPr>
            <a:spLocks noChangeShapeType="1"/>
          </p:cNvSpPr>
          <p:nvPr/>
        </p:nvSpPr>
        <p:spPr bwMode="auto">
          <a:xfrm flipV="1">
            <a:off x="3432175"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8" name="Line 359"/>
          <p:cNvSpPr>
            <a:spLocks noChangeShapeType="1"/>
          </p:cNvSpPr>
          <p:nvPr/>
        </p:nvSpPr>
        <p:spPr bwMode="auto">
          <a:xfrm flipV="1">
            <a:off x="34385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89" name="Line 360"/>
          <p:cNvSpPr>
            <a:spLocks noChangeShapeType="1"/>
          </p:cNvSpPr>
          <p:nvPr/>
        </p:nvSpPr>
        <p:spPr bwMode="auto">
          <a:xfrm flipV="1">
            <a:off x="34464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0" name="Line 361"/>
          <p:cNvSpPr>
            <a:spLocks noChangeShapeType="1"/>
          </p:cNvSpPr>
          <p:nvPr/>
        </p:nvSpPr>
        <p:spPr bwMode="auto">
          <a:xfrm flipV="1">
            <a:off x="34544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1" name="Line 362"/>
          <p:cNvSpPr>
            <a:spLocks noChangeShapeType="1"/>
          </p:cNvSpPr>
          <p:nvPr/>
        </p:nvSpPr>
        <p:spPr bwMode="auto">
          <a:xfrm flipV="1">
            <a:off x="34607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2" name="Line 363"/>
          <p:cNvSpPr>
            <a:spLocks noChangeShapeType="1"/>
          </p:cNvSpPr>
          <p:nvPr/>
        </p:nvSpPr>
        <p:spPr bwMode="auto">
          <a:xfrm flipV="1">
            <a:off x="34686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3" name="Line 364"/>
          <p:cNvSpPr>
            <a:spLocks noChangeShapeType="1"/>
          </p:cNvSpPr>
          <p:nvPr/>
        </p:nvSpPr>
        <p:spPr bwMode="auto">
          <a:xfrm flipV="1">
            <a:off x="34750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4" name="Line 365"/>
          <p:cNvSpPr>
            <a:spLocks noChangeShapeType="1"/>
          </p:cNvSpPr>
          <p:nvPr/>
        </p:nvSpPr>
        <p:spPr bwMode="auto">
          <a:xfrm flipV="1">
            <a:off x="35052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5" name="Line 366"/>
          <p:cNvSpPr>
            <a:spLocks noChangeShapeType="1"/>
          </p:cNvSpPr>
          <p:nvPr/>
        </p:nvSpPr>
        <p:spPr bwMode="auto">
          <a:xfrm flipV="1">
            <a:off x="35115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6" name="Line 367"/>
          <p:cNvSpPr>
            <a:spLocks noChangeShapeType="1"/>
          </p:cNvSpPr>
          <p:nvPr/>
        </p:nvSpPr>
        <p:spPr bwMode="auto">
          <a:xfrm flipV="1">
            <a:off x="3519488" y="4007243"/>
            <a:ext cx="1587"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7" name="Line 368"/>
          <p:cNvSpPr>
            <a:spLocks noChangeShapeType="1"/>
          </p:cNvSpPr>
          <p:nvPr/>
        </p:nvSpPr>
        <p:spPr bwMode="auto">
          <a:xfrm flipV="1">
            <a:off x="35274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8" name="Line 369"/>
          <p:cNvSpPr>
            <a:spLocks noChangeShapeType="1"/>
          </p:cNvSpPr>
          <p:nvPr/>
        </p:nvSpPr>
        <p:spPr bwMode="auto">
          <a:xfrm flipV="1">
            <a:off x="3533775"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299" name="Line 370"/>
          <p:cNvSpPr>
            <a:spLocks noChangeShapeType="1"/>
          </p:cNvSpPr>
          <p:nvPr/>
        </p:nvSpPr>
        <p:spPr bwMode="auto">
          <a:xfrm flipV="1">
            <a:off x="3541713" y="4004068"/>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0" name="Line 371"/>
          <p:cNvSpPr>
            <a:spLocks noChangeShapeType="1"/>
          </p:cNvSpPr>
          <p:nvPr/>
        </p:nvSpPr>
        <p:spPr bwMode="auto">
          <a:xfrm flipV="1">
            <a:off x="354806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1" name="Line 372"/>
          <p:cNvSpPr>
            <a:spLocks noChangeShapeType="1"/>
          </p:cNvSpPr>
          <p:nvPr/>
        </p:nvSpPr>
        <p:spPr bwMode="auto">
          <a:xfrm flipV="1">
            <a:off x="3556000"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2" name="Line 373"/>
          <p:cNvSpPr>
            <a:spLocks noChangeShapeType="1"/>
          </p:cNvSpPr>
          <p:nvPr/>
        </p:nvSpPr>
        <p:spPr bwMode="auto">
          <a:xfrm flipV="1">
            <a:off x="356235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3" name="Line 374"/>
          <p:cNvSpPr>
            <a:spLocks noChangeShapeType="1"/>
          </p:cNvSpPr>
          <p:nvPr/>
        </p:nvSpPr>
        <p:spPr bwMode="auto">
          <a:xfrm flipV="1">
            <a:off x="3570288" y="3896118"/>
            <a:ext cx="1587" cy="1412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4" name="Line 375"/>
          <p:cNvSpPr>
            <a:spLocks noChangeShapeType="1"/>
          </p:cNvSpPr>
          <p:nvPr/>
        </p:nvSpPr>
        <p:spPr bwMode="auto">
          <a:xfrm flipV="1">
            <a:off x="3578225" y="3989780"/>
            <a:ext cx="1588"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5" name="Line 376"/>
          <p:cNvSpPr>
            <a:spLocks noChangeShapeType="1"/>
          </p:cNvSpPr>
          <p:nvPr/>
        </p:nvSpPr>
        <p:spPr bwMode="auto">
          <a:xfrm flipV="1">
            <a:off x="35845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6" name="Line 377"/>
          <p:cNvSpPr>
            <a:spLocks noChangeShapeType="1"/>
          </p:cNvSpPr>
          <p:nvPr/>
        </p:nvSpPr>
        <p:spPr bwMode="auto">
          <a:xfrm flipV="1">
            <a:off x="35925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7" name="Line 378"/>
          <p:cNvSpPr>
            <a:spLocks noChangeShapeType="1"/>
          </p:cNvSpPr>
          <p:nvPr/>
        </p:nvSpPr>
        <p:spPr bwMode="auto">
          <a:xfrm flipV="1">
            <a:off x="3598863"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8" name="Line 379"/>
          <p:cNvSpPr>
            <a:spLocks noChangeShapeType="1"/>
          </p:cNvSpPr>
          <p:nvPr/>
        </p:nvSpPr>
        <p:spPr bwMode="auto">
          <a:xfrm flipV="1">
            <a:off x="360680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09" name="Line 380"/>
          <p:cNvSpPr>
            <a:spLocks noChangeShapeType="1"/>
          </p:cNvSpPr>
          <p:nvPr/>
        </p:nvSpPr>
        <p:spPr bwMode="auto">
          <a:xfrm flipV="1">
            <a:off x="3614738"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0" name="Line 381"/>
          <p:cNvSpPr>
            <a:spLocks noChangeShapeType="1"/>
          </p:cNvSpPr>
          <p:nvPr/>
        </p:nvSpPr>
        <p:spPr bwMode="auto">
          <a:xfrm flipV="1">
            <a:off x="3621088" y="4012005"/>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1" name="Line 382"/>
          <p:cNvSpPr>
            <a:spLocks noChangeShapeType="1"/>
          </p:cNvSpPr>
          <p:nvPr/>
        </p:nvSpPr>
        <p:spPr bwMode="auto">
          <a:xfrm flipV="1">
            <a:off x="3629025"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2" name="Line 383"/>
          <p:cNvSpPr>
            <a:spLocks noChangeShapeType="1"/>
          </p:cNvSpPr>
          <p:nvPr/>
        </p:nvSpPr>
        <p:spPr bwMode="auto">
          <a:xfrm flipV="1">
            <a:off x="3635375" y="3956443"/>
            <a:ext cx="1588" cy="809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3" name="Line 384"/>
          <p:cNvSpPr>
            <a:spLocks noChangeShapeType="1"/>
          </p:cNvSpPr>
          <p:nvPr/>
        </p:nvSpPr>
        <p:spPr bwMode="auto">
          <a:xfrm flipV="1">
            <a:off x="36433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4" name="Line 385"/>
          <p:cNvSpPr>
            <a:spLocks noChangeShapeType="1"/>
          </p:cNvSpPr>
          <p:nvPr/>
        </p:nvSpPr>
        <p:spPr bwMode="auto">
          <a:xfrm flipV="1">
            <a:off x="36576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5" name="Line 386"/>
          <p:cNvSpPr>
            <a:spLocks noChangeShapeType="1"/>
          </p:cNvSpPr>
          <p:nvPr/>
        </p:nvSpPr>
        <p:spPr bwMode="auto">
          <a:xfrm flipV="1">
            <a:off x="3665538"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6" name="Line 387"/>
          <p:cNvSpPr>
            <a:spLocks noChangeShapeType="1"/>
          </p:cNvSpPr>
          <p:nvPr/>
        </p:nvSpPr>
        <p:spPr bwMode="auto">
          <a:xfrm flipV="1">
            <a:off x="3671888" y="3588143"/>
            <a:ext cx="1587" cy="449262"/>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7" name="Line 388"/>
          <p:cNvSpPr>
            <a:spLocks noChangeShapeType="1"/>
          </p:cNvSpPr>
          <p:nvPr/>
        </p:nvSpPr>
        <p:spPr bwMode="auto">
          <a:xfrm flipV="1">
            <a:off x="3679825" y="3691330"/>
            <a:ext cx="1588" cy="3460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8" name="Line 389"/>
          <p:cNvSpPr>
            <a:spLocks noChangeShapeType="1"/>
          </p:cNvSpPr>
          <p:nvPr/>
        </p:nvSpPr>
        <p:spPr bwMode="auto">
          <a:xfrm flipV="1">
            <a:off x="3694113" y="3942155"/>
            <a:ext cx="1587" cy="952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19" name="Line 390"/>
          <p:cNvSpPr>
            <a:spLocks noChangeShapeType="1"/>
          </p:cNvSpPr>
          <p:nvPr/>
        </p:nvSpPr>
        <p:spPr bwMode="auto">
          <a:xfrm flipV="1">
            <a:off x="3702050" y="4012005"/>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0" name="Line 391"/>
          <p:cNvSpPr>
            <a:spLocks noChangeShapeType="1"/>
          </p:cNvSpPr>
          <p:nvPr/>
        </p:nvSpPr>
        <p:spPr bwMode="auto">
          <a:xfrm flipV="1">
            <a:off x="3708400"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1" name="Line 392"/>
          <p:cNvSpPr>
            <a:spLocks noChangeShapeType="1"/>
          </p:cNvSpPr>
          <p:nvPr/>
        </p:nvSpPr>
        <p:spPr bwMode="auto">
          <a:xfrm flipV="1">
            <a:off x="3716338" y="3977080"/>
            <a:ext cx="1587" cy="60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2" name="Line 393"/>
          <p:cNvSpPr>
            <a:spLocks noChangeShapeType="1"/>
          </p:cNvSpPr>
          <p:nvPr/>
        </p:nvSpPr>
        <p:spPr bwMode="auto">
          <a:xfrm flipV="1">
            <a:off x="37242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3" name="Line 394"/>
          <p:cNvSpPr>
            <a:spLocks noChangeShapeType="1"/>
          </p:cNvSpPr>
          <p:nvPr/>
        </p:nvSpPr>
        <p:spPr bwMode="auto">
          <a:xfrm flipV="1">
            <a:off x="373856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4" name="Line 395"/>
          <p:cNvSpPr>
            <a:spLocks noChangeShapeType="1"/>
          </p:cNvSpPr>
          <p:nvPr/>
        </p:nvSpPr>
        <p:spPr bwMode="auto">
          <a:xfrm flipV="1">
            <a:off x="37449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5" name="Line 396"/>
          <p:cNvSpPr>
            <a:spLocks noChangeShapeType="1"/>
          </p:cNvSpPr>
          <p:nvPr/>
        </p:nvSpPr>
        <p:spPr bwMode="auto">
          <a:xfrm flipV="1">
            <a:off x="375285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6" name="Line 397"/>
          <p:cNvSpPr>
            <a:spLocks noChangeShapeType="1"/>
          </p:cNvSpPr>
          <p:nvPr/>
        </p:nvSpPr>
        <p:spPr bwMode="auto">
          <a:xfrm flipV="1">
            <a:off x="376713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7" name="Line 398"/>
          <p:cNvSpPr>
            <a:spLocks noChangeShapeType="1"/>
          </p:cNvSpPr>
          <p:nvPr/>
        </p:nvSpPr>
        <p:spPr bwMode="auto">
          <a:xfrm flipV="1">
            <a:off x="37750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8" name="Line 399"/>
          <p:cNvSpPr>
            <a:spLocks noChangeShapeType="1"/>
          </p:cNvSpPr>
          <p:nvPr/>
        </p:nvSpPr>
        <p:spPr bwMode="auto">
          <a:xfrm flipV="1">
            <a:off x="37814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29" name="Line 400"/>
          <p:cNvSpPr>
            <a:spLocks noChangeShapeType="1"/>
          </p:cNvSpPr>
          <p:nvPr/>
        </p:nvSpPr>
        <p:spPr bwMode="auto">
          <a:xfrm flipV="1">
            <a:off x="378936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0" name="Line 401"/>
          <p:cNvSpPr>
            <a:spLocks noChangeShapeType="1"/>
          </p:cNvSpPr>
          <p:nvPr/>
        </p:nvSpPr>
        <p:spPr bwMode="auto">
          <a:xfrm flipV="1">
            <a:off x="37957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1" name="Line 402"/>
          <p:cNvSpPr>
            <a:spLocks noChangeShapeType="1"/>
          </p:cNvSpPr>
          <p:nvPr/>
        </p:nvSpPr>
        <p:spPr bwMode="auto">
          <a:xfrm flipV="1">
            <a:off x="3803650" y="3997718"/>
            <a:ext cx="1588" cy="396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2" name="Line 403"/>
          <p:cNvSpPr>
            <a:spLocks noChangeShapeType="1"/>
          </p:cNvSpPr>
          <p:nvPr/>
        </p:nvSpPr>
        <p:spPr bwMode="auto">
          <a:xfrm flipV="1">
            <a:off x="38115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3" name="Line 404"/>
          <p:cNvSpPr>
            <a:spLocks noChangeShapeType="1"/>
          </p:cNvSpPr>
          <p:nvPr/>
        </p:nvSpPr>
        <p:spPr bwMode="auto">
          <a:xfrm flipV="1">
            <a:off x="3817938"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4" name="Line 405"/>
          <p:cNvSpPr>
            <a:spLocks noChangeShapeType="1"/>
          </p:cNvSpPr>
          <p:nvPr/>
        </p:nvSpPr>
        <p:spPr bwMode="auto">
          <a:xfrm flipV="1">
            <a:off x="3832225" y="3721493"/>
            <a:ext cx="1588" cy="3159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5" name="Line 406"/>
          <p:cNvSpPr>
            <a:spLocks noChangeShapeType="1"/>
          </p:cNvSpPr>
          <p:nvPr/>
        </p:nvSpPr>
        <p:spPr bwMode="auto">
          <a:xfrm flipV="1">
            <a:off x="3840163" y="3929455"/>
            <a:ext cx="1587" cy="1079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6" name="Line 407"/>
          <p:cNvSpPr>
            <a:spLocks noChangeShapeType="1"/>
          </p:cNvSpPr>
          <p:nvPr/>
        </p:nvSpPr>
        <p:spPr bwMode="auto">
          <a:xfrm flipV="1">
            <a:off x="38544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7" name="Line 408"/>
          <p:cNvSpPr>
            <a:spLocks noChangeShapeType="1"/>
          </p:cNvSpPr>
          <p:nvPr/>
        </p:nvSpPr>
        <p:spPr bwMode="auto">
          <a:xfrm flipV="1">
            <a:off x="38623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8" name="Line 409"/>
          <p:cNvSpPr>
            <a:spLocks noChangeShapeType="1"/>
          </p:cNvSpPr>
          <p:nvPr/>
        </p:nvSpPr>
        <p:spPr bwMode="auto">
          <a:xfrm flipV="1">
            <a:off x="3876675" y="1224355"/>
            <a:ext cx="1588" cy="2813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39" name="Line 410"/>
          <p:cNvSpPr>
            <a:spLocks noChangeShapeType="1"/>
          </p:cNvSpPr>
          <p:nvPr/>
        </p:nvSpPr>
        <p:spPr bwMode="auto">
          <a:xfrm flipV="1">
            <a:off x="3884613" y="3997718"/>
            <a:ext cx="1587" cy="396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0" name="Line 411"/>
          <p:cNvSpPr>
            <a:spLocks noChangeShapeType="1"/>
          </p:cNvSpPr>
          <p:nvPr/>
        </p:nvSpPr>
        <p:spPr bwMode="auto">
          <a:xfrm flipV="1">
            <a:off x="3890963" y="4012005"/>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1" name="Line 412"/>
          <p:cNvSpPr>
            <a:spLocks noChangeShapeType="1"/>
          </p:cNvSpPr>
          <p:nvPr/>
        </p:nvSpPr>
        <p:spPr bwMode="auto">
          <a:xfrm flipV="1">
            <a:off x="38989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2" name="Line 414"/>
          <p:cNvSpPr>
            <a:spLocks noChangeShapeType="1"/>
          </p:cNvSpPr>
          <p:nvPr/>
        </p:nvSpPr>
        <p:spPr bwMode="auto">
          <a:xfrm flipV="1">
            <a:off x="39052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3" name="Line 415"/>
          <p:cNvSpPr>
            <a:spLocks noChangeShapeType="1"/>
          </p:cNvSpPr>
          <p:nvPr/>
        </p:nvSpPr>
        <p:spPr bwMode="auto">
          <a:xfrm flipV="1">
            <a:off x="3913188" y="4004068"/>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4" name="Line 416"/>
          <p:cNvSpPr>
            <a:spLocks noChangeShapeType="1"/>
          </p:cNvSpPr>
          <p:nvPr/>
        </p:nvSpPr>
        <p:spPr bwMode="auto">
          <a:xfrm flipV="1">
            <a:off x="39211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5" name="Line 417"/>
          <p:cNvSpPr>
            <a:spLocks noChangeShapeType="1"/>
          </p:cNvSpPr>
          <p:nvPr/>
        </p:nvSpPr>
        <p:spPr bwMode="auto">
          <a:xfrm flipV="1">
            <a:off x="39354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6" name="Line 418"/>
          <p:cNvSpPr>
            <a:spLocks noChangeShapeType="1"/>
          </p:cNvSpPr>
          <p:nvPr/>
        </p:nvSpPr>
        <p:spPr bwMode="auto">
          <a:xfrm flipV="1">
            <a:off x="39417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7" name="Line 419"/>
          <p:cNvSpPr>
            <a:spLocks noChangeShapeType="1"/>
          </p:cNvSpPr>
          <p:nvPr/>
        </p:nvSpPr>
        <p:spPr bwMode="auto">
          <a:xfrm flipV="1">
            <a:off x="39497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8" name="Line 420"/>
          <p:cNvSpPr>
            <a:spLocks noChangeShapeType="1"/>
          </p:cNvSpPr>
          <p:nvPr/>
        </p:nvSpPr>
        <p:spPr bwMode="auto">
          <a:xfrm flipV="1">
            <a:off x="3957638" y="3856430"/>
            <a:ext cx="1587" cy="180975"/>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49" name="Line 421"/>
          <p:cNvSpPr>
            <a:spLocks noChangeShapeType="1"/>
          </p:cNvSpPr>
          <p:nvPr/>
        </p:nvSpPr>
        <p:spPr bwMode="auto">
          <a:xfrm flipV="1">
            <a:off x="3963988" y="3977080"/>
            <a:ext cx="1587" cy="60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0" name="Line 422"/>
          <p:cNvSpPr>
            <a:spLocks noChangeShapeType="1"/>
          </p:cNvSpPr>
          <p:nvPr/>
        </p:nvSpPr>
        <p:spPr bwMode="auto">
          <a:xfrm flipV="1">
            <a:off x="39719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1" name="Line 423"/>
          <p:cNvSpPr>
            <a:spLocks noChangeShapeType="1"/>
          </p:cNvSpPr>
          <p:nvPr/>
        </p:nvSpPr>
        <p:spPr bwMode="auto">
          <a:xfrm flipV="1">
            <a:off x="3978275"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2" name="Line 424"/>
          <p:cNvSpPr>
            <a:spLocks noChangeShapeType="1"/>
          </p:cNvSpPr>
          <p:nvPr/>
        </p:nvSpPr>
        <p:spPr bwMode="auto">
          <a:xfrm flipV="1">
            <a:off x="3986213"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3" name="Line 425"/>
          <p:cNvSpPr>
            <a:spLocks noChangeShapeType="1"/>
          </p:cNvSpPr>
          <p:nvPr/>
        </p:nvSpPr>
        <p:spPr bwMode="auto">
          <a:xfrm flipV="1">
            <a:off x="39941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4" name="Line 426"/>
          <p:cNvSpPr>
            <a:spLocks noChangeShapeType="1"/>
          </p:cNvSpPr>
          <p:nvPr/>
        </p:nvSpPr>
        <p:spPr bwMode="auto">
          <a:xfrm flipV="1">
            <a:off x="400050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5" name="Line 427"/>
          <p:cNvSpPr>
            <a:spLocks noChangeShapeType="1"/>
          </p:cNvSpPr>
          <p:nvPr/>
        </p:nvSpPr>
        <p:spPr bwMode="auto">
          <a:xfrm flipV="1">
            <a:off x="4008438"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6" name="Line 428"/>
          <p:cNvSpPr>
            <a:spLocks noChangeShapeType="1"/>
          </p:cNvSpPr>
          <p:nvPr/>
        </p:nvSpPr>
        <p:spPr bwMode="auto">
          <a:xfrm flipV="1">
            <a:off x="40147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7" name="Line 429"/>
          <p:cNvSpPr>
            <a:spLocks noChangeShapeType="1"/>
          </p:cNvSpPr>
          <p:nvPr/>
        </p:nvSpPr>
        <p:spPr bwMode="auto">
          <a:xfrm flipV="1">
            <a:off x="40227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8" name="Line 430"/>
          <p:cNvSpPr>
            <a:spLocks noChangeShapeType="1"/>
          </p:cNvSpPr>
          <p:nvPr/>
        </p:nvSpPr>
        <p:spPr bwMode="auto">
          <a:xfrm flipV="1">
            <a:off x="402907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59" name="Line 431"/>
          <p:cNvSpPr>
            <a:spLocks noChangeShapeType="1"/>
          </p:cNvSpPr>
          <p:nvPr/>
        </p:nvSpPr>
        <p:spPr bwMode="auto">
          <a:xfrm flipV="1">
            <a:off x="40370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0" name="Line 432"/>
          <p:cNvSpPr>
            <a:spLocks noChangeShapeType="1"/>
          </p:cNvSpPr>
          <p:nvPr/>
        </p:nvSpPr>
        <p:spPr bwMode="auto">
          <a:xfrm flipV="1">
            <a:off x="404495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1" name="Line 433"/>
          <p:cNvSpPr>
            <a:spLocks noChangeShapeType="1"/>
          </p:cNvSpPr>
          <p:nvPr/>
        </p:nvSpPr>
        <p:spPr bwMode="auto">
          <a:xfrm flipV="1">
            <a:off x="4051300" y="3981843"/>
            <a:ext cx="1588" cy="555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2" name="Line 434"/>
          <p:cNvSpPr>
            <a:spLocks noChangeShapeType="1"/>
          </p:cNvSpPr>
          <p:nvPr/>
        </p:nvSpPr>
        <p:spPr bwMode="auto">
          <a:xfrm flipV="1">
            <a:off x="4059238" y="4007243"/>
            <a:ext cx="1587"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3" name="Line 435"/>
          <p:cNvSpPr>
            <a:spLocks noChangeShapeType="1"/>
          </p:cNvSpPr>
          <p:nvPr/>
        </p:nvSpPr>
        <p:spPr bwMode="auto">
          <a:xfrm flipV="1">
            <a:off x="4065588"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4" name="Line 436"/>
          <p:cNvSpPr>
            <a:spLocks noChangeShapeType="1"/>
          </p:cNvSpPr>
          <p:nvPr/>
        </p:nvSpPr>
        <p:spPr bwMode="auto">
          <a:xfrm flipV="1">
            <a:off x="4081463" y="4007243"/>
            <a:ext cx="1587"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5" name="Line 437"/>
          <p:cNvSpPr>
            <a:spLocks noChangeShapeType="1"/>
          </p:cNvSpPr>
          <p:nvPr/>
        </p:nvSpPr>
        <p:spPr bwMode="auto">
          <a:xfrm flipV="1">
            <a:off x="4087813"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6" name="Line 438"/>
          <p:cNvSpPr>
            <a:spLocks noChangeShapeType="1"/>
          </p:cNvSpPr>
          <p:nvPr/>
        </p:nvSpPr>
        <p:spPr bwMode="auto">
          <a:xfrm flipV="1">
            <a:off x="4102100" y="4004068"/>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7" name="Line 439"/>
          <p:cNvSpPr>
            <a:spLocks noChangeShapeType="1"/>
          </p:cNvSpPr>
          <p:nvPr/>
        </p:nvSpPr>
        <p:spPr bwMode="auto">
          <a:xfrm flipV="1">
            <a:off x="4117975" y="3989780"/>
            <a:ext cx="1588" cy="476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8" name="Line 440"/>
          <p:cNvSpPr>
            <a:spLocks noChangeShapeType="1"/>
          </p:cNvSpPr>
          <p:nvPr/>
        </p:nvSpPr>
        <p:spPr bwMode="auto">
          <a:xfrm flipV="1">
            <a:off x="4124325" y="3986605"/>
            <a:ext cx="1588" cy="508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69" name="Line 441"/>
          <p:cNvSpPr>
            <a:spLocks noChangeShapeType="1"/>
          </p:cNvSpPr>
          <p:nvPr/>
        </p:nvSpPr>
        <p:spPr bwMode="auto">
          <a:xfrm flipV="1">
            <a:off x="4132263" y="4012005"/>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0" name="Line 442"/>
          <p:cNvSpPr>
            <a:spLocks noChangeShapeType="1"/>
          </p:cNvSpPr>
          <p:nvPr/>
        </p:nvSpPr>
        <p:spPr bwMode="auto">
          <a:xfrm flipV="1">
            <a:off x="4138613" y="3838968"/>
            <a:ext cx="1587" cy="1984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1" name="Line 443"/>
          <p:cNvSpPr>
            <a:spLocks noChangeShapeType="1"/>
          </p:cNvSpPr>
          <p:nvPr/>
        </p:nvSpPr>
        <p:spPr bwMode="auto">
          <a:xfrm flipV="1">
            <a:off x="41465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2" name="Line 444"/>
          <p:cNvSpPr>
            <a:spLocks noChangeShapeType="1"/>
          </p:cNvSpPr>
          <p:nvPr/>
        </p:nvSpPr>
        <p:spPr bwMode="auto">
          <a:xfrm flipV="1">
            <a:off x="4154488"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3" name="Line 445"/>
          <p:cNvSpPr>
            <a:spLocks noChangeShapeType="1"/>
          </p:cNvSpPr>
          <p:nvPr/>
        </p:nvSpPr>
        <p:spPr bwMode="auto">
          <a:xfrm flipV="1">
            <a:off x="4160838" y="3986605"/>
            <a:ext cx="1587" cy="508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4" name="Line 446"/>
          <p:cNvSpPr>
            <a:spLocks noChangeShapeType="1"/>
          </p:cNvSpPr>
          <p:nvPr/>
        </p:nvSpPr>
        <p:spPr bwMode="auto">
          <a:xfrm flipV="1">
            <a:off x="4168775" y="4004068"/>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5" name="Line 447"/>
          <p:cNvSpPr>
            <a:spLocks noChangeShapeType="1"/>
          </p:cNvSpPr>
          <p:nvPr/>
        </p:nvSpPr>
        <p:spPr bwMode="auto">
          <a:xfrm flipV="1">
            <a:off x="4175125" y="3502418"/>
            <a:ext cx="1588" cy="534987"/>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6" name="Line 448"/>
          <p:cNvSpPr>
            <a:spLocks noChangeShapeType="1"/>
          </p:cNvSpPr>
          <p:nvPr/>
        </p:nvSpPr>
        <p:spPr bwMode="auto">
          <a:xfrm flipV="1">
            <a:off x="418306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7" name="Line 449"/>
          <p:cNvSpPr>
            <a:spLocks noChangeShapeType="1"/>
          </p:cNvSpPr>
          <p:nvPr/>
        </p:nvSpPr>
        <p:spPr bwMode="auto">
          <a:xfrm flipV="1">
            <a:off x="41910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8" name="Line 450"/>
          <p:cNvSpPr>
            <a:spLocks noChangeShapeType="1"/>
          </p:cNvSpPr>
          <p:nvPr/>
        </p:nvSpPr>
        <p:spPr bwMode="auto">
          <a:xfrm flipV="1">
            <a:off x="419735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79" name="Line 451"/>
          <p:cNvSpPr>
            <a:spLocks noChangeShapeType="1"/>
          </p:cNvSpPr>
          <p:nvPr/>
        </p:nvSpPr>
        <p:spPr bwMode="auto">
          <a:xfrm flipV="1">
            <a:off x="42052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0" name="Line 452"/>
          <p:cNvSpPr>
            <a:spLocks noChangeShapeType="1"/>
          </p:cNvSpPr>
          <p:nvPr/>
        </p:nvSpPr>
        <p:spPr bwMode="auto">
          <a:xfrm flipV="1">
            <a:off x="4211638" y="3808805"/>
            <a:ext cx="1587" cy="228600"/>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1" name="Line 453"/>
          <p:cNvSpPr>
            <a:spLocks noChangeShapeType="1"/>
          </p:cNvSpPr>
          <p:nvPr/>
        </p:nvSpPr>
        <p:spPr bwMode="auto">
          <a:xfrm flipV="1">
            <a:off x="4219575" y="3981843"/>
            <a:ext cx="1588" cy="555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2" name="Line 454"/>
          <p:cNvSpPr>
            <a:spLocks noChangeShapeType="1"/>
          </p:cNvSpPr>
          <p:nvPr/>
        </p:nvSpPr>
        <p:spPr bwMode="auto">
          <a:xfrm flipV="1">
            <a:off x="42275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3" name="Line 455"/>
          <p:cNvSpPr>
            <a:spLocks noChangeShapeType="1"/>
          </p:cNvSpPr>
          <p:nvPr/>
        </p:nvSpPr>
        <p:spPr bwMode="auto">
          <a:xfrm flipV="1">
            <a:off x="4233863" y="3865955"/>
            <a:ext cx="1587" cy="171450"/>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4" name="Line 456"/>
          <p:cNvSpPr>
            <a:spLocks noChangeShapeType="1"/>
          </p:cNvSpPr>
          <p:nvPr/>
        </p:nvSpPr>
        <p:spPr bwMode="auto">
          <a:xfrm flipV="1">
            <a:off x="4241800" y="3937393"/>
            <a:ext cx="1588" cy="100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5" name="Line 457"/>
          <p:cNvSpPr>
            <a:spLocks noChangeShapeType="1"/>
          </p:cNvSpPr>
          <p:nvPr/>
        </p:nvSpPr>
        <p:spPr bwMode="auto">
          <a:xfrm flipV="1">
            <a:off x="4248150" y="4007243"/>
            <a:ext cx="1588"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6" name="Line 458"/>
          <p:cNvSpPr>
            <a:spLocks noChangeShapeType="1"/>
          </p:cNvSpPr>
          <p:nvPr/>
        </p:nvSpPr>
        <p:spPr bwMode="auto">
          <a:xfrm flipV="1">
            <a:off x="42560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7" name="Line 459"/>
          <p:cNvSpPr>
            <a:spLocks noChangeShapeType="1"/>
          </p:cNvSpPr>
          <p:nvPr/>
        </p:nvSpPr>
        <p:spPr bwMode="auto">
          <a:xfrm flipV="1">
            <a:off x="42624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8" name="Line 460"/>
          <p:cNvSpPr>
            <a:spLocks noChangeShapeType="1"/>
          </p:cNvSpPr>
          <p:nvPr/>
        </p:nvSpPr>
        <p:spPr bwMode="auto">
          <a:xfrm flipV="1">
            <a:off x="4270375"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89" name="Line 461"/>
          <p:cNvSpPr>
            <a:spLocks noChangeShapeType="1"/>
          </p:cNvSpPr>
          <p:nvPr/>
        </p:nvSpPr>
        <p:spPr bwMode="auto">
          <a:xfrm flipV="1">
            <a:off x="427831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0" name="Line 462"/>
          <p:cNvSpPr>
            <a:spLocks noChangeShapeType="1"/>
          </p:cNvSpPr>
          <p:nvPr/>
        </p:nvSpPr>
        <p:spPr bwMode="auto">
          <a:xfrm flipV="1">
            <a:off x="428466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1" name="Line 463"/>
          <p:cNvSpPr>
            <a:spLocks noChangeShapeType="1"/>
          </p:cNvSpPr>
          <p:nvPr/>
        </p:nvSpPr>
        <p:spPr bwMode="auto">
          <a:xfrm flipV="1">
            <a:off x="42926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2" name="Line 464"/>
          <p:cNvSpPr>
            <a:spLocks noChangeShapeType="1"/>
          </p:cNvSpPr>
          <p:nvPr/>
        </p:nvSpPr>
        <p:spPr bwMode="auto">
          <a:xfrm flipV="1">
            <a:off x="42989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3" name="Line 465"/>
          <p:cNvSpPr>
            <a:spLocks noChangeShapeType="1"/>
          </p:cNvSpPr>
          <p:nvPr/>
        </p:nvSpPr>
        <p:spPr bwMode="auto">
          <a:xfrm flipV="1">
            <a:off x="4306888" y="4007243"/>
            <a:ext cx="1587"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4" name="Line 466"/>
          <p:cNvSpPr>
            <a:spLocks noChangeShapeType="1"/>
          </p:cNvSpPr>
          <p:nvPr/>
        </p:nvSpPr>
        <p:spPr bwMode="auto">
          <a:xfrm flipV="1">
            <a:off x="4314825" y="3735780"/>
            <a:ext cx="1588" cy="301625"/>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5" name="Line 467"/>
          <p:cNvSpPr>
            <a:spLocks noChangeShapeType="1"/>
          </p:cNvSpPr>
          <p:nvPr/>
        </p:nvSpPr>
        <p:spPr bwMode="auto">
          <a:xfrm flipV="1">
            <a:off x="4321175" y="3916755"/>
            <a:ext cx="1588" cy="1206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6" name="Line 468"/>
          <p:cNvSpPr>
            <a:spLocks noChangeShapeType="1"/>
          </p:cNvSpPr>
          <p:nvPr/>
        </p:nvSpPr>
        <p:spPr bwMode="auto">
          <a:xfrm flipV="1">
            <a:off x="4329113"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7" name="Line 469"/>
          <p:cNvSpPr>
            <a:spLocks noChangeShapeType="1"/>
          </p:cNvSpPr>
          <p:nvPr/>
        </p:nvSpPr>
        <p:spPr bwMode="auto">
          <a:xfrm flipV="1">
            <a:off x="43354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8" name="Line 470"/>
          <p:cNvSpPr>
            <a:spLocks noChangeShapeType="1"/>
          </p:cNvSpPr>
          <p:nvPr/>
        </p:nvSpPr>
        <p:spPr bwMode="auto">
          <a:xfrm flipV="1">
            <a:off x="4343400" y="4012005"/>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399" name="Line 471"/>
          <p:cNvSpPr>
            <a:spLocks noChangeShapeType="1"/>
          </p:cNvSpPr>
          <p:nvPr/>
        </p:nvSpPr>
        <p:spPr bwMode="auto">
          <a:xfrm flipV="1">
            <a:off x="435133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0" name="Line 472"/>
          <p:cNvSpPr>
            <a:spLocks noChangeShapeType="1"/>
          </p:cNvSpPr>
          <p:nvPr/>
        </p:nvSpPr>
        <p:spPr bwMode="auto">
          <a:xfrm flipV="1">
            <a:off x="4357688" y="3937393"/>
            <a:ext cx="1587" cy="1000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1" name="Line 473"/>
          <p:cNvSpPr>
            <a:spLocks noChangeShapeType="1"/>
          </p:cNvSpPr>
          <p:nvPr/>
        </p:nvSpPr>
        <p:spPr bwMode="auto">
          <a:xfrm flipV="1">
            <a:off x="4365625"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2" name="Line 474"/>
          <p:cNvSpPr>
            <a:spLocks noChangeShapeType="1"/>
          </p:cNvSpPr>
          <p:nvPr/>
        </p:nvSpPr>
        <p:spPr bwMode="auto">
          <a:xfrm flipV="1">
            <a:off x="43719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3" name="Line 475"/>
          <p:cNvSpPr>
            <a:spLocks noChangeShapeType="1"/>
          </p:cNvSpPr>
          <p:nvPr/>
        </p:nvSpPr>
        <p:spPr bwMode="auto">
          <a:xfrm flipV="1">
            <a:off x="4379913" y="3964380"/>
            <a:ext cx="1587" cy="730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4" name="Line 476"/>
          <p:cNvSpPr>
            <a:spLocks noChangeShapeType="1"/>
          </p:cNvSpPr>
          <p:nvPr/>
        </p:nvSpPr>
        <p:spPr bwMode="auto">
          <a:xfrm flipV="1">
            <a:off x="43878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5" name="Line 477"/>
          <p:cNvSpPr>
            <a:spLocks noChangeShapeType="1"/>
          </p:cNvSpPr>
          <p:nvPr/>
        </p:nvSpPr>
        <p:spPr bwMode="auto">
          <a:xfrm flipV="1">
            <a:off x="439420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6" name="Line 478"/>
          <p:cNvSpPr>
            <a:spLocks noChangeShapeType="1"/>
          </p:cNvSpPr>
          <p:nvPr/>
        </p:nvSpPr>
        <p:spPr bwMode="auto">
          <a:xfrm flipV="1">
            <a:off x="44084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7" name="Line 479"/>
          <p:cNvSpPr>
            <a:spLocks noChangeShapeType="1"/>
          </p:cNvSpPr>
          <p:nvPr/>
        </p:nvSpPr>
        <p:spPr bwMode="auto">
          <a:xfrm flipV="1">
            <a:off x="4416425" y="3440505"/>
            <a:ext cx="1588" cy="5969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8" name="Line 480"/>
          <p:cNvSpPr>
            <a:spLocks noChangeShapeType="1"/>
          </p:cNvSpPr>
          <p:nvPr/>
        </p:nvSpPr>
        <p:spPr bwMode="auto">
          <a:xfrm flipV="1">
            <a:off x="442436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09" name="Line 481"/>
          <p:cNvSpPr>
            <a:spLocks noChangeShapeType="1"/>
          </p:cNvSpPr>
          <p:nvPr/>
        </p:nvSpPr>
        <p:spPr bwMode="auto">
          <a:xfrm flipV="1">
            <a:off x="44307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0" name="Line 482"/>
          <p:cNvSpPr>
            <a:spLocks noChangeShapeType="1"/>
          </p:cNvSpPr>
          <p:nvPr/>
        </p:nvSpPr>
        <p:spPr bwMode="auto">
          <a:xfrm flipV="1">
            <a:off x="4452938" y="3951680"/>
            <a:ext cx="1587" cy="857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1" name="Line 483"/>
          <p:cNvSpPr>
            <a:spLocks noChangeShapeType="1"/>
          </p:cNvSpPr>
          <p:nvPr/>
        </p:nvSpPr>
        <p:spPr bwMode="auto">
          <a:xfrm flipV="1">
            <a:off x="446087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2" name="Line 484"/>
          <p:cNvSpPr>
            <a:spLocks noChangeShapeType="1"/>
          </p:cNvSpPr>
          <p:nvPr/>
        </p:nvSpPr>
        <p:spPr bwMode="auto">
          <a:xfrm flipV="1">
            <a:off x="44672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3" name="Line 485"/>
          <p:cNvSpPr>
            <a:spLocks noChangeShapeType="1"/>
          </p:cNvSpPr>
          <p:nvPr/>
        </p:nvSpPr>
        <p:spPr bwMode="auto">
          <a:xfrm flipV="1">
            <a:off x="4475163"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4" name="Line 486"/>
          <p:cNvSpPr>
            <a:spLocks noChangeShapeType="1"/>
          </p:cNvSpPr>
          <p:nvPr/>
        </p:nvSpPr>
        <p:spPr bwMode="auto">
          <a:xfrm flipV="1">
            <a:off x="44815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5" name="Line 487"/>
          <p:cNvSpPr>
            <a:spLocks noChangeShapeType="1"/>
          </p:cNvSpPr>
          <p:nvPr/>
        </p:nvSpPr>
        <p:spPr bwMode="auto">
          <a:xfrm flipV="1">
            <a:off x="44958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6" name="Line 488"/>
          <p:cNvSpPr>
            <a:spLocks noChangeShapeType="1"/>
          </p:cNvSpPr>
          <p:nvPr/>
        </p:nvSpPr>
        <p:spPr bwMode="auto">
          <a:xfrm flipV="1">
            <a:off x="4503738"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7" name="Line 489"/>
          <p:cNvSpPr>
            <a:spLocks noChangeShapeType="1"/>
          </p:cNvSpPr>
          <p:nvPr/>
        </p:nvSpPr>
        <p:spPr bwMode="auto">
          <a:xfrm flipV="1">
            <a:off x="4511675" y="4007243"/>
            <a:ext cx="1588"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8" name="Line 490"/>
          <p:cNvSpPr>
            <a:spLocks noChangeShapeType="1"/>
          </p:cNvSpPr>
          <p:nvPr/>
        </p:nvSpPr>
        <p:spPr bwMode="auto">
          <a:xfrm flipV="1">
            <a:off x="45180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19" name="Line 491"/>
          <p:cNvSpPr>
            <a:spLocks noChangeShapeType="1"/>
          </p:cNvSpPr>
          <p:nvPr/>
        </p:nvSpPr>
        <p:spPr bwMode="auto">
          <a:xfrm flipV="1">
            <a:off x="452596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0" name="Line 492"/>
          <p:cNvSpPr>
            <a:spLocks noChangeShapeType="1"/>
          </p:cNvSpPr>
          <p:nvPr/>
        </p:nvSpPr>
        <p:spPr bwMode="auto">
          <a:xfrm flipV="1">
            <a:off x="45323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1" name="Line 493"/>
          <p:cNvSpPr>
            <a:spLocks noChangeShapeType="1"/>
          </p:cNvSpPr>
          <p:nvPr/>
        </p:nvSpPr>
        <p:spPr bwMode="auto">
          <a:xfrm flipV="1">
            <a:off x="45481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2" name="Line 494"/>
          <p:cNvSpPr>
            <a:spLocks noChangeShapeType="1"/>
          </p:cNvSpPr>
          <p:nvPr/>
        </p:nvSpPr>
        <p:spPr bwMode="auto">
          <a:xfrm flipV="1">
            <a:off x="4554538"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3" name="Line 495"/>
          <p:cNvSpPr>
            <a:spLocks noChangeShapeType="1"/>
          </p:cNvSpPr>
          <p:nvPr/>
        </p:nvSpPr>
        <p:spPr bwMode="auto">
          <a:xfrm flipV="1">
            <a:off x="45624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4" name="Line 496"/>
          <p:cNvSpPr>
            <a:spLocks noChangeShapeType="1"/>
          </p:cNvSpPr>
          <p:nvPr/>
        </p:nvSpPr>
        <p:spPr bwMode="auto">
          <a:xfrm flipV="1">
            <a:off x="4568825" y="4012005"/>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5" name="Line 497"/>
          <p:cNvSpPr>
            <a:spLocks noChangeShapeType="1"/>
          </p:cNvSpPr>
          <p:nvPr/>
        </p:nvSpPr>
        <p:spPr bwMode="auto">
          <a:xfrm flipV="1">
            <a:off x="4584700" y="4012005"/>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6" name="Line 498"/>
          <p:cNvSpPr>
            <a:spLocks noChangeShapeType="1"/>
          </p:cNvSpPr>
          <p:nvPr/>
        </p:nvSpPr>
        <p:spPr bwMode="auto">
          <a:xfrm flipV="1">
            <a:off x="45910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7" name="Line 499"/>
          <p:cNvSpPr>
            <a:spLocks noChangeShapeType="1"/>
          </p:cNvSpPr>
          <p:nvPr/>
        </p:nvSpPr>
        <p:spPr bwMode="auto">
          <a:xfrm flipV="1">
            <a:off x="4598988" y="4012005"/>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8" name="Line 500"/>
          <p:cNvSpPr>
            <a:spLocks noChangeShapeType="1"/>
          </p:cNvSpPr>
          <p:nvPr/>
        </p:nvSpPr>
        <p:spPr bwMode="auto">
          <a:xfrm flipV="1">
            <a:off x="4605338" y="4012005"/>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29" name="Line 501"/>
          <p:cNvSpPr>
            <a:spLocks noChangeShapeType="1"/>
          </p:cNvSpPr>
          <p:nvPr/>
        </p:nvSpPr>
        <p:spPr bwMode="auto">
          <a:xfrm flipV="1">
            <a:off x="4621213"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0" name="Line 502"/>
          <p:cNvSpPr>
            <a:spLocks noChangeShapeType="1"/>
          </p:cNvSpPr>
          <p:nvPr/>
        </p:nvSpPr>
        <p:spPr bwMode="auto">
          <a:xfrm flipV="1">
            <a:off x="4627563" y="3911993"/>
            <a:ext cx="1587" cy="1254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1" name="Line 503"/>
          <p:cNvSpPr>
            <a:spLocks noChangeShapeType="1"/>
          </p:cNvSpPr>
          <p:nvPr/>
        </p:nvSpPr>
        <p:spPr bwMode="auto">
          <a:xfrm flipV="1">
            <a:off x="463550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2" name="Line 504"/>
          <p:cNvSpPr>
            <a:spLocks noChangeShapeType="1"/>
          </p:cNvSpPr>
          <p:nvPr/>
        </p:nvSpPr>
        <p:spPr bwMode="auto">
          <a:xfrm flipV="1">
            <a:off x="4641850" y="3688155"/>
            <a:ext cx="1588" cy="3492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3" name="Line 505"/>
          <p:cNvSpPr>
            <a:spLocks noChangeShapeType="1"/>
          </p:cNvSpPr>
          <p:nvPr/>
        </p:nvSpPr>
        <p:spPr bwMode="auto">
          <a:xfrm flipV="1">
            <a:off x="4649788" y="3981843"/>
            <a:ext cx="1587" cy="555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4" name="Line 506"/>
          <p:cNvSpPr>
            <a:spLocks noChangeShapeType="1"/>
          </p:cNvSpPr>
          <p:nvPr/>
        </p:nvSpPr>
        <p:spPr bwMode="auto">
          <a:xfrm flipV="1">
            <a:off x="46577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5" name="Line 507"/>
          <p:cNvSpPr>
            <a:spLocks noChangeShapeType="1"/>
          </p:cNvSpPr>
          <p:nvPr/>
        </p:nvSpPr>
        <p:spPr bwMode="auto">
          <a:xfrm flipV="1">
            <a:off x="46640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6" name="Line 508"/>
          <p:cNvSpPr>
            <a:spLocks noChangeShapeType="1"/>
          </p:cNvSpPr>
          <p:nvPr/>
        </p:nvSpPr>
        <p:spPr bwMode="auto">
          <a:xfrm flipV="1">
            <a:off x="46720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7" name="Line 509"/>
          <p:cNvSpPr>
            <a:spLocks noChangeShapeType="1"/>
          </p:cNvSpPr>
          <p:nvPr/>
        </p:nvSpPr>
        <p:spPr bwMode="auto">
          <a:xfrm flipV="1">
            <a:off x="4678363" y="3946918"/>
            <a:ext cx="1587" cy="904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8" name="Line 510"/>
          <p:cNvSpPr>
            <a:spLocks noChangeShapeType="1"/>
          </p:cNvSpPr>
          <p:nvPr/>
        </p:nvSpPr>
        <p:spPr bwMode="auto">
          <a:xfrm flipV="1">
            <a:off x="47148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39" name="Line 511"/>
          <p:cNvSpPr>
            <a:spLocks noChangeShapeType="1"/>
          </p:cNvSpPr>
          <p:nvPr/>
        </p:nvSpPr>
        <p:spPr bwMode="auto">
          <a:xfrm flipV="1">
            <a:off x="47513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0" name="Line 512"/>
          <p:cNvSpPr>
            <a:spLocks noChangeShapeType="1"/>
          </p:cNvSpPr>
          <p:nvPr/>
        </p:nvSpPr>
        <p:spPr bwMode="auto">
          <a:xfrm flipV="1">
            <a:off x="47815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1" name="Line 513"/>
          <p:cNvSpPr>
            <a:spLocks noChangeShapeType="1"/>
          </p:cNvSpPr>
          <p:nvPr/>
        </p:nvSpPr>
        <p:spPr bwMode="auto">
          <a:xfrm flipV="1">
            <a:off x="4795838"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2" name="Line 514"/>
          <p:cNvSpPr>
            <a:spLocks noChangeShapeType="1"/>
          </p:cNvSpPr>
          <p:nvPr/>
        </p:nvSpPr>
        <p:spPr bwMode="auto">
          <a:xfrm flipV="1">
            <a:off x="48021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3" name="Line 515"/>
          <p:cNvSpPr>
            <a:spLocks noChangeShapeType="1"/>
          </p:cNvSpPr>
          <p:nvPr/>
        </p:nvSpPr>
        <p:spPr bwMode="auto">
          <a:xfrm flipV="1">
            <a:off x="48323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4" name="Line 516"/>
          <p:cNvSpPr>
            <a:spLocks noChangeShapeType="1"/>
          </p:cNvSpPr>
          <p:nvPr/>
        </p:nvSpPr>
        <p:spPr bwMode="auto">
          <a:xfrm flipV="1">
            <a:off x="48387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5" name="Line 517"/>
          <p:cNvSpPr>
            <a:spLocks noChangeShapeType="1"/>
          </p:cNvSpPr>
          <p:nvPr/>
        </p:nvSpPr>
        <p:spPr bwMode="auto">
          <a:xfrm flipV="1">
            <a:off x="48609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6" name="Line 518"/>
          <p:cNvSpPr>
            <a:spLocks noChangeShapeType="1"/>
          </p:cNvSpPr>
          <p:nvPr/>
        </p:nvSpPr>
        <p:spPr bwMode="auto">
          <a:xfrm flipV="1">
            <a:off x="48688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7" name="Line 519"/>
          <p:cNvSpPr>
            <a:spLocks noChangeShapeType="1"/>
          </p:cNvSpPr>
          <p:nvPr/>
        </p:nvSpPr>
        <p:spPr bwMode="auto">
          <a:xfrm flipV="1">
            <a:off x="487521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8" name="Line 520"/>
          <p:cNvSpPr>
            <a:spLocks noChangeShapeType="1"/>
          </p:cNvSpPr>
          <p:nvPr/>
        </p:nvSpPr>
        <p:spPr bwMode="auto">
          <a:xfrm flipV="1">
            <a:off x="48974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49" name="Line 521"/>
          <p:cNvSpPr>
            <a:spLocks noChangeShapeType="1"/>
          </p:cNvSpPr>
          <p:nvPr/>
        </p:nvSpPr>
        <p:spPr bwMode="auto">
          <a:xfrm flipV="1">
            <a:off x="49276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0" name="Line 522"/>
          <p:cNvSpPr>
            <a:spLocks noChangeShapeType="1"/>
          </p:cNvSpPr>
          <p:nvPr/>
        </p:nvSpPr>
        <p:spPr bwMode="auto">
          <a:xfrm flipV="1">
            <a:off x="4933950"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1" name="Line 523"/>
          <p:cNvSpPr>
            <a:spLocks noChangeShapeType="1"/>
          </p:cNvSpPr>
          <p:nvPr/>
        </p:nvSpPr>
        <p:spPr bwMode="auto">
          <a:xfrm flipV="1">
            <a:off x="49418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2" name="Line 524"/>
          <p:cNvSpPr>
            <a:spLocks noChangeShapeType="1"/>
          </p:cNvSpPr>
          <p:nvPr/>
        </p:nvSpPr>
        <p:spPr bwMode="auto">
          <a:xfrm flipV="1">
            <a:off x="4948238"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3" name="Line 525"/>
          <p:cNvSpPr>
            <a:spLocks noChangeShapeType="1"/>
          </p:cNvSpPr>
          <p:nvPr/>
        </p:nvSpPr>
        <p:spPr bwMode="auto">
          <a:xfrm flipV="1">
            <a:off x="49561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4" name="Line 526"/>
          <p:cNvSpPr>
            <a:spLocks noChangeShapeType="1"/>
          </p:cNvSpPr>
          <p:nvPr/>
        </p:nvSpPr>
        <p:spPr bwMode="auto">
          <a:xfrm flipV="1">
            <a:off x="49704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5" name="Line 527"/>
          <p:cNvSpPr>
            <a:spLocks noChangeShapeType="1"/>
          </p:cNvSpPr>
          <p:nvPr/>
        </p:nvSpPr>
        <p:spPr bwMode="auto">
          <a:xfrm flipV="1">
            <a:off x="49784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6" name="Line 528"/>
          <p:cNvSpPr>
            <a:spLocks noChangeShapeType="1"/>
          </p:cNvSpPr>
          <p:nvPr/>
        </p:nvSpPr>
        <p:spPr bwMode="auto">
          <a:xfrm flipV="1">
            <a:off x="4999038"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7" name="Line 529"/>
          <p:cNvSpPr>
            <a:spLocks noChangeShapeType="1"/>
          </p:cNvSpPr>
          <p:nvPr/>
        </p:nvSpPr>
        <p:spPr bwMode="auto">
          <a:xfrm flipV="1">
            <a:off x="50292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8" name="Line 530"/>
          <p:cNvSpPr>
            <a:spLocks noChangeShapeType="1"/>
          </p:cNvSpPr>
          <p:nvPr/>
        </p:nvSpPr>
        <p:spPr bwMode="auto">
          <a:xfrm flipV="1">
            <a:off x="5035550"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59" name="Line 531"/>
          <p:cNvSpPr>
            <a:spLocks noChangeShapeType="1"/>
          </p:cNvSpPr>
          <p:nvPr/>
        </p:nvSpPr>
        <p:spPr bwMode="auto">
          <a:xfrm flipV="1">
            <a:off x="50434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0" name="Line 532"/>
          <p:cNvSpPr>
            <a:spLocks noChangeShapeType="1"/>
          </p:cNvSpPr>
          <p:nvPr/>
        </p:nvSpPr>
        <p:spPr bwMode="auto">
          <a:xfrm flipV="1">
            <a:off x="50514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1" name="Line 533"/>
          <p:cNvSpPr>
            <a:spLocks noChangeShapeType="1"/>
          </p:cNvSpPr>
          <p:nvPr/>
        </p:nvSpPr>
        <p:spPr bwMode="auto">
          <a:xfrm flipV="1">
            <a:off x="50577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2" name="Line 534"/>
          <p:cNvSpPr>
            <a:spLocks noChangeShapeType="1"/>
          </p:cNvSpPr>
          <p:nvPr/>
        </p:nvSpPr>
        <p:spPr bwMode="auto">
          <a:xfrm flipV="1">
            <a:off x="50657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3" name="Line 535"/>
          <p:cNvSpPr>
            <a:spLocks noChangeShapeType="1"/>
          </p:cNvSpPr>
          <p:nvPr/>
        </p:nvSpPr>
        <p:spPr bwMode="auto">
          <a:xfrm flipV="1">
            <a:off x="50879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4" name="Line 536"/>
          <p:cNvSpPr>
            <a:spLocks noChangeShapeType="1"/>
          </p:cNvSpPr>
          <p:nvPr/>
        </p:nvSpPr>
        <p:spPr bwMode="auto">
          <a:xfrm flipV="1">
            <a:off x="50942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5" name="Line 537"/>
          <p:cNvSpPr>
            <a:spLocks noChangeShapeType="1"/>
          </p:cNvSpPr>
          <p:nvPr/>
        </p:nvSpPr>
        <p:spPr bwMode="auto">
          <a:xfrm flipV="1">
            <a:off x="5108575" y="3843730"/>
            <a:ext cx="1588" cy="193675"/>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6" name="Line 538"/>
          <p:cNvSpPr>
            <a:spLocks noChangeShapeType="1"/>
          </p:cNvSpPr>
          <p:nvPr/>
        </p:nvSpPr>
        <p:spPr bwMode="auto">
          <a:xfrm flipV="1">
            <a:off x="5116513" y="3977080"/>
            <a:ext cx="1587" cy="603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7" name="Line 539"/>
          <p:cNvSpPr>
            <a:spLocks noChangeShapeType="1"/>
          </p:cNvSpPr>
          <p:nvPr/>
        </p:nvSpPr>
        <p:spPr bwMode="auto">
          <a:xfrm flipV="1">
            <a:off x="5124450" y="4004068"/>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8" name="Line 540"/>
          <p:cNvSpPr>
            <a:spLocks noChangeShapeType="1"/>
          </p:cNvSpPr>
          <p:nvPr/>
        </p:nvSpPr>
        <p:spPr bwMode="auto">
          <a:xfrm flipV="1">
            <a:off x="51308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69" name="Line 541"/>
          <p:cNvSpPr>
            <a:spLocks noChangeShapeType="1"/>
          </p:cNvSpPr>
          <p:nvPr/>
        </p:nvSpPr>
        <p:spPr bwMode="auto">
          <a:xfrm flipV="1">
            <a:off x="5138738"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0" name="Line 542"/>
          <p:cNvSpPr>
            <a:spLocks noChangeShapeType="1"/>
          </p:cNvSpPr>
          <p:nvPr/>
        </p:nvSpPr>
        <p:spPr bwMode="auto">
          <a:xfrm flipV="1">
            <a:off x="51530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1" name="Line 543"/>
          <p:cNvSpPr>
            <a:spLocks noChangeShapeType="1"/>
          </p:cNvSpPr>
          <p:nvPr/>
        </p:nvSpPr>
        <p:spPr bwMode="auto">
          <a:xfrm flipV="1">
            <a:off x="51609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2" name="Line 544"/>
          <p:cNvSpPr>
            <a:spLocks noChangeShapeType="1"/>
          </p:cNvSpPr>
          <p:nvPr/>
        </p:nvSpPr>
        <p:spPr bwMode="auto">
          <a:xfrm flipV="1">
            <a:off x="51816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3" name="Line 545"/>
          <p:cNvSpPr>
            <a:spLocks noChangeShapeType="1"/>
          </p:cNvSpPr>
          <p:nvPr/>
        </p:nvSpPr>
        <p:spPr bwMode="auto">
          <a:xfrm flipV="1">
            <a:off x="5195888" y="3631005"/>
            <a:ext cx="1587" cy="406400"/>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4" name="Line 546"/>
          <p:cNvSpPr>
            <a:spLocks noChangeShapeType="1"/>
          </p:cNvSpPr>
          <p:nvPr/>
        </p:nvSpPr>
        <p:spPr bwMode="auto">
          <a:xfrm flipV="1">
            <a:off x="5203825" y="3967555"/>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5" name="Line 547"/>
          <p:cNvSpPr>
            <a:spLocks noChangeShapeType="1"/>
          </p:cNvSpPr>
          <p:nvPr/>
        </p:nvSpPr>
        <p:spPr bwMode="auto">
          <a:xfrm flipV="1">
            <a:off x="52117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6" name="Line 548"/>
          <p:cNvSpPr>
            <a:spLocks noChangeShapeType="1"/>
          </p:cNvSpPr>
          <p:nvPr/>
        </p:nvSpPr>
        <p:spPr bwMode="auto">
          <a:xfrm flipV="1">
            <a:off x="5226050"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7" name="Line 549"/>
          <p:cNvSpPr>
            <a:spLocks noChangeShapeType="1"/>
          </p:cNvSpPr>
          <p:nvPr/>
        </p:nvSpPr>
        <p:spPr bwMode="auto">
          <a:xfrm flipV="1">
            <a:off x="52324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8" name="Line 550"/>
          <p:cNvSpPr>
            <a:spLocks noChangeShapeType="1"/>
          </p:cNvSpPr>
          <p:nvPr/>
        </p:nvSpPr>
        <p:spPr bwMode="auto">
          <a:xfrm flipV="1">
            <a:off x="524033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79" name="Line 551"/>
          <p:cNvSpPr>
            <a:spLocks noChangeShapeType="1"/>
          </p:cNvSpPr>
          <p:nvPr/>
        </p:nvSpPr>
        <p:spPr bwMode="auto">
          <a:xfrm flipV="1">
            <a:off x="52546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0" name="Line 552"/>
          <p:cNvSpPr>
            <a:spLocks noChangeShapeType="1"/>
          </p:cNvSpPr>
          <p:nvPr/>
        </p:nvSpPr>
        <p:spPr bwMode="auto">
          <a:xfrm flipV="1">
            <a:off x="527685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1" name="Line 553"/>
          <p:cNvSpPr>
            <a:spLocks noChangeShapeType="1"/>
          </p:cNvSpPr>
          <p:nvPr/>
        </p:nvSpPr>
        <p:spPr bwMode="auto">
          <a:xfrm flipV="1">
            <a:off x="52847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2" name="Line 554"/>
          <p:cNvSpPr>
            <a:spLocks noChangeShapeType="1"/>
          </p:cNvSpPr>
          <p:nvPr/>
        </p:nvSpPr>
        <p:spPr bwMode="auto">
          <a:xfrm flipV="1">
            <a:off x="52911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3" name="Line 555"/>
          <p:cNvSpPr>
            <a:spLocks noChangeShapeType="1"/>
          </p:cNvSpPr>
          <p:nvPr/>
        </p:nvSpPr>
        <p:spPr bwMode="auto">
          <a:xfrm flipV="1">
            <a:off x="53276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4" name="Line 556"/>
          <p:cNvSpPr>
            <a:spLocks noChangeShapeType="1"/>
          </p:cNvSpPr>
          <p:nvPr/>
        </p:nvSpPr>
        <p:spPr bwMode="auto">
          <a:xfrm flipV="1">
            <a:off x="53355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5" name="Line 557"/>
          <p:cNvSpPr>
            <a:spLocks noChangeShapeType="1"/>
          </p:cNvSpPr>
          <p:nvPr/>
        </p:nvSpPr>
        <p:spPr bwMode="auto">
          <a:xfrm flipV="1">
            <a:off x="535781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6" name="Line 558"/>
          <p:cNvSpPr>
            <a:spLocks noChangeShapeType="1"/>
          </p:cNvSpPr>
          <p:nvPr/>
        </p:nvSpPr>
        <p:spPr bwMode="auto">
          <a:xfrm flipV="1">
            <a:off x="53641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7" name="Line 559"/>
          <p:cNvSpPr>
            <a:spLocks noChangeShapeType="1"/>
          </p:cNvSpPr>
          <p:nvPr/>
        </p:nvSpPr>
        <p:spPr bwMode="auto">
          <a:xfrm flipV="1">
            <a:off x="5394325" y="3967555"/>
            <a:ext cx="1588" cy="698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8" name="Line 560"/>
          <p:cNvSpPr>
            <a:spLocks noChangeShapeType="1"/>
          </p:cNvSpPr>
          <p:nvPr/>
        </p:nvSpPr>
        <p:spPr bwMode="auto">
          <a:xfrm flipV="1">
            <a:off x="540067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89" name="Line 561"/>
          <p:cNvSpPr>
            <a:spLocks noChangeShapeType="1"/>
          </p:cNvSpPr>
          <p:nvPr/>
        </p:nvSpPr>
        <p:spPr bwMode="auto">
          <a:xfrm flipV="1">
            <a:off x="54292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0" name="Line 562"/>
          <p:cNvSpPr>
            <a:spLocks noChangeShapeType="1"/>
          </p:cNvSpPr>
          <p:nvPr/>
        </p:nvSpPr>
        <p:spPr bwMode="auto">
          <a:xfrm flipV="1">
            <a:off x="54371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1" name="Line 563"/>
          <p:cNvSpPr>
            <a:spLocks noChangeShapeType="1"/>
          </p:cNvSpPr>
          <p:nvPr/>
        </p:nvSpPr>
        <p:spPr bwMode="auto">
          <a:xfrm flipV="1">
            <a:off x="54451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2" name="Line 564"/>
          <p:cNvSpPr>
            <a:spLocks noChangeShapeType="1"/>
          </p:cNvSpPr>
          <p:nvPr/>
        </p:nvSpPr>
        <p:spPr bwMode="auto">
          <a:xfrm flipV="1">
            <a:off x="5465763" y="3959618"/>
            <a:ext cx="1587" cy="77787"/>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3" name="Line 565"/>
          <p:cNvSpPr>
            <a:spLocks noChangeShapeType="1"/>
          </p:cNvSpPr>
          <p:nvPr/>
        </p:nvSpPr>
        <p:spPr bwMode="auto">
          <a:xfrm flipV="1">
            <a:off x="5473700" y="4007243"/>
            <a:ext cx="1588"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4" name="Line 566"/>
          <p:cNvSpPr>
            <a:spLocks noChangeShapeType="1"/>
          </p:cNvSpPr>
          <p:nvPr/>
        </p:nvSpPr>
        <p:spPr bwMode="auto">
          <a:xfrm flipV="1">
            <a:off x="54816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5" name="Line 567"/>
          <p:cNvSpPr>
            <a:spLocks noChangeShapeType="1"/>
          </p:cNvSpPr>
          <p:nvPr/>
        </p:nvSpPr>
        <p:spPr bwMode="auto">
          <a:xfrm flipV="1">
            <a:off x="54879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6" name="Line 568"/>
          <p:cNvSpPr>
            <a:spLocks noChangeShapeType="1"/>
          </p:cNvSpPr>
          <p:nvPr/>
        </p:nvSpPr>
        <p:spPr bwMode="auto">
          <a:xfrm flipV="1">
            <a:off x="55102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7" name="Line 569"/>
          <p:cNvSpPr>
            <a:spLocks noChangeShapeType="1"/>
          </p:cNvSpPr>
          <p:nvPr/>
        </p:nvSpPr>
        <p:spPr bwMode="auto">
          <a:xfrm flipV="1">
            <a:off x="55387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8" name="Line 570"/>
          <p:cNvSpPr>
            <a:spLocks noChangeShapeType="1"/>
          </p:cNvSpPr>
          <p:nvPr/>
        </p:nvSpPr>
        <p:spPr bwMode="auto">
          <a:xfrm flipV="1">
            <a:off x="55753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499" name="Line 571"/>
          <p:cNvSpPr>
            <a:spLocks noChangeShapeType="1"/>
          </p:cNvSpPr>
          <p:nvPr/>
        </p:nvSpPr>
        <p:spPr bwMode="auto">
          <a:xfrm flipV="1">
            <a:off x="55975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0" name="Line 572"/>
          <p:cNvSpPr>
            <a:spLocks noChangeShapeType="1"/>
          </p:cNvSpPr>
          <p:nvPr/>
        </p:nvSpPr>
        <p:spPr bwMode="auto">
          <a:xfrm flipV="1">
            <a:off x="56118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1" name="Line 573"/>
          <p:cNvSpPr>
            <a:spLocks noChangeShapeType="1"/>
          </p:cNvSpPr>
          <p:nvPr/>
        </p:nvSpPr>
        <p:spPr bwMode="auto">
          <a:xfrm flipV="1">
            <a:off x="56197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2" name="Line 574"/>
          <p:cNvSpPr>
            <a:spLocks noChangeShapeType="1"/>
          </p:cNvSpPr>
          <p:nvPr/>
        </p:nvSpPr>
        <p:spPr bwMode="auto">
          <a:xfrm flipV="1">
            <a:off x="56340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3" name="Line 575"/>
          <p:cNvSpPr>
            <a:spLocks noChangeShapeType="1"/>
          </p:cNvSpPr>
          <p:nvPr/>
        </p:nvSpPr>
        <p:spPr bwMode="auto">
          <a:xfrm flipV="1">
            <a:off x="56419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4" name="Line 576"/>
          <p:cNvSpPr>
            <a:spLocks noChangeShapeType="1"/>
          </p:cNvSpPr>
          <p:nvPr/>
        </p:nvSpPr>
        <p:spPr bwMode="auto">
          <a:xfrm flipV="1">
            <a:off x="56483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5" name="Line 577"/>
          <p:cNvSpPr>
            <a:spLocks noChangeShapeType="1"/>
          </p:cNvSpPr>
          <p:nvPr/>
        </p:nvSpPr>
        <p:spPr bwMode="auto">
          <a:xfrm flipV="1">
            <a:off x="5656263" y="4024705"/>
            <a:ext cx="1587"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6" name="Line 578"/>
          <p:cNvSpPr>
            <a:spLocks noChangeShapeType="1"/>
          </p:cNvSpPr>
          <p:nvPr/>
        </p:nvSpPr>
        <p:spPr bwMode="auto">
          <a:xfrm flipV="1">
            <a:off x="56784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7" name="Line 579"/>
          <p:cNvSpPr>
            <a:spLocks noChangeShapeType="1"/>
          </p:cNvSpPr>
          <p:nvPr/>
        </p:nvSpPr>
        <p:spPr bwMode="auto">
          <a:xfrm flipV="1">
            <a:off x="56848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8" name="Line 580"/>
          <p:cNvSpPr>
            <a:spLocks noChangeShapeType="1"/>
          </p:cNvSpPr>
          <p:nvPr/>
        </p:nvSpPr>
        <p:spPr bwMode="auto">
          <a:xfrm flipV="1">
            <a:off x="56927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09" name="Line 581"/>
          <p:cNvSpPr>
            <a:spLocks noChangeShapeType="1"/>
          </p:cNvSpPr>
          <p:nvPr/>
        </p:nvSpPr>
        <p:spPr bwMode="auto">
          <a:xfrm flipV="1">
            <a:off x="5721350" y="4012005"/>
            <a:ext cx="1588"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0" name="Line 582"/>
          <p:cNvSpPr>
            <a:spLocks noChangeShapeType="1"/>
          </p:cNvSpPr>
          <p:nvPr/>
        </p:nvSpPr>
        <p:spPr bwMode="auto">
          <a:xfrm flipV="1">
            <a:off x="5729288"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1" name="Line 583"/>
          <p:cNvSpPr>
            <a:spLocks noChangeShapeType="1"/>
          </p:cNvSpPr>
          <p:nvPr/>
        </p:nvSpPr>
        <p:spPr bwMode="auto">
          <a:xfrm flipV="1">
            <a:off x="5751513" y="3986605"/>
            <a:ext cx="1587" cy="508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2" name="Line 584"/>
          <p:cNvSpPr>
            <a:spLocks noChangeShapeType="1"/>
          </p:cNvSpPr>
          <p:nvPr/>
        </p:nvSpPr>
        <p:spPr bwMode="auto">
          <a:xfrm flipV="1">
            <a:off x="5757863"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3" name="Line 585"/>
          <p:cNvSpPr>
            <a:spLocks noChangeShapeType="1"/>
          </p:cNvSpPr>
          <p:nvPr/>
        </p:nvSpPr>
        <p:spPr bwMode="auto">
          <a:xfrm flipV="1">
            <a:off x="57658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4" name="Line 586"/>
          <p:cNvSpPr>
            <a:spLocks noChangeShapeType="1"/>
          </p:cNvSpPr>
          <p:nvPr/>
        </p:nvSpPr>
        <p:spPr bwMode="auto">
          <a:xfrm flipV="1">
            <a:off x="57880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5" name="Line 587"/>
          <p:cNvSpPr>
            <a:spLocks noChangeShapeType="1"/>
          </p:cNvSpPr>
          <p:nvPr/>
        </p:nvSpPr>
        <p:spPr bwMode="auto">
          <a:xfrm flipV="1">
            <a:off x="5794375" y="3688155"/>
            <a:ext cx="1588" cy="349250"/>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6" name="Line 588"/>
          <p:cNvSpPr>
            <a:spLocks noChangeShapeType="1"/>
          </p:cNvSpPr>
          <p:nvPr/>
        </p:nvSpPr>
        <p:spPr bwMode="auto">
          <a:xfrm flipV="1">
            <a:off x="5802313" y="3808805"/>
            <a:ext cx="1587" cy="2286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7" name="Line 589"/>
          <p:cNvSpPr>
            <a:spLocks noChangeShapeType="1"/>
          </p:cNvSpPr>
          <p:nvPr/>
        </p:nvSpPr>
        <p:spPr bwMode="auto">
          <a:xfrm flipV="1">
            <a:off x="582453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8" name="Line 590"/>
          <p:cNvSpPr>
            <a:spLocks noChangeShapeType="1"/>
          </p:cNvSpPr>
          <p:nvPr/>
        </p:nvSpPr>
        <p:spPr bwMode="auto">
          <a:xfrm flipV="1">
            <a:off x="583088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19" name="Line 591"/>
          <p:cNvSpPr>
            <a:spLocks noChangeShapeType="1"/>
          </p:cNvSpPr>
          <p:nvPr/>
        </p:nvSpPr>
        <p:spPr bwMode="auto">
          <a:xfrm flipV="1">
            <a:off x="58388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0" name="Line 592"/>
          <p:cNvSpPr>
            <a:spLocks noChangeShapeType="1"/>
          </p:cNvSpPr>
          <p:nvPr/>
        </p:nvSpPr>
        <p:spPr bwMode="auto">
          <a:xfrm flipV="1">
            <a:off x="58816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1" name="Line 593"/>
          <p:cNvSpPr>
            <a:spLocks noChangeShapeType="1"/>
          </p:cNvSpPr>
          <p:nvPr/>
        </p:nvSpPr>
        <p:spPr bwMode="auto">
          <a:xfrm flipV="1">
            <a:off x="58896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2" name="Line 594"/>
          <p:cNvSpPr>
            <a:spLocks noChangeShapeType="1"/>
          </p:cNvSpPr>
          <p:nvPr/>
        </p:nvSpPr>
        <p:spPr bwMode="auto">
          <a:xfrm flipV="1">
            <a:off x="59182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3" name="Line 595"/>
          <p:cNvSpPr>
            <a:spLocks noChangeShapeType="1"/>
          </p:cNvSpPr>
          <p:nvPr/>
        </p:nvSpPr>
        <p:spPr bwMode="auto">
          <a:xfrm flipV="1">
            <a:off x="59404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4" name="Line 596"/>
          <p:cNvSpPr>
            <a:spLocks noChangeShapeType="1"/>
          </p:cNvSpPr>
          <p:nvPr/>
        </p:nvSpPr>
        <p:spPr bwMode="auto">
          <a:xfrm flipV="1">
            <a:off x="5954713" y="3986605"/>
            <a:ext cx="1587" cy="508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5" name="Line 597"/>
          <p:cNvSpPr>
            <a:spLocks noChangeShapeType="1"/>
          </p:cNvSpPr>
          <p:nvPr/>
        </p:nvSpPr>
        <p:spPr bwMode="auto">
          <a:xfrm flipV="1">
            <a:off x="5962650"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6" name="Line 598"/>
          <p:cNvSpPr>
            <a:spLocks noChangeShapeType="1"/>
          </p:cNvSpPr>
          <p:nvPr/>
        </p:nvSpPr>
        <p:spPr bwMode="auto">
          <a:xfrm flipV="1">
            <a:off x="60134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7" name="Line 599"/>
          <p:cNvSpPr>
            <a:spLocks noChangeShapeType="1"/>
          </p:cNvSpPr>
          <p:nvPr/>
        </p:nvSpPr>
        <p:spPr bwMode="auto">
          <a:xfrm flipV="1">
            <a:off x="60213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8" name="Line 600"/>
          <p:cNvSpPr>
            <a:spLocks noChangeShapeType="1"/>
          </p:cNvSpPr>
          <p:nvPr/>
        </p:nvSpPr>
        <p:spPr bwMode="auto">
          <a:xfrm flipV="1">
            <a:off x="6027738" y="3934218"/>
            <a:ext cx="1587" cy="103187"/>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29" name="Line 601"/>
          <p:cNvSpPr>
            <a:spLocks noChangeShapeType="1"/>
          </p:cNvSpPr>
          <p:nvPr/>
        </p:nvSpPr>
        <p:spPr bwMode="auto">
          <a:xfrm flipV="1">
            <a:off x="6035675" y="3972318"/>
            <a:ext cx="1588" cy="650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0" name="Line 602"/>
          <p:cNvSpPr>
            <a:spLocks noChangeShapeType="1"/>
          </p:cNvSpPr>
          <p:nvPr/>
        </p:nvSpPr>
        <p:spPr bwMode="auto">
          <a:xfrm flipV="1">
            <a:off x="60721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1" name="Line 603"/>
          <p:cNvSpPr>
            <a:spLocks noChangeShapeType="1"/>
          </p:cNvSpPr>
          <p:nvPr/>
        </p:nvSpPr>
        <p:spPr bwMode="auto">
          <a:xfrm flipV="1">
            <a:off x="60785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2" name="Line 604"/>
          <p:cNvSpPr>
            <a:spLocks noChangeShapeType="1"/>
          </p:cNvSpPr>
          <p:nvPr/>
        </p:nvSpPr>
        <p:spPr bwMode="auto">
          <a:xfrm flipV="1">
            <a:off x="60864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3" name="Line 605"/>
          <p:cNvSpPr>
            <a:spLocks noChangeShapeType="1"/>
          </p:cNvSpPr>
          <p:nvPr/>
        </p:nvSpPr>
        <p:spPr bwMode="auto">
          <a:xfrm flipV="1">
            <a:off x="61150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4" name="Line 606"/>
          <p:cNvSpPr>
            <a:spLocks noChangeShapeType="1"/>
          </p:cNvSpPr>
          <p:nvPr/>
        </p:nvSpPr>
        <p:spPr bwMode="auto">
          <a:xfrm flipV="1">
            <a:off x="61452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5" name="Line 607"/>
          <p:cNvSpPr>
            <a:spLocks noChangeShapeType="1"/>
          </p:cNvSpPr>
          <p:nvPr/>
        </p:nvSpPr>
        <p:spPr bwMode="auto">
          <a:xfrm flipV="1">
            <a:off x="61515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6" name="Line 608"/>
          <p:cNvSpPr>
            <a:spLocks noChangeShapeType="1"/>
          </p:cNvSpPr>
          <p:nvPr/>
        </p:nvSpPr>
        <p:spPr bwMode="auto">
          <a:xfrm flipV="1">
            <a:off x="6159500" y="4004068"/>
            <a:ext cx="1588"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7" name="Line 609"/>
          <p:cNvSpPr>
            <a:spLocks noChangeShapeType="1"/>
          </p:cNvSpPr>
          <p:nvPr/>
        </p:nvSpPr>
        <p:spPr bwMode="auto">
          <a:xfrm flipV="1">
            <a:off x="616585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8" name="Line 610"/>
          <p:cNvSpPr>
            <a:spLocks noChangeShapeType="1"/>
          </p:cNvSpPr>
          <p:nvPr/>
        </p:nvSpPr>
        <p:spPr bwMode="auto">
          <a:xfrm flipV="1">
            <a:off x="618807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39" name="Line 611"/>
          <p:cNvSpPr>
            <a:spLocks noChangeShapeType="1"/>
          </p:cNvSpPr>
          <p:nvPr/>
        </p:nvSpPr>
        <p:spPr bwMode="auto">
          <a:xfrm flipV="1">
            <a:off x="61960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0" name="Line 612"/>
          <p:cNvSpPr>
            <a:spLocks noChangeShapeType="1"/>
          </p:cNvSpPr>
          <p:nvPr/>
        </p:nvSpPr>
        <p:spPr bwMode="auto">
          <a:xfrm flipV="1">
            <a:off x="62103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1" name="Line 613"/>
          <p:cNvSpPr>
            <a:spLocks noChangeShapeType="1"/>
          </p:cNvSpPr>
          <p:nvPr/>
        </p:nvSpPr>
        <p:spPr bwMode="auto">
          <a:xfrm flipV="1">
            <a:off x="62182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2" name="Line 615"/>
          <p:cNvSpPr>
            <a:spLocks noChangeShapeType="1"/>
          </p:cNvSpPr>
          <p:nvPr/>
        </p:nvSpPr>
        <p:spPr bwMode="auto">
          <a:xfrm flipV="1">
            <a:off x="62245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3" name="Line 616"/>
          <p:cNvSpPr>
            <a:spLocks noChangeShapeType="1"/>
          </p:cNvSpPr>
          <p:nvPr/>
        </p:nvSpPr>
        <p:spPr bwMode="auto">
          <a:xfrm flipV="1">
            <a:off x="6232525"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4" name="Line 617"/>
          <p:cNvSpPr>
            <a:spLocks noChangeShapeType="1"/>
          </p:cNvSpPr>
          <p:nvPr/>
        </p:nvSpPr>
        <p:spPr bwMode="auto">
          <a:xfrm flipV="1">
            <a:off x="6261100" y="3986605"/>
            <a:ext cx="1588" cy="50800"/>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5" name="Line 618"/>
          <p:cNvSpPr>
            <a:spLocks noChangeShapeType="1"/>
          </p:cNvSpPr>
          <p:nvPr/>
        </p:nvSpPr>
        <p:spPr bwMode="auto">
          <a:xfrm flipV="1">
            <a:off x="6269038"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6" name="Line 619"/>
          <p:cNvSpPr>
            <a:spLocks noChangeShapeType="1"/>
          </p:cNvSpPr>
          <p:nvPr/>
        </p:nvSpPr>
        <p:spPr bwMode="auto">
          <a:xfrm flipV="1">
            <a:off x="6283325"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7" name="Line 620"/>
          <p:cNvSpPr>
            <a:spLocks noChangeShapeType="1"/>
          </p:cNvSpPr>
          <p:nvPr/>
        </p:nvSpPr>
        <p:spPr bwMode="auto">
          <a:xfrm flipV="1">
            <a:off x="629126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8" name="Line 621"/>
          <p:cNvSpPr>
            <a:spLocks noChangeShapeType="1"/>
          </p:cNvSpPr>
          <p:nvPr/>
        </p:nvSpPr>
        <p:spPr bwMode="auto">
          <a:xfrm flipV="1">
            <a:off x="63341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49" name="Line 622"/>
          <p:cNvSpPr>
            <a:spLocks noChangeShapeType="1"/>
          </p:cNvSpPr>
          <p:nvPr/>
        </p:nvSpPr>
        <p:spPr bwMode="auto">
          <a:xfrm flipV="1">
            <a:off x="6356350" y="3959618"/>
            <a:ext cx="1588" cy="77787"/>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0" name="Line 623"/>
          <p:cNvSpPr>
            <a:spLocks noChangeShapeType="1"/>
          </p:cNvSpPr>
          <p:nvPr/>
        </p:nvSpPr>
        <p:spPr bwMode="auto">
          <a:xfrm flipV="1">
            <a:off x="6362700" y="3959618"/>
            <a:ext cx="1588" cy="777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1" name="Line 624"/>
          <p:cNvSpPr>
            <a:spLocks noChangeShapeType="1"/>
          </p:cNvSpPr>
          <p:nvPr/>
        </p:nvSpPr>
        <p:spPr bwMode="auto">
          <a:xfrm flipV="1">
            <a:off x="64214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2" name="Line 625"/>
          <p:cNvSpPr>
            <a:spLocks noChangeShapeType="1"/>
          </p:cNvSpPr>
          <p:nvPr/>
        </p:nvSpPr>
        <p:spPr bwMode="auto">
          <a:xfrm flipV="1">
            <a:off x="64293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3" name="Line 626"/>
          <p:cNvSpPr>
            <a:spLocks noChangeShapeType="1"/>
          </p:cNvSpPr>
          <p:nvPr/>
        </p:nvSpPr>
        <p:spPr bwMode="auto">
          <a:xfrm flipV="1">
            <a:off x="6435725"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4" name="Line 627"/>
          <p:cNvSpPr>
            <a:spLocks noChangeShapeType="1"/>
          </p:cNvSpPr>
          <p:nvPr/>
        </p:nvSpPr>
        <p:spPr bwMode="auto">
          <a:xfrm flipV="1">
            <a:off x="65024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5" name="Line 628"/>
          <p:cNvSpPr>
            <a:spLocks noChangeShapeType="1"/>
          </p:cNvSpPr>
          <p:nvPr/>
        </p:nvSpPr>
        <p:spPr bwMode="auto">
          <a:xfrm flipV="1">
            <a:off x="6545263" y="4016768"/>
            <a:ext cx="1587"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6" name="Line 629"/>
          <p:cNvSpPr>
            <a:spLocks noChangeShapeType="1"/>
          </p:cNvSpPr>
          <p:nvPr/>
        </p:nvSpPr>
        <p:spPr bwMode="auto">
          <a:xfrm flipV="1">
            <a:off x="6553200" y="4024705"/>
            <a:ext cx="1588" cy="127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7" name="Line 630"/>
          <p:cNvSpPr>
            <a:spLocks noChangeShapeType="1"/>
          </p:cNvSpPr>
          <p:nvPr/>
        </p:nvSpPr>
        <p:spPr bwMode="auto">
          <a:xfrm flipV="1">
            <a:off x="65754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8" name="Line 631"/>
          <p:cNvSpPr>
            <a:spLocks noChangeShapeType="1"/>
          </p:cNvSpPr>
          <p:nvPr/>
        </p:nvSpPr>
        <p:spPr bwMode="auto">
          <a:xfrm flipV="1">
            <a:off x="66040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59" name="Line 632"/>
          <p:cNvSpPr>
            <a:spLocks noChangeShapeType="1"/>
          </p:cNvSpPr>
          <p:nvPr/>
        </p:nvSpPr>
        <p:spPr bwMode="auto">
          <a:xfrm flipV="1">
            <a:off x="6611938"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0" name="Line 633"/>
          <p:cNvSpPr>
            <a:spLocks noChangeShapeType="1"/>
          </p:cNvSpPr>
          <p:nvPr/>
        </p:nvSpPr>
        <p:spPr bwMode="auto">
          <a:xfrm flipV="1">
            <a:off x="6618288" y="3967555"/>
            <a:ext cx="1587" cy="69850"/>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1" name="Line 634"/>
          <p:cNvSpPr>
            <a:spLocks noChangeShapeType="1"/>
          </p:cNvSpPr>
          <p:nvPr/>
        </p:nvSpPr>
        <p:spPr bwMode="auto">
          <a:xfrm flipV="1">
            <a:off x="6626225" y="4007243"/>
            <a:ext cx="1588"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2" name="Line 635"/>
          <p:cNvSpPr>
            <a:spLocks noChangeShapeType="1"/>
          </p:cNvSpPr>
          <p:nvPr/>
        </p:nvSpPr>
        <p:spPr bwMode="auto">
          <a:xfrm flipV="1">
            <a:off x="66325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3" name="Line 636"/>
          <p:cNvSpPr>
            <a:spLocks noChangeShapeType="1"/>
          </p:cNvSpPr>
          <p:nvPr/>
        </p:nvSpPr>
        <p:spPr bwMode="auto">
          <a:xfrm flipV="1">
            <a:off x="6684963" y="4012005"/>
            <a:ext cx="1587" cy="254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4" name="Line 637"/>
          <p:cNvSpPr>
            <a:spLocks noChangeShapeType="1"/>
          </p:cNvSpPr>
          <p:nvPr/>
        </p:nvSpPr>
        <p:spPr bwMode="auto">
          <a:xfrm flipV="1">
            <a:off x="669131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5" name="Line 638"/>
          <p:cNvSpPr>
            <a:spLocks noChangeShapeType="1"/>
          </p:cNvSpPr>
          <p:nvPr/>
        </p:nvSpPr>
        <p:spPr bwMode="auto">
          <a:xfrm flipV="1">
            <a:off x="67135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6" name="Line 639"/>
          <p:cNvSpPr>
            <a:spLocks noChangeShapeType="1"/>
          </p:cNvSpPr>
          <p:nvPr/>
        </p:nvSpPr>
        <p:spPr bwMode="auto">
          <a:xfrm flipV="1">
            <a:off x="67214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7" name="Line 640"/>
          <p:cNvSpPr>
            <a:spLocks noChangeShapeType="1"/>
          </p:cNvSpPr>
          <p:nvPr/>
        </p:nvSpPr>
        <p:spPr bwMode="auto">
          <a:xfrm flipV="1">
            <a:off x="67278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8" name="Line 641"/>
          <p:cNvSpPr>
            <a:spLocks noChangeShapeType="1"/>
          </p:cNvSpPr>
          <p:nvPr/>
        </p:nvSpPr>
        <p:spPr bwMode="auto">
          <a:xfrm flipV="1">
            <a:off x="6757988" y="3700855"/>
            <a:ext cx="1587" cy="336550"/>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69" name="Line 642"/>
          <p:cNvSpPr>
            <a:spLocks noChangeShapeType="1"/>
          </p:cNvSpPr>
          <p:nvPr/>
        </p:nvSpPr>
        <p:spPr bwMode="auto">
          <a:xfrm flipV="1">
            <a:off x="6764338" y="4004068"/>
            <a:ext cx="1587" cy="333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0" name="Line 643"/>
          <p:cNvSpPr>
            <a:spLocks noChangeShapeType="1"/>
          </p:cNvSpPr>
          <p:nvPr/>
        </p:nvSpPr>
        <p:spPr bwMode="auto">
          <a:xfrm flipV="1">
            <a:off x="678656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1" name="Line 644"/>
          <p:cNvSpPr>
            <a:spLocks noChangeShapeType="1"/>
          </p:cNvSpPr>
          <p:nvPr/>
        </p:nvSpPr>
        <p:spPr bwMode="auto">
          <a:xfrm flipV="1">
            <a:off x="67945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2" name="Line 645"/>
          <p:cNvSpPr>
            <a:spLocks noChangeShapeType="1"/>
          </p:cNvSpPr>
          <p:nvPr/>
        </p:nvSpPr>
        <p:spPr bwMode="auto">
          <a:xfrm flipV="1">
            <a:off x="6837363" y="4019943"/>
            <a:ext cx="1587"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3" name="Line 646"/>
          <p:cNvSpPr>
            <a:spLocks noChangeShapeType="1"/>
          </p:cNvSpPr>
          <p:nvPr/>
        </p:nvSpPr>
        <p:spPr bwMode="auto">
          <a:xfrm flipV="1">
            <a:off x="68453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4" name="Line 647"/>
          <p:cNvSpPr>
            <a:spLocks noChangeShapeType="1"/>
          </p:cNvSpPr>
          <p:nvPr/>
        </p:nvSpPr>
        <p:spPr bwMode="auto">
          <a:xfrm flipV="1">
            <a:off x="68516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5" name="Line 648"/>
          <p:cNvSpPr>
            <a:spLocks noChangeShapeType="1"/>
          </p:cNvSpPr>
          <p:nvPr/>
        </p:nvSpPr>
        <p:spPr bwMode="auto">
          <a:xfrm flipV="1">
            <a:off x="6910388" y="3967555"/>
            <a:ext cx="1587" cy="69850"/>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6" name="Line 649"/>
          <p:cNvSpPr>
            <a:spLocks noChangeShapeType="1"/>
          </p:cNvSpPr>
          <p:nvPr/>
        </p:nvSpPr>
        <p:spPr bwMode="auto">
          <a:xfrm flipV="1">
            <a:off x="6918325" y="4007243"/>
            <a:ext cx="1588" cy="301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7" name="Line 650"/>
          <p:cNvSpPr>
            <a:spLocks noChangeShapeType="1"/>
          </p:cNvSpPr>
          <p:nvPr/>
        </p:nvSpPr>
        <p:spPr bwMode="auto">
          <a:xfrm flipV="1">
            <a:off x="69691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8" name="Line 651"/>
          <p:cNvSpPr>
            <a:spLocks noChangeShapeType="1"/>
          </p:cNvSpPr>
          <p:nvPr/>
        </p:nvSpPr>
        <p:spPr bwMode="auto">
          <a:xfrm flipV="1">
            <a:off x="701992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79" name="Line 652"/>
          <p:cNvSpPr>
            <a:spLocks noChangeShapeType="1"/>
          </p:cNvSpPr>
          <p:nvPr/>
        </p:nvSpPr>
        <p:spPr bwMode="auto">
          <a:xfrm flipV="1">
            <a:off x="704215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0" name="Line 653"/>
          <p:cNvSpPr>
            <a:spLocks noChangeShapeType="1"/>
          </p:cNvSpPr>
          <p:nvPr/>
        </p:nvSpPr>
        <p:spPr bwMode="auto">
          <a:xfrm flipV="1">
            <a:off x="7048500" y="4019943"/>
            <a:ext cx="1588" cy="1746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1" name="Line 654"/>
          <p:cNvSpPr>
            <a:spLocks noChangeShapeType="1"/>
          </p:cNvSpPr>
          <p:nvPr/>
        </p:nvSpPr>
        <p:spPr bwMode="auto">
          <a:xfrm flipV="1">
            <a:off x="720883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2" name="Line 655"/>
          <p:cNvSpPr>
            <a:spLocks noChangeShapeType="1"/>
          </p:cNvSpPr>
          <p:nvPr/>
        </p:nvSpPr>
        <p:spPr bwMode="auto">
          <a:xfrm flipV="1">
            <a:off x="7253288"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3" name="Line 656"/>
          <p:cNvSpPr>
            <a:spLocks noChangeShapeType="1"/>
          </p:cNvSpPr>
          <p:nvPr/>
        </p:nvSpPr>
        <p:spPr bwMode="auto">
          <a:xfrm flipV="1">
            <a:off x="7281863" y="4027880"/>
            <a:ext cx="1587"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4" name="Line 657"/>
          <p:cNvSpPr>
            <a:spLocks noChangeShapeType="1"/>
          </p:cNvSpPr>
          <p:nvPr/>
        </p:nvSpPr>
        <p:spPr bwMode="auto">
          <a:xfrm flipV="1">
            <a:off x="7289800" y="4027880"/>
            <a:ext cx="1588" cy="95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5" name="Line 658"/>
          <p:cNvSpPr>
            <a:spLocks noChangeShapeType="1"/>
          </p:cNvSpPr>
          <p:nvPr/>
        </p:nvSpPr>
        <p:spPr bwMode="auto">
          <a:xfrm flipV="1">
            <a:off x="729615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6" name="Line 659"/>
          <p:cNvSpPr>
            <a:spLocks noChangeShapeType="1"/>
          </p:cNvSpPr>
          <p:nvPr/>
        </p:nvSpPr>
        <p:spPr bwMode="auto">
          <a:xfrm flipV="1">
            <a:off x="7354888" y="4007243"/>
            <a:ext cx="1587" cy="30162"/>
          </a:xfrm>
          <a:prstGeom prst="line">
            <a:avLst/>
          </a:prstGeom>
          <a:noFill/>
          <a:ln w="0">
            <a:solidFill>
              <a:srgbClr val="0000C8"/>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7" name="Line 660"/>
          <p:cNvSpPr>
            <a:spLocks noChangeShapeType="1"/>
          </p:cNvSpPr>
          <p:nvPr/>
        </p:nvSpPr>
        <p:spPr bwMode="auto">
          <a:xfrm flipV="1">
            <a:off x="7362825" y="4016768"/>
            <a:ext cx="1588" cy="206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8" name="Line 661"/>
          <p:cNvSpPr>
            <a:spLocks noChangeShapeType="1"/>
          </p:cNvSpPr>
          <p:nvPr/>
        </p:nvSpPr>
        <p:spPr bwMode="auto">
          <a:xfrm flipV="1">
            <a:off x="7435850" y="3986605"/>
            <a:ext cx="1588" cy="50800"/>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89" name="Line 662"/>
          <p:cNvSpPr>
            <a:spLocks noChangeShapeType="1"/>
          </p:cNvSpPr>
          <p:nvPr/>
        </p:nvSpPr>
        <p:spPr bwMode="auto">
          <a:xfrm flipV="1">
            <a:off x="7442200" y="3986605"/>
            <a:ext cx="1588" cy="508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90" name="Line 663"/>
          <p:cNvSpPr>
            <a:spLocks noChangeShapeType="1"/>
          </p:cNvSpPr>
          <p:nvPr/>
        </p:nvSpPr>
        <p:spPr bwMode="auto">
          <a:xfrm flipV="1">
            <a:off x="7669213" y="4034230"/>
            <a:ext cx="1587"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91" name="Line 664"/>
          <p:cNvSpPr>
            <a:spLocks noChangeShapeType="1"/>
          </p:cNvSpPr>
          <p:nvPr/>
        </p:nvSpPr>
        <p:spPr bwMode="auto">
          <a:xfrm flipV="1">
            <a:off x="76835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92" name="Line 665"/>
          <p:cNvSpPr>
            <a:spLocks noChangeShapeType="1"/>
          </p:cNvSpPr>
          <p:nvPr/>
        </p:nvSpPr>
        <p:spPr bwMode="auto">
          <a:xfrm flipV="1">
            <a:off x="7734300"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93" name="Line 666"/>
          <p:cNvSpPr>
            <a:spLocks noChangeShapeType="1"/>
          </p:cNvSpPr>
          <p:nvPr/>
        </p:nvSpPr>
        <p:spPr bwMode="auto">
          <a:xfrm flipV="1">
            <a:off x="7843838" y="4004068"/>
            <a:ext cx="1587" cy="33337"/>
          </a:xfrm>
          <a:prstGeom prst="line">
            <a:avLst/>
          </a:prstGeom>
          <a:noFill/>
          <a:ln w="0">
            <a:solidFill>
              <a:srgbClr val="C8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94" name="Line 667"/>
          <p:cNvSpPr>
            <a:spLocks noChangeShapeType="1"/>
          </p:cNvSpPr>
          <p:nvPr/>
        </p:nvSpPr>
        <p:spPr bwMode="auto">
          <a:xfrm flipV="1">
            <a:off x="7851775" y="4034230"/>
            <a:ext cx="1588" cy="31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595" name="Rectangle 668"/>
          <p:cNvSpPr>
            <a:spLocks noChangeArrowheads="1"/>
          </p:cNvSpPr>
          <p:nvPr/>
        </p:nvSpPr>
        <p:spPr bwMode="auto">
          <a:xfrm>
            <a:off x="4138613" y="3372243"/>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596" name="Rectangle 669"/>
          <p:cNvSpPr>
            <a:spLocks noChangeArrowheads="1"/>
          </p:cNvSpPr>
          <p:nvPr/>
        </p:nvSpPr>
        <p:spPr bwMode="auto">
          <a:xfrm>
            <a:off x="4138613" y="3372243"/>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597" name="Rectangle 670"/>
          <p:cNvSpPr>
            <a:spLocks noChangeArrowheads="1"/>
          </p:cNvSpPr>
          <p:nvPr/>
        </p:nvSpPr>
        <p:spPr bwMode="auto">
          <a:xfrm>
            <a:off x="4191000" y="339446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14</a:t>
            </a:r>
            <a:endParaRPr lang="en-US" altLang="en-US">
              <a:solidFill>
                <a:srgbClr val="000000"/>
              </a:solidFill>
              <a:latin typeface="Calibri" panose="020F0502020204030204" pitchFamily="34" charset="0"/>
            </a:endParaRPr>
          </a:p>
        </p:txBody>
      </p:sp>
      <p:sp>
        <p:nvSpPr>
          <p:cNvPr id="40598" name="Rectangle 671"/>
          <p:cNvSpPr>
            <a:spLocks noChangeArrowheads="1"/>
          </p:cNvSpPr>
          <p:nvPr/>
        </p:nvSpPr>
        <p:spPr bwMode="auto">
          <a:xfrm>
            <a:off x="4191000" y="335636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+2</a:t>
            </a:r>
            <a:endParaRPr lang="en-US" altLang="en-US">
              <a:solidFill>
                <a:srgbClr val="000000"/>
              </a:solidFill>
              <a:latin typeface="Calibri" panose="020F0502020204030204" pitchFamily="34" charset="0"/>
            </a:endParaRPr>
          </a:p>
        </p:txBody>
      </p:sp>
      <p:sp>
        <p:nvSpPr>
          <p:cNvPr id="40599" name="Rectangle 672"/>
          <p:cNvSpPr>
            <a:spLocks noChangeArrowheads="1"/>
          </p:cNvSpPr>
          <p:nvPr/>
        </p:nvSpPr>
        <p:spPr bwMode="auto">
          <a:xfrm>
            <a:off x="4138613" y="3437330"/>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778.4</a:t>
            </a:r>
            <a:endParaRPr lang="en-US" altLang="en-US">
              <a:solidFill>
                <a:srgbClr val="000000"/>
              </a:solidFill>
              <a:latin typeface="Calibri" panose="020F0502020204030204" pitchFamily="34" charset="0"/>
            </a:endParaRPr>
          </a:p>
        </p:txBody>
      </p:sp>
      <p:sp>
        <p:nvSpPr>
          <p:cNvPr id="40600" name="Line 673"/>
          <p:cNvSpPr>
            <a:spLocks noChangeShapeType="1"/>
          </p:cNvSpPr>
          <p:nvPr/>
        </p:nvSpPr>
        <p:spPr bwMode="auto">
          <a:xfrm flipV="1">
            <a:off x="4175125" y="3492893"/>
            <a:ext cx="66675" cy="9525"/>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01" name="Rectangle 674"/>
          <p:cNvSpPr>
            <a:spLocks noChangeArrowheads="1"/>
          </p:cNvSpPr>
          <p:nvPr/>
        </p:nvSpPr>
        <p:spPr bwMode="auto">
          <a:xfrm>
            <a:off x="4445000" y="3203060"/>
            <a:ext cx="46488"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700">
                <a:solidFill>
                  <a:srgbClr val="000000"/>
                </a:solidFill>
                <a:latin typeface="Calibri" panose="020F0502020204030204" pitchFamily="34" charset="0"/>
              </a:rPr>
              <a:t>b</a:t>
            </a:r>
            <a:endParaRPr lang="en-US" altLang="en-US" sz="2400">
              <a:solidFill>
                <a:srgbClr val="000000"/>
              </a:solidFill>
              <a:latin typeface="Calibri" panose="020F0502020204030204" pitchFamily="34" charset="0"/>
            </a:endParaRPr>
          </a:p>
        </p:txBody>
      </p:sp>
      <p:sp>
        <p:nvSpPr>
          <p:cNvPr id="40602" name="Rectangle 675"/>
          <p:cNvSpPr>
            <a:spLocks noChangeArrowheads="1"/>
          </p:cNvSpPr>
          <p:nvPr/>
        </p:nvSpPr>
        <p:spPr bwMode="auto">
          <a:xfrm>
            <a:off x="4445000" y="3203060"/>
            <a:ext cx="46488"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700">
                <a:solidFill>
                  <a:srgbClr val="000000"/>
                </a:solidFill>
                <a:latin typeface="Calibri" panose="020F0502020204030204" pitchFamily="34" charset="0"/>
              </a:rPr>
              <a:t>b</a:t>
            </a:r>
            <a:endParaRPr lang="en-US" altLang="en-US" sz="2400">
              <a:solidFill>
                <a:srgbClr val="000000"/>
              </a:solidFill>
              <a:latin typeface="Calibri" panose="020F0502020204030204" pitchFamily="34" charset="0"/>
            </a:endParaRPr>
          </a:p>
        </p:txBody>
      </p:sp>
      <p:sp>
        <p:nvSpPr>
          <p:cNvPr id="40603" name="Rectangle 676"/>
          <p:cNvSpPr>
            <a:spLocks noChangeArrowheads="1"/>
          </p:cNvSpPr>
          <p:nvPr/>
        </p:nvSpPr>
        <p:spPr bwMode="auto">
          <a:xfrm>
            <a:off x="4511675" y="3334143"/>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15</a:t>
            </a:r>
            <a:endParaRPr lang="en-US" altLang="en-US">
              <a:solidFill>
                <a:srgbClr val="000000"/>
              </a:solidFill>
              <a:latin typeface="Calibri" panose="020F0502020204030204" pitchFamily="34" charset="0"/>
            </a:endParaRPr>
          </a:p>
        </p:txBody>
      </p:sp>
      <p:sp>
        <p:nvSpPr>
          <p:cNvPr id="40604" name="Rectangle 677"/>
          <p:cNvSpPr>
            <a:spLocks noChangeArrowheads="1"/>
          </p:cNvSpPr>
          <p:nvPr/>
        </p:nvSpPr>
        <p:spPr bwMode="auto">
          <a:xfrm>
            <a:off x="4511675" y="3187185"/>
            <a:ext cx="76944"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600" b="1">
                <a:solidFill>
                  <a:srgbClr val="000000"/>
                </a:solidFill>
                <a:latin typeface="Calibri" panose="020F0502020204030204" pitchFamily="34" charset="0"/>
              </a:rPr>
              <a:t>+2</a:t>
            </a:r>
            <a:endParaRPr lang="en-US" altLang="en-US" sz="2400">
              <a:solidFill>
                <a:srgbClr val="000000"/>
              </a:solidFill>
              <a:latin typeface="Calibri" panose="020F0502020204030204" pitchFamily="34" charset="0"/>
            </a:endParaRPr>
          </a:p>
        </p:txBody>
      </p:sp>
      <p:sp>
        <p:nvSpPr>
          <p:cNvPr id="40605" name="Rectangle 678"/>
          <p:cNvSpPr>
            <a:spLocks noChangeArrowheads="1"/>
          </p:cNvSpPr>
          <p:nvPr/>
        </p:nvSpPr>
        <p:spPr bwMode="auto">
          <a:xfrm>
            <a:off x="4445000" y="3377005"/>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837.4</a:t>
            </a:r>
            <a:endParaRPr lang="en-US" altLang="en-US">
              <a:solidFill>
                <a:srgbClr val="000000"/>
              </a:solidFill>
              <a:latin typeface="Calibri" panose="020F0502020204030204" pitchFamily="34" charset="0"/>
            </a:endParaRPr>
          </a:p>
        </p:txBody>
      </p:sp>
      <p:sp>
        <p:nvSpPr>
          <p:cNvPr id="40606" name="Rectangle 679"/>
          <p:cNvSpPr>
            <a:spLocks noChangeArrowheads="1"/>
          </p:cNvSpPr>
          <p:nvPr/>
        </p:nvSpPr>
        <p:spPr bwMode="auto">
          <a:xfrm>
            <a:off x="3592513" y="3457968"/>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07" name="Rectangle 680"/>
          <p:cNvSpPr>
            <a:spLocks noChangeArrowheads="1"/>
          </p:cNvSpPr>
          <p:nvPr/>
        </p:nvSpPr>
        <p:spPr bwMode="auto">
          <a:xfrm>
            <a:off x="3592513" y="3457968"/>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08" name="Rectangle 681"/>
          <p:cNvSpPr>
            <a:spLocks noChangeArrowheads="1"/>
          </p:cNvSpPr>
          <p:nvPr/>
        </p:nvSpPr>
        <p:spPr bwMode="auto">
          <a:xfrm>
            <a:off x="3643313" y="3480193"/>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12</a:t>
            </a:r>
            <a:endParaRPr lang="en-US" altLang="en-US">
              <a:solidFill>
                <a:srgbClr val="000000"/>
              </a:solidFill>
              <a:latin typeface="Calibri" panose="020F0502020204030204" pitchFamily="34" charset="0"/>
            </a:endParaRPr>
          </a:p>
        </p:txBody>
      </p:sp>
      <p:sp>
        <p:nvSpPr>
          <p:cNvPr id="40609" name="Rectangle 682"/>
          <p:cNvSpPr>
            <a:spLocks noChangeArrowheads="1"/>
          </p:cNvSpPr>
          <p:nvPr/>
        </p:nvSpPr>
        <p:spPr bwMode="auto">
          <a:xfrm>
            <a:off x="3643313" y="3442093"/>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+2</a:t>
            </a:r>
            <a:endParaRPr lang="en-US" altLang="en-US">
              <a:solidFill>
                <a:srgbClr val="000000"/>
              </a:solidFill>
              <a:latin typeface="Calibri" panose="020F0502020204030204" pitchFamily="34" charset="0"/>
            </a:endParaRPr>
          </a:p>
        </p:txBody>
      </p:sp>
      <p:sp>
        <p:nvSpPr>
          <p:cNvPr id="40610" name="Rectangle 683"/>
          <p:cNvSpPr>
            <a:spLocks noChangeArrowheads="1"/>
          </p:cNvSpPr>
          <p:nvPr/>
        </p:nvSpPr>
        <p:spPr bwMode="auto">
          <a:xfrm>
            <a:off x="3592513" y="3523055"/>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656.4</a:t>
            </a:r>
            <a:endParaRPr lang="en-US" altLang="en-US">
              <a:solidFill>
                <a:srgbClr val="000000"/>
              </a:solidFill>
              <a:latin typeface="Calibri" panose="020F0502020204030204" pitchFamily="34" charset="0"/>
            </a:endParaRPr>
          </a:p>
        </p:txBody>
      </p:sp>
      <p:sp>
        <p:nvSpPr>
          <p:cNvPr id="40611" name="Line 684"/>
          <p:cNvSpPr>
            <a:spLocks noChangeShapeType="1"/>
          </p:cNvSpPr>
          <p:nvPr/>
        </p:nvSpPr>
        <p:spPr bwMode="auto">
          <a:xfrm flipV="1">
            <a:off x="3671888" y="3578618"/>
            <a:ext cx="22225" cy="9525"/>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12" name="Rectangle 700"/>
          <p:cNvSpPr>
            <a:spLocks noChangeArrowheads="1"/>
          </p:cNvSpPr>
          <p:nvPr/>
        </p:nvSpPr>
        <p:spPr bwMode="auto">
          <a:xfrm>
            <a:off x="4868863" y="3713555"/>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13" name="Rectangle 701"/>
          <p:cNvSpPr>
            <a:spLocks noChangeArrowheads="1"/>
          </p:cNvSpPr>
          <p:nvPr/>
        </p:nvSpPr>
        <p:spPr bwMode="auto">
          <a:xfrm>
            <a:off x="4868863" y="3713555"/>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14" name="Rectangle 702"/>
          <p:cNvSpPr>
            <a:spLocks noChangeArrowheads="1"/>
          </p:cNvSpPr>
          <p:nvPr/>
        </p:nvSpPr>
        <p:spPr bwMode="auto">
          <a:xfrm>
            <a:off x="4933950" y="3735780"/>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8</a:t>
            </a:r>
            <a:endParaRPr lang="en-US" altLang="en-US">
              <a:solidFill>
                <a:srgbClr val="000000"/>
              </a:solidFill>
              <a:latin typeface="Calibri" panose="020F0502020204030204" pitchFamily="34" charset="0"/>
            </a:endParaRPr>
          </a:p>
        </p:txBody>
      </p:sp>
      <p:sp>
        <p:nvSpPr>
          <p:cNvPr id="40615" name="Rectangle 703"/>
          <p:cNvSpPr>
            <a:spLocks noChangeArrowheads="1"/>
          </p:cNvSpPr>
          <p:nvPr/>
        </p:nvSpPr>
        <p:spPr bwMode="auto">
          <a:xfrm>
            <a:off x="4933950" y="3697680"/>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16" name="Rectangle 704"/>
          <p:cNvSpPr>
            <a:spLocks noChangeArrowheads="1"/>
          </p:cNvSpPr>
          <p:nvPr/>
        </p:nvSpPr>
        <p:spPr bwMode="auto">
          <a:xfrm>
            <a:off x="4868863" y="3777055"/>
            <a:ext cx="1763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1007.3</a:t>
            </a:r>
            <a:endParaRPr lang="en-US" altLang="en-US">
              <a:solidFill>
                <a:srgbClr val="000000"/>
              </a:solidFill>
              <a:latin typeface="Calibri" panose="020F0502020204030204" pitchFamily="34" charset="0"/>
            </a:endParaRPr>
          </a:p>
        </p:txBody>
      </p:sp>
      <p:sp>
        <p:nvSpPr>
          <p:cNvPr id="40617" name="Line 705"/>
          <p:cNvSpPr>
            <a:spLocks noChangeShapeType="1"/>
          </p:cNvSpPr>
          <p:nvPr/>
        </p:nvSpPr>
        <p:spPr bwMode="auto">
          <a:xfrm flipH="1" flipV="1">
            <a:off x="4978400" y="3835793"/>
            <a:ext cx="130175" cy="7937"/>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18" name="Rectangle 706"/>
          <p:cNvSpPr>
            <a:spLocks noChangeArrowheads="1"/>
          </p:cNvSpPr>
          <p:nvPr/>
        </p:nvSpPr>
        <p:spPr bwMode="auto">
          <a:xfrm>
            <a:off x="3921125" y="3696093"/>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19" name="Rectangle 707"/>
          <p:cNvSpPr>
            <a:spLocks noChangeArrowheads="1"/>
          </p:cNvSpPr>
          <p:nvPr/>
        </p:nvSpPr>
        <p:spPr bwMode="auto">
          <a:xfrm>
            <a:off x="3921125" y="3696093"/>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20" name="Rectangle 708"/>
          <p:cNvSpPr>
            <a:spLocks noChangeArrowheads="1"/>
          </p:cNvSpPr>
          <p:nvPr/>
        </p:nvSpPr>
        <p:spPr bwMode="auto">
          <a:xfrm>
            <a:off x="3971925" y="3718318"/>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7</a:t>
            </a:r>
            <a:endParaRPr lang="en-US" altLang="en-US">
              <a:solidFill>
                <a:srgbClr val="000000"/>
              </a:solidFill>
              <a:latin typeface="Calibri" panose="020F0502020204030204" pitchFamily="34" charset="0"/>
            </a:endParaRPr>
          </a:p>
        </p:txBody>
      </p:sp>
      <p:sp>
        <p:nvSpPr>
          <p:cNvPr id="40621" name="Rectangle 709"/>
          <p:cNvSpPr>
            <a:spLocks noChangeArrowheads="1"/>
          </p:cNvSpPr>
          <p:nvPr/>
        </p:nvSpPr>
        <p:spPr bwMode="auto">
          <a:xfrm>
            <a:off x="3971925" y="3678630"/>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22" name="Rectangle 710"/>
          <p:cNvSpPr>
            <a:spLocks noChangeArrowheads="1"/>
          </p:cNvSpPr>
          <p:nvPr/>
        </p:nvSpPr>
        <p:spPr bwMode="auto">
          <a:xfrm>
            <a:off x="3921125" y="3761180"/>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726.4</a:t>
            </a:r>
            <a:endParaRPr lang="en-US" altLang="en-US">
              <a:solidFill>
                <a:srgbClr val="000000"/>
              </a:solidFill>
              <a:latin typeface="Calibri" panose="020F0502020204030204" pitchFamily="34" charset="0"/>
            </a:endParaRPr>
          </a:p>
        </p:txBody>
      </p:sp>
      <p:sp>
        <p:nvSpPr>
          <p:cNvPr id="40623" name="Line 711"/>
          <p:cNvSpPr>
            <a:spLocks noChangeShapeType="1"/>
          </p:cNvSpPr>
          <p:nvPr/>
        </p:nvSpPr>
        <p:spPr bwMode="auto">
          <a:xfrm flipV="1">
            <a:off x="3957638" y="3818330"/>
            <a:ext cx="65087" cy="38100"/>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24" name="Rectangle 712"/>
          <p:cNvSpPr>
            <a:spLocks noChangeArrowheads="1"/>
          </p:cNvSpPr>
          <p:nvPr/>
        </p:nvSpPr>
        <p:spPr bwMode="auto">
          <a:xfrm>
            <a:off x="3409950" y="3765943"/>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25" name="Rectangle 713"/>
          <p:cNvSpPr>
            <a:spLocks noChangeArrowheads="1"/>
          </p:cNvSpPr>
          <p:nvPr/>
        </p:nvSpPr>
        <p:spPr bwMode="auto">
          <a:xfrm>
            <a:off x="3409950" y="3765943"/>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26" name="Rectangle 714"/>
          <p:cNvSpPr>
            <a:spLocks noChangeArrowheads="1"/>
          </p:cNvSpPr>
          <p:nvPr/>
        </p:nvSpPr>
        <p:spPr bwMode="auto">
          <a:xfrm>
            <a:off x="3460750" y="3786580"/>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6</a:t>
            </a:r>
            <a:endParaRPr lang="en-US" altLang="en-US">
              <a:solidFill>
                <a:srgbClr val="000000"/>
              </a:solidFill>
              <a:latin typeface="Calibri" panose="020F0502020204030204" pitchFamily="34" charset="0"/>
            </a:endParaRPr>
          </a:p>
        </p:txBody>
      </p:sp>
      <p:sp>
        <p:nvSpPr>
          <p:cNvPr id="40627" name="Rectangle 715"/>
          <p:cNvSpPr>
            <a:spLocks noChangeArrowheads="1"/>
          </p:cNvSpPr>
          <p:nvPr/>
        </p:nvSpPr>
        <p:spPr bwMode="auto">
          <a:xfrm>
            <a:off x="3460750" y="3748480"/>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28" name="Rectangle 716"/>
          <p:cNvSpPr>
            <a:spLocks noChangeArrowheads="1"/>
          </p:cNvSpPr>
          <p:nvPr/>
        </p:nvSpPr>
        <p:spPr bwMode="auto">
          <a:xfrm>
            <a:off x="3409950" y="3829443"/>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589.4</a:t>
            </a:r>
            <a:endParaRPr lang="en-US" altLang="en-US">
              <a:solidFill>
                <a:srgbClr val="000000"/>
              </a:solidFill>
              <a:latin typeface="Calibri" panose="020F0502020204030204" pitchFamily="34" charset="0"/>
            </a:endParaRPr>
          </a:p>
        </p:txBody>
      </p:sp>
      <p:sp>
        <p:nvSpPr>
          <p:cNvPr id="40629" name="Line 717"/>
          <p:cNvSpPr>
            <a:spLocks noChangeShapeType="1"/>
          </p:cNvSpPr>
          <p:nvPr/>
        </p:nvSpPr>
        <p:spPr bwMode="auto">
          <a:xfrm flipV="1">
            <a:off x="3402013" y="3886593"/>
            <a:ext cx="109537" cy="9525"/>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30" name="Rectangle 718"/>
          <p:cNvSpPr>
            <a:spLocks noChangeArrowheads="1"/>
          </p:cNvSpPr>
          <p:nvPr/>
        </p:nvSpPr>
        <p:spPr bwMode="auto">
          <a:xfrm>
            <a:off x="6049963" y="3804043"/>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31" name="Rectangle 719"/>
          <p:cNvSpPr>
            <a:spLocks noChangeArrowheads="1"/>
          </p:cNvSpPr>
          <p:nvPr/>
        </p:nvSpPr>
        <p:spPr bwMode="auto">
          <a:xfrm>
            <a:off x="6049963" y="3804043"/>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32" name="Rectangle 720"/>
          <p:cNvSpPr>
            <a:spLocks noChangeArrowheads="1"/>
          </p:cNvSpPr>
          <p:nvPr/>
        </p:nvSpPr>
        <p:spPr bwMode="auto">
          <a:xfrm>
            <a:off x="6115050" y="382626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10</a:t>
            </a:r>
            <a:endParaRPr lang="en-US" altLang="en-US">
              <a:solidFill>
                <a:srgbClr val="000000"/>
              </a:solidFill>
              <a:latin typeface="Calibri" panose="020F0502020204030204" pitchFamily="34" charset="0"/>
            </a:endParaRPr>
          </a:p>
        </p:txBody>
      </p:sp>
      <p:sp>
        <p:nvSpPr>
          <p:cNvPr id="40633" name="Rectangle 721"/>
          <p:cNvSpPr>
            <a:spLocks noChangeArrowheads="1"/>
          </p:cNvSpPr>
          <p:nvPr/>
        </p:nvSpPr>
        <p:spPr bwMode="auto">
          <a:xfrm>
            <a:off x="6115050" y="3786580"/>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34" name="Rectangle 722"/>
          <p:cNvSpPr>
            <a:spLocks noChangeArrowheads="1"/>
          </p:cNvSpPr>
          <p:nvPr/>
        </p:nvSpPr>
        <p:spPr bwMode="auto">
          <a:xfrm>
            <a:off x="6049963" y="3869130"/>
            <a:ext cx="1763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1231.5</a:t>
            </a:r>
            <a:endParaRPr lang="en-US" altLang="en-US">
              <a:solidFill>
                <a:srgbClr val="000000"/>
              </a:solidFill>
              <a:latin typeface="Calibri" panose="020F0502020204030204" pitchFamily="34" charset="0"/>
            </a:endParaRPr>
          </a:p>
        </p:txBody>
      </p:sp>
      <p:sp>
        <p:nvSpPr>
          <p:cNvPr id="40635" name="Rectangle 723"/>
          <p:cNvSpPr>
            <a:spLocks noChangeArrowheads="1"/>
          </p:cNvSpPr>
          <p:nvPr/>
        </p:nvSpPr>
        <p:spPr bwMode="auto">
          <a:xfrm>
            <a:off x="5465763" y="3829443"/>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36" name="Rectangle 724"/>
          <p:cNvSpPr>
            <a:spLocks noChangeArrowheads="1"/>
          </p:cNvSpPr>
          <p:nvPr/>
        </p:nvSpPr>
        <p:spPr bwMode="auto">
          <a:xfrm>
            <a:off x="5465763" y="3829443"/>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37" name="Rectangle 725"/>
          <p:cNvSpPr>
            <a:spLocks noChangeArrowheads="1"/>
          </p:cNvSpPr>
          <p:nvPr/>
        </p:nvSpPr>
        <p:spPr bwMode="auto">
          <a:xfrm>
            <a:off x="5532438" y="3853255"/>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9</a:t>
            </a:r>
            <a:endParaRPr lang="en-US" altLang="en-US">
              <a:solidFill>
                <a:srgbClr val="000000"/>
              </a:solidFill>
              <a:latin typeface="Calibri" panose="020F0502020204030204" pitchFamily="34" charset="0"/>
            </a:endParaRPr>
          </a:p>
        </p:txBody>
      </p:sp>
      <p:sp>
        <p:nvSpPr>
          <p:cNvPr id="40638" name="Rectangle 726"/>
          <p:cNvSpPr>
            <a:spLocks noChangeArrowheads="1"/>
          </p:cNvSpPr>
          <p:nvPr/>
        </p:nvSpPr>
        <p:spPr bwMode="auto">
          <a:xfrm>
            <a:off x="5532438" y="381356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39" name="Rectangle 727"/>
          <p:cNvSpPr>
            <a:spLocks noChangeArrowheads="1"/>
          </p:cNvSpPr>
          <p:nvPr/>
        </p:nvSpPr>
        <p:spPr bwMode="auto">
          <a:xfrm>
            <a:off x="5465763" y="3896118"/>
            <a:ext cx="1763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1094.4</a:t>
            </a:r>
            <a:endParaRPr lang="en-US" altLang="en-US">
              <a:solidFill>
                <a:srgbClr val="000000"/>
              </a:solidFill>
              <a:latin typeface="Calibri" panose="020F0502020204030204" pitchFamily="34" charset="0"/>
            </a:endParaRPr>
          </a:p>
        </p:txBody>
      </p:sp>
      <p:sp>
        <p:nvSpPr>
          <p:cNvPr id="40640" name="Line 728"/>
          <p:cNvSpPr>
            <a:spLocks noChangeShapeType="1"/>
          </p:cNvSpPr>
          <p:nvPr/>
        </p:nvSpPr>
        <p:spPr bwMode="auto">
          <a:xfrm flipV="1">
            <a:off x="5465763" y="3951680"/>
            <a:ext cx="109537" cy="7938"/>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41" name="Rectangle 734"/>
          <p:cNvSpPr>
            <a:spLocks noChangeArrowheads="1"/>
          </p:cNvSpPr>
          <p:nvPr/>
        </p:nvSpPr>
        <p:spPr bwMode="auto">
          <a:xfrm>
            <a:off x="6932613" y="3838968"/>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42" name="Rectangle 735"/>
          <p:cNvSpPr>
            <a:spLocks noChangeArrowheads="1"/>
          </p:cNvSpPr>
          <p:nvPr/>
        </p:nvSpPr>
        <p:spPr bwMode="auto">
          <a:xfrm>
            <a:off x="6932613" y="3838968"/>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43" name="Rectangle 736"/>
          <p:cNvSpPr>
            <a:spLocks noChangeArrowheads="1"/>
          </p:cNvSpPr>
          <p:nvPr/>
        </p:nvSpPr>
        <p:spPr bwMode="auto">
          <a:xfrm>
            <a:off x="6997700" y="3861193"/>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13</a:t>
            </a:r>
            <a:endParaRPr lang="en-US" altLang="en-US">
              <a:solidFill>
                <a:srgbClr val="000000"/>
              </a:solidFill>
              <a:latin typeface="Calibri" panose="020F0502020204030204" pitchFamily="34" charset="0"/>
            </a:endParaRPr>
          </a:p>
        </p:txBody>
      </p:sp>
      <p:sp>
        <p:nvSpPr>
          <p:cNvPr id="40644" name="Rectangle 737"/>
          <p:cNvSpPr>
            <a:spLocks noChangeArrowheads="1"/>
          </p:cNvSpPr>
          <p:nvPr/>
        </p:nvSpPr>
        <p:spPr bwMode="auto">
          <a:xfrm>
            <a:off x="6997700" y="3821505"/>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45" name="Rectangle 738"/>
          <p:cNvSpPr>
            <a:spLocks noChangeArrowheads="1"/>
          </p:cNvSpPr>
          <p:nvPr/>
        </p:nvSpPr>
        <p:spPr bwMode="auto">
          <a:xfrm>
            <a:off x="6932613" y="3904055"/>
            <a:ext cx="1763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1446.5</a:t>
            </a:r>
            <a:endParaRPr lang="en-US" altLang="en-US">
              <a:solidFill>
                <a:srgbClr val="000000"/>
              </a:solidFill>
              <a:latin typeface="Calibri" panose="020F0502020204030204" pitchFamily="34" charset="0"/>
            </a:endParaRPr>
          </a:p>
        </p:txBody>
      </p:sp>
      <p:sp>
        <p:nvSpPr>
          <p:cNvPr id="40646" name="Rectangle 739"/>
          <p:cNvSpPr>
            <a:spLocks noChangeArrowheads="1"/>
          </p:cNvSpPr>
          <p:nvPr/>
        </p:nvSpPr>
        <p:spPr bwMode="auto">
          <a:xfrm>
            <a:off x="7458075" y="3856430"/>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47" name="Rectangle 740"/>
          <p:cNvSpPr>
            <a:spLocks noChangeArrowheads="1"/>
          </p:cNvSpPr>
          <p:nvPr/>
        </p:nvSpPr>
        <p:spPr bwMode="auto">
          <a:xfrm>
            <a:off x="7458075" y="3856430"/>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48" name="Rectangle 741"/>
          <p:cNvSpPr>
            <a:spLocks noChangeArrowheads="1"/>
          </p:cNvSpPr>
          <p:nvPr/>
        </p:nvSpPr>
        <p:spPr bwMode="auto">
          <a:xfrm>
            <a:off x="7523163" y="387706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14</a:t>
            </a:r>
            <a:endParaRPr lang="en-US" altLang="en-US">
              <a:solidFill>
                <a:srgbClr val="000000"/>
              </a:solidFill>
              <a:latin typeface="Calibri" panose="020F0502020204030204" pitchFamily="34" charset="0"/>
            </a:endParaRPr>
          </a:p>
        </p:txBody>
      </p:sp>
      <p:sp>
        <p:nvSpPr>
          <p:cNvPr id="40649" name="Rectangle 742"/>
          <p:cNvSpPr>
            <a:spLocks noChangeArrowheads="1"/>
          </p:cNvSpPr>
          <p:nvPr/>
        </p:nvSpPr>
        <p:spPr bwMode="auto">
          <a:xfrm>
            <a:off x="7523163" y="383896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50" name="Rectangle 743"/>
          <p:cNvSpPr>
            <a:spLocks noChangeArrowheads="1"/>
          </p:cNvSpPr>
          <p:nvPr/>
        </p:nvSpPr>
        <p:spPr bwMode="auto">
          <a:xfrm>
            <a:off x="7458075" y="3919930"/>
            <a:ext cx="17633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1574.7</a:t>
            </a:r>
            <a:endParaRPr lang="en-US" altLang="en-US">
              <a:solidFill>
                <a:srgbClr val="000000"/>
              </a:solidFill>
              <a:latin typeface="Calibri" panose="020F0502020204030204" pitchFamily="34" charset="0"/>
            </a:endParaRPr>
          </a:p>
        </p:txBody>
      </p:sp>
      <p:sp>
        <p:nvSpPr>
          <p:cNvPr id="40651" name="Rectangle 744"/>
          <p:cNvSpPr>
            <a:spLocks noChangeArrowheads="1"/>
          </p:cNvSpPr>
          <p:nvPr/>
        </p:nvSpPr>
        <p:spPr bwMode="auto">
          <a:xfrm>
            <a:off x="3111500" y="3856430"/>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52" name="Rectangle 745"/>
          <p:cNvSpPr>
            <a:spLocks noChangeArrowheads="1"/>
          </p:cNvSpPr>
          <p:nvPr/>
        </p:nvSpPr>
        <p:spPr bwMode="auto">
          <a:xfrm>
            <a:off x="3111500" y="3856430"/>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53" name="Rectangle 746"/>
          <p:cNvSpPr>
            <a:spLocks noChangeArrowheads="1"/>
          </p:cNvSpPr>
          <p:nvPr/>
        </p:nvSpPr>
        <p:spPr bwMode="auto">
          <a:xfrm>
            <a:off x="3162300" y="3877068"/>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5</a:t>
            </a:r>
            <a:endParaRPr lang="en-US" altLang="en-US">
              <a:solidFill>
                <a:srgbClr val="000000"/>
              </a:solidFill>
              <a:latin typeface="Calibri" panose="020F0502020204030204" pitchFamily="34" charset="0"/>
            </a:endParaRPr>
          </a:p>
        </p:txBody>
      </p:sp>
      <p:sp>
        <p:nvSpPr>
          <p:cNvPr id="40654" name="Rectangle 747"/>
          <p:cNvSpPr>
            <a:spLocks noChangeArrowheads="1"/>
          </p:cNvSpPr>
          <p:nvPr/>
        </p:nvSpPr>
        <p:spPr bwMode="auto">
          <a:xfrm>
            <a:off x="3162300" y="383896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55" name="Rectangle 748"/>
          <p:cNvSpPr>
            <a:spLocks noChangeArrowheads="1"/>
          </p:cNvSpPr>
          <p:nvPr/>
        </p:nvSpPr>
        <p:spPr bwMode="auto">
          <a:xfrm>
            <a:off x="3111500" y="3919930"/>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532.4</a:t>
            </a:r>
            <a:endParaRPr lang="en-US" altLang="en-US">
              <a:solidFill>
                <a:srgbClr val="000000"/>
              </a:solidFill>
              <a:latin typeface="Calibri" panose="020F0502020204030204" pitchFamily="34" charset="0"/>
            </a:endParaRPr>
          </a:p>
        </p:txBody>
      </p:sp>
      <p:sp>
        <p:nvSpPr>
          <p:cNvPr id="40656" name="Line 749"/>
          <p:cNvSpPr>
            <a:spLocks noChangeShapeType="1"/>
          </p:cNvSpPr>
          <p:nvPr/>
        </p:nvSpPr>
        <p:spPr bwMode="auto">
          <a:xfrm flipV="1">
            <a:off x="3168650" y="3977080"/>
            <a:ext cx="44450" cy="9525"/>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57" name="Rectangle 750"/>
          <p:cNvSpPr>
            <a:spLocks noChangeArrowheads="1"/>
          </p:cNvSpPr>
          <p:nvPr/>
        </p:nvSpPr>
        <p:spPr bwMode="auto">
          <a:xfrm>
            <a:off x="2681288" y="3877068"/>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58" name="Rectangle 751"/>
          <p:cNvSpPr>
            <a:spLocks noChangeArrowheads="1"/>
          </p:cNvSpPr>
          <p:nvPr/>
        </p:nvSpPr>
        <p:spPr bwMode="auto">
          <a:xfrm>
            <a:off x="2681288" y="3877068"/>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59" name="Rectangle 752"/>
          <p:cNvSpPr>
            <a:spLocks noChangeArrowheads="1"/>
          </p:cNvSpPr>
          <p:nvPr/>
        </p:nvSpPr>
        <p:spPr bwMode="auto">
          <a:xfrm>
            <a:off x="2746375" y="3899293"/>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3</a:t>
            </a:r>
            <a:endParaRPr lang="en-US" altLang="en-US">
              <a:solidFill>
                <a:srgbClr val="000000"/>
              </a:solidFill>
              <a:latin typeface="Calibri" panose="020F0502020204030204" pitchFamily="34" charset="0"/>
            </a:endParaRPr>
          </a:p>
        </p:txBody>
      </p:sp>
      <p:sp>
        <p:nvSpPr>
          <p:cNvPr id="40660" name="Rectangle 753"/>
          <p:cNvSpPr>
            <a:spLocks noChangeArrowheads="1"/>
          </p:cNvSpPr>
          <p:nvPr/>
        </p:nvSpPr>
        <p:spPr bwMode="auto">
          <a:xfrm>
            <a:off x="2746375" y="3861193"/>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61" name="Rectangle 754"/>
          <p:cNvSpPr>
            <a:spLocks noChangeArrowheads="1"/>
          </p:cNvSpPr>
          <p:nvPr/>
        </p:nvSpPr>
        <p:spPr bwMode="auto">
          <a:xfrm>
            <a:off x="2681288" y="3942155"/>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412.1</a:t>
            </a:r>
            <a:endParaRPr lang="en-US" altLang="en-US">
              <a:solidFill>
                <a:srgbClr val="000000"/>
              </a:solidFill>
              <a:latin typeface="Calibri" panose="020F0502020204030204" pitchFamily="34" charset="0"/>
            </a:endParaRPr>
          </a:p>
        </p:txBody>
      </p:sp>
      <p:sp>
        <p:nvSpPr>
          <p:cNvPr id="40662" name="Line 755"/>
          <p:cNvSpPr>
            <a:spLocks noChangeShapeType="1"/>
          </p:cNvSpPr>
          <p:nvPr/>
        </p:nvSpPr>
        <p:spPr bwMode="auto">
          <a:xfrm flipV="1">
            <a:off x="2673350" y="3997718"/>
            <a:ext cx="109538" cy="9525"/>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63" name="Rectangle 756"/>
          <p:cNvSpPr>
            <a:spLocks noChangeArrowheads="1"/>
          </p:cNvSpPr>
          <p:nvPr/>
        </p:nvSpPr>
        <p:spPr bwMode="auto">
          <a:xfrm>
            <a:off x="2395538" y="3856430"/>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64" name="Rectangle 757"/>
          <p:cNvSpPr>
            <a:spLocks noChangeArrowheads="1"/>
          </p:cNvSpPr>
          <p:nvPr/>
        </p:nvSpPr>
        <p:spPr bwMode="auto">
          <a:xfrm>
            <a:off x="2395538" y="3856430"/>
            <a:ext cx="28854"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y</a:t>
            </a:r>
            <a:endParaRPr lang="en-US" altLang="en-US">
              <a:solidFill>
                <a:srgbClr val="000000"/>
              </a:solidFill>
              <a:latin typeface="Calibri" panose="020F0502020204030204" pitchFamily="34" charset="0"/>
            </a:endParaRPr>
          </a:p>
        </p:txBody>
      </p:sp>
      <p:sp>
        <p:nvSpPr>
          <p:cNvPr id="40665" name="Rectangle 758"/>
          <p:cNvSpPr>
            <a:spLocks noChangeArrowheads="1"/>
          </p:cNvSpPr>
          <p:nvPr/>
        </p:nvSpPr>
        <p:spPr bwMode="auto">
          <a:xfrm>
            <a:off x="2447925" y="3877068"/>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3</a:t>
            </a:r>
            <a:endParaRPr lang="en-US" altLang="en-US">
              <a:solidFill>
                <a:srgbClr val="000000"/>
              </a:solidFill>
              <a:latin typeface="Calibri" panose="020F0502020204030204" pitchFamily="34" charset="0"/>
            </a:endParaRPr>
          </a:p>
        </p:txBody>
      </p:sp>
      <p:sp>
        <p:nvSpPr>
          <p:cNvPr id="40666" name="Rectangle 759"/>
          <p:cNvSpPr>
            <a:spLocks noChangeArrowheads="1"/>
          </p:cNvSpPr>
          <p:nvPr/>
        </p:nvSpPr>
        <p:spPr bwMode="auto">
          <a:xfrm>
            <a:off x="2447925" y="383896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67" name="Rectangle 760"/>
          <p:cNvSpPr>
            <a:spLocks noChangeArrowheads="1"/>
          </p:cNvSpPr>
          <p:nvPr/>
        </p:nvSpPr>
        <p:spPr bwMode="auto">
          <a:xfrm>
            <a:off x="2395538" y="3919930"/>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374.3</a:t>
            </a:r>
            <a:endParaRPr lang="en-US" altLang="en-US">
              <a:solidFill>
                <a:srgbClr val="000000"/>
              </a:solidFill>
              <a:latin typeface="Calibri" panose="020F0502020204030204" pitchFamily="34" charset="0"/>
            </a:endParaRPr>
          </a:p>
        </p:txBody>
      </p:sp>
      <p:sp>
        <p:nvSpPr>
          <p:cNvPr id="40668" name="Line 761"/>
          <p:cNvSpPr>
            <a:spLocks noChangeShapeType="1"/>
          </p:cNvSpPr>
          <p:nvPr/>
        </p:nvSpPr>
        <p:spPr bwMode="auto">
          <a:xfrm flipH="1" flipV="1">
            <a:off x="2498725" y="3977080"/>
            <a:ext cx="22225" cy="39688"/>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69" name="Rectangle 762"/>
          <p:cNvSpPr>
            <a:spLocks noChangeArrowheads="1"/>
          </p:cNvSpPr>
          <p:nvPr/>
        </p:nvSpPr>
        <p:spPr bwMode="auto">
          <a:xfrm>
            <a:off x="2971800" y="3726255"/>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70" name="Rectangle 763"/>
          <p:cNvSpPr>
            <a:spLocks noChangeArrowheads="1"/>
          </p:cNvSpPr>
          <p:nvPr/>
        </p:nvSpPr>
        <p:spPr bwMode="auto">
          <a:xfrm>
            <a:off x="2971800" y="3726255"/>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71" name="Rectangle 764"/>
          <p:cNvSpPr>
            <a:spLocks noChangeArrowheads="1"/>
          </p:cNvSpPr>
          <p:nvPr/>
        </p:nvSpPr>
        <p:spPr bwMode="auto">
          <a:xfrm>
            <a:off x="3038475" y="3748480"/>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4</a:t>
            </a:r>
            <a:endParaRPr lang="en-US" altLang="en-US">
              <a:solidFill>
                <a:srgbClr val="000000"/>
              </a:solidFill>
              <a:latin typeface="Calibri" panose="020F0502020204030204" pitchFamily="34" charset="0"/>
            </a:endParaRPr>
          </a:p>
        </p:txBody>
      </p:sp>
      <p:sp>
        <p:nvSpPr>
          <p:cNvPr id="40672" name="Rectangle 765"/>
          <p:cNvSpPr>
            <a:spLocks noChangeArrowheads="1"/>
          </p:cNvSpPr>
          <p:nvPr/>
        </p:nvSpPr>
        <p:spPr bwMode="auto">
          <a:xfrm>
            <a:off x="3038475" y="3708793"/>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73" name="Rectangle 766"/>
          <p:cNvSpPr>
            <a:spLocks noChangeArrowheads="1"/>
          </p:cNvSpPr>
          <p:nvPr/>
        </p:nvSpPr>
        <p:spPr bwMode="auto">
          <a:xfrm>
            <a:off x="2971800" y="3791343"/>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509.3</a:t>
            </a:r>
            <a:endParaRPr lang="en-US" altLang="en-US">
              <a:solidFill>
                <a:srgbClr val="000000"/>
              </a:solidFill>
              <a:latin typeface="Calibri" panose="020F0502020204030204" pitchFamily="34" charset="0"/>
            </a:endParaRPr>
          </a:p>
        </p:txBody>
      </p:sp>
      <p:sp>
        <p:nvSpPr>
          <p:cNvPr id="40674" name="Line 767"/>
          <p:cNvSpPr>
            <a:spLocks noChangeShapeType="1"/>
          </p:cNvSpPr>
          <p:nvPr/>
        </p:nvSpPr>
        <p:spPr bwMode="auto">
          <a:xfrm flipV="1">
            <a:off x="3074988" y="3846905"/>
            <a:ext cx="1587" cy="177800"/>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75" name="Rectangle 768"/>
          <p:cNvSpPr>
            <a:spLocks noChangeArrowheads="1"/>
          </p:cNvSpPr>
          <p:nvPr/>
        </p:nvSpPr>
        <p:spPr bwMode="auto">
          <a:xfrm>
            <a:off x="1900238" y="3899293"/>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76" name="Rectangle 769"/>
          <p:cNvSpPr>
            <a:spLocks noChangeArrowheads="1"/>
          </p:cNvSpPr>
          <p:nvPr/>
        </p:nvSpPr>
        <p:spPr bwMode="auto">
          <a:xfrm>
            <a:off x="1900238" y="3899293"/>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b</a:t>
            </a:r>
            <a:endParaRPr lang="en-US" altLang="en-US">
              <a:solidFill>
                <a:srgbClr val="000000"/>
              </a:solidFill>
              <a:latin typeface="Calibri" panose="020F0502020204030204" pitchFamily="34" charset="0"/>
            </a:endParaRPr>
          </a:p>
        </p:txBody>
      </p:sp>
      <p:sp>
        <p:nvSpPr>
          <p:cNvPr id="40677" name="Rectangle 770"/>
          <p:cNvSpPr>
            <a:spLocks noChangeArrowheads="1"/>
          </p:cNvSpPr>
          <p:nvPr/>
        </p:nvSpPr>
        <p:spPr bwMode="auto">
          <a:xfrm>
            <a:off x="1965325" y="3921518"/>
            <a:ext cx="25648"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2</a:t>
            </a:r>
            <a:endParaRPr lang="en-US" altLang="en-US">
              <a:solidFill>
                <a:srgbClr val="000000"/>
              </a:solidFill>
              <a:latin typeface="Calibri" panose="020F0502020204030204" pitchFamily="34" charset="0"/>
            </a:endParaRPr>
          </a:p>
        </p:txBody>
      </p:sp>
      <p:sp>
        <p:nvSpPr>
          <p:cNvPr id="40678" name="Rectangle 771"/>
          <p:cNvSpPr>
            <a:spLocks noChangeArrowheads="1"/>
          </p:cNvSpPr>
          <p:nvPr/>
        </p:nvSpPr>
        <p:spPr bwMode="auto">
          <a:xfrm>
            <a:off x="1965325" y="3883418"/>
            <a:ext cx="51296"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400" b="1">
                <a:solidFill>
                  <a:srgbClr val="000000"/>
                </a:solidFill>
                <a:latin typeface="Calibri" panose="020F0502020204030204" pitchFamily="34" charset="0"/>
              </a:rPr>
              <a:t>+1</a:t>
            </a:r>
            <a:endParaRPr lang="en-US" altLang="en-US">
              <a:solidFill>
                <a:srgbClr val="000000"/>
              </a:solidFill>
              <a:latin typeface="Calibri" panose="020F0502020204030204" pitchFamily="34" charset="0"/>
            </a:endParaRPr>
          </a:p>
        </p:txBody>
      </p:sp>
      <p:sp>
        <p:nvSpPr>
          <p:cNvPr id="40679" name="Rectangle 772"/>
          <p:cNvSpPr>
            <a:spLocks noChangeArrowheads="1"/>
          </p:cNvSpPr>
          <p:nvPr/>
        </p:nvSpPr>
        <p:spPr bwMode="auto">
          <a:xfrm>
            <a:off x="1900238" y="3964380"/>
            <a:ext cx="144270" cy="76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500">
                <a:solidFill>
                  <a:srgbClr val="000000"/>
                </a:solidFill>
                <a:latin typeface="Calibri" panose="020F0502020204030204" pitchFamily="34" charset="0"/>
              </a:rPr>
              <a:t>264.6</a:t>
            </a:r>
            <a:endParaRPr lang="en-US" altLang="en-US">
              <a:solidFill>
                <a:srgbClr val="000000"/>
              </a:solidFill>
              <a:latin typeface="Calibri" panose="020F0502020204030204" pitchFamily="34" charset="0"/>
            </a:endParaRPr>
          </a:p>
        </p:txBody>
      </p:sp>
      <p:sp>
        <p:nvSpPr>
          <p:cNvPr id="40680" name="Line 773"/>
          <p:cNvSpPr>
            <a:spLocks noChangeShapeType="1"/>
          </p:cNvSpPr>
          <p:nvPr/>
        </p:nvSpPr>
        <p:spPr bwMode="auto">
          <a:xfrm flipH="1" flipV="1">
            <a:off x="2001838" y="4019943"/>
            <a:ext cx="66675" cy="7937"/>
          </a:xfrm>
          <a:prstGeom prst="line">
            <a:avLst/>
          </a:prstGeom>
          <a:noFill/>
          <a:ln w="0">
            <a:solidFill>
              <a:srgbClr val="7D7D7D"/>
            </a:solidFill>
            <a:prstDash val="sysDot"/>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81" name="Text Box 774"/>
          <p:cNvSpPr txBox="1">
            <a:spLocks noChangeArrowheads="1"/>
          </p:cNvSpPr>
          <p:nvPr/>
        </p:nvSpPr>
        <p:spPr bwMode="auto">
          <a:xfrm>
            <a:off x="1143000" y="1100530"/>
            <a:ext cx="228299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MS/MS 910.44</a:t>
            </a:r>
            <a:r>
              <a:rPr lang="en-US" altLang="en-US" sz="2400" baseline="30000" dirty="0">
                <a:solidFill>
                  <a:srgbClr val="000000"/>
                </a:solidFill>
                <a:latin typeface="Calibri" panose="020F0502020204030204" pitchFamily="34" charset="0"/>
              </a:rPr>
              <a:t>+2</a:t>
            </a:r>
          </a:p>
        </p:txBody>
      </p:sp>
      <p:sp>
        <p:nvSpPr>
          <p:cNvPr id="40682" name="Line 776"/>
          <p:cNvSpPr>
            <a:spLocks noChangeShapeType="1"/>
          </p:cNvSpPr>
          <p:nvPr/>
        </p:nvSpPr>
        <p:spPr bwMode="auto">
          <a:xfrm>
            <a:off x="1676400" y="3843730"/>
            <a:ext cx="0" cy="90299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83" name="Text Box 777"/>
          <p:cNvSpPr txBox="1">
            <a:spLocks noChangeArrowheads="1"/>
          </p:cNvSpPr>
          <p:nvPr/>
        </p:nvSpPr>
        <p:spPr bwMode="auto">
          <a:xfrm>
            <a:off x="1660525" y="4285055"/>
            <a:ext cx="70039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dirty="0">
                <a:solidFill>
                  <a:srgbClr val="000000"/>
                </a:solidFill>
                <a:latin typeface="Calibri" panose="020F0502020204030204" pitchFamily="34" charset="0"/>
              </a:rPr>
              <a:t>Search vs. protein database using a software algorithm</a:t>
            </a:r>
          </a:p>
        </p:txBody>
      </p:sp>
      <p:sp>
        <p:nvSpPr>
          <p:cNvPr id="40685" name="Text Box 779"/>
          <p:cNvSpPr txBox="1">
            <a:spLocks noChangeArrowheads="1"/>
          </p:cNvSpPr>
          <p:nvPr/>
        </p:nvSpPr>
        <p:spPr bwMode="auto">
          <a:xfrm>
            <a:off x="5029200" y="2624530"/>
            <a:ext cx="801823"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400" dirty="0" err="1">
                <a:solidFill>
                  <a:srgbClr val="000000"/>
                </a:solidFill>
                <a:latin typeface="Symbol" panose="05050102010706020507" pitchFamily="18" charset="2"/>
              </a:rPr>
              <a:t>D</a:t>
            </a:r>
            <a:r>
              <a:rPr lang="en-US" altLang="en-US" sz="1400" dirty="0" err="1">
                <a:solidFill>
                  <a:srgbClr val="000000"/>
                </a:solidFill>
                <a:latin typeface="Calibri" panose="020F0502020204030204" pitchFamily="34" charset="0"/>
              </a:rPr>
              <a:t>m</a:t>
            </a:r>
            <a:r>
              <a:rPr lang="en-US" altLang="en-US" sz="1400" dirty="0">
                <a:solidFill>
                  <a:srgbClr val="000000"/>
                </a:solidFill>
                <a:latin typeface="Calibri" panose="020F0502020204030204" pitchFamily="34" charset="0"/>
              </a:rPr>
              <a:t>=147</a:t>
            </a:r>
            <a:endParaRPr lang="en-US" altLang="en-US" sz="1200" dirty="0">
              <a:solidFill>
                <a:srgbClr val="000000"/>
              </a:solidFill>
              <a:latin typeface="Calibri" panose="020F0502020204030204" pitchFamily="34" charset="0"/>
            </a:endParaRPr>
          </a:p>
          <a:p>
            <a:pPr algn="ctr" eaLnBrk="1" fontAlgn="base" hangingPunct="1">
              <a:spcBef>
                <a:spcPct val="0"/>
              </a:spcBef>
              <a:spcAft>
                <a:spcPct val="0"/>
              </a:spcAft>
            </a:pPr>
            <a:r>
              <a:rPr lang="en-US" altLang="en-US" sz="2000" b="1" dirty="0">
                <a:solidFill>
                  <a:srgbClr val="FF0000"/>
                </a:solidFill>
                <a:latin typeface="Calibri" panose="020F0502020204030204" pitchFamily="34" charset="0"/>
              </a:rPr>
              <a:t>F</a:t>
            </a:r>
          </a:p>
        </p:txBody>
      </p:sp>
      <p:sp>
        <p:nvSpPr>
          <p:cNvPr id="40686" name="Line 780"/>
          <p:cNvSpPr>
            <a:spLocks noChangeShapeType="1"/>
          </p:cNvSpPr>
          <p:nvPr/>
        </p:nvSpPr>
        <p:spPr bwMode="auto">
          <a:xfrm>
            <a:off x="5181600" y="3462730"/>
            <a:ext cx="60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87" name="Line 781"/>
          <p:cNvSpPr>
            <a:spLocks noChangeShapeType="1"/>
          </p:cNvSpPr>
          <p:nvPr/>
        </p:nvSpPr>
        <p:spPr bwMode="auto">
          <a:xfrm>
            <a:off x="5181600" y="346273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88" name="Line 782"/>
          <p:cNvSpPr>
            <a:spLocks noChangeShapeType="1"/>
          </p:cNvSpPr>
          <p:nvPr/>
        </p:nvSpPr>
        <p:spPr bwMode="auto">
          <a:xfrm>
            <a:off x="5791200" y="346273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89" name="Line 783"/>
          <p:cNvSpPr>
            <a:spLocks noChangeShapeType="1"/>
          </p:cNvSpPr>
          <p:nvPr/>
        </p:nvSpPr>
        <p:spPr bwMode="auto">
          <a:xfrm flipV="1">
            <a:off x="5486400" y="323413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90" name="Line 784"/>
          <p:cNvSpPr>
            <a:spLocks noChangeShapeType="1"/>
          </p:cNvSpPr>
          <p:nvPr/>
        </p:nvSpPr>
        <p:spPr bwMode="auto">
          <a:xfrm>
            <a:off x="5791200" y="3462730"/>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91" name="Line 785"/>
          <p:cNvSpPr>
            <a:spLocks noChangeShapeType="1"/>
          </p:cNvSpPr>
          <p:nvPr/>
        </p:nvSpPr>
        <p:spPr bwMode="auto">
          <a:xfrm>
            <a:off x="6324600" y="346273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92" name="Line 786"/>
          <p:cNvSpPr>
            <a:spLocks noChangeShapeType="1"/>
          </p:cNvSpPr>
          <p:nvPr/>
        </p:nvSpPr>
        <p:spPr bwMode="auto">
          <a:xfrm>
            <a:off x="6324600" y="3462730"/>
            <a:ext cx="457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93" name="Line 787"/>
          <p:cNvSpPr>
            <a:spLocks noChangeShapeType="1"/>
          </p:cNvSpPr>
          <p:nvPr/>
        </p:nvSpPr>
        <p:spPr bwMode="auto">
          <a:xfrm>
            <a:off x="6781800" y="3462730"/>
            <a:ext cx="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94" name="Text Box 788"/>
          <p:cNvSpPr txBox="1">
            <a:spLocks noChangeArrowheads="1"/>
          </p:cNvSpPr>
          <p:nvPr/>
        </p:nvSpPr>
        <p:spPr bwMode="auto">
          <a:xfrm>
            <a:off x="5685189" y="2663719"/>
            <a:ext cx="71526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200" dirty="0" err="1">
                <a:solidFill>
                  <a:srgbClr val="000000"/>
                </a:solidFill>
                <a:latin typeface="Symbol" panose="05050102010706020507" pitchFamily="18" charset="2"/>
              </a:rPr>
              <a:t>D</a:t>
            </a:r>
            <a:r>
              <a:rPr lang="en-US" altLang="en-US" sz="1200" dirty="0" err="1">
                <a:solidFill>
                  <a:srgbClr val="000000"/>
                </a:solidFill>
                <a:latin typeface="Calibri" panose="020F0502020204030204" pitchFamily="34" charset="0"/>
              </a:rPr>
              <a:t>m</a:t>
            </a:r>
            <a:r>
              <a:rPr lang="en-US" altLang="en-US" sz="1200" dirty="0">
                <a:solidFill>
                  <a:srgbClr val="000000"/>
                </a:solidFill>
                <a:latin typeface="Calibri" panose="020F0502020204030204" pitchFamily="34" charset="0"/>
              </a:rPr>
              <a:t>=137</a:t>
            </a:r>
          </a:p>
          <a:p>
            <a:pPr algn="ctr" eaLnBrk="1" fontAlgn="base" hangingPunct="1">
              <a:spcBef>
                <a:spcPct val="0"/>
              </a:spcBef>
              <a:spcAft>
                <a:spcPct val="0"/>
              </a:spcAft>
            </a:pPr>
            <a:r>
              <a:rPr lang="en-US" altLang="en-US" sz="2000" b="1" dirty="0">
                <a:solidFill>
                  <a:srgbClr val="FF0000"/>
                </a:solidFill>
                <a:latin typeface="Calibri" panose="020F0502020204030204" pitchFamily="34" charset="0"/>
              </a:rPr>
              <a:t>H</a:t>
            </a:r>
          </a:p>
        </p:txBody>
      </p:sp>
      <p:sp>
        <p:nvSpPr>
          <p:cNvPr id="40695" name="Text Box 789"/>
          <p:cNvSpPr txBox="1">
            <a:spLocks noChangeArrowheads="1"/>
          </p:cNvSpPr>
          <p:nvPr/>
        </p:nvSpPr>
        <p:spPr bwMode="auto">
          <a:xfrm>
            <a:off x="6297487" y="2661541"/>
            <a:ext cx="63671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200" dirty="0" err="1">
                <a:solidFill>
                  <a:srgbClr val="000000"/>
                </a:solidFill>
                <a:latin typeface="Symbol" panose="05050102010706020507" pitchFamily="18" charset="2"/>
              </a:rPr>
              <a:t>D</a:t>
            </a:r>
            <a:r>
              <a:rPr lang="en-US" altLang="en-US" sz="1200" dirty="0" err="1">
                <a:solidFill>
                  <a:srgbClr val="000000"/>
                </a:solidFill>
                <a:latin typeface="Calibri" panose="020F0502020204030204" pitchFamily="34" charset="0"/>
              </a:rPr>
              <a:t>m</a:t>
            </a:r>
            <a:r>
              <a:rPr lang="en-US" altLang="en-US" sz="1200" dirty="0">
                <a:solidFill>
                  <a:srgbClr val="000000"/>
                </a:solidFill>
                <a:latin typeface="Calibri" panose="020F0502020204030204" pitchFamily="34" charset="0"/>
              </a:rPr>
              <a:t>=97</a:t>
            </a:r>
          </a:p>
          <a:p>
            <a:pPr algn="ctr" eaLnBrk="1" fontAlgn="base" hangingPunct="1">
              <a:spcBef>
                <a:spcPct val="0"/>
              </a:spcBef>
              <a:spcAft>
                <a:spcPct val="0"/>
              </a:spcAft>
            </a:pPr>
            <a:r>
              <a:rPr lang="en-US" altLang="en-US" sz="2000" b="1" dirty="0">
                <a:solidFill>
                  <a:srgbClr val="FF0000"/>
                </a:solidFill>
                <a:latin typeface="Calibri" panose="020F0502020204030204" pitchFamily="34" charset="0"/>
              </a:rPr>
              <a:t>P</a:t>
            </a:r>
          </a:p>
        </p:txBody>
      </p:sp>
      <p:sp>
        <p:nvSpPr>
          <p:cNvPr id="40696" name="Line 790"/>
          <p:cNvSpPr>
            <a:spLocks noChangeShapeType="1"/>
          </p:cNvSpPr>
          <p:nvPr/>
        </p:nvSpPr>
        <p:spPr bwMode="auto">
          <a:xfrm flipV="1">
            <a:off x="6019800" y="323413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97" name="Line 791"/>
          <p:cNvSpPr>
            <a:spLocks noChangeShapeType="1"/>
          </p:cNvSpPr>
          <p:nvPr/>
        </p:nvSpPr>
        <p:spPr bwMode="auto">
          <a:xfrm flipV="1">
            <a:off x="6553200" y="3234130"/>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698" name="Text Box 792"/>
          <p:cNvSpPr txBox="1">
            <a:spLocks noChangeArrowheads="1"/>
          </p:cNvSpPr>
          <p:nvPr/>
        </p:nvSpPr>
        <p:spPr bwMode="auto">
          <a:xfrm>
            <a:off x="1091975" y="1670353"/>
            <a:ext cx="260984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dirty="0">
                <a:solidFill>
                  <a:srgbClr val="000000"/>
                </a:solidFill>
                <a:latin typeface="Calibri" panose="020F0502020204030204" pitchFamily="34" charset="0"/>
              </a:rPr>
              <a:t>Peptide amino acid sequence is determined</a:t>
            </a:r>
          </a:p>
          <a:p>
            <a:pPr eaLnBrk="1" fontAlgn="base" hangingPunct="1">
              <a:spcBef>
                <a:spcPct val="0"/>
              </a:spcBef>
              <a:spcAft>
                <a:spcPct val="0"/>
              </a:spcAft>
            </a:pPr>
            <a:r>
              <a:rPr lang="en-US" altLang="en-US" dirty="0">
                <a:solidFill>
                  <a:srgbClr val="000000"/>
                </a:solidFill>
                <a:latin typeface="Calibri" panose="020F0502020204030204" pitchFamily="34" charset="0"/>
              </a:rPr>
              <a:t>by fragment ion mass differences.</a:t>
            </a:r>
          </a:p>
        </p:txBody>
      </p:sp>
      <p:pic>
        <p:nvPicPr>
          <p:cNvPr id="40699" name="Picture 7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9925" y="109930"/>
            <a:ext cx="327977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700" name="Text Box 795"/>
          <p:cNvSpPr txBox="1">
            <a:spLocks noChangeArrowheads="1"/>
          </p:cNvSpPr>
          <p:nvPr/>
        </p:nvSpPr>
        <p:spPr bwMode="auto">
          <a:xfrm>
            <a:off x="3472542" y="567130"/>
            <a:ext cx="186942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m/z 910.44</a:t>
            </a:r>
            <a:r>
              <a:rPr lang="en-US" altLang="en-US" sz="2400" baseline="30000" dirty="0">
                <a:solidFill>
                  <a:srgbClr val="000000"/>
                </a:solidFill>
                <a:latin typeface="Calibri" panose="020F0502020204030204" pitchFamily="34" charset="0"/>
              </a:rPr>
              <a:t>+2</a:t>
            </a:r>
            <a:r>
              <a:rPr lang="en-US" altLang="en-US" sz="2400" dirty="0">
                <a:solidFill>
                  <a:srgbClr val="000000"/>
                </a:solidFill>
                <a:latin typeface="Calibri" panose="020F0502020204030204" pitchFamily="34" charset="0"/>
              </a:rPr>
              <a:t> </a:t>
            </a:r>
          </a:p>
          <a:p>
            <a:pPr algn="ctr" eaLnBrk="1" fontAlgn="base" hangingPunct="1">
              <a:spcBef>
                <a:spcPct val="0"/>
              </a:spcBef>
              <a:spcAft>
                <a:spcPct val="0"/>
              </a:spcAft>
            </a:pPr>
            <a:r>
              <a:rPr lang="en-US" altLang="en-US" sz="2400" dirty="0">
                <a:solidFill>
                  <a:srgbClr val="000000"/>
                </a:solidFill>
                <a:latin typeface="Calibri" panose="020F0502020204030204" pitchFamily="34" charset="0"/>
              </a:rPr>
              <a:t>peptide</a:t>
            </a:r>
          </a:p>
        </p:txBody>
      </p:sp>
      <p:sp>
        <p:nvSpPr>
          <p:cNvPr id="40701" name="Line 796"/>
          <p:cNvSpPr>
            <a:spLocks noChangeShapeType="1"/>
          </p:cNvSpPr>
          <p:nvPr/>
        </p:nvSpPr>
        <p:spPr bwMode="auto">
          <a:xfrm>
            <a:off x="5105400" y="1024330"/>
            <a:ext cx="8286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702" name="Text Box 797"/>
          <p:cNvSpPr txBox="1">
            <a:spLocks noChangeArrowheads="1"/>
          </p:cNvSpPr>
          <p:nvPr/>
        </p:nvSpPr>
        <p:spPr bwMode="auto">
          <a:xfrm>
            <a:off x="5257800" y="567130"/>
            <a:ext cx="542136"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CID</a:t>
            </a:r>
          </a:p>
        </p:txBody>
      </p:sp>
      <p:sp>
        <p:nvSpPr>
          <p:cNvPr id="40703" name="Text Box 799"/>
          <p:cNvSpPr txBox="1">
            <a:spLocks noChangeArrowheads="1"/>
          </p:cNvSpPr>
          <p:nvPr/>
        </p:nvSpPr>
        <p:spPr bwMode="auto">
          <a:xfrm>
            <a:off x="4876800" y="1100530"/>
            <a:ext cx="1257075"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200" dirty="0">
                <a:solidFill>
                  <a:srgbClr val="000000"/>
                </a:solidFill>
                <a:latin typeface="Calibri" panose="020F0502020204030204" pitchFamily="34" charset="0"/>
              </a:rPr>
              <a:t>Collision-induced</a:t>
            </a:r>
          </a:p>
          <a:p>
            <a:pPr algn="ctr" eaLnBrk="1" fontAlgn="base" hangingPunct="1">
              <a:spcBef>
                <a:spcPct val="0"/>
              </a:spcBef>
              <a:spcAft>
                <a:spcPct val="0"/>
              </a:spcAft>
            </a:pPr>
            <a:r>
              <a:rPr lang="en-US" altLang="en-US" sz="1200" dirty="0">
                <a:solidFill>
                  <a:srgbClr val="000000"/>
                </a:solidFill>
                <a:latin typeface="Calibri" panose="020F0502020204030204" pitchFamily="34" charset="0"/>
              </a:rPr>
              <a:t>dissociation</a:t>
            </a:r>
          </a:p>
        </p:txBody>
      </p:sp>
      <p:sp>
        <p:nvSpPr>
          <p:cNvPr id="40705" name="Text Box 801"/>
          <p:cNvSpPr txBox="1">
            <a:spLocks noChangeArrowheads="1"/>
          </p:cNvSpPr>
          <p:nvPr/>
        </p:nvSpPr>
        <p:spPr bwMode="auto">
          <a:xfrm>
            <a:off x="4343400" y="1710130"/>
            <a:ext cx="3080139"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050" dirty="0">
                <a:solidFill>
                  <a:srgbClr val="000000"/>
                </a:solidFill>
                <a:latin typeface="Calibri" panose="020F0502020204030204" pitchFamily="34" charset="0"/>
              </a:rPr>
              <a:t>b ions:     509    646   793</a:t>
            </a:r>
          </a:p>
          <a:p>
            <a:pPr eaLnBrk="1" fontAlgn="base" hangingPunct="1">
              <a:spcBef>
                <a:spcPct val="0"/>
              </a:spcBef>
              <a:spcAft>
                <a:spcPct val="0"/>
              </a:spcAft>
            </a:pPr>
            <a:r>
              <a:rPr lang="en-US" altLang="en-US" sz="2000" dirty="0">
                <a:solidFill>
                  <a:srgbClr val="000000"/>
                </a:solidFill>
                <a:latin typeface="Calibri" panose="020F0502020204030204" pitchFamily="34" charset="0"/>
              </a:rPr>
              <a:t>TYF- </a:t>
            </a:r>
            <a:r>
              <a:rPr lang="en-US" altLang="en-US" sz="2000" b="1" dirty="0">
                <a:solidFill>
                  <a:srgbClr val="FF0000"/>
                </a:solidFill>
                <a:latin typeface="Calibri" panose="020F0502020204030204" pitchFamily="34" charset="0"/>
              </a:rPr>
              <a:t>P - H - F </a:t>
            </a:r>
            <a:r>
              <a:rPr lang="en-US" altLang="en-US" sz="2000" dirty="0">
                <a:solidFill>
                  <a:srgbClr val="000000"/>
                </a:solidFill>
                <a:latin typeface="Calibri" panose="020F0502020204030204" pitchFamily="34" charset="0"/>
              </a:rPr>
              <a:t>-DVSHGSAQVK</a:t>
            </a:r>
          </a:p>
          <a:p>
            <a:pPr eaLnBrk="1" fontAlgn="base" hangingPunct="1">
              <a:spcBef>
                <a:spcPct val="0"/>
              </a:spcBef>
              <a:spcAft>
                <a:spcPct val="0"/>
              </a:spcAft>
            </a:pPr>
            <a:r>
              <a:rPr lang="en-US" altLang="en-US" sz="1050" dirty="0">
                <a:solidFill>
                  <a:srgbClr val="000000"/>
                </a:solidFill>
                <a:latin typeface="Calibri" panose="020F0502020204030204" pitchFamily="34" charset="0"/>
              </a:rPr>
              <a:t>y ions    1408   1311 1174   1027</a:t>
            </a:r>
          </a:p>
        </p:txBody>
      </p:sp>
      <p:sp>
        <p:nvSpPr>
          <p:cNvPr id="40706" name="Text Box 803"/>
          <p:cNvSpPr txBox="1">
            <a:spLocks noChangeArrowheads="1"/>
          </p:cNvSpPr>
          <p:nvPr/>
        </p:nvSpPr>
        <p:spPr bwMode="auto">
          <a:xfrm>
            <a:off x="6781800" y="3310330"/>
            <a:ext cx="463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000">
                <a:solidFill>
                  <a:srgbClr val="333399"/>
                </a:solidFill>
                <a:latin typeface="Calibri" panose="020F0502020204030204" pitchFamily="34" charset="0"/>
              </a:rPr>
              <a:t>y</a:t>
            </a:r>
            <a:r>
              <a:rPr lang="en-US" altLang="en-US" sz="1000" baseline="-25000">
                <a:solidFill>
                  <a:srgbClr val="333399"/>
                </a:solidFill>
                <a:latin typeface="Calibri" panose="020F0502020204030204" pitchFamily="34" charset="0"/>
              </a:rPr>
              <a:t>13</a:t>
            </a:r>
            <a:r>
              <a:rPr lang="en-US" altLang="en-US" sz="1000" baseline="30000">
                <a:solidFill>
                  <a:srgbClr val="333399"/>
                </a:solidFill>
                <a:latin typeface="Calibri" panose="020F0502020204030204" pitchFamily="34" charset="0"/>
              </a:rPr>
              <a:t>+</a:t>
            </a:r>
          </a:p>
          <a:p>
            <a:pPr algn="ctr" eaLnBrk="1" fontAlgn="base" hangingPunct="1">
              <a:spcBef>
                <a:spcPct val="0"/>
              </a:spcBef>
              <a:spcAft>
                <a:spcPct val="0"/>
              </a:spcAft>
            </a:pPr>
            <a:r>
              <a:rPr lang="en-US" altLang="en-US" sz="1000">
                <a:solidFill>
                  <a:srgbClr val="333399"/>
                </a:solidFill>
                <a:latin typeface="Calibri" panose="020F0502020204030204" pitchFamily="34" charset="0"/>
              </a:rPr>
              <a:t>1408</a:t>
            </a:r>
            <a:endParaRPr lang="en-US" altLang="en-US" sz="1000" baseline="30000">
              <a:solidFill>
                <a:srgbClr val="333399"/>
              </a:solidFill>
              <a:latin typeface="Calibri" panose="020F0502020204030204" pitchFamily="34" charset="0"/>
            </a:endParaRPr>
          </a:p>
        </p:txBody>
      </p:sp>
      <p:sp>
        <p:nvSpPr>
          <p:cNvPr id="40707" name="Line 804"/>
          <p:cNvSpPr>
            <a:spLocks noChangeShapeType="1"/>
          </p:cNvSpPr>
          <p:nvPr/>
        </p:nvSpPr>
        <p:spPr bwMode="auto">
          <a:xfrm flipH="1">
            <a:off x="6781800" y="3615130"/>
            <a:ext cx="76200" cy="76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40708" name="Text Box 805"/>
          <p:cNvSpPr txBox="1">
            <a:spLocks noChangeArrowheads="1"/>
          </p:cNvSpPr>
          <p:nvPr/>
        </p:nvSpPr>
        <p:spPr bwMode="auto">
          <a:xfrm>
            <a:off x="6248400" y="3615130"/>
            <a:ext cx="463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000">
                <a:solidFill>
                  <a:srgbClr val="333399"/>
                </a:solidFill>
                <a:latin typeface="Calibri" panose="020F0502020204030204" pitchFamily="34" charset="0"/>
              </a:rPr>
              <a:t>y</a:t>
            </a:r>
            <a:r>
              <a:rPr lang="en-US" altLang="en-US" sz="1000" baseline="-25000">
                <a:solidFill>
                  <a:srgbClr val="333399"/>
                </a:solidFill>
                <a:latin typeface="Calibri" panose="020F0502020204030204" pitchFamily="34" charset="0"/>
              </a:rPr>
              <a:t>12</a:t>
            </a:r>
            <a:r>
              <a:rPr lang="en-US" altLang="en-US" sz="1000" baseline="30000">
                <a:solidFill>
                  <a:srgbClr val="333399"/>
                </a:solidFill>
                <a:latin typeface="Calibri" panose="020F0502020204030204" pitchFamily="34" charset="0"/>
              </a:rPr>
              <a:t>+</a:t>
            </a:r>
          </a:p>
          <a:p>
            <a:pPr algn="ctr" eaLnBrk="1" fontAlgn="base" hangingPunct="1">
              <a:spcBef>
                <a:spcPct val="0"/>
              </a:spcBef>
              <a:spcAft>
                <a:spcPct val="0"/>
              </a:spcAft>
            </a:pPr>
            <a:r>
              <a:rPr lang="en-US" altLang="en-US" sz="1000">
                <a:solidFill>
                  <a:srgbClr val="333399"/>
                </a:solidFill>
                <a:latin typeface="Calibri" panose="020F0502020204030204" pitchFamily="34" charset="0"/>
              </a:rPr>
              <a:t>1311</a:t>
            </a:r>
            <a:endParaRPr lang="en-US" altLang="en-US" sz="1000" baseline="30000">
              <a:solidFill>
                <a:srgbClr val="333399"/>
              </a:solidFill>
              <a:latin typeface="Calibri" panose="020F0502020204030204" pitchFamily="34" charset="0"/>
            </a:endParaRPr>
          </a:p>
        </p:txBody>
      </p:sp>
      <p:sp>
        <p:nvSpPr>
          <p:cNvPr id="40709" name="Text Box 806"/>
          <p:cNvSpPr txBox="1">
            <a:spLocks noChangeArrowheads="1"/>
          </p:cNvSpPr>
          <p:nvPr/>
        </p:nvSpPr>
        <p:spPr bwMode="auto">
          <a:xfrm>
            <a:off x="5715000" y="3386530"/>
            <a:ext cx="463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000">
                <a:solidFill>
                  <a:srgbClr val="333399"/>
                </a:solidFill>
                <a:latin typeface="Calibri" panose="020F0502020204030204" pitchFamily="34" charset="0"/>
              </a:rPr>
              <a:t>y</a:t>
            </a:r>
            <a:r>
              <a:rPr lang="en-US" altLang="en-US" sz="1000" baseline="-25000">
                <a:solidFill>
                  <a:srgbClr val="333399"/>
                </a:solidFill>
                <a:latin typeface="Calibri" panose="020F0502020204030204" pitchFamily="34" charset="0"/>
              </a:rPr>
              <a:t>11</a:t>
            </a:r>
            <a:r>
              <a:rPr lang="en-US" altLang="en-US" sz="1000" baseline="30000">
                <a:solidFill>
                  <a:srgbClr val="333399"/>
                </a:solidFill>
                <a:latin typeface="Calibri" panose="020F0502020204030204" pitchFamily="34" charset="0"/>
              </a:rPr>
              <a:t>+</a:t>
            </a:r>
          </a:p>
          <a:p>
            <a:pPr algn="ctr" eaLnBrk="1" fontAlgn="base" hangingPunct="1">
              <a:spcBef>
                <a:spcPct val="0"/>
              </a:spcBef>
              <a:spcAft>
                <a:spcPct val="0"/>
              </a:spcAft>
            </a:pPr>
            <a:r>
              <a:rPr lang="en-US" altLang="en-US" sz="1000">
                <a:solidFill>
                  <a:srgbClr val="333399"/>
                </a:solidFill>
                <a:latin typeface="Calibri" panose="020F0502020204030204" pitchFamily="34" charset="0"/>
              </a:rPr>
              <a:t>1174</a:t>
            </a:r>
            <a:endParaRPr lang="en-US" altLang="en-US" sz="1000" baseline="30000">
              <a:solidFill>
                <a:srgbClr val="333399"/>
              </a:solidFill>
              <a:latin typeface="Calibri" panose="020F0502020204030204" pitchFamily="34" charset="0"/>
            </a:endParaRPr>
          </a:p>
        </p:txBody>
      </p:sp>
      <p:sp>
        <p:nvSpPr>
          <p:cNvPr id="40710" name="Text Box 807"/>
          <p:cNvSpPr txBox="1">
            <a:spLocks noChangeArrowheads="1"/>
          </p:cNvSpPr>
          <p:nvPr/>
        </p:nvSpPr>
        <p:spPr bwMode="auto">
          <a:xfrm>
            <a:off x="4724400" y="3234130"/>
            <a:ext cx="463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000">
                <a:solidFill>
                  <a:srgbClr val="333399"/>
                </a:solidFill>
                <a:latin typeface="Calibri" panose="020F0502020204030204" pitchFamily="34" charset="0"/>
              </a:rPr>
              <a:t>y</a:t>
            </a:r>
            <a:r>
              <a:rPr lang="en-US" altLang="en-US" sz="1000" baseline="-25000">
                <a:solidFill>
                  <a:srgbClr val="333399"/>
                </a:solidFill>
                <a:latin typeface="Calibri" panose="020F0502020204030204" pitchFamily="34" charset="0"/>
              </a:rPr>
              <a:t>10</a:t>
            </a:r>
            <a:r>
              <a:rPr lang="en-US" altLang="en-US" sz="1000" baseline="30000">
                <a:solidFill>
                  <a:srgbClr val="333399"/>
                </a:solidFill>
                <a:latin typeface="Calibri" panose="020F0502020204030204" pitchFamily="34" charset="0"/>
              </a:rPr>
              <a:t>+</a:t>
            </a:r>
          </a:p>
          <a:p>
            <a:pPr algn="ctr" eaLnBrk="1" fontAlgn="base" hangingPunct="1">
              <a:spcBef>
                <a:spcPct val="0"/>
              </a:spcBef>
              <a:spcAft>
                <a:spcPct val="0"/>
              </a:spcAft>
            </a:pPr>
            <a:r>
              <a:rPr lang="en-US" altLang="en-US" sz="1000">
                <a:solidFill>
                  <a:srgbClr val="333399"/>
                </a:solidFill>
                <a:latin typeface="Calibri" panose="020F0502020204030204" pitchFamily="34" charset="0"/>
              </a:rPr>
              <a:t>1027</a:t>
            </a:r>
            <a:endParaRPr lang="en-US" altLang="en-US" sz="1000" baseline="30000">
              <a:solidFill>
                <a:srgbClr val="333399"/>
              </a:solidFill>
              <a:latin typeface="Calibri" panose="020F0502020204030204" pitchFamily="34" charset="0"/>
            </a:endParaRPr>
          </a:p>
        </p:txBody>
      </p:sp>
      <p:sp>
        <p:nvSpPr>
          <p:cNvPr id="40711" name="Line 808"/>
          <p:cNvSpPr>
            <a:spLocks noChangeShapeType="1"/>
          </p:cNvSpPr>
          <p:nvPr/>
        </p:nvSpPr>
        <p:spPr bwMode="auto">
          <a:xfrm>
            <a:off x="5029200" y="3615130"/>
            <a:ext cx="152400" cy="76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776" name="Text Box 745"/>
          <p:cNvSpPr txBox="1">
            <a:spLocks noChangeArrowheads="1"/>
          </p:cNvSpPr>
          <p:nvPr/>
        </p:nvSpPr>
        <p:spPr bwMode="auto">
          <a:xfrm>
            <a:off x="1130896" y="6374206"/>
            <a:ext cx="68758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b="1" dirty="0">
                <a:solidFill>
                  <a:srgbClr val="000000"/>
                </a:solidFill>
                <a:latin typeface="Calibri" panose="020F0502020204030204" pitchFamily="34" charset="0"/>
              </a:rPr>
              <a:t>MS/MS: Peptide identification and protein inference</a:t>
            </a:r>
          </a:p>
        </p:txBody>
      </p:sp>
    </p:spTree>
    <p:extLst>
      <p:ext uri="{BB962C8B-B14F-4D97-AF65-F5344CB8AC3E}">
        <p14:creationId xmlns:p14="http://schemas.microsoft.com/office/powerpoint/2010/main" val="1758888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bwMode="auto">
          <a:xfrm>
            <a:off x="2294772" y="187053"/>
            <a:ext cx="4461438"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sz="3600" dirty="0">
                <a:latin typeface="Calibri" panose="020F0502020204030204" pitchFamily="34" charset="0"/>
              </a:rPr>
              <a:t>MS Data Example</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37890" name="Slide Number Placeholder 4"/>
          <p:cNvSpPr>
            <a:spLocks noGrp="1"/>
          </p:cNvSpPr>
          <p:nvPr>
            <p:ph type="sldNum" sz="quarter" idx="12"/>
          </p:nvPr>
        </p:nvSpPr>
        <p:spPr>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D1C64FA0-F94C-4264-AA4D-815328AF7F74}" type="slidenum">
              <a:rPr lang="en-US" altLang="en-US" smtClean="0">
                <a:solidFill>
                  <a:srgbClr val="000000"/>
                </a:solidFill>
                <a:latin typeface="Calibri" panose="020F0502020204030204" pitchFamily="34" charset="0"/>
              </a:rPr>
              <a:pPr eaLnBrk="1" hangingPunct="1"/>
              <a:t>31</a:t>
            </a:fld>
            <a:endParaRPr lang="en-US" altLang="en-US" dirty="0">
              <a:solidFill>
                <a:srgbClr val="000000"/>
              </a:solidFill>
              <a:latin typeface="Calibri" panose="020F0502020204030204" pitchFamily="34" charset="0"/>
            </a:endParaRPr>
          </a:p>
        </p:txBody>
      </p:sp>
      <p:sp>
        <p:nvSpPr>
          <p:cNvPr id="37892" name="Line 3"/>
          <p:cNvSpPr>
            <a:spLocks noChangeShapeType="1"/>
          </p:cNvSpPr>
          <p:nvPr/>
        </p:nvSpPr>
        <p:spPr bwMode="auto">
          <a:xfrm>
            <a:off x="1000125" y="5699125"/>
            <a:ext cx="74009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893" name="Line 4"/>
          <p:cNvSpPr>
            <a:spLocks noChangeShapeType="1"/>
          </p:cNvSpPr>
          <p:nvPr/>
        </p:nvSpPr>
        <p:spPr bwMode="auto">
          <a:xfrm>
            <a:off x="111918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894" name="Line 5"/>
          <p:cNvSpPr>
            <a:spLocks noChangeShapeType="1"/>
          </p:cNvSpPr>
          <p:nvPr/>
        </p:nvSpPr>
        <p:spPr bwMode="auto">
          <a:xfrm>
            <a:off x="12398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895" name="Line 6"/>
          <p:cNvSpPr>
            <a:spLocks noChangeShapeType="1"/>
          </p:cNvSpPr>
          <p:nvPr/>
        </p:nvSpPr>
        <p:spPr bwMode="auto">
          <a:xfrm>
            <a:off x="13668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896" name="Line 7"/>
          <p:cNvSpPr>
            <a:spLocks noChangeShapeType="1"/>
          </p:cNvSpPr>
          <p:nvPr/>
        </p:nvSpPr>
        <p:spPr bwMode="auto">
          <a:xfrm>
            <a:off x="148748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897" name="Line 8"/>
          <p:cNvSpPr>
            <a:spLocks noChangeShapeType="1"/>
          </p:cNvSpPr>
          <p:nvPr/>
        </p:nvSpPr>
        <p:spPr bwMode="auto">
          <a:xfrm>
            <a:off x="17351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898" name="Line 9"/>
          <p:cNvSpPr>
            <a:spLocks noChangeShapeType="1"/>
          </p:cNvSpPr>
          <p:nvPr/>
        </p:nvSpPr>
        <p:spPr bwMode="auto">
          <a:xfrm>
            <a:off x="18621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899" name="Line 10"/>
          <p:cNvSpPr>
            <a:spLocks noChangeShapeType="1"/>
          </p:cNvSpPr>
          <p:nvPr/>
        </p:nvSpPr>
        <p:spPr bwMode="auto">
          <a:xfrm>
            <a:off x="19812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0" name="Line 11"/>
          <p:cNvSpPr>
            <a:spLocks noChangeShapeType="1"/>
          </p:cNvSpPr>
          <p:nvPr/>
        </p:nvSpPr>
        <p:spPr bwMode="auto">
          <a:xfrm>
            <a:off x="21082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1" name="Line 12"/>
          <p:cNvSpPr>
            <a:spLocks noChangeShapeType="1"/>
          </p:cNvSpPr>
          <p:nvPr/>
        </p:nvSpPr>
        <p:spPr bwMode="auto">
          <a:xfrm>
            <a:off x="235585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2" name="Line 13"/>
          <p:cNvSpPr>
            <a:spLocks noChangeShapeType="1"/>
          </p:cNvSpPr>
          <p:nvPr/>
        </p:nvSpPr>
        <p:spPr bwMode="auto">
          <a:xfrm>
            <a:off x="24765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3" name="Line 14"/>
          <p:cNvSpPr>
            <a:spLocks noChangeShapeType="1"/>
          </p:cNvSpPr>
          <p:nvPr/>
        </p:nvSpPr>
        <p:spPr bwMode="auto">
          <a:xfrm>
            <a:off x="26035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4" name="Line 15"/>
          <p:cNvSpPr>
            <a:spLocks noChangeShapeType="1"/>
          </p:cNvSpPr>
          <p:nvPr/>
        </p:nvSpPr>
        <p:spPr bwMode="auto">
          <a:xfrm>
            <a:off x="272256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5" name="Line 16"/>
          <p:cNvSpPr>
            <a:spLocks noChangeShapeType="1"/>
          </p:cNvSpPr>
          <p:nvPr/>
        </p:nvSpPr>
        <p:spPr bwMode="auto">
          <a:xfrm>
            <a:off x="297021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6" name="Line 17"/>
          <p:cNvSpPr>
            <a:spLocks noChangeShapeType="1"/>
          </p:cNvSpPr>
          <p:nvPr/>
        </p:nvSpPr>
        <p:spPr bwMode="auto">
          <a:xfrm>
            <a:off x="309086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7" name="Line 18"/>
          <p:cNvSpPr>
            <a:spLocks noChangeShapeType="1"/>
          </p:cNvSpPr>
          <p:nvPr/>
        </p:nvSpPr>
        <p:spPr bwMode="auto">
          <a:xfrm>
            <a:off x="321786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8" name="Line 19"/>
          <p:cNvSpPr>
            <a:spLocks noChangeShapeType="1"/>
          </p:cNvSpPr>
          <p:nvPr/>
        </p:nvSpPr>
        <p:spPr bwMode="auto">
          <a:xfrm>
            <a:off x="333692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09" name="Line 20"/>
          <p:cNvSpPr>
            <a:spLocks noChangeShapeType="1"/>
          </p:cNvSpPr>
          <p:nvPr/>
        </p:nvSpPr>
        <p:spPr bwMode="auto">
          <a:xfrm>
            <a:off x="358457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0" name="Line 21"/>
          <p:cNvSpPr>
            <a:spLocks noChangeShapeType="1"/>
          </p:cNvSpPr>
          <p:nvPr/>
        </p:nvSpPr>
        <p:spPr bwMode="auto">
          <a:xfrm>
            <a:off x="371157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1" name="Line 22"/>
          <p:cNvSpPr>
            <a:spLocks noChangeShapeType="1"/>
          </p:cNvSpPr>
          <p:nvPr/>
        </p:nvSpPr>
        <p:spPr bwMode="auto">
          <a:xfrm>
            <a:off x="383222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2" name="Line 23"/>
          <p:cNvSpPr>
            <a:spLocks noChangeShapeType="1"/>
          </p:cNvSpPr>
          <p:nvPr/>
        </p:nvSpPr>
        <p:spPr bwMode="auto">
          <a:xfrm>
            <a:off x="395922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3" name="Line 24"/>
          <p:cNvSpPr>
            <a:spLocks noChangeShapeType="1"/>
          </p:cNvSpPr>
          <p:nvPr/>
        </p:nvSpPr>
        <p:spPr bwMode="auto">
          <a:xfrm>
            <a:off x="420528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4" name="Line 25"/>
          <p:cNvSpPr>
            <a:spLocks noChangeShapeType="1"/>
          </p:cNvSpPr>
          <p:nvPr/>
        </p:nvSpPr>
        <p:spPr bwMode="auto">
          <a:xfrm>
            <a:off x="43259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5" name="Line 26"/>
          <p:cNvSpPr>
            <a:spLocks noChangeShapeType="1"/>
          </p:cNvSpPr>
          <p:nvPr/>
        </p:nvSpPr>
        <p:spPr bwMode="auto">
          <a:xfrm>
            <a:off x="44529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6" name="Line 27"/>
          <p:cNvSpPr>
            <a:spLocks noChangeShapeType="1"/>
          </p:cNvSpPr>
          <p:nvPr/>
        </p:nvSpPr>
        <p:spPr bwMode="auto">
          <a:xfrm>
            <a:off x="457358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7" name="Line 28"/>
          <p:cNvSpPr>
            <a:spLocks noChangeShapeType="1"/>
          </p:cNvSpPr>
          <p:nvPr/>
        </p:nvSpPr>
        <p:spPr bwMode="auto">
          <a:xfrm>
            <a:off x="48212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8" name="Line 29"/>
          <p:cNvSpPr>
            <a:spLocks noChangeShapeType="1"/>
          </p:cNvSpPr>
          <p:nvPr/>
        </p:nvSpPr>
        <p:spPr bwMode="auto">
          <a:xfrm>
            <a:off x="49403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19" name="Line 30"/>
          <p:cNvSpPr>
            <a:spLocks noChangeShapeType="1"/>
          </p:cNvSpPr>
          <p:nvPr/>
        </p:nvSpPr>
        <p:spPr bwMode="auto">
          <a:xfrm>
            <a:off x="50673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0" name="Line 31"/>
          <p:cNvSpPr>
            <a:spLocks noChangeShapeType="1"/>
          </p:cNvSpPr>
          <p:nvPr/>
        </p:nvSpPr>
        <p:spPr bwMode="auto">
          <a:xfrm>
            <a:off x="518795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1" name="Line 32"/>
          <p:cNvSpPr>
            <a:spLocks noChangeShapeType="1"/>
          </p:cNvSpPr>
          <p:nvPr/>
        </p:nvSpPr>
        <p:spPr bwMode="auto">
          <a:xfrm>
            <a:off x="54356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2" name="Line 33"/>
          <p:cNvSpPr>
            <a:spLocks noChangeShapeType="1"/>
          </p:cNvSpPr>
          <p:nvPr/>
        </p:nvSpPr>
        <p:spPr bwMode="auto">
          <a:xfrm>
            <a:off x="55626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3" name="Line 34"/>
          <p:cNvSpPr>
            <a:spLocks noChangeShapeType="1"/>
          </p:cNvSpPr>
          <p:nvPr/>
        </p:nvSpPr>
        <p:spPr bwMode="auto">
          <a:xfrm>
            <a:off x="568166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4" name="Line 35"/>
          <p:cNvSpPr>
            <a:spLocks noChangeShapeType="1"/>
          </p:cNvSpPr>
          <p:nvPr/>
        </p:nvSpPr>
        <p:spPr bwMode="auto">
          <a:xfrm>
            <a:off x="580866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5" name="Line 36"/>
          <p:cNvSpPr>
            <a:spLocks noChangeShapeType="1"/>
          </p:cNvSpPr>
          <p:nvPr/>
        </p:nvSpPr>
        <p:spPr bwMode="auto">
          <a:xfrm>
            <a:off x="605631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6" name="Line 37"/>
          <p:cNvSpPr>
            <a:spLocks noChangeShapeType="1"/>
          </p:cNvSpPr>
          <p:nvPr/>
        </p:nvSpPr>
        <p:spPr bwMode="auto">
          <a:xfrm>
            <a:off x="617696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7" name="Line 38"/>
          <p:cNvSpPr>
            <a:spLocks noChangeShapeType="1"/>
          </p:cNvSpPr>
          <p:nvPr/>
        </p:nvSpPr>
        <p:spPr bwMode="auto">
          <a:xfrm>
            <a:off x="6303963"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8" name="Line 39"/>
          <p:cNvSpPr>
            <a:spLocks noChangeShapeType="1"/>
          </p:cNvSpPr>
          <p:nvPr/>
        </p:nvSpPr>
        <p:spPr bwMode="auto">
          <a:xfrm>
            <a:off x="642302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29" name="Line 40"/>
          <p:cNvSpPr>
            <a:spLocks noChangeShapeType="1"/>
          </p:cNvSpPr>
          <p:nvPr/>
        </p:nvSpPr>
        <p:spPr bwMode="auto">
          <a:xfrm>
            <a:off x="667067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0" name="Line 41"/>
          <p:cNvSpPr>
            <a:spLocks noChangeShapeType="1"/>
          </p:cNvSpPr>
          <p:nvPr/>
        </p:nvSpPr>
        <p:spPr bwMode="auto">
          <a:xfrm>
            <a:off x="679132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1" name="Line 42"/>
          <p:cNvSpPr>
            <a:spLocks noChangeShapeType="1"/>
          </p:cNvSpPr>
          <p:nvPr/>
        </p:nvSpPr>
        <p:spPr bwMode="auto">
          <a:xfrm>
            <a:off x="6918325"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2" name="Line 43"/>
          <p:cNvSpPr>
            <a:spLocks noChangeShapeType="1"/>
          </p:cNvSpPr>
          <p:nvPr/>
        </p:nvSpPr>
        <p:spPr bwMode="auto">
          <a:xfrm>
            <a:off x="703738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3" name="Line 44"/>
          <p:cNvSpPr>
            <a:spLocks noChangeShapeType="1"/>
          </p:cNvSpPr>
          <p:nvPr/>
        </p:nvSpPr>
        <p:spPr bwMode="auto">
          <a:xfrm>
            <a:off x="72850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4" name="Line 45"/>
          <p:cNvSpPr>
            <a:spLocks noChangeShapeType="1"/>
          </p:cNvSpPr>
          <p:nvPr/>
        </p:nvSpPr>
        <p:spPr bwMode="auto">
          <a:xfrm>
            <a:off x="741203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5" name="Line 46"/>
          <p:cNvSpPr>
            <a:spLocks noChangeShapeType="1"/>
          </p:cNvSpPr>
          <p:nvPr/>
        </p:nvSpPr>
        <p:spPr bwMode="auto">
          <a:xfrm>
            <a:off x="753268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6" name="Line 47"/>
          <p:cNvSpPr>
            <a:spLocks noChangeShapeType="1"/>
          </p:cNvSpPr>
          <p:nvPr/>
        </p:nvSpPr>
        <p:spPr bwMode="auto">
          <a:xfrm>
            <a:off x="7659688" y="5699125"/>
            <a:ext cx="1587"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7" name="Line 48"/>
          <p:cNvSpPr>
            <a:spLocks noChangeShapeType="1"/>
          </p:cNvSpPr>
          <p:nvPr/>
        </p:nvSpPr>
        <p:spPr bwMode="auto">
          <a:xfrm>
            <a:off x="790575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8" name="Line 49"/>
          <p:cNvSpPr>
            <a:spLocks noChangeShapeType="1"/>
          </p:cNvSpPr>
          <p:nvPr/>
        </p:nvSpPr>
        <p:spPr bwMode="auto">
          <a:xfrm>
            <a:off x="80264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39" name="Line 50"/>
          <p:cNvSpPr>
            <a:spLocks noChangeShapeType="1"/>
          </p:cNvSpPr>
          <p:nvPr/>
        </p:nvSpPr>
        <p:spPr bwMode="auto">
          <a:xfrm>
            <a:off x="815340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0" name="Line 51"/>
          <p:cNvSpPr>
            <a:spLocks noChangeShapeType="1"/>
          </p:cNvSpPr>
          <p:nvPr/>
        </p:nvSpPr>
        <p:spPr bwMode="auto">
          <a:xfrm>
            <a:off x="8274050" y="5699125"/>
            <a:ext cx="1588" cy="269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1" name="Line 52"/>
          <p:cNvSpPr>
            <a:spLocks noChangeShapeType="1"/>
          </p:cNvSpPr>
          <p:nvPr/>
        </p:nvSpPr>
        <p:spPr bwMode="auto">
          <a:xfrm>
            <a:off x="10271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2" name="Line 53"/>
          <p:cNvSpPr>
            <a:spLocks noChangeShapeType="1"/>
          </p:cNvSpPr>
          <p:nvPr/>
        </p:nvSpPr>
        <p:spPr bwMode="auto">
          <a:xfrm>
            <a:off x="10604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3" name="Line 54"/>
          <p:cNvSpPr>
            <a:spLocks noChangeShapeType="1"/>
          </p:cNvSpPr>
          <p:nvPr/>
        </p:nvSpPr>
        <p:spPr bwMode="auto">
          <a:xfrm>
            <a:off x="10858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4" name="Line 55"/>
          <p:cNvSpPr>
            <a:spLocks noChangeShapeType="1"/>
          </p:cNvSpPr>
          <p:nvPr/>
        </p:nvSpPr>
        <p:spPr bwMode="auto">
          <a:xfrm>
            <a:off x="11541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5" name="Line 56"/>
          <p:cNvSpPr>
            <a:spLocks noChangeShapeType="1"/>
          </p:cNvSpPr>
          <p:nvPr/>
        </p:nvSpPr>
        <p:spPr bwMode="auto">
          <a:xfrm>
            <a:off x="11795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6" name="Line 57"/>
          <p:cNvSpPr>
            <a:spLocks noChangeShapeType="1"/>
          </p:cNvSpPr>
          <p:nvPr/>
        </p:nvSpPr>
        <p:spPr bwMode="auto">
          <a:xfrm>
            <a:off x="12128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7" name="Line 58"/>
          <p:cNvSpPr>
            <a:spLocks noChangeShapeType="1"/>
          </p:cNvSpPr>
          <p:nvPr/>
        </p:nvSpPr>
        <p:spPr bwMode="auto">
          <a:xfrm>
            <a:off x="12731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8" name="Line 59"/>
          <p:cNvSpPr>
            <a:spLocks noChangeShapeType="1"/>
          </p:cNvSpPr>
          <p:nvPr/>
        </p:nvSpPr>
        <p:spPr bwMode="auto">
          <a:xfrm>
            <a:off x="13065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49" name="Line 60"/>
          <p:cNvSpPr>
            <a:spLocks noChangeShapeType="1"/>
          </p:cNvSpPr>
          <p:nvPr/>
        </p:nvSpPr>
        <p:spPr bwMode="auto">
          <a:xfrm>
            <a:off x="13335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0" name="Line 61"/>
          <p:cNvSpPr>
            <a:spLocks noChangeShapeType="1"/>
          </p:cNvSpPr>
          <p:nvPr/>
        </p:nvSpPr>
        <p:spPr bwMode="auto">
          <a:xfrm>
            <a:off x="14001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1" name="Line 62"/>
          <p:cNvSpPr>
            <a:spLocks noChangeShapeType="1"/>
          </p:cNvSpPr>
          <p:nvPr/>
        </p:nvSpPr>
        <p:spPr bwMode="auto">
          <a:xfrm>
            <a:off x="14271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2" name="Line 63"/>
          <p:cNvSpPr>
            <a:spLocks noChangeShapeType="1"/>
          </p:cNvSpPr>
          <p:nvPr/>
        </p:nvSpPr>
        <p:spPr bwMode="auto">
          <a:xfrm>
            <a:off x="14605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3" name="Line 64"/>
          <p:cNvSpPr>
            <a:spLocks noChangeShapeType="1"/>
          </p:cNvSpPr>
          <p:nvPr/>
        </p:nvSpPr>
        <p:spPr bwMode="auto">
          <a:xfrm>
            <a:off x="15208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4" name="Line 65"/>
          <p:cNvSpPr>
            <a:spLocks noChangeShapeType="1"/>
          </p:cNvSpPr>
          <p:nvPr/>
        </p:nvSpPr>
        <p:spPr bwMode="auto">
          <a:xfrm>
            <a:off x="15541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5" name="Line 66"/>
          <p:cNvSpPr>
            <a:spLocks noChangeShapeType="1"/>
          </p:cNvSpPr>
          <p:nvPr/>
        </p:nvSpPr>
        <p:spPr bwMode="auto">
          <a:xfrm>
            <a:off x="15811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6" name="Line 67"/>
          <p:cNvSpPr>
            <a:spLocks noChangeShapeType="1"/>
          </p:cNvSpPr>
          <p:nvPr/>
        </p:nvSpPr>
        <p:spPr bwMode="auto">
          <a:xfrm>
            <a:off x="16414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7" name="Line 68"/>
          <p:cNvSpPr>
            <a:spLocks noChangeShapeType="1"/>
          </p:cNvSpPr>
          <p:nvPr/>
        </p:nvSpPr>
        <p:spPr bwMode="auto">
          <a:xfrm>
            <a:off x="16748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8" name="Line 69"/>
          <p:cNvSpPr>
            <a:spLocks noChangeShapeType="1"/>
          </p:cNvSpPr>
          <p:nvPr/>
        </p:nvSpPr>
        <p:spPr bwMode="auto">
          <a:xfrm>
            <a:off x="17081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59" name="Line 70"/>
          <p:cNvSpPr>
            <a:spLocks noChangeShapeType="1"/>
          </p:cNvSpPr>
          <p:nvPr/>
        </p:nvSpPr>
        <p:spPr bwMode="auto">
          <a:xfrm>
            <a:off x="17684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0" name="Line 71"/>
          <p:cNvSpPr>
            <a:spLocks noChangeShapeType="1"/>
          </p:cNvSpPr>
          <p:nvPr/>
        </p:nvSpPr>
        <p:spPr bwMode="auto">
          <a:xfrm>
            <a:off x="18018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1" name="Line 72"/>
          <p:cNvSpPr>
            <a:spLocks noChangeShapeType="1"/>
          </p:cNvSpPr>
          <p:nvPr/>
        </p:nvSpPr>
        <p:spPr bwMode="auto">
          <a:xfrm>
            <a:off x="18288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2" name="Line 73"/>
          <p:cNvSpPr>
            <a:spLocks noChangeShapeType="1"/>
          </p:cNvSpPr>
          <p:nvPr/>
        </p:nvSpPr>
        <p:spPr bwMode="auto">
          <a:xfrm>
            <a:off x="18875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3" name="Line 74"/>
          <p:cNvSpPr>
            <a:spLocks noChangeShapeType="1"/>
          </p:cNvSpPr>
          <p:nvPr/>
        </p:nvSpPr>
        <p:spPr bwMode="auto">
          <a:xfrm>
            <a:off x="19208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4" name="Line 75"/>
          <p:cNvSpPr>
            <a:spLocks noChangeShapeType="1"/>
          </p:cNvSpPr>
          <p:nvPr/>
        </p:nvSpPr>
        <p:spPr bwMode="auto">
          <a:xfrm>
            <a:off x="19542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5" name="Line 76"/>
          <p:cNvSpPr>
            <a:spLocks noChangeShapeType="1"/>
          </p:cNvSpPr>
          <p:nvPr/>
        </p:nvSpPr>
        <p:spPr bwMode="auto">
          <a:xfrm>
            <a:off x="20145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6" name="Line 77"/>
          <p:cNvSpPr>
            <a:spLocks noChangeShapeType="1"/>
          </p:cNvSpPr>
          <p:nvPr/>
        </p:nvSpPr>
        <p:spPr bwMode="auto">
          <a:xfrm>
            <a:off x="20415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7" name="Line 78"/>
          <p:cNvSpPr>
            <a:spLocks noChangeShapeType="1"/>
          </p:cNvSpPr>
          <p:nvPr/>
        </p:nvSpPr>
        <p:spPr bwMode="auto">
          <a:xfrm>
            <a:off x="20748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8" name="Line 79"/>
          <p:cNvSpPr>
            <a:spLocks noChangeShapeType="1"/>
          </p:cNvSpPr>
          <p:nvPr/>
        </p:nvSpPr>
        <p:spPr bwMode="auto">
          <a:xfrm>
            <a:off x="21351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69" name="Line 80"/>
          <p:cNvSpPr>
            <a:spLocks noChangeShapeType="1"/>
          </p:cNvSpPr>
          <p:nvPr/>
        </p:nvSpPr>
        <p:spPr bwMode="auto">
          <a:xfrm>
            <a:off x="21685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0" name="Line 81"/>
          <p:cNvSpPr>
            <a:spLocks noChangeShapeType="1"/>
          </p:cNvSpPr>
          <p:nvPr/>
        </p:nvSpPr>
        <p:spPr bwMode="auto">
          <a:xfrm>
            <a:off x="22018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1" name="Line 82"/>
          <p:cNvSpPr>
            <a:spLocks noChangeShapeType="1"/>
          </p:cNvSpPr>
          <p:nvPr/>
        </p:nvSpPr>
        <p:spPr bwMode="auto">
          <a:xfrm>
            <a:off x="22621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2" name="Line 83"/>
          <p:cNvSpPr>
            <a:spLocks noChangeShapeType="1"/>
          </p:cNvSpPr>
          <p:nvPr/>
        </p:nvSpPr>
        <p:spPr bwMode="auto">
          <a:xfrm>
            <a:off x="22891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3" name="Line 84"/>
          <p:cNvSpPr>
            <a:spLocks noChangeShapeType="1"/>
          </p:cNvSpPr>
          <p:nvPr/>
        </p:nvSpPr>
        <p:spPr bwMode="auto">
          <a:xfrm>
            <a:off x="23225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4" name="Line 85"/>
          <p:cNvSpPr>
            <a:spLocks noChangeShapeType="1"/>
          </p:cNvSpPr>
          <p:nvPr/>
        </p:nvSpPr>
        <p:spPr bwMode="auto">
          <a:xfrm>
            <a:off x="23828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5" name="Line 86"/>
          <p:cNvSpPr>
            <a:spLocks noChangeShapeType="1"/>
          </p:cNvSpPr>
          <p:nvPr/>
        </p:nvSpPr>
        <p:spPr bwMode="auto">
          <a:xfrm>
            <a:off x="24161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6" name="Line 87"/>
          <p:cNvSpPr>
            <a:spLocks noChangeShapeType="1"/>
          </p:cNvSpPr>
          <p:nvPr/>
        </p:nvSpPr>
        <p:spPr bwMode="auto">
          <a:xfrm>
            <a:off x="24431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7" name="Line 88"/>
          <p:cNvSpPr>
            <a:spLocks noChangeShapeType="1"/>
          </p:cNvSpPr>
          <p:nvPr/>
        </p:nvSpPr>
        <p:spPr bwMode="auto">
          <a:xfrm>
            <a:off x="25098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8" name="Line 89"/>
          <p:cNvSpPr>
            <a:spLocks noChangeShapeType="1"/>
          </p:cNvSpPr>
          <p:nvPr/>
        </p:nvSpPr>
        <p:spPr bwMode="auto">
          <a:xfrm>
            <a:off x="25368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79" name="Line 90"/>
          <p:cNvSpPr>
            <a:spLocks noChangeShapeType="1"/>
          </p:cNvSpPr>
          <p:nvPr/>
        </p:nvSpPr>
        <p:spPr bwMode="auto">
          <a:xfrm>
            <a:off x="25701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0" name="Line 91"/>
          <p:cNvSpPr>
            <a:spLocks noChangeShapeType="1"/>
          </p:cNvSpPr>
          <p:nvPr/>
        </p:nvSpPr>
        <p:spPr bwMode="auto">
          <a:xfrm>
            <a:off x="26289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1" name="Line 92"/>
          <p:cNvSpPr>
            <a:spLocks noChangeShapeType="1"/>
          </p:cNvSpPr>
          <p:nvPr/>
        </p:nvSpPr>
        <p:spPr bwMode="auto">
          <a:xfrm>
            <a:off x="26622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2" name="Line 93"/>
          <p:cNvSpPr>
            <a:spLocks noChangeShapeType="1"/>
          </p:cNvSpPr>
          <p:nvPr/>
        </p:nvSpPr>
        <p:spPr bwMode="auto">
          <a:xfrm>
            <a:off x="26892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3" name="Line 94"/>
          <p:cNvSpPr>
            <a:spLocks noChangeShapeType="1"/>
          </p:cNvSpPr>
          <p:nvPr/>
        </p:nvSpPr>
        <p:spPr bwMode="auto">
          <a:xfrm>
            <a:off x="27559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4" name="Line 95"/>
          <p:cNvSpPr>
            <a:spLocks noChangeShapeType="1"/>
          </p:cNvSpPr>
          <p:nvPr/>
        </p:nvSpPr>
        <p:spPr bwMode="auto">
          <a:xfrm>
            <a:off x="27828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5" name="Line 96"/>
          <p:cNvSpPr>
            <a:spLocks noChangeShapeType="1"/>
          </p:cNvSpPr>
          <p:nvPr/>
        </p:nvSpPr>
        <p:spPr bwMode="auto">
          <a:xfrm>
            <a:off x="28162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6" name="Line 97"/>
          <p:cNvSpPr>
            <a:spLocks noChangeShapeType="1"/>
          </p:cNvSpPr>
          <p:nvPr/>
        </p:nvSpPr>
        <p:spPr bwMode="auto">
          <a:xfrm>
            <a:off x="28765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7" name="Line 98"/>
          <p:cNvSpPr>
            <a:spLocks noChangeShapeType="1"/>
          </p:cNvSpPr>
          <p:nvPr/>
        </p:nvSpPr>
        <p:spPr bwMode="auto">
          <a:xfrm>
            <a:off x="29098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8" name="Line 99"/>
          <p:cNvSpPr>
            <a:spLocks noChangeShapeType="1"/>
          </p:cNvSpPr>
          <p:nvPr/>
        </p:nvSpPr>
        <p:spPr bwMode="auto">
          <a:xfrm>
            <a:off x="29368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89" name="Line 100"/>
          <p:cNvSpPr>
            <a:spLocks noChangeShapeType="1"/>
          </p:cNvSpPr>
          <p:nvPr/>
        </p:nvSpPr>
        <p:spPr bwMode="auto">
          <a:xfrm>
            <a:off x="30035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0" name="Line 101"/>
          <p:cNvSpPr>
            <a:spLocks noChangeShapeType="1"/>
          </p:cNvSpPr>
          <p:nvPr/>
        </p:nvSpPr>
        <p:spPr bwMode="auto">
          <a:xfrm>
            <a:off x="30305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1" name="Line 102"/>
          <p:cNvSpPr>
            <a:spLocks noChangeShapeType="1"/>
          </p:cNvSpPr>
          <p:nvPr/>
        </p:nvSpPr>
        <p:spPr bwMode="auto">
          <a:xfrm>
            <a:off x="30638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2" name="Line 103"/>
          <p:cNvSpPr>
            <a:spLocks noChangeShapeType="1"/>
          </p:cNvSpPr>
          <p:nvPr/>
        </p:nvSpPr>
        <p:spPr bwMode="auto">
          <a:xfrm>
            <a:off x="31242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3" name="Line 104"/>
          <p:cNvSpPr>
            <a:spLocks noChangeShapeType="1"/>
          </p:cNvSpPr>
          <p:nvPr/>
        </p:nvSpPr>
        <p:spPr bwMode="auto">
          <a:xfrm>
            <a:off x="31575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4" name="Line 105"/>
          <p:cNvSpPr>
            <a:spLocks noChangeShapeType="1"/>
          </p:cNvSpPr>
          <p:nvPr/>
        </p:nvSpPr>
        <p:spPr bwMode="auto">
          <a:xfrm>
            <a:off x="31845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5" name="Line 106"/>
          <p:cNvSpPr>
            <a:spLocks noChangeShapeType="1"/>
          </p:cNvSpPr>
          <p:nvPr/>
        </p:nvSpPr>
        <p:spPr bwMode="auto">
          <a:xfrm>
            <a:off x="32512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6" name="Line 107"/>
          <p:cNvSpPr>
            <a:spLocks noChangeShapeType="1"/>
          </p:cNvSpPr>
          <p:nvPr/>
        </p:nvSpPr>
        <p:spPr bwMode="auto">
          <a:xfrm>
            <a:off x="32781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7" name="Line 108"/>
          <p:cNvSpPr>
            <a:spLocks noChangeShapeType="1"/>
          </p:cNvSpPr>
          <p:nvPr/>
        </p:nvSpPr>
        <p:spPr bwMode="auto">
          <a:xfrm>
            <a:off x="33115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8" name="Line 109"/>
          <p:cNvSpPr>
            <a:spLocks noChangeShapeType="1"/>
          </p:cNvSpPr>
          <p:nvPr/>
        </p:nvSpPr>
        <p:spPr bwMode="auto">
          <a:xfrm>
            <a:off x="33702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7999" name="Line 110"/>
          <p:cNvSpPr>
            <a:spLocks noChangeShapeType="1"/>
          </p:cNvSpPr>
          <p:nvPr/>
        </p:nvSpPr>
        <p:spPr bwMode="auto">
          <a:xfrm>
            <a:off x="34051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0" name="Line 111"/>
          <p:cNvSpPr>
            <a:spLocks noChangeShapeType="1"/>
          </p:cNvSpPr>
          <p:nvPr/>
        </p:nvSpPr>
        <p:spPr bwMode="auto">
          <a:xfrm>
            <a:off x="34305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1" name="Line 112"/>
          <p:cNvSpPr>
            <a:spLocks noChangeShapeType="1"/>
          </p:cNvSpPr>
          <p:nvPr/>
        </p:nvSpPr>
        <p:spPr bwMode="auto">
          <a:xfrm>
            <a:off x="34909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2" name="Line 113"/>
          <p:cNvSpPr>
            <a:spLocks noChangeShapeType="1"/>
          </p:cNvSpPr>
          <p:nvPr/>
        </p:nvSpPr>
        <p:spPr bwMode="auto">
          <a:xfrm>
            <a:off x="35242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3" name="Line 114"/>
          <p:cNvSpPr>
            <a:spLocks noChangeShapeType="1"/>
          </p:cNvSpPr>
          <p:nvPr/>
        </p:nvSpPr>
        <p:spPr bwMode="auto">
          <a:xfrm>
            <a:off x="35575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4" name="Line 115"/>
          <p:cNvSpPr>
            <a:spLocks noChangeShapeType="1"/>
          </p:cNvSpPr>
          <p:nvPr/>
        </p:nvSpPr>
        <p:spPr bwMode="auto">
          <a:xfrm>
            <a:off x="36179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5" name="Line 116"/>
          <p:cNvSpPr>
            <a:spLocks noChangeShapeType="1"/>
          </p:cNvSpPr>
          <p:nvPr/>
        </p:nvSpPr>
        <p:spPr bwMode="auto">
          <a:xfrm>
            <a:off x="36512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6" name="Line 117"/>
          <p:cNvSpPr>
            <a:spLocks noChangeShapeType="1"/>
          </p:cNvSpPr>
          <p:nvPr/>
        </p:nvSpPr>
        <p:spPr bwMode="auto">
          <a:xfrm>
            <a:off x="36782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7" name="Line 118"/>
          <p:cNvSpPr>
            <a:spLocks noChangeShapeType="1"/>
          </p:cNvSpPr>
          <p:nvPr/>
        </p:nvSpPr>
        <p:spPr bwMode="auto">
          <a:xfrm>
            <a:off x="37385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8" name="Line 119"/>
          <p:cNvSpPr>
            <a:spLocks noChangeShapeType="1"/>
          </p:cNvSpPr>
          <p:nvPr/>
        </p:nvSpPr>
        <p:spPr bwMode="auto">
          <a:xfrm>
            <a:off x="37719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09" name="Line 120"/>
          <p:cNvSpPr>
            <a:spLocks noChangeShapeType="1"/>
          </p:cNvSpPr>
          <p:nvPr/>
        </p:nvSpPr>
        <p:spPr bwMode="auto">
          <a:xfrm>
            <a:off x="38052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0" name="Line 121"/>
          <p:cNvSpPr>
            <a:spLocks noChangeShapeType="1"/>
          </p:cNvSpPr>
          <p:nvPr/>
        </p:nvSpPr>
        <p:spPr bwMode="auto">
          <a:xfrm>
            <a:off x="38655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1" name="Line 122"/>
          <p:cNvSpPr>
            <a:spLocks noChangeShapeType="1"/>
          </p:cNvSpPr>
          <p:nvPr/>
        </p:nvSpPr>
        <p:spPr bwMode="auto">
          <a:xfrm>
            <a:off x="38925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2" name="Line 123"/>
          <p:cNvSpPr>
            <a:spLocks noChangeShapeType="1"/>
          </p:cNvSpPr>
          <p:nvPr/>
        </p:nvSpPr>
        <p:spPr bwMode="auto">
          <a:xfrm>
            <a:off x="39258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3" name="Line 124"/>
          <p:cNvSpPr>
            <a:spLocks noChangeShapeType="1"/>
          </p:cNvSpPr>
          <p:nvPr/>
        </p:nvSpPr>
        <p:spPr bwMode="auto">
          <a:xfrm>
            <a:off x="39862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4" name="Line 125"/>
          <p:cNvSpPr>
            <a:spLocks noChangeShapeType="1"/>
          </p:cNvSpPr>
          <p:nvPr/>
        </p:nvSpPr>
        <p:spPr bwMode="auto">
          <a:xfrm>
            <a:off x="40195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5" name="Line 126"/>
          <p:cNvSpPr>
            <a:spLocks noChangeShapeType="1"/>
          </p:cNvSpPr>
          <p:nvPr/>
        </p:nvSpPr>
        <p:spPr bwMode="auto">
          <a:xfrm>
            <a:off x="40528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6" name="Line 127"/>
          <p:cNvSpPr>
            <a:spLocks noChangeShapeType="1"/>
          </p:cNvSpPr>
          <p:nvPr/>
        </p:nvSpPr>
        <p:spPr bwMode="auto">
          <a:xfrm>
            <a:off x="41132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7" name="Line 128"/>
          <p:cNvSpPr>
            <a:spLocks noChangeShapeType="1"/>
          </p:cNvSpPr>
          <p:nvPr/>
        </p:nvSpPr>
        <p:spPr bwMode="auto">
          <a:xfrm>
            <a:off x="41386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8" name="Line 129"/>
          <p:cNvSpPr>
            <a:spLocks noChangeShapeType="1"/>
          </p:cNvSpPr>
          <p:nvPr/>
        </p:nvSpPr>
        <p:spPr bwMode="auto">
          <a:xfrm>
            <a:off x="41719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19" name="Line 130"/>
          <p:cNvSpPr>
            <a:spLocks noChangeShapeType="1"/>
          </p:cNvSpPr>
          <p:nvPr/>
        </p:nvSpPr>
        <p:spPr bwMode="auto">
          <a:xfrm>
            <a:off x="42322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0" name="Line 131"/>
          <p:cNvSpPr>
            <a:spLocks noChangeShapeType="1"/>
          </p:cNvSpPr>
          <p:nvPr/>
        </p:nvSpPr>
        <p:spPr bwMode="auto">
          <a:xfrm>
            <a:off x="42656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1" name="Line 132"/>
          <p:cNvSpPr>
            <a:spLocks noChangeShapeType="1"/>
          </p:cNvSpPr>
          <p:nvPr/>
        </p:nvSpPr>
        <p:spPr bwMode="auto">
          <a:xfrm>
            <a:off x="42926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2" name="Line 133"/>
          <p:cNvSpPr>
            <a:spLocks noChangeShapeType="1"/>
          </p:cNvSpPr>
          <p:nvPr/>
        </p:nvSpPr>
        <p:spPr bwMode="auto">
          <a:xfrm>
            <a:off x="43592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3" name="Line 134"/>
          <p:cNvSpPr>
            <a:spLocks noChangeShapeType="1"/>
          </p:cNvSpPr>
          <p:nvPr/>
        </p:nvSpPr>
        <p:spPr bwMode="auto">
          <a:xfrm>
            <a:off x="43862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4" name="Line 135"/>
          <p:cNvSpPr>
            <a:spLocks noChangeShapeType="1"/>
          </p:cNvSpPr>
          <p:nvPr/>
        </p:nvSpPr>
        <p:spPr bwMode="auto">
          <a:xfrm>
            <a:off x="44196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5" name="Line 136"/>
          <p:cNvSpPr>
            <a:spLocks noChangeShapeType="1"/>
          </p:cNvSpPr>
          <p:nvPr/>
        </p:nvSpPr>
        <p:spPr bwMode="auto">
          <a:xfrm>
            <a:off x="44799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6" name="Line 137"/>
          <p:cNvSpPr>
            <a:spLocks noChangeShapeType="1"/>
          </p:cNvSpPr>
          <p:nvPr/>
        </p:nvSpPr>
        <p:spPr bwMode="auto">
          <a:xfrm>
            <a:off x="45132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7" name="Line 138"/>
          <p:cNvSpPr>
            <a:spLocks noChangeShapeType="1"/>
          </p:cNvSpPr>
          <p:nvPr/>
        </p:nvSpPr>
        <p:spPr bwMode="auto">
          <a:xfrm>
            <a:off x="45402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8" name="Line 139"/>
          <p:cNvSpPr>
            <a:spLocks noChangeShapeType="1"/>
          </p:cNvSpPr>
          <p:nvPr/>
        </p:nvSpPr>
        <p:spPr bwMode="auto">
          <a:xfrm>
            <a:off x="46069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29" name="Line 140"/>
          <p:cNvSpPr>
            <a:spLocks noChangeShapeType="1"/>
          </p:cNvSpPr>
          <p:nvPr/>
        </p:nvSpPr>
        <p:spPr bwMode="auto">
          <a:xfrm>
            <a:off x="46339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0" name="Line 141"/>
          <p:cNvSpPr>
            <a:spLocks noChangeShapeType="1"/>
          </p:cNvSpPr>
          <p:nvPr/>
        </p:nvSpPr>
        <p:spPr bwMode="auto">
          <a:xfrm>
            <a:off x="46672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1" name="Line 142"/>
          <p:cNvSpPr>
            <a:spLocks noChangeShapeType="1"/>
          </p:cNvSpPr>
          <p:nvPr/>
        </p:nvSpPr>
        <p:spPr bwMode="auto">
          <a:xfrm>
            <a:off x="47275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2" name="Line 143"/>
          <p:cNvSpPr>
            <a:spLocks noChangeShapeType="1"/>
          </p:cNvSpPr>
          <p:nvPr/>
        </p:nvSpPr>
        <p:spPr bwMode="auto">
          <a:xfrm>
            <a:off x="47609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3" name="Line 144"/>
          <p:cNvSpPr>
            <a:spLocks noChangeShapeType="1"/>
          </p:cNvSpPr>
          <p:nvPr/>
        </p:nvSpPr>
        <p:spPr bwMode="auto">
          <a:xfrm>
            <a:off x="47879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4" name="Line 145"/>
          <p:cNvSpPr>
            <a:spLocks noChangeShapeType="1"/>
          </p:cNvSpPr>
          <p:nvPr/>
        </p:nvSpPr>
        <p:spPr bwMode="auto">
          <a:xfrm>
            <a:off x="48545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5" name="Line 146"/>
          <p:cNvSpPr>
            <a:spLocks noChangeShapeType="1"/>
          </p:cNvSpPr>
          <p:nvPr/>
        </p:nvSpPr>
        <p:spPr bwMode="auto">
          <a:xfrm>
            <a:off x="48799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6" name="Line 147"/>
          <p:cNvSpPr>
            <a:spLocks noChangeShapeType="1"/>
          </p:cNvSpPr>
          <p:nvPr/>
        </p:nvSpPr>
        <p:spPr bwMode="auto">
          <a:xfrm>
            <a:off x="49133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7" name="Line 148"/>
          <p:cNvSpPr>
            <a:spLocks noChangeShapeType="1"/>
          </p:cNvSpPr>
          <p:nvPr/>
        </p:nvSpPr>
        <p:spPr bwMode="auto">
          <a:xfrm>
            <a:off x="49736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8" name="Line 149"/>
          <p:cNvSpPr>
            <a:spLocks noChangeShapeType="1"/>
          </p:cNvSpPr>
          <p:nvPr/>
        </p:nvSpPr>
        <p:spPr bwMode="auto">
          <a:xfrm>
            <a:off x="50069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39" name="Line 150"/>
          <p:cNvSpPr>
            <a:spLocks noChangeShapeType="1"/>
          </p:cNvSpPr>
          <p:nvPr/>
        </p:nvSpPr>
        <p:spPr bwMode="auto">
          <a:xfrm>
            <a:off x="50339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0" name="Line 151"/>
          <p:cNvSpPr>
            <a:spLocks noChangeShapeType="1"/>
          </p:cNvSpPr>
          <p:nvPr/>
        </p:nvSpPr>
        <p:spPr bwMode="auto">
          <a:xfrm>
            <a:off x="51006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1" name="Line 152"/>
          <p:cNvSpPr>
            <a:spLocks noChangeShapeType="1"/>
          </p:cNvSpPr>
          <p:nvPr/>
        </p:nvSpPr>
        <p:spPr bwMode="auto">
          <a:xfrm>
            <a:off x="51276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2" name="Line 153"/>
          <p:cNvSpPr>
            <a:spLocks noChangeShapeType="1"/>
          </p:cNvSpPr>
          <p:nvPr/>
        </p:nvSpPr>
        <p:spPr bwMode="auto">
          <a:xfrm>
            <a:off x="51609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3" name="Line 154"/>
          <p:cNvSpPr>
            <a:spLocks noChangeShapeType="1"/>
          </p:cNvSpPr>
          <p:nvPr/>
        </p:nvSpPr>
        <p:spPr bwMode="auto">
          <a:xfrm>
            <a:off x="52212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4" name="Line 155"/>
          <p:cNvSpPr>
            <a:spLocks noChangeShapeType="1"/>
          </p:cNvSpPr>
          <p:nvPr/>
        </p:nvSpPr>
        <p:spPr bwMode="auto">
          <a:xfrm>
            <a:off x="52546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5" name="Line 156"/>
          <p:cNvSpPr>
            <a:spLocks noChangeShapeType="1"/>
          </p:cNvSpPr>
          <p:nvPr/>
        </p:nvSpPr>
        <p:spPr bwMode="auto">
          <a:xfrm>
            <a:off x="52816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6" name="Line 157"/>
          <p:cNvSpPr>
            <a:spLocks noChangeShapeType="1"/>
          </p:cNvSpPr>
          <p:nvPr/>
        </p:nvSpPr>
        <p:spPr bwMode="auto">
          <a:xfrm>
            <a:off x="53419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7" name="Line 158"/>
          <p:cNvSpPr>
            <a:spLocks noChangeShapeType="1"/>
          </p:cNvSpPr>
          <p:nvPr/>
        </p:nvSpPr>
        <p:spPr bwMode="auto">
          <a:xfrm>
            <a:off x="53752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8" name="Line 159"/>
          <p:cNvSpPr>
            <a:spLocks noChangeShapeType="1"/>
          </p:cNvSpPr>
          <p:nvPr/>
        </p:nvSpPr>
        <p:spPr bwMode="auto">
          <a:xfrm>
            <a:off x="54086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49" name="Line 160"/>
          <p:cNvSpPr>
            <a:spLocks noChangeShapeType="1"/>
          </p:cNvSpPr>
          <p:nvPr/>
        </p:nvSpPr>
        <p:spPr bwMode="auto">
          <a:xfrm>
            <a:off x="54689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0" name="Line 161"/>
          <p:cNvSpPr>
            <a:spLocks noChangeShapeType="1"/>
          </p:cNvSpPr>
          <p:nvPr/>
        </p:nvSpPr>
        <p:spPr bwMode="auto">
          <a:xfrm>
            <a:off x="55022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1" name="Line 162"/>
          <p:cNvSpPr>
            <a:spLocks noChangeShapeType="1"/>
          </p:cNvSpPr>
          <p:nvPr/>
        </p:nvSpPr>
        <p:spPr bwMode="auto">
          <a:xfrm>
            <a:off x="55292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2" name="Line 163"/>
          <p:cNvSpPr>
            <a:spLocks noChangeShapeType="1"/>
          </p:cNvSpPr>
          <p:nvPr/>
        </p:nvSpPr>
        <p:spPr bwMode="auto">
          <a:xfrm>
            <a:off x="55880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3" name="Line 164"/>
          <p:cNvSpPr>
            <a:spLocks noChangeShapeType="1"/>
          </p:cNvSpPr>
          <p:nvPr/>
        </p:nvSpPr>
        <p:spPr bwMode="auto">
          <a:xfrm>
            <a:off x="56213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4" name="Line 165"/>
          <p:cNvSpPr>
            <a:spLocks noChangeShapeType="1"/>
          </p:cNvSpPr>
          <p:nvPr/>
        </p:nvSpPr>
        <p:spPr bwMode="auto">
          <a:xfrm>
            <a:off x="56546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5" name="Line 166"/>
          <p:cNvSpPr>
            <a:spLocks noChangeShapeType="1"/>
          </p:cNvSpPr>
          <p:nvPr/>
        </p:nvSpPr>
        <p:spPr bwMode="auto">
          <a:xfrm>
            <a:off x="57150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6" name="Line 167"/>
          <p:cNvSpPr>
            <a:spLocks noChangeShapeType="1"/>
          </p:cNvSpPr>
          <p:nvPr/>
        </p:nvSpPr>
        <p:spPr bwMode="auto">
          <a:xfrm>
            <a:off x="57419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7" name="Line 168"/>
          <p:cNvSpPr>
            <a:spLocks noChangeShapeType="1"/>
          </p:cNvSpPr>
          <p:nvPr/>
        </p:nvSpPr>
        <p:spPr bwMode="auto">
          <a:xfrm>
            <a:off x="57753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8" name="Line 169"/>
          <p:cNvSpPr>
            <a:spLocks noChangeShapeType="1"/>
          </p:cNvSpPr>
          <p:nvPr/>
        </p:nvSpPr>
        <p:spPr bwMode="auto">
          <a:xfrm>
            <a:off x="58356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59" name="Line 170"/>
          <p:cNvSpPr>
            <a:spLocks noChangeShapeType="1"/>
          </p:cNvSpPr>
          <p:nvPr/>
        </p:nvSpPr>
        <p:spPr bwMode="auto">
          <a:xfrm>
            <a:off x="58689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0" name="Line 171"/>
          <p:cNvSpPr>
            <a:spLocks noChangeShapeType="1"/>
          </p:cNvSpPr>
          <p:nvPr/>
        </p:nvSpPr>
        <p:spPr bwMode="auto">
          <a:xfrm>
            <a:off x="59023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1" name="Line 172"/>
          <p:cNvSpPr>
            <a:spLocks noChangeShapeType="1"/>
          </p:cNvSpPr>
          <p:nvPr/>
        </p:nvSpPr>
        <p:spPr bwMode="auto">
          <a:xfrm>
            <a:off x="59626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2" name="Line 173"/>
          <p:cNvSpPr>
            <a:spLocks noChangeShapeType="1"/>
          </p:cNvSpPr>
          <p:nvPr/>
        </p:nvSpPr>
        <p:spPr bwMode="auto">
          <a:xfrm>
            <a:off x="59896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3" name="Line 174"/>
          <p:cNvSpPr>
            <a:spLocks noChangeShapeType="1"/>
          </p:cNvSpPr>
          <p:nvPr/>
        </p:nvSpPr>
        <p:spPr bwMode="auto">
          <a:xfrm>
            <a:off x="60229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4" name="Line 175"/>
          <p:cNvSpPr>
            <a:spLocks noChangeShapeType="1"/>
          </p:cNvSpPr>
          <p:nvPr/>
        </p:nvSpPr>
        <p:spPr bwMode="auto">
          <a:xfrm>
            <a:off x="60833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5" name="Line 176"/>
          <p:cNvSpPr>
            <a:spLocks noChangeShapeType="1"/>
          </p:cNvSpPr>
          <p:nvPr/>
        </p:nvSpPr>
        <p:spPr bwMode="auto">
          <a:xfrm>
            <a:off x="61166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6" name="Line 177"/>
          <p:cNvSpPr>
            <a:spLocks noChangeShapeType="1"/>
          </p:cNvSpPr>
          <p:nvPr/>
        </p:nvSpPr>
        <p:spPr bwMode="auto">
          <a:xfrm>
            <a:off x="61436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7" name="Line 178"/>
          <p:cNvSpPr>
            <a:spLocks noChangeShapeType="1"/>
          </p:cNvSpPr>
          <p:nvPr/>
        </p:nvSpPr>
        <p:spPr bwMode="auto">
          <a:xfrm>
            <a:off x="62103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8" name="Line 179"/>
          <p:cNvSpPr>
            <a:spLocks noChangeShapeType="1"/>
          </p:cNvSpPr>
          <p:nvPr/>
        </p:nvSpPr>
        <p:spPr bwMode="auto">
          <a:xfrm>
            <a:off x="62372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69" name="Line 180"/>
          <p:cNvSpPr>
            <a:spLocks noChangeShapeType="1"/>
          </p:cNvSpPr>
          <p:nvPr/>
        </p:nvSpPr>
        <p:spPr bwMode="auto">
          <a:xfrm>
            <a:off x="62706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0" name="Line 181"/>
          <p:cNvSpPr>
            <a:spLocks noChangeShapeType="1"/>
          </p:cNvSpPr>
          <p:nvPr/>
        </p:nvSpPr>
        <p:spPr bwMode="auto">
          <a:xfrm>
            <a:off x="63293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1" name="Line 182"/>
          <p:cNvSpPr>
            <a:spLocks noChangeShapeType="1"/>
          </p:cNvSpPr>
          <p:nvPr/>
        </p:nvSpPr>
        <p:spPr bwMode="auto">
          <a:xfrm>
            <a:off x="63642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2" name="Line 183"/>
          <p:cNvSpPr>
            <a:spLocks noChangeShapeType="1"/>
          </p:cNvSpPr>
          <p:nvPr/>
        </p:nvSpPr>
        <p:spPr bwMode="auto">
          <a:xfrm>
            <a:off x="63896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3" name="Line 184"/>
          <p:cNvSpPr>
            <a:spLocks noChangeShapeType="1"/>
          </p:cNvSpPr>
          <p:nvPr/>
        </p:nvSpPr>
        <p:spPr bwMode="auto">
          <a:xfrm>
            <a:off x="64563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4" name="Line 185"/>
          <p:cNvSpPr>
            <a:spLocks noChangeShapeType="1"/>
          </p:cNvSpPr>
          <p:nvPr/>
        </p:nvSpPr>
        <p:spPr bwMode="auto">
          <a:xfrm>
            <a:off x="64833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5" name="Line 186"/>
          <p:cNvSpPr>
            <a:spLocks noChangeShapeType="1"/>
          </p:cNvSpPr>
          <p:nvPr/>
        </p:nvSpPr>
        <p:spPr bwMode="auto">
          <a:xfrm>
            <a:off x="65166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6" name="Line 187"/>
          <p:cNvSpPr>
            <a:spLocks noChangeShapeType="1"/>
          </p:cNvSpPr>
          <p:nvPr/>
        </p:nvSpPr>
        <p:spPr bwMode="auto">
          <a:xfrm>
            <a:off x="65770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7" name="Line 188"/>
          <p:cNvSpPr>
            <a:spLocks noChangeShapeType="1"/>
          </p:cNvSpPr>
          <p:nvPr/>
        </p:nvSpPr>
        <p:spPr bwMode="auto">
          <a:xfrm>
            <a:off x="66103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8" name="Line 189"/>
          <p:cNvSpPr>
            <a:spLocks noChangeShapeType="1"/>
          </p:cNvSpPr>
          <p:nvPr/>
        </p:nvSpPr>
        <p:spPr bwMode="auto">
          <a:xfrm>
            <a:off x="66373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79" name="Line 190"/>
          <p:cNvSpPr>
            <a:spLocks noChangeShapeType="1"/>
          </p:cNvSpPr>
          <p:nvPr/>
        </p:nvSpPr>
        <p:spPr bwMode="auto">
          <a:xfrm>
            <a:off x="67040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0" name="Line 191"/>
          <p:cNvSpPr>
            <a:spLocks noChangeShapeType="1"/>
          </p:cNvSpPr>
          <p:nvPr/>
        </p:nvSpPr>
        <p:spPr bwMode="auto">
          <a:xfrm>
            <a:off x="67310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1" name="Line 192"/>
          <p:cNvSpPr>
            <a:spLocks noChangeShapeType="1"/>
          </p:cNvSpPr>
          <p:nvPr/>
        </p:nvSpPr>
        <p:spPr bwMode="auto">
          <a:xfrm>
            <a:off x="67643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2" name="Line 193"/>
          <p:cNvSpPr>
            <a:spLocks noChangeShapeType="1"/>
          </p:cNvSpPr>
          <p:nvPr/>
        </p:nvSpPr>
        <p:spPr bwMode="auto">
          <a:xfrm>
            <a:off x="68246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3" name="Line 194"/>
          <p:cNvSpPr>
            <a:spLocks noChangeShapeType="1"/>
          </p:cNvSpPr>
          <p:nvPr/>
        </p:nvSpPr>
        <p:spPr bwMode="auto">
          <a:xfrm>
            <a:off x="68580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4" name="Line 195"/>
          <p:cNvSpPr>
            <a:spLocks noChangeShapeType="1"/>
          </p:cNvSpPr>
          <p:nvPr/>
        </p:nvSpPr>
        <p:spPr bwMode="auto">
          <a:xfrm>
            <a:off x="68849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5" name="Line 196"/>
          <p:cNvSpPr>
            <a:spLocks noChangeShapeType="1"/>
          </p:cNvSpPr>
          <p:nvPr/>
        </p:nvSpPr>
        <p:spPr bwMode="auto">
          <a:xfrm>
            <a:off x="69516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6" name="Line 197"/>
          <p:cNvSpPr>
            <a:spLocks noChangeShapeType="1"/>
          </p:cNvSpPr>
          <p:nvPr/>
        </p:nvSpPr>
        <p:spPr bwMode="auto">
          <a:xfrm>
            <a:off x="69786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7" name="Line 198"/>
          <p:cNvSpPr>
            <a:spLocks noChangeShapeType="1"/>
          </p:cNvSpPr>
          <p:nvPr/>
        </p:nvSpPr>
        <p:spPr bwMode="auto">
          <a:xfrm>
            <a:off x="70119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8" name="Line 199"/>
          <p:cNvSpPr>
            <a:spLocks noChangeShapeType="1"/>
          </p:cNvSpPr>
          <p:nvPr/>
        </p:nvSpPr>
        <p:spPr bwMode="auto">
          <a:xfrm>
            <a:off x="70723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89" name="Line 200"/>
          <p:cNvSpPr>
            <a:spLocks noChangeShapeType="1"/>
          </p:cNvSpPr>
          <p:nvPr/>
        </p:nvSpPr>
        <p:spPr bwMode="auto">
          <a:xfrm>
            <a:off x="71056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0" name="Line 201"/>
          <p:cNvSpPr>
            <a:spLocks noChangeShapeType="1"/>
          </p:cNvSpPr>
          <p:nvPr/>
        </p:nvSpPr>
        <p:spPr bwMode="auto">
          <a:xfrm>
            <a:off x="71310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1" name="Line 202"/>
          <p:cNvSpPr>
            <a:spLocks noChangeShapeType="1"/>
          </p:cNvSpPr>
          <p:nvPr/>
        </p:nvSpPr>
        <p:spPr bwMode="auto">
          <a:xfrm>
            <a:off x="71913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2" name="Line 203"/>
          <p:cNvSpPr>
            <a:spLocks noChangeShapeType="1"/>
          </p:cNvSpPr>
          <p:nvPr/>
        </p:nvSpPr>
        <p:spPr bwMode="auto">
          <a:xfrm>
            <a:off x="72247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3" name="Line 204"/>
          <p:cNvSpPr>
            <a:spLocks noChangeShapeType="1"/>
          </p:cNvSpPr>
          <p:nvPr/>
        </p:nvSpPr>
        <p:spPr bwMode="auto">
          <a:xfrm>
            <a:off x="72580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4" name="Line 205"/>
          <p:cNvSpPr>
            <a:spLocks noChangeShapeType="1"/>
          </p:cNvSpPr>
          <p:nvPr/>
        </p:nvSpPr>
        <p:spPr bwMode="auto">
          <a:xfrm>
            <a:off x="73183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5" name="Line 206"/>
          <p:cNvSpPr>
            <a:spLocks noChangeShapeType="1"/>
          </p:cNvSpPr>
          <p:nvPr/>
        </p:nvSpPr>
        <p:spPr bwMode="auto">
          <a:xfrm>
            <a:off x="73517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6" name="Line 207"/>
          <p:cNvSpPr>
            <a:spLocks noChangeShapeType="1"/>
          </p:cNvSpPr>
          <p:nvPr/>
        </p:nvSpPr>
        <p:spPr bwMode="auto">
          <a:xfrm>
            <a:off x="73787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7" name="Line 208"/>
          <p:cNvSpPr>
            <a:spLocks noChangeShapeType="1"/>
          </p:cNvSpPr>
          <p:nvPr/>
        </p:nvSpPr>
        <p:spPr bwMode="auto">
          <a:xfrm>
            <a:off x="74390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8" name="Line 209"/>
          <p:cNvSpPr>
            <a:spLocks noChangeShapeType="1"/>
          </p:cNvSpPr>
          <p:nvPr/>
        </p:nvSpPr>
        <p:spPr bwMode="auto">
          <a:xfrm>
            <a:off x="74723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099" name="Line 210"/>
          <p:cNvSpPr>
            <a:spLocks noChangeShapeType="1"/>
          </p:cNvSpPr>
          <p:nvPr/>
        </p:nvSpPr>
        <p:spPr bwMode="auto">
          <a:xfrm>
            <a:off x="750570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0" name="Line 211"/>
          <p:cNvSpPr>
            <a:spLocks noChangeShapeType="1"/>
          </p:cNvSpPr>
          <p:nvPr/>
        </p:nvSpPr>
        <p:spPr bwMode="auto">
          <a:xfrm>
            <a:off x="75660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1" name="Line 212"/>
          <p:cNvSpPr>
            <a:spLocks noChangeShapeType="1"/>
          </p:cNvSpPr>
          <p:nvPr/>
        </p:nvSpPr>
        <p:spPr bwMode="auto">
          <a:xfrm>
            <a:off x="75930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2" name="Line 213"/>
          <p:cNvSpPr>
            <a:spLocks noChangeShapeType="1"/>
          </p:cNvSpPr>
          <p:nvPr/>
        </p:nvSpPr>
        <p:spPr bwMode="auto">
          <a:xfrm>
            <a:off x="76263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3" name="Line 214"/>
          <p:cNvSpPr>
            <a:spLocks noChangeShapeType="1"/>
          </p:cNvSpPr>
          <p:nvPr/>
        </p:nvSpPr>
        <p:spPr bwMode="auto">
          <a:xfrm>
            <a:off x="76866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4" name="Line 215"/>
          <p:cNvSpPr>
            <a:spLocks noChangeShapeType="1"/>
          </p:cNvSpPr>
          <p:nvPr/>
        </p:nvSpPr>
        <p:spPr bwMode="auto">
          <a:xfrm>
            <a:off x="77200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5" name="Line 216"/>
          <p:cNvSpPr>
            <a:spLocks noChangeShapeType="1"/>
          </p:cNvSpPr>
          <p:nvPr/>
        </p:nvSpPr>
        <p:spPr bwMode="auto">
          <a:xfrm>
            <a:off x="7753350"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6" name="Line 217"/>
          <p:cNvSpPr>
            <a:spLocks noChangeShapeType="1"/>
          </p:cNvSpPr>
          <p:nvPr/>
        </p:nvSpPr>
        <p:spPr bwMode="auto">
          <a:xfrm>
            <a:off x="78136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7" name="Line 218"/>
          <p:cNvSpPr>
            <a:spLocks noChangeShapeType="1"/>
          </p:cNvSpPr>
          <p:nvPr/>
        </p:nvSpPr>
        <p:spPr bwMode="auto">
          <a:xfrm>
            <a:off x="78390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8" name="Line 219"/>
          <p:cNvSpPr>
            <a:spLocks noChangeShapeType="1"/>
          </p:cNvSpPr>
          <p:nvPr/>
        </p:nvSpPr>
        <p:spPr bwMode="auto">
          <a:xfrm>
            <a:off x="78724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09" name="Line 220"/>
          <p:cNvSpPr>
            <a:spLocks noChangeShapeType="1"/>
          </p:cNvSpPr>
          <p:nvPr/>
        </p:nvSpPr>
        <p:spPr bwMode="auto">
          <a:xfrm>
            <a:off x="79327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0" name="Line 221"/>
          <p:cNvSpPr>
            <a:spLocks noChangeShapeType="1"/>
          </p:cNvSpPr>
          <p:nvPr/>
        </p:nvSpPr>
        <p:spPr bwMode="auto">
          <a:xfrm>
            <a:off x="79660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1" name="Line 222"/>
          <p:cNvSpPr>
            <a:spLocks noChangeShapeType="1"/>
          </p:cNvSpPr>
          <p:nvPr/>
        </p:nvSpPr>
        <p:spPr bwMode="auto">
          <a:xfrm>
            <a:off x="79930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2" name="Line 223"/>
          <p:cNvSpPr>
            <a:spLocks noChangeShapeType="1"/>
          </p:cNvSpPr>
          <p:nvPr/>
        </p:nvSpPr>
        <p:spPr bwMode="auto">
          <a:xfrm>
            <a:off x="805973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3" name="Line 224"/>
          <p:cNvSpPr>
            <a:spLocks noChangeShapeType="1"/>
          </p:cNvSpPr>
          <p:nvPr/>
        </p:nvSpPr>
        <p:spPr bwMode="auto">
          <a:xfrm>
            <a:off x="80867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4" name="Line 225"/>
          <p:cNvSpPr>
            <a:spLocks noChangeShapeType="1"/>
          </p:cNvSpPr>
          <p:nvPr/>
        </p:nvSpPr>
        <p:spPr bwMode="auto">
          <a:xfrm>
            <a:off x="812006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5" name="Line 226"/>
          <p:cNvSpPr>
            <a:spLocks noChangeShapeType="1"/>
          </p:cNvSpPr>
          <p:nvPr/>
        </p:nvSpPr>
        <p:spPr bwMode="auto">
          <a:xfrm>
            <a:off x="81803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6" name="Line 227"/>
          <p:cNvSpPr>
            <a:spLocks noChangeShapeType="1"/>
          </p:cNvSpPr>
          <p:nvPr/>
        </p:nvSpPr>
        <p:spPr bwMode="auto">
          <a:xfrm>
            <a:off x="821372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7" name="Line 228"/>
          <p:cNvSpPr>
            <a:spLocks noChangeShapeType="1"/>
          </p:cNvSpPr>
          <p:nvPr/>
        </p:nvSpPr>
        <p:spPr bwMode="auto">
          <a:xfrm>
            <a:off x="82407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8" name="Line 229"/>
          <p:cNvSpPr>
            <a:spLocks noChangeShapeType="1"/>
          </p:cNvSpPr>
          <p:nvPr/>
        </p:nvSpPr>
        <p:spPr bwMode="auto">
          <a:xfrm>
            <a:off x="8307388"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19" name="Line 230"/>
          <p:cNvSpPr>
            <a:spLocks noChangeShapeType="1"/>
          </p:cNvSpPr>
          <p:nvPr/>
        </p:nvSpPr>
        <p:spPr bwMode="auto">
          <a:xfrm>
            <a:off x="8334375" y="5699125"/>
            <a:ext cx="1588"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20" name="Line 231"/>
          <p:cNvSpPr>
            <a:spLocks noChangeShapeType="1"/>
          </p:cNvSpPr>
          <p:nvPr/>
        </p:nvSpPr>
        <p:spPr bwMode="auto">
          <a:xfrm>
            <a:off x="8367713" y="5699125"/>
            <a:ext cx="1587" cy="142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21" name="Line 232"/>
          <p:cNvSpPr>
            <a:spLocks noChangeShapeType="1"/>
          </p:cNvSpPr>
          <p:nvPr/>
        </p:nvSpPr>
        <p:spPr bwMode="auto">
          <a:xfrm>
            <a:off x="1000125" y="5699125"/>
            <a:ext cx="1588"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22" name="Rectangle 233"/>
          <p:cNvSpPr>
            <a:spLocks noChangeArrowheads="1"/>
          </p:cNvSpPr>
          <p:nvPr/>
        </p:nvSpPr>
        <p:spPr bwMode="auto">
          <a:xfrm>
            <a:off x="900113" y="5740400"/>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400</a:t>
            </a:r>
          </a:p>
        </p:txBody>
      </p:sp>
      <p:sp>
        <p:nvSpPr>
          <p:cNvPr id="38123" name="Line 234"/>
          <p:cNvSpPr>
            <a:spLocks noChangeShapeType="1"/>
          </p:cNvSpPr>
          <p:nvPr/>
        </p:nvSpPr>
        <p:spPr bwMode="auto">
          <a:xfrm>
            <a:off x="1614488" y="5699125"/>
            <a:ext cx="1587"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24" name="Rectangle 235"/>
          <p:cNvSpPr>
            <a:spLocks noChangeArrowheads="1"/>
          </p:cNvSpPr>
          <p:nvPr/>
        </p:nvSpPr>
        <p:spPr bwMode="auto">
          <a:xfrm>
            <a:off x="1514475" y="5740400"/>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500</a:t>
            </a:r>
          </a:p>
        </p:txBody>
      </p:sp>
      <p:sp>
        <p:nvSpPr>
          <p:cNvPr id="38125" name="Line 236"/>
          <p:cNvSpPr>
            <a:spLocks noChangeShapeType="1"/>
          </p:cNvSpPr>
          <p:nvPr/>
        </p:nvSpPr>
        <p:spPr bwMode="auto">
          <a:xfrm>
            <a:off x="2228850" y="5699125"/>
            <a:ext cx="1588"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26" name="Rectangle 237"/>
          <p:cNvSpPr>
            <a:spLocks noChangeArrowheads="1"/>
          </p:cNvSpPr>
          <p:nvPr/>
        </p:nvSpPr>
        <p:spPr bwMode="auto">
          <a:xfrm>
            <a:off x="2128838" y="5740400"/>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600</a:t>
            </a:r>
          </a:p>
        </p:txBody>
      </p:sp>
      <p:sp>
        <p:nvSpPr>
          <p:cNvPr id="38127" name="Line 238"/>
          <p:cNvSpPr>
            <a:spLocks noChangeShapeType="1"/>
          </p:cNvSpPr>
          <p:nvPr/>
        </p:nvSpPr>
        <p:spPr bwMode="auto">
          <a:xfrm>
            <a:off x="2849563" y="5699125"/>
            <a:ext cx="1587"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28" name="Rectangle 239"/>
          <p:cNvSpPr>
            <a:spLocks noChangeArrowheads="1"/>
          </p:cNvSpPr>
          <p:nvPr/>
        </p:nvSpPr>
        <p:spPr bwMode="auto">
          <a:xfrm>
            <a:off x="2749550" y="5740400"/>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700</a:t>
            </a:r>
          </a:p>
        </p:txBody>
      </p:sp>
      <p:sp>
        <p:nvSpPr>
          <p:cNvPr id="38129" name="Line 240"/>
          <p:cNvSpPr>
            <a:spLocks noChangeShapeType="1"/>
          </p:cNvSpPr>
          <p:nvPr/>
        </p:nvSpPr>
        <p:spPr bwMode="auto">
          <a:xfrm>
            <a:off x="3463925" y="5699125"/>
            <a:ext cx="1588"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30" name="Rectangle 241"/>
          <p:cNvSpPr>
            <a:spLocks noChangeArrowheads="1"/>
          </p:cNvSpPr>
          <p:nvPr/>
        </p:nvSpPr>
        <p:spPr bwMode="auto">
          <a:xfrm>
            <a:off x="3363913" y="5740400"/>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800</a:t>
            </a:r>
          </a:p>
        </p:txBody>
      </p:sp>
      <p:sp>
        <p:nvSpPr>
          <p:cNvPr id="38131" name="Line 242"/>
          <p:cNvSpPr>
            <a:spLocks noChangeShapeType="1"/>
          </p:cNvSpPr>
          <p:nvPr/>
        </p:nvSpPr>
        <p:spPr bwMode="auto">
          <a:xfrm>
            <a:off x="4078288" y="5699125"/>
            <a:ext cx="1587"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32" name="Rectangle 243"/>
          <p:cNvSpPr>
            <a:spLocks noChangeArrowheads="1"/>
          </p:cNvSpPr>
          <p:nvPr/>
        </p:nvSpPr>
        <p:spPr bwMode="auto">
          <a:xfrm>
            <a:off x="3978275" y="5740400"/>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900</a:t>
            </a:r>
          </a:p>
        </p:txBody>
      </p:sp>
      <p:sp>
        <p:nvSpPr>
          <p:cNvPr id="38133" name="Line 244"/>
          <p:cNvSpPr>
            <a:spLocks noChangeShapeType="1"/>
          </p:cNvSpPr>
          <p:nvPr/>
        </p:nvSpPr>
        <p:spPr bwMode="auto">
          <a:xfrm>
            <a:off x="4700588" y="5699125"/>
            <a:ext cx="1587"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34" name="Rectangle 245"/>
          <p:cNvSpPr>
            <a:spLocks noChangeArrowheads="1"/>
          </p:cNvSpPr>
          <p:nvPr/>
        </p:nvSpPr>
        <p:spPr bwMode="auto">
          <a:xfrm>
            <a:off x="4573588" y="57404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1000</a:t>
            </a:r>
          </a:p>
        </p:txBody>
      </p:sp>
      <p:sp>
        <p:nvSpPr>
          <p:cNvPr id="38135" name="Line 246"/>
          <p:cNvSpPr>
            <a:spLocks noChangeShapeType="1"/>
          </p:cNvSpPr>
          <p:nvPr/>
        </p:nvSpPr>
        <p:spPr bwMode="auto">
          <a:xfrm>
            <a:off x="5314950" y="5699125"/>
            <a:ext cx="1588"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36" name="Rectangle 247"/>
          <p:cNvSpPr>
            <a:spLocks noChangeArrowheads="1"/>
          </p:cNvSpPr>
          <p:nvPr/>
        </p:nvSpPr>
        <p:spPr bwMode="auto">
          <a:xfrm>
            <a:off x="5187950" y="57404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1100</a:t>
            </a:r>
          </a:p>
        </p:txBody>
      </p:sp>
      <p:sp>
        <p:nvSpPr>
          <p:cNvPr id="38137" name="Line 248"/>
          <p:cNvSpPr>
            <a:spLocks noChangeShapeType="1"/>
          </p:cNvSpPr>
          <p:nvPr/>
        </p:nvSpPr>
        <p:spPr bwMode="auto">
          <a:xfrm>
            <a:off x="5929313" y="5699125"/>
            <a:ext cx="1587"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38" name="Rectangle 249"/>
          <p:cNvSpPr>
            <a:spLocks noChangeArrowheads="1"/>
          </p:cNvSpPr>
          <p:nvPr/>
        </p:nvSpPr>
        <p:spPr bwMode="auto">
          <a:xfrm>
            <a:off x="5802313" y="57404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1200</a:t>
            </a:r>
          </a:p>
        </p:txBody>
      </p:sp>
      <p:sp>
        <p:nvSpPr>
          <p:cNvPr id="38139" name="Line 250"/>
          <p:cNvSpPr>
            <a:spLocks noChangeShapeType="1"/>
          </p:cNvSpPr>
          <p:nvPr/>
        </p:nvSpPr>
        <p:spPr bwMode="auto">
          <a:xfrm>
            <a:off x="6550025" y="5699125"/>
            <a:ext cx="1588"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40" name="Rectangle 251"/>
          <p:cNvSpPr>
            <a:spLocks noChangeArrowheads="1"/>
          </p:cNvSpPr>
          <p:nvPr/>
        </p:nvSpPr>
        <p:spPr bwMode="auto">
          <a:xfrm>
            <a:off x="6423025" y="57404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1300</a:t>
            </a:r>
          </a:p>
        </p:txBody>
      </p:sp>
      <p:sp>
        <p:nvSpPr>
          <p:cNvPr id="38141" name="Line 252"/>
          <p:cNvSpPr>
            <a:spLocks noChangeShapeType="1"/>
          </p:cNvSpPr>
          <p:nvPr/>
        </p:nvSpPr>
        <p:spPr bwMode="auto">
          <a:xfrm>
            <a:off x="7164388" y="5699125"/>
            <a:ext cx="1587"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42" name="Rectangle 253"/>
          <p:cNvSpPr>
            <a:spLocks noChangeArrowheads="1"/>
          </p:cNvSpPr>
          <p:nvPr/>
        </p:nvSpPr>
        <p:spPr bwMode="auto">
          <a:xfrm>
            <a:off x="7037388" y="57404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1400</a:t>
            </a:r>
          </a:p>
        </p:txBody>
      </p:sp>
      <p:sp>
        <p:nvSpPr>
          <p:cNvPr id="38143" name="Line 254"/>
          <p:cNvSpPr>
            <a:spLocks noChangeShapeType="1"/>
          </p:cNvSpPr>
          <p:nvPr/>
        </p:nvSpPr>
        <p:spPr bwMode="auto">
          <a:xfrm>
            <a:off x="7780338" y="5699125"/>
            <a:ext cx="1587"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44" name="Rectangle 255"/>
          <p:cNvSpPr>
            <a:spLocks noChangeArrowheads="1"/>
          </p:cNvSpPr>
          <p:nvPr/>
        </p:nvSpPr>
        <p:spPr bwMode="auto">
          <a:xfrm>
            <a:off x="7653338" y="57404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1500</a:t>
            </a:r>
          </a:p>
        </p:txBody>
      </p:sp>
      <p:sp>
        <p:nvSpPr>
          <p:cNvPr id="38145" name="Line 256"/>
          <p:cNvSpPr>
            <a:spLocks noChangeShapeType="1"/>
          </p:cNvSpPr>
          <p:nvPr/>
        </p:nvSpPr>
        <p:spPr bwMode="auto">
          <a:xfrm>
            <a:off x="8401050" y="5699125"/>
            <a:ext cx="1588" cy="412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46" name="Rectangle 257"/>
          <p:cNvSpPr>
            <a:spLocks noChangeArrowheads="1"/>
          </p:cNvSpPr>
          <p:nvPr/>
        </p:nvSpPr>
        <p:spPr bwMode="auto">
          <a:xfrm>
            <a:off x="8274050" y="5740400"/>
            <a:ext cx="20518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1600</a:t>
            </a:r>
          </a:p>
        </p:txBody>
      </p:sp>
      <p:sp>
        <p:nvSpPr>
          <p:cNvPr id="38147" name="Rectangle 258"/>
          <p:cNvSpPr>
            <a:spLocks noChangeArrowheads="1"/>
          </p:cNvSpPr>
          <p:nvPr/>
        </p:nvSpPr>
        <p:spPr bwMode="auto">
          <a:xfrm>
            <a:off x="4648200" y="5867400"/>
            <a:ext cx="24365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200">
                <a:solidFill>
                  <a:srgbClr val="000000"/>
                </a:solidFill>
                <a:latin typeface="Calibri" panose="020F0502020204030204" pitchFamily="34" charset="0"/>
              </a:rPr>
              <a:t>m/z</a:t>
            </a:r>
          </a:p>
        </p:txBody>
      </p:sp>
      <p:sp>
        <p:nvSpPr>
          <p:cNvPr id="38148" name="Line 259"/>
          <p:cNvSpPr>
            <a:spLocks noChangeShapeType="1"/>
          </p:cNvSpPr>
          <p:nvPr/>
        </p:nvSpPr>
        <p:spPr bwMode="auto">
          <a:xfrm flipV="1">
            <a:off x="1000125" y="2195513"/>
            <a:ext cx="1588" cy="35004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49" name="Line 260"/>
          <p:cNvSpPr>
            <a:spLocks noChangeShapeType="1"/>
          </p:cNvSpPr>
          <p:nvPr/>
        </p:nvSpPr>
        <p:spPr bwMode="auto">
          <a:xfrm flipH="1">
            <a:off x="960438" y="56642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0" name="Line 261"/>
          <p:cNvSpPr>
            <a:spLocks noChangeShapeType="1"/>
          </p:cNvSpPr>
          <p:nvPr/>
        </p:nvSpPr>
        <p:spPr bwMode="auto">
          <a:xfrm flipH="1">
            <a:off x="960438" y="562768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1" name="Line 262"/>
          <p:cNvSpPr>
            <a:spLocks noChangeShapeType="1"/>
          </p:cNvSpPr>
          <p:nvPr/>
        </p:nvSpPr>
        <p:spPr bwMode="auto">
          <a:xfrm flipH="1">
            <a:off x="960438" y="55927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2" name="Line 263"/>
          <p:cNvSpPr>
            <a:spLocks noChangeShapeType="1"/>
          </p:cNvSpPr>
          <p:nvPr/>
        </p:nvSpPr>
        <p:spPr bwMode="auto">
          <a:xfrm flipH="1">
            <a:off x="960438" y="55562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3" name="Line 264"/>
          <p:cNvSpPr>
            <a:spLocks noChangeShapeType="1"/>
          </p:cNvSpPr>
          <p:nvPr/>
        </p:nvSpPr>
        <p:spPr bwMode="auto">
          <a:xfrm flipH="1">
            <a:off x="960438" y="54895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4" name="Line 265"/>
          <p:cNvSpPr>
            <a:spLocks noChangeShapeType="1"/>
          </p:cNvSpPr>
          <p:nvPr/>
        </p:nvSpPr>
        <p:spPr bwMode="auto">
          <a:xfrm flipH="1">
            <a:off x="960438" y="54530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5" name="Line 266"/>
          <p:cNvSpPr>
            <a:spLocks noChangeShapeType="1"/>
          </p:cNvSpPr>
          <p:nvPr/>
        </p:nvSpPr>
        <p:spPr bwMode="auto">
          <a:xfrm flipH="1">
            <a:off x="960438" y="54181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6" name="Line 267"/>
          <p:cNvSpPr>
            <a:spLocks noChangeShapeType="1"/>
          </p:cNvSpPr>
          <p:nvPr/>
        </p:nvSpPr>
        <p:spPr bwMode="auto">
          <a:xfrm flipH="1">
            <a:off x="960438" y="53816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7" name="Line 268"/>
          <p:cNvSpPr>
            <a:spLocks noChangeShapeType="1"/>
          </p:cNvSpPr>
          <p:nvPr/>
        </p:nvSpPr>
        <p:spPr bwMode="auto">
          <a:xfrm flipH="1">
            <a:off x="960438" y="53149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8" name="Line 269"/>
          <p:cNvSpPr>
            <a:spLocks noChangeShapeType="1"/>
          </p:cNvSpPr>
          <p:nvPr/>
        </p:nvSpPr>
        <p:spPr bwMode="auto">
          <a:xfrm flipH="1">
            <a:off x="960438" y="52784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59" name="Line 270"/>
          <p:cNvSpPr>
            <a:spLocks noChangeShapeType="1"/>
          </p:cNvSpPr>
          <p:nvPr/>
        </p:nvSpPr>
        <p:spPr bwMode="auto">
          <a:xfrm flipH="1">
            <a:off x="960438" y="52435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0" name="Line 271"/>
          <p:cNvSpPr>
            <a:spLocks noChangeShapeType="1"/>
          </p:cNvSpPr>
          <p:nvPr/>
        </p:nvSpPr>
        <p:spPr bwMode="auto">
          <a:xfrm flipH="1">
            <a:off x="960438" y="52070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1" name="Line 272"/>
          <p:cNvSpPr>
            <a:spLocks noChangeShapeType="1"/>
          </p:cNvSpPr>
          <p:nvPr/>
        </p:nvSpPr>
        <p:spPr bwMode="auto">
          <a:xfrm flipH="1">
            <a:off x="960438" y="51403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2" name="Line 273"/>
          <p:cNvSpPr>
            <a:spLocks noChangeShapeType="1"/>
          </p:cNvSpPr>
          <p:nvPr/>
        </p:nvSpPr>
        <p:spPr bwMode="auto">
          <a:xfrm flipH="1">
            <a:off x="960438" y="51038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3" name="Line 274"/>
          <p:cNvSpPr>
            <a:spLocks noChangeShapeType="1"/>
          </p:cNvSpPr>
          <p:nvPr/>
        </p:nvSpPr>
        <p:spPr bwMode="auto">
          <a:xfrm flipH="1">
            <a:off x="960438" y="50673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4" name="Line 275"/>
          <p:cNvSpPr>
            <a:spLocks noChangeShapeType="1"/>
          </p:cNvSpPr>
          <p:nvPr/>
        </p:nvSpPr>
        <p:spPr bwMode="auto">
          <a:xfrm flipH="1">
            <a:off x="960438" y="50323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5" name="Line 276"/>
          <p:cNvSpPr>
            <a:spLocks noChangeShapeType="1"/>
          </p:cNvSpPr>
          <p:nvPr/>
        </p:nvSpPr>
        <p:spPr bwMode="auto">
          <a:xfrm flipH="1">
            <a:off x="960438" y="49609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6" name="Line 277"/>
          <p:cNvSpPr>
            <a:spLocks noChangeShapeType="1"/>
          </p:cNvSpPr>
          <p:nvPr/>
        </p:nvSpPr>
        <p:spPr bwMode="auto">
          <a:xfrm flipH="1">
            <a:off x="960438" y="492918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7" name="Line 278"/>
          <p:cNvSpPr>
            <a:spLocks noChangeShapeType="1"/>
          </p:cNvSpPr>
          <p:nvPr/>
        </p:nvSpPr>
        <p:spPr bwMode="auto">
          <a:xfrm flipH="1">
            <a:off x="960438" y="48926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8" name="Line 279"/>
          <p:cNvSpPr>
            <a:spLocks noChangeShapeType="1"/>
          </p:cNvSpPr>
          <p:nvPr/>
        </p:nvSpPr>
        <p:spPr bwMode="auto">
          <a:xfrm flipH="1">
            <a:off x="960438" y="48577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69" name="Line 280"/>
          <p:cNvSpPr>
            <a:spLocks noChangeShapeType="1"/>
          </p:cNvSpPr>
          <p:nvPr/>
        </p:nvSpPr>
        <p:spPr bwMode="auto">
          <a:xfrm flipH="1">
            <a:off x="960438" y="47863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0" name="Line 281"/>
          <p:cNvSpPr>
            <a:spLocks noChangeShapeType="1"/>
          </p:cNvSpPr>
          <p:nvPr/>
        </p:nvSpPr>
        <p:spPr bwMode="auto">
          <a:xfrm flipH="1">
            <a:off x="960438" y="47545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1" name="Line 282"/>
          <p:cNvSpPr>
            <a:spLocks noChangeShapeType="1"/>
          </p:cNvSpPr>
          <p:nvPr/>
        </p:nvSpPr>
        <p:spPr bwMode="auto">
          <a:xfrm flipH="1">
            <a:off x="960438" y="47180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2" name="Line 283"/>
          <p:cNvSpPr>
            <a:spLocks noChangeShapeType="1"/>
          </p:cNvSpPr>
          <p:nvPr/>
        </p:nvSpPr>
        <p:spPr bwMode="auto">
          <a:xfrm flipH="1">
            <a:off x="960438" y="46831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3" name="Line 284"/>
          <p:cNvSpPr>
            <a:spLocks noChangeShapeType="1"/>
          </p:cNvSpPr>
          <p:nvPr/>
        </p:nvSpPr>
        <p:spPr bwMode="auto">
          <a:xfrm flipH="1">
            <a:off x="960438" y="461168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4" name="Line 285"/>
          <p:cNvSpPr>
            <a:spLocks noChangeShapeType="1"/>
          </p:cNvSpPr>
          <p:nvPr/>
        </p:nvSpPr>
        <p:spPr bwMode="auto">
          <a:xfrm flipH="1">
            <a:off x="960438" y="45799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5" name="Line 286"/>
          <p:cNvSpPr>
            <a:spLocks noChangeShapeType="1"/>
          </p:cNvSpPr>
          <p:nvPr/>
        </p:nvSpPr>
        <p:spPr bwMode="auto">
          <a:xfrm flipH="1">
            <a:off x="960438" y="45434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6" name="Line 287"/>
          <p:cNvSpPr>
            <a:spLocks noChangeShapeType="1"/>
          </p:cNvSpPr>
          <p:nvPr/>
        </p:nvSpPr>
        <p:spPr bwMode="auto">
          <a:xfrm flipH="1">
            <a:off x="960438" y="45085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7" name="Line 288"/>
          <p:cNvSpPr>
            <a:spLocks noChangeShapeType="1"/>
          </p:cNvSpPr>
          <p:nvPr/>
        </p:nvSpPr>
        <p:spPr bwMode="auto">
          <a:xfrm flipH="1">
            <a:off x="960438" y="44370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8" name="Line 289"/>
          <p:cNvSpPr>
            <a:spLocks noChangeShapeType="1"/>
          </p:cNvSpPr>
          <p:nvPr/>
        </p:nvSpPr>
        <p:spPr bwMode="auto">
          <a:xfrm flipH="1">
            <a:off x="960438" y="44053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79" name="Line 290"/>
          <p:cNvSpPr>
            <a:spLocks noChangeShapeType="1"/>
          </p:cNvSpPr>
          <p:nvPr/>
        </p:nvSpPr>
        <p:spPr bwMode="auto">
          <a:xfrm flipH="1">
            <a:off x="960438" y="43688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0" name="Line 291"/>
          <p:cNvSpPr>
            <a:spLocks noChangeShapeType="1"/>
          </p:cNvSpPr>
          <p:nvPr/>
        </p:nvSpPr>
        <p:spPr bwMode="auto">
          <a:xfrm flipH="1">
            <a:off x="960438" y="43338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1" name="Line 292"/>
          <p:cNvSpPr>
            <a:spLocks noChangeShapeType="1"/>
          </p:cNvSpPr>
          <p:nvPr/>
        </p:nvSpPr>
        <p:spPr bwMode="auto">
          <a:xfrm flipH="1">
            <a:off x="960438" y="42608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2" name="Line 293"/>
          <p:cNvSpPr>
            <a:spLocks noChangeShapeType="1"/>
          </p:cNvSpPr>
          <p:nvPr/>
        </p:nvSpPr>
        <p:spPr bwMode="auto">
          <a:xfrm flipH="1">
            <a:off x="960438" y="42259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3" name="Line 294"/>
          <p:cNvSpPr>
            <a:spLocks noChangeShapeType="1"/>
          </p:cNvSpPr>
          <p:nvPr/>
        </p:nvSpPr>
        <p:spPr bwMode="auto">
          <a:xfrm flipH="1">
            <a:off x="960438" y="41941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4" name="Line 295"/>
          <p:cNvSpPr>
            <a:spLocks noChangeShapeType="1"/>
          </p:cNvSpPr>
          <p:nvPr/>
        </p:nvSpPr>
        <p:spPr bwMode="auto">
          <a:xfrm flipH="1">
            <a:off x="960438" y="41592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5" name="Line 296"/>
          <p:cNvSpPr>
            <a:spLocks noChangeShapeType="1"/>
          </p:cNvSpPr>
          <p:nvPr/>
        </p:nvSpPr>
        <p:spPr bwMode="auto">
          <a:xfrm flipH="1">
            <a:off x="960438" y="40862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6" name="Line 297"/>
          <p:cNvSpPr>
            <a:spLocks noChangeShapeType="1"/>
          </p:cNvSpPr>
          <p:nvPr/>
        </p:nvSpPr>
        <p:spPr bwMode="auto">
          <a:xfrm flipH="1">
            <a:off x="960438" y="40513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7" name="Line 298"/>
          <p:cNvSpPr>
            <a:spLocks noChangeShapeType="1"/>
          </p:cNvSpPr>
          <p:nvPr/>
        </p:nvSpPr>
        <p:spPr bwMode="auto">
          <a:xfrm flipH="1">
            <a:off x="960438" y="40195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8" name="Line 299"/>
          <p:cNvSpPr>
            <a:spLocks noChangeShapeType="1"/>
          </p:cNvSpPr>
          <p:nvPr/>
        </p:nvSpPr>
        <p:spPr bwMode="auto">
          <a:xfrm flipH="1">
            <a:off x="960438" y="39830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89" name="Line 300"/>
          <p:cNvSpPr>
            <a:spLocks noChangeShapeType="1"/>
          </p:cNvSpPr>
          <p:nvPr/>
        </p:nvSpPr>
        <p:spPr bwMode="auto">
          <a:xfrm flipH="1">
            <a:off x="960438" y="39116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0" name="Line 301"/>
          <p:cNvSpPr>
            <a:spLocks noChangeShapeType="1"/>
          </p:cNvSpPr>
          <p:nvPr/>
        </p:nvSpPr>
        <p:spPr bwMode="auto">
          <a:xfrm flipH="1">
            <a:off x="960438" y="38766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1" name="Line 302"/>
          <p:cNvSpPr>
            <a:spLocks noChangeShapeType="1"/>
          </p:cNvSpPr>
          <p:nvPr/>
        </p:nvSpPr>
        <p:spPr bwMode="auto">
          <a:xfrm flipH="1">
            <a:off x="960438" y="38449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2" name="Line 303"/>
          <p:cNvSpPr>
            <a:spLocks noChangeShapeType="1"/>
          </p:cNvSpPr>
          <p:nvPr/>
        </p:nvSpPr>
        <p:spPr bwMode="auto">
          <a:xfrm flipH="1">
            <a:off x="960438" y="38084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3" name="Line 304"/>
          <p:cNvSpPr>
            <a:spLocks noChangeShapeType="1"/>
          </p:cNvSpPr>
          <p:nvPr/>
        </p:nvSpPr>
        <p:spPr bwMode="auto">
          <a:xfrm flipH="1">
            <a:off x="960438" y="37369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4" name="Line 305"/>
          <p:cNvSpPr>
            <a:spLocks noChangeShapeType="1"/>
          </p:cNvSpPr>
          <p:nvPr/>
        </p:nvSpPr>
        <p:spPr bwMode="auto">
          <a:xfrm flipH="1">
            <a:off x="960438" y="37020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5" name="Line 306"/>
          <p:cNvSpPr>
            <a:spLocks noChangeShapeType="1"/>
          </p:cNvSpPr>
          <p:nvPr/>
        </p:nvSpPr>
        <p:spPr bwMode="auto">
          <a:xfrm flipH="1">
            <a:off x="960438" y="36703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6" name="Line 307"/>
          <p:cNvSpPr>
            <a:spLocks noChangeShapeType="1"/>
          </p:cNvSpPr>
          <p:nvPr/>
        </p:nvSpPr>
        <p:spPr bwMode="auto">
          <a:xfrm flipH="1">
            <a:off x="960438" y="363378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7" name="Line 308"/>
          <p:cNvSpPr>
            <a:spLocks noChangeShapeType="1"/>
          </p:cNvSpPr>
          <p:nvPr/>
        </p:nvSpPr>
        <p:spPr bwMode="auto">
          <a:xfrm flipH="1">
            <a:off x="960438" y="35623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8" name="Line 309"/>
          <p:cNvSpPr>
            <a:spLocks noChangeShapeType="1"/>
          </p:cNvSpPr>
          <p:nvPr/>
        </p:nvSpPr>
        <p:spPr bwMode="auto">
          <a:xfrm flipH="1">
            <a:off x="960438" y="35274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199" name="Line 310"/>
          <p:cNvSpPr>
            <a:spLocks noChangeShapeType="1"/>
          </p:cNvSpPr>
          <p:nvPr/>
        </p:nvSpPr>
        <p:spPr bwMode="auto">
          <a:xfrm flipH="1">
            <a:off x="960438" y="34909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0" name="Line 311"/>
          <p:cNvSpPr>
            <a:spLocks noChangeShapeType="1"/>
          </p:cNvSpPr>
          <p:nvPr/>
        </p:nvSpPr>
        <p:spPr bwMode="auto">
          <a:xfrm flipH="1">
            <a:off x="960438" y="34591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1" name="Line 312"/>
          <p:cNvSpPr>
            <a:spLocks noChangeShapeType="1"/>
          </p:cNvSpPr>
          <p:nvPr/>
        </p:nvSpPr>
        <p:spPr bwMode="auto">
          <a:xfrm flipH="1">
            <a:off x="960438" y="33877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2" name="Line 313"/>
          <p:cNvSpPr>
            <a:spLocks noChangeShapeType="1"/>
          </p:cNvSpPr>
          <p:nvPr/>
        </p:nvSpPr>
        <p:spPr bwMode="auto">
          <a:xfrm flipH="1">
            <a:off x="960438" y="33528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3" name="Line 314"/>
          <p:cNvSpPr>
            <a:spLocks noChangeShapeType="1"/>
          </p:cNvSpPr>
          <p:nvPr/>
        </p:nvSpPr>
        <p:spPr bwMode="auto">
          <a:xfrm flipH="1">
            <a:off x="960438" y="331628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4" name="Line 315"/>
          <p:cNvSpPr>
            <a:spLocks noChangeShapeType="1"/>
          </p:cNvSpPr>
          <p:nvPr/>
        </p:nvSpPr>
        <p:spPr bwMode="auto">
          <a:xfrm flipH="1">
            <a:off x="960438" y="32845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5" name="Line 316"/>
          <p:cNvSpPr>
            <a:spLocks noChangeShapeType="1"/>
          </p:cNvSpPr>
          <p:nvPr/>
        </p:nvSpPr>
        <p:spPr bwMode="auto">
          <a:xfrm flipH="1">
            <a:off x="960438" y="32131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6" name="Line 317"/>
          <p:cNvSpPr>
            <a:spLocks noChangeShapeType="1"/>
          </p:cNvSpPr>
          <p:nvPr/>
        </p:nvSpPr>
        <p:spPr bwMode="auto">
          <a:xfrm flipH="1">
            <a:off x="960438" y="31781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7" name="Line 318"/>
          <p:cNvSpPr>
            <a:spLocks noChangeShapeType="1"/>
          </p:cNvSpPr>
          <p:nvPr/>
        </p:nvSpPr>
        <p:spPr bwMode="auto">
          <a:xfrm flipH="1">
            <a:off x="960438" y="31416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8" name="Line 319"/>
          <p:cNvSpPr>
            <a:spLocks noChangeShapeType="1"/>
          </p:cNvSpPr>
          <p:nvPr/>
        </p:nvSpPr>
        <p:spPr bwMode="auto">
          <a:xfrm flipH="1">
            <a:off x="960438" y="31099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09" name="Line 320"/>
          <p:cNvSpPr>
            <a:spLocks noChangeShapeType="1"/>
          </p:cNvSpPr>
          <p:nvPr/>
        </p:nvSpPr>
        <p:spPr bwMode="auto">
          <a:xfrm flipH="1">
            <a:off x="960438" y="30384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0" name="Line 321"/>
          <p:cNvSpPr>
            <a:spLocks noChangeShapeType="1"/>
          </p:cNvSpPr>
          <p:nvPr/>
        </p:nvSpPr>
        <p:spPr bwMode="auto">
          <a:xfrm flipH="1">
            <a:off x="960438" y="30019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1" name="Line 322"/>
          <p:cNvSpPr>
            <a:spLocks noChangeShapeType="1"/>
          </p:cNvSpPr>
          <p:nvPr/>
        </p:nvSpPr>
        <p:spPr bwMode="auto">
          <a:xfrm flipH="1">
            <a:off x="960438" y="29670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2" name="Line 323"/>
          <p:cNvSpPr>
            <a:spLocks noChangeShapeType="1"/>
          </p:cNvSpPr>
          <p:nvPr/>
        </p:nvSpPr>
        <p:spPr bwMode="auto">
          <a:xfrm flipH="1">
            <a:off x="960438" y="293528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3" name="Line 324"/>
          <p:cNvSpPr>
            <a:spLocks noChangeShapeType="1"/>
          </p:cNvSpPr>
          <p:nvPr/>
        </p:nvSpPr>
        <p:spPr bwMode="auto">
          <a:xfrm flipH="1">
            <a:off x="960438" y="28638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4" name="Line 325"/>
          <p:cNvSpPr>
            <a:spLocks noChangeShapeType="1"/>
          </p:cNvSpPr>
          <p:nvPr/>
        </p:nvSpPr>
        <p:spPr bwMode="auto">
          <a:xfrm flipH="1">
            <a:off x="960438" y="28273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5" name="Line 326"/>
          <p:cNvSpPr>
            <a:spLocks noChangeShapeType="1"/>
          </p:cNvSpPr>
          <p:nvPr/>
        </p:nvSpPr>
        <p:spPr bwMode="auto">
          <a:xfrm flipH="1">
            <a:off x="960438" y="27924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6" name="Line 327"/>
          <p:cNvSpPr>
            <a:spLocks noChangeShapeType="1"/>
          </p:cNvSpPr>
          <p:nvPr/>
        </p:nvSpPr>
        <p:spPr bwMode="auto">
          <a:xfrm flipH="1">
            <a:off x="960438" y="27559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7" name="Line 328"/>
          <p:cNvSpPr>
            <a:spLocks noChangeShapeType="1"/>
          </p:cNvSpPr>
          <p:nvPr/>
        </p:nvSpPr>
        <p:spPr bwMode="auto">
          <a:xfrm flipH="1">
            <a:off x="960438" y="26892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8" name="Line 329"/>
          <p:cNvSpPr>
            <a:spLocks noChangeShapeType="1"/>
          </p:cNvSpPr>
          <p:nvPr/>
        </p:nvSpPr>
        <p:spPr bwMode="auto">
          <a:xfrm flipH="1">
            <a:off x="960438" y="265271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19" name="Line 330"/>
          <p:cNvSpPr>
            <a:spLocks noChangeShapeType="1"/>
          </p:cNvSpPr>
          <p:nvPr/>
        </p:nvSpPr>
        <p:spPr bwMode="auto">
          <a:xfrm flipH="1">
            <a:off x="960438" y="261778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0" name="Line 331"/>
          <p:cNvSpPr>
            <a:spLocks noChangeShapeType="1"/>
          </p:cNvSpPr>
          <p:nvPr/>
        </p:nvSpPr>
        <p:spPr bwMode="auto">
          <a:xfrm flipH="1">
            <a:off x="960438" y="25812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1" name="Line 332"/>
          <p:cNvSpPr>
            <a:spLocks noChangeShapeType="1"/>
          </p:cNvSpPr>
          <p:nvPr/>
        </p:nvSpPr>
        <p:spPr bwMode="auto">
          <a:xfrm flipH="1">
            <a:off x="960438" y="251460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2" name="Line 333"/>
          <p:cNvSpPr>
            <a:spLocks noChangeShapeType="1"/>
          </p:cNvSpPr>
          <p:nvPr/>
        </p:nvSpPr>
        <p:spPr bwMode="auto">
          <a:xfrm flipH="1">
            <a:off x="960438" y="247808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3" name="Line 334"/>
          <p:cNvSpPr>
            <a:spLocks noChangeShapeType="1"/>
          </p:cNvSpPr>
          <p:nvPr/>
        </p:nvSpPr>
        <p:spPr bwMode="auto">
          <a:xfrm flipH="1">
            <a:off x="960438" y="24431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4" name="Line 335"/>
          <p:cNvSpPr>
            <a:spLocks noChangeShapeType="1"/>
          </p:cNvSpPr>
          <p:nvPr/>
        </p:nvSpPr>
        <p:spPr bwMode="auto">
          <a:xfrm flipH="1">
            <a:off x="960438" y="2406650"/>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5" name="Line 336"/>
          <p:cNvSpPr>
            <a:spLocks noChangeShapeType="1"/>
          </p:cNvSpPr>
          <p:nvPr/>
        </p:nvSpPr>
        <p:spPr bwMode="auto">
          <a:xfrm flipH="1">
            <a:off x="960438" y="233997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6" name="Line 337"/>
          <p:cNvSpPr>
            <a:spLocks noChangeShapeType="1"/>
          </p:cNvSpPr>
          <p:nvPr/>
        </p:nvSpPr>
        <p:spPr bwMode="auto">
          <a:xfrm flipH="1">
            <a:off x="960438" y="2303463"/>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7" name="Line 338"/>
          <p:cNvSpPr>
            <a:spLocks noChangeShapeType="1"/>
          </p:cNvSpPr>
          <p:nvPr/>
        </p:nvSpPr>
        <p:spPr bwMode="auto">
          <a:xfrm flipH="1">
            <a:off x="960438" y="2268538"/>
            <a:ext cx="39687"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8" name="Line 339"/>
          <p:cNvSpPr>
            <a:spLocks noChangeShapeType="1"/>
          </p:cNvSpPr>
          <p:nvPr/>
        </p:nvSpPr>
        <p:spPr bwMode="auto">
          <a:xfrm flipH="1">
            <a:off x="960438" y="2232025"/>
            <a:ext cx="39687"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29" name="Line 340"/>
          <p:cNvSpPr>
            <a:spLocks noChangeShapeType="1"/>
          </p:cNvSpPr>
          <p:nvPr/>
        </p:nvSpPr>
        <p:spPr bwMode="auto">
          <a:xfrm flipH="1">
            <a:off x="939800" y="5695950"/>
            <a:ext cx="603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30" name="Rectangle 341"/>
          <p:cNvSpPr>
            <a:spLocks noChangeArrowheads="1"/>
          </p:cNvSpPr>
          <p:nvPr/>
        </p:nvSpPr>
        <p:spPr bwMode="auto">
          <a:xfrm>
            <a:off x="815975" y="5678488"/>
            <a:ext cx="5129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0</a:t>
            </a:r>
          </a:p>
        </p:txBody>
      </p:sp>
      <p:sp>
        <p:nvSpPr>
          <p:cNvPr id="38231" name="Line 342"/>
          <p:cNvSpPr>
            <a:spLocks noChangeShapeType="1"/>
          </p:cNvSpPr>
          <p:nvPr/>
        </p:nvSpPr>
        <p:spPr bwMode="auto">
          <a:xfrm flipH="1">
            <a:off x="939800" y="5519738"/>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32" name="Rectangle 343"/>
          <p:cNvSpPr>
            <a:spLocks noChangeArrowheads="1"/>
          </p:cNvSpPr>
          <p:nvPr/>
        </p:nvSpPr>
        <p:spPr bwMode="auto">
          <a:xfrm>
            <a:off x="815975" y="5503863"/>
            <a:ext cx="5129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5</a:t>
            </a:r>
          </a:p>
        </p:txBody>
      </p:sp>
      <p:sp>
        <p:nvSpPr>
          <p:cNvPr id="38233" name="Line 344"/>
          <p:cNvSpPr>
            <a:spLocks noChangeShapeType="1"/>
          </p:cNvSpPr>
          <p:nvPr/>
        </p:nvSpPr>
        <p:spPr bwMode="auto">
          <a:xfrm flipH="1">
            <a:off x="939800" y="5345113"/>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34" name="Rectangle 345"/>
          <p:cNvSpPr>
            <a:spLocks noChangeArrowheads="1"/>
          </p:cNvSpPr>
          <p:nvPr/>
        </p:nvSpPr>
        <p:spPr bwMode="auto">
          <a:xfrm>
            <a:off x="762000" y="5329238"/>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10</a:t>
            </a:r>
          </a:p>
        </p:txBody>
      </p:sp>
      <p:sp>
        <p:nvSpPr>
          <p:cNvPr id="38235" name="Line 346"/>
          <p:cNvSpPr>
            <a:spLocks noChangeShapeType="1"/>
          </p:cNvSpPr>
          <p:nvPr/>
        </p:nvSpPr>
        <p:spPr bwMode="auto">
          <a:xfrm flipH="1">
            <a:off x="939800" y="5170488"/>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36" name="Rectangle 347"/>
          <p:cNvSpPr>
            <a:spLocks noChangeArrowheads="1"/>
          </p:cNvSpPr>
          <p:nvPr/>
        </p:nvSpPr>
        <p:spPr bwMode="auto">
          <a:xfrm>
            <a:off x="762000" y="5153025"/>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15</a:t>
            </a:r>
          </a:p>
        </p:txBody>
      </p:sp>
      <p:sp>
        <p:nvSpPr>
          <p:cNvPr id="38237" name="Line 348"/>
          <p:cNvSpPr>
            <a:spLocks noChangeShapeType="1"/>
          </p:cNvSpPr>
          <p:nvPr/>
        </p:nvSpPr>
        <p:spPr bwMode="auto">
          <a:xfrm flipH="1">
            <a:off x="939800" y="4995863"/>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38" name="Rectangle 349"/>
          <p:cNvSpPr>
            <a:spLocks noChangeArrowheads="1"/>
          </p:cNvSpPr>
          <p:nvPr/>
        </p:nvSpPr>
        <p:spPr bwMode="auto">
          <a:xfrm>
            <a:off x="762000" y="49784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20</a:t>
            </a:r>
          </a:p>
        </p:txBody>
      </p:sp>
      <p:sp>
        <p:nvSpPr>
          <p:cNvPr id="38239" name="Line 350"/>
          <p:cNvSpPr>
            <a:spLocks noChangeShapeType="1"/>
          </p:cNvSpPr>
          <p:nvPr/>
        </p:nvSpPr>
        <p:spPr bwMode="auto">
          <a:xfrm flipH="1">
            <a:off x="939800" y="4821238"/>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40" name="Rectangle 351"/>
          <p:cNvSpPr>
            <a:spLocks noChangeArrowheads="1"/>
          </p:cNvSpPr>
          <p:nvPr/>
        </p:nvSpPr>
        <p:spPr bwMode="auto">
          <a:xfrm>
            <a:off x="762000" y="4803775"/>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25</a:t>
            </a:r>
          </a:p>
        </p:txBody>
      </p:sp>
      <p:sp>
        <p:nvSpPr>
          <p:cNvPr id="38241" name="Line 352"/>
          <p:cNvSpPr>
            <a:spLocks noChangeShapeType="1"/>
          </p:cNvSpPr>
          <p:nvPr/>
        </p:nvSpPr>
        <p:spPr bwMode="auto">
          <a:xfrm flipH="1">
            <a:off x="939800" y="4646613"/>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42" name="Rectangle 353"/>
          <p:cNvSpPr>
            <a:spLocks noChangeArrowheads="1"/>
          </p:cNvSpPr>
          <p:nvPr/>
        </p:nvSpPr>
        <p:spPr bwMode="auto">
          <a:xfrm>
            <a:off x="762000" y="462915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30</a:t>
            </a:r>
          </a:p>
        </p:txBody>
      </p:sp>
      <p:sp>
        <p:nvSpPr>
          <p:cNvPr id="38243" name="Line 354"/>
          <p:cNvSpPr>
            <a:spLocks noChangeShapeType="1"/>
          </p:cNvSpPr>
          <p:nvPr/>
        </p:nvSpPr>
        <p:spPr bwMode="auto">
          <a:xfrm flipH="1">
            <a:off x="939800" y="4471988"/>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44" name="Rectangle 355"/>
          <p:cNvSpPr>
            <a:spLocks noChangeArrowheads="1"/>
          </p:cNvSpPr>
          <p:nvPr/>
        </p:nvSpPr>
        <p:spPr bwMode="auto">
          <a:xfrm>
            <a:off x="762000" y="4454525"/>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35</a:t>
            </a:r>
          </a:p>
        </p:txBody>
      </p:sp>
      <p:sp>
        <p:nvSpPr>
          <p:cNvPr id="38245" name="Line 356"/>
          <p:cNvSpPr>
            <a:spLocks noChangeShapeType="1"/>
          </p:cNvSpPr>
          <p:nvPr/>
        </p:nvSpPr>
        <p:spPr bwMode="auto">
          <a:xfrm flipH="1">
            <a:off x="939800" y="4297363"/>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46" name="Rectangle 357"/>
          <p:cNvSpPr>
            <a:spLocks noChangeArrowheads="1"/>
          </p:cNvSpPr>
          <p:nvPr/>
        </p:nvSpPr>
        <p:spPr bwMode="auto">
          <a:xfrm>
            <a:off x="762000" y="42799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40</a:t>
            </a:r>
          </a:p>
        </p:txBody>
      </p:sp>
      <p:sp>
        <p:nvSpPr>
          <p:cNvPr id="38247" name="Line 358"/>
          <p:cNvSpPr>
            <a:spLocks noChangeShapeType="1"/>
          </p:cNvSpPr>
          <p:nvPr/>
        </p:nvSpPr>
        <p:spPr bwMode="auto">
          <a:xfrm flipH="1">
            <a:off x="939800" y="4122738"/>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48" name="Rectangle 359"/>
          <p:cNvSpPr>
            <a:spLocks noChangeArrowheads="1"/>
          </p:cNvSpPr>
          <p:nvPr/>
        </p:nvSpPr>
        <p:spPr bwMode="auto">
          <a:xfrm>
            <a:off x="762000" y="4105275"/>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45</a:t>
            </a:r>
          </a:p>
        </p:txBody>
      </p:sp>
      <p:sp>
        <p:nvSpPr>
          <p:cNvPr id="38249" name="Line 360"/>
          <p:cNvSpPr>
            <a:spLocks noChangeShapeType="1"/>
          </p:cNvSpPr>
          <p:nvPr/>
        </p:nvSpPr>
        <p:spPr bwMode="auto">
          <a:xfrm flipH="1">
            <a:off x="939800" y="3948113"/>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50" name="Rectangle 361"/>
          <p:cNvSpPr>
            <a:spLocks noChangeArrowheads="1"/>
          </p:cNvSpPr>
          <p:nvPr/>
        </p:nvSpPr>
        <p:spPr bwMode="auto">
          <a:xfrm>
            <a:off x="762000" y="393065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50</a:t>
            </a:r>
          </a:p>
        </p:txBody>
      </p:sp>
      <p:sp>
        <p:nvSpPr>
          <p:cNvPr id="38251" name="Line 362"/>
          <p:cNvSpPr>
            <a:spLocks noChangeShapeType="1"/>
          </p:cNvSpPr>
          <p:nvPr/>
        </p:nvSpPr>
        <p:spPr bwMode="auto">
          <a:xfrm flipH="1">
            <a:off x="939800" y="3773488"/>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52" name="Rectangle 363"/>
          <p:cNvSpPr>
            <a:spLocks noChangeArrowheads="1"/>
          </p:cNvSpPr>
          <p:nvPr/>
        </p:nvSpPr>
        <p:spPr bwMode="auto">
          <a:xfrm>
            <a:off x="762000" y="3756025"/>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55</a:t>
            </a:r>
          </a:p>
        </p:txBody>
      </p:sp>
      <p:sp>
        <p:nvSpPr>
          <p:cNvPr id="38253" name="Line 364"/>
          <p:cNvSpPr>
            <a:spLocks noChangeShapeType="1"/>
          </p:cNvSpPr>
          <p:nvPr/>
        </p:nvSpPr>
        <p:spPr bwMode="auto">
          <a:xfrm flipH="1">
            <a:off x="939800" y="3598863"/>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54" name="Rectangle 365"/>
          <p:cNvSpPr>
            <a:spLocks noChangeArrowheads="1"/>
          </p:cNvSpPr>
          <p:nvPr/>
        </p:nvSpPr>
        <p:spPr bwMode="auto">
          <a:xfrm>
            <a:off x="762000" y="35814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60</a:t>
            </a:r>
          </a:p>
        </p:txBody>
      </p:sp>
      <p:sp>
        <p:nvSpPr>
          <p:cNvPr id="38255" name="Line 366"/>
          <p:cNvSpPr>
            <a:spLocks noChangeShapeType="1"/>
          </p:cNvSpPr>
          <p:nvPr/>
        </p:nvSpPr>
        <p:spPr bwMode="auto">
          <a:xfrm flipH="1">
            <a:off x="939800" y="3424238"/>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56" name="Rectangle 367"/>
          <p:cNvSpPr>
            <a:spLocks noChangeArrowheads="1"/>
          </p:cNvSpPr>
          <p:nvPr/>
        </p:nvSpPr>
        <p:spPr bwMode="auto">
          <a:xfrm>
            <a:off x="762000" y="3406775"/>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65</a:t>
            </a:r>
          </a:p>
        </p:txBody>
      </p:sp>
      <p:sp>
        <p:nvSpPr>
          <p:cNvPr id="38257" name="Line 368"/>
          <p:cNvSpPr>
            <a:spLocks noChangeShapeType="1"/>
          </p:cNvSpPr>
          <p:nvPr/>
        </p:nvSpPr>
        <p:spPr bwMode="auto">
          <a:xfrm flipH="1">
            <a:off x="939800" y="3249613"/>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58" name="Rectangle 369"/>
          <p:cNvSpPr>
            <a:spLocks noChangeArrowheads="1"/>
          </p:cNvSpPr>
          <p:nvPr/>
        </p:nvSpPr>
        <p:spPr bwMode="auto">
          <a:xfrm>
            <a:off x="762000" y="323215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70</a:t>
            </a:r>
          </a:p>
        </p:txBody>
      </p:sp>
      <p:sp>
        <p:nvSpPr>
          <p:cNvPr id="38259" name="Line 370"/>
          <p:cNvSpPr>
            <a:spLocks noChangeShapeType="1"/>
          </p:cNvSpPr>
          <p:nvPr/>
        </p:nvSpPr>
        <p:spPr bwMode="auto">
          <a:xfrm flipH="1">
            <a:off x="939800" y="3074988"/>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60" name="Rectangle 371"/>
          <p:cNvSpPr>
            <a:spLocks noChangeArrowheads="1"/>
          </p:cNvSpPr>
          <p:nvPr/>
        </p:nvSpPr>
        <p:spPr bwMode="auto">
          <a:xfrm>
            <a:off x="762000" y="3057525"/>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75</a:t>
            </a:r>
          </a:p>
        </p:txBody>
      </p:sp>
      <p:sp>
        <p:nvSpPr>
          <p:cNvPr id="38261" name="Line 372"/>
          <p:cNvSpPr>
            <a:spLocks noChangeShapeType="1"/>
          </p:cNvSpPr>
          <p:nvPr/>
        </p:nvSpPr>
        <p:spPr bwMode="auto">
          <a:xfrm flipH="1">
            <a:off x="939800" y="2900363"/>
            <a:ext cx="603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62" name="Rectangle 373"/>
          <p:cNvSpPr>
            <a:spLocks noChangeArrowheads="1"/>
          </p:cNvSpPr>
          <p:nvPr/>
        </p:nvSpPr>
        <p:spPr bwMode="auto">
          <a:xfrm>
            <a:off x="762000" y="28829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80</a:t>
            </a:r>
          </a:p>
        </p:txBody>
      </p:sp>
      <p:sp>
        <p:nvSpPr>
          <p:cNvPr id="38263" name="Line 374"/>
          <p:cNvSpPr>
            <a:spLocks noChangeShapeType="1"/>
          </p:cNvSpPr>
          <p:nvPr/>
        </p:nvSpPr>
        <p:spPr bwMode="auto">
          <a:xfrm flipH="1">
            <a:off x="939800" y="2724150"/>
            <a:ext cx="603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64" name="Rectangle 375"/>
          <p:cNvSpPr>
            <a:spLocks noChangeArrowheads="1"/>
          </p:cNvSpPr>
          <p:nvPr/>
        </p:nvSpPr>
        <p:spPr bwMode="auto">
          <a:xfrm>
            <a:off x="762000" y="2708275"/>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85</a:t>
            </a:r>
          </a:p>
        </p:txBody>
      </p:sp>
      <p:sp>
        <p:nvSpPr>
          <p:cNvPr id="38265" name="Line 376"/>
          <p:cNvSpPr>
            <a:spLocks noChangeShapeType="1"/>
          </p:cNvSpPr>
          <p:nvPr/>
        </p:nvSpPr>
        <p:spPr bwMode="auto">
          <a:xfrm flipH="1">
            <a:off x="939800" y="2549525"/>
            <a:ext cx="603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66" name="Rectangle 377"/>
          <p:cNvSpPr>
            <a:spLocks noChangeArrowheads="1"/>
          </p:cNvSpPr>
          <p:nvPr/>
        </p:nvSpPr>
        <p:spPr bwMode="auto">
          <a:xfrm>
            <a:off x="762000" y="253365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90</a:t>
            </a:r>
          </a:p>
        </p:txBody>
      </p:sp>
      <p:sp>
        <p:nvSpPr>
          <p:cNvPr id="38267" name="Line 378"/>
          <p:cNvSpPr>
            <a:spLocks noChangeShapeType="1"/>
          </p:cNvSpPr>
          <p:nvPr/>
        </p:nvSpPr>
        <p:spPr bwMode="auto">
          <a:xfrm flipH="1">
            <a:off x="939800" y="2374900"/>
            <a:ext cx="603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68" name="Rectangle 379"/>
          <p:cNvSpPr>
            <a:spLocks noChangeArrowheads="1"/>
          </p:cNvSpPr>
          <p:nvPr/>
        </p:nvSpPr>
        <p:spPr bwMode="auto">
          <a:xfrm>
            <a:off x="762000" y="2357438"/>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95</a:t>
            </a:r>
          </a:p>
        </p:txBody>
      </p:sp>
      <p:sp>
        <p:nvSpPr>
          <p:cNvPr id="38269" name="Rectangle 380"/>
          <p:cNvSpPr>
            <a:spLocks noChangeArrowheads="1"/>
          </p:cNvSpPr>
          <p:nvPr/>
        </p:nvSpPr>
        <p:spPr bwMode="auto">
          <a:xfrm>
            <a:off x="709613" y="2179638"/>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100</a:t>
            </a:r>
          </a:p>
        </p:txBody>
      </p:sp>
      <p:sp>
        <p:nvSpPr>
          <p:cNvPr id="38270" name="Rectangle 381"/>
          <p:cNvSpPr>
            <a:spLocks noChangeArrowheads="1"/>
          </p:cNvSpPr>
          <p:nvPr/>
        </p:nvSpPr>
        <p:spPr bwMode="auto">
          <a:xfrm rot="16200000">
            <a:off x="-146894" y="3680361"/>
            <a:ext cx="12383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200">
                <a:solidFill>
                  <a:srgbClr val="000000"/>
                </a:solidFill>
                <a:latin typeface="Calibri" panose="020F0502020204030204" pitchFamily="34" charset="0"/>
              </a:rPr>
              <a:t>Relative Abundance</a:t>
            </a:r>
          </a:p>
        </p:txBody>
      </p:sp>
      <p:sp>
        <p:nvSpPr>
          <p:cNvPr id="38271" name="Freeform 382"/>
          <p:cNvSpPr>
            <a:spLocks/>
          </p:cNvSpPr>
          <p:nvPr/>
        </p:nvSpPr>
        <p:spPr bwMode="auto">
          <a:xfrm>
            <a:off x="1000125" y="2200275"/>
            <a:ext cx="7400925" cy="3495675"/>
          </a:xfrm>
          <a:custGeom>
            <a:avLst/>
            <a:gdLst>
              <a:gd name="T0" fmla="*/ 66795 w 1108"/>
              <a:gd name="T1" fmla="*/ 3495675 h 780"/>
              <a:gd name="T2" fmla="*/ 133591 w 1108"/>
              <a:gd name="T3" fmla="*/ 3495675 h 780"/>
              <a:gd name="T4" fmla="*/ 200386 w 1108"/>
              <a:gd name="T5" fmla="*/ 3495675 h 780"/>
              <a:gd name="T6" fmla="*/ 273861 w 1108"/>
              <a:gd name="T7" fmla="*/ 3495675 h 780"/>
              <a:gd name="T8" fmla="*/ 340656 w 1108"/>
              <a:gd name="T9" fmla="*/ 3495675 h 780"/>
              <a:gd name="T10" fmla="*/ 414131 w 1108"/>
              <a:gd name="T11" fmla="*/ 3495675 h 780"/>
              <a:gd name="T12" fmla="*/ 480927 w 1108"/>
              <a:gd name="T13" fmla="*/ 3316410 h 780"/>
              <a:gd name="T14" fmla="*/ 547722 w 1108"/>
              <a:gd name="T15" fmla="*/ 3495675 h 780"/>
              <a:gd name="T16" fmla="*/ 607838 w 1108"/>
              <a:gd name="T17" fmla="*/ 3495675 h 780"/>
              <a:gd name="T18" fmla="*/ 681313 w 1108"/>
              <a:gd name="T19" fmla="*/ 3455340 h 780"/>
              <a:gd name="T20" fmla="*/ 748108 w 1108"/>
              <a:gd name="T21" fmla="*/ 3495675 h 780"/>
              <a:gd name="T22" fmla="*/ 814903 w 1108"/>
              <a:gd name="T23" fmla="*/ 3495675 h 780"/>
              <a:gd name="T24" fmla="*/ 881699 w 1108"/>
              <a:gd name="T25" fmla="*/ 3495675 h 780"/>
              <a:gd name="T26" fmla="*/ 948494 w 1108"/>
              <a:gd name="T27" fmla="*/ 3289520 h 780"/>
              <a:gd name="T28" fmla="*/ 1008610 w 1108"/>
              <a:gd name="T29" fmla="*/ 3495675 h 780"/>
              <a:gd name="T30" fmla="*/ 1075405 w 1108"/>
              <a:gd name="T31" fmla="*/ 0 h 780"/>
              <a:gd name="T32" fmla="*/ 1142201 w 1108"/>
              <a:gd name="T33" fmla="*/ 3495675 h 780"/>
              <a:gd name="T34" fmla="*/ 1222355 w 1108"/>
              <a:gd name="T35" fmla="*/ 3495675 h 780"/>
              <a:gd name="T36" fmla="*/ 1289150 w 1108"/>
              <a:gd name="T37" fmla="*/ 3495675 h 780"/>
              <a:gd name="T38" fmla="*/ 1362625 w 1108"/>
              <a:gd name="T39" fmla="*/ 3495675 h 780"/>
              <a:gd name="T40" fmla="*/ 1436100 w 1108"/>
              <a:gd name="T41" fmla="*/ 3495675 h 780"/>
              <a:gd name="T42" fmla="*/ 1522934 w 1108"/>
              <a:gd name="T43" fmla="*/ 3495675 h 780"/>
              <a:gd name="T44" fmla="*/ 1589729 w 1108"/>
              <a:gd name="T45" fmla="*/ 3495675 h 780"/>
              <a:gd name="T46" fmla="*/ 1656525 w 1108"/>
              <a:gd name="T47" fmla="*/ 3495675 h 780"/>
              <a:gd name="T48" fmla="*/ 1723320 w 1108"/>
              <a:gd name="T49" fmla="*/ 3495675 h 780"/>
              <a:gd name="T50" fmla="*/ 1790115 w 1108"/>
              <a:gd name="T51" fmla="*/ 3495675 h 780"/>
              <a:gd name="T52" fmla="*/ 1863590 w 1108"/>
              <a:gd name="T53" fmla="*/ 3495675 h 780"/>
              <a:gd name="T54" fmla="*/ 1937065 w 1108"/>
              <a:gd name="T55" fmla="*/ 3495675 h 780"/>
              <a:gd name="T56" fmla="*/ 1997181 w 1108"/>
              <a:gd name="T57" fmla="*/ 3495675 h 780"/>
              <a:gd name="T58" fmla="*/ 2070656 w 1108"/>
              <a:gd name="T59" fmla="*/ 3495675 h 780"/>
              <a:gd name="T60" fmla="*/ 2130772 w 1108"/>
              <a:gd name="T61" fmla="*/ 3486712 h 780"/>
              <a:gd name="T62" fmla="*/ 2197567 w 1108"/>
              <a:gd name="T63" fmla="*/ 3495675 h 780"/>
              <a:gd name="T64" fmla="*/ 2271042 w 1108"/>
              <a:gd name="T65" fmla="*/ 3495675 h 780"/>
              <a:gd name="T66" fmla="*/ 2344517 w 1108"/>
              <a:gd name="T67" fmla="*/ 3495675 h 780"/>
              <a:gd name="T68" fmla="*/ 2484787 w 1108"/>
              <a:gd name="T69" fmla="*/ 3495675 h 780"/>
              <a:gd name="T70" fmla="*/ 2564942 w 1108"/>
              <a:gd name="T71" fmla="*/ 3495675 h 780"/>
              <a:gd name="T72" fmla="*/ 2705212 w 1108"/>
              <a:gd name="T73" fmla="*/ 3495675 h 780"/>
              <a:gd name="T74" fmla="*/ 2772007 w 1108"/>
              <a:gd name="T75" fmla="*/ 3495675 h 780"/>
              <a:gd name="T76" fmla="*/ 2872200 w 1108"/>
              <a:gd name="T77" fmla="*/ 3495675 h 780"/>
              <a:gd name="T78" fmla="*/ 3019150 w 1108"/>
              <a:gd name="T79" fmla="*/ 3495675 h 780"/>
              <a:gd name="T80" fmla="*/ 3112663 w 1108"/>
              <a:gd name="T81" fmla="*/ 3495675 h 780"/>
              <a:gd name="T82" fmla="*/ 3206177 w 1108"/>
              <a:gd name="T83" fmla="*/ 3495675 h 780"/>
              <a:gd name="T84" fmla="*/ 3326409 w 1108"/>
              <a:gd name="T85" fmla="*/ 3495675 h 780"/>
              <a:gd name="T86" fmla="*/ 3439961 w 1108"/>
              <a:gd name="T87" fmla="*/ 3495675 h 780"/>
              <a:gd name="T88" fmla="*/ 3626988 w 1108"/>
              <a:gd name="T89" fmla="*/ 3495675 h 780"/>
              <a:gd name="T90" fmla="*/ 3793976 w 1108"/>
              <a:gd name="T91" fmla="*/ 3495675 h 780"/>
              <a:gd name="T92" fmla="*/ 3954285 w 1108"/>
              <a:gd name="T93" fmla="*/ 3495675 h 780"/>
              <a:gd name="T94" fmla="*/ 4221466 w 1108"/>
              <a:gd name="T95" fmla="*/ 3495675 h 780"/>
              <a:gd name="T96" fmla="*/ 4335018 w 1108"/>
              <a:gd name="T97" fmla="*/ 3495675 h 780"/>
              <a:gd name="T98" fmla="*/ 4448570 w 1108"/>
              <a:gd name="T99" fmla="*/ 3495675 h 780"/>
              <a:gd name="T100" fmla="*/ 4602200 w 1108"/>
              <a:gd name="T101" fmla="*/ 3495675 h 780"/>
              <a:gd name="T102" fmla="*/ 4668995 w 1108"/>
              <a:gd name="T103" fmla="*/ 3495675 h 780"/>
              <a:gd name="T104" fmla="*/ 5043049 w 1108"/>
              <a:gd name="T105" fmla="*/ 3495675 h 780"/>
              <a:gd name="T106" fmla="*/ 5303551 w 1108"/>
              <a:gd name="T107" fmla="*/ 3495675 h 780"/>
              <a:gd name="T108" fmla="*/ 5664246 w 1108"/>
              <a:gd name="T109" fmla="*/ 3495675 h 780"/>
              <a:gd name="T110" fmla="*/ 5791157 w 1108"/>
              <a:gd name="T111" fmla="*/ 3495675 h 780"/>
              <a:gd name="T112" fmla="*/ 6151852 w 1108"/>
              <a:gd name="T113" fmla="*/ 3495675 h 780"/>
              <a:gd name="T114" fmla="*/ 6218647 w 1108"/>
              <a:gd name="T115" fmla="*/ 3495675 h 780"/>
              <a:gd name="T116" fmla="*/ 6532585 w 1108"/>
              <a:gd name="T117" fmla="*/ 3495675 h 780"/>
              <a:gd name="T118" fmla="*/ 6953396 w 1108"/>
              <a:gd name="T119" fmla="*/ 3495675 h 780"/>
              <a:gd name="T120" fmla="*/ 7167141 w 1108"/>
              <a:gd name="T121" fmla="*/ 3495675 h 78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108" h="780">
                <a:moveTo>
                  <a:pt x="0" y="780"/>
                </a:moveTo>
                <a:lnTo>
                  <a:pt x="0" y="780"/>
                </a:lnTo>
                <a:lnTo>
                  <a:pt x="1" y="780"/>
                </a:lnTo>
                <a:lnTo>
                  <a:pt x="3" y="780"/>
                </a:lnTo>
                <a:lnTo>
                  <a:pt x="4" y="780"/>
                </a:lnTo>
                <a:lnTo>
                  <a:pt x="6" y="780"/>
                </a:lnTo>
                <a:lnTo>
                  <a:pt x="7" y="780"/>
                </a:lnTo>
                <a:lnTo>
                  <a:pt x="8" y="773"/>
                </a:lnTo>
                <a:lnTo>
                  <a:pt x="8" y="780"/>
                </a:lnTo>
                <a:lnTo>
                  <a:pt x="9" y="776"/>
                </a:lnTo>
                <a:lnTo>
                  <a:pt x="9" y="780"/>
                </a:lnTo>
                <a:lnTo>
                  <a:pt x="10" y="780"/>
                </a:lnTo>
                <a:lnTo>
                  <a:pt x="11" y="779"/>
                </a:lnTo>
                <a:lnTo>
                  <a:pt x="11" y="780"/>
                </a:lnTo>
                <a:lnTo>
                  <a:pt x="12" y="396"/>
                </a:lnTo>
                <a:lnTo>
                  <a:pt x="12" y="780"/>
                </a:lnTo>
                <a:lnTo>
                  <a:pt x="13" y="732"/>
                </a:lnTo>
                <a:lnTo>
                  <a:pt x="13" y="780"/>
                </a:lnTo>
                <a:lnTo>
                  <a:pt x="14" y="780"/>
                </a:lnTo>
                <a:lnTo>
                  <a:pt x="15" y="780"/>
                </a:lnTo>
                <a:lnTo>
                  <a:pt x="16" y="780"/>
                </a:lnTo>
                <a:lnTo>
                  <a:pt x="18" y="780"/>
                </a:lnTo>
                <a:lnTo>
                  <a:pt x="20" y="780"/>
                </a:lnTo>
                <a:lnTo>
                  <a:pt x="21" y="780"/>
                </a:lnTo>
                <a:lnTo>
                  <a:pt x="22" y="780"/>
                </a:lnTo>
                <a:lnTo>
                  <a:pt x="23" y="780"/>
                </a:lnTo>
                <a:lnTo>
                  <a:pt x="24" y="780"/>
                </a:lnTo>
                <a:lnTo>
                  <a:pt x="25" y="779"/>
                </a:lnTo>
                <a:lnTo>
                  <a:pt x="25" y="780"/>
                </a:lnTo>
                <a:lnTo>
                  <a:pt x="26" y="780"/>
                </a:lnTo>
                <a:lnTo>
                  <a:pt x="27" y="780"/>
                </a:lnTo>
                <a:lnTo>
                  <a:pt x="28" y="780"/>
                </a:lnTo>
                <a:lnTo>
                  <a:pt x="29" y="780"/>
                </a:lnTo>
                <a:lnTo>
                  <a:pt x="30" y="780"/>
                </a:lnTo>
                <a:lnTo>
                  <a:pt x="31" y="780"/>
                </a:lnTo>
                <a:lnTo>
                  <a:pt x="32" y="780"/>
                </a:lnTo>
                <a:lnTo>
                  <a:pt x="35" y="780"/>
                </a:lnTo>
                <a:lnTo>
                  <a:pt x="36" y="775"/>
                </a:lnTo>
                <a:lnTo>
                  <a:pt x="36" y="780"/>
                </a:lnTo>
                <a:lnTo>
                  <a:pt x="37" y="780"/>
                </a:lnTo>
                <a:lnTo>
                  <a:pt x="38" y="780"/>
                </a:lnTo>
                <a:lnTo>
                  <a:pt x="38" y="734"/>
                </a:lnTo>
                <a:lnTo>
                  <a:pt x="39" y="758"/>
                </a:lnTo>
                <a:lnTo>
                  <a:pt x="39" y="780"/>
                </a:lnTo>
                <a:lnTo>
                  <a:pt x="40" y="780"/>
                </a:lnTo>
                <a:lnTo>
                  <a:pt x="41" y="780"/>
                </a:lnTo>
                <a:lnTo>
                  <a:pt x="42" y="780"/>
                </a:lnTo>
                <a:lnTo>
                  <a:pt x="43" y="780"/>
                </a:lnTo>
                <a:lnTo>
                  <a:pt x="44" y="780"/>
                </a:lnTo>
                <a:lnTo>
                  <a:pt x="45" y="780"/>
                </a:lnTo>
                <a:lnTo>
                  <a:pt x="46" y="780"/>
                </a:lnTo>
                <a:lnTo>
                  <a:pt x="48" y="780"/>
                </a:lnTo>
                <a:lnTo>
                  <a:pt x="48" y="778"/>
                </a:lnTo>
                <a:lnTo>
                  <a:pt x="48" y="780"/>
                </a:lnTo>
                <a:lnTo>
                  <a:pt x="49" y="777"/>
                </a:lnTo>
                <a:lnTo>
                  <a:pt x="49" y="780"/>
                </a:lnTo>
                <a:lnTo>
                  <a:pt x="50" y="780"/>
                </a:lnTo>
                <a:lnTo>
                  <a:pt x="51" y="780"/>
                </a:lnTo>
                <a:lnTo>
                  <a:pt x="52" y="780"/>
                </a:lnTo>
                <a:lnTo>
                  <a:pt x="53" y="780"/>
                </a:lnTo>
                <a:lnTo>
                  <a:pt x="55" y="780"/>
                </a:lnTo>
                <a:lnTo>
                  <a:pt x="56" y="780"/>
                </a:lnTo>
                <a:lnTo>
                  <a:pt x="57" y="780"/>
                </a:lnTo>
                <a:lnTo>
                  <a:pt x="58" y="780"/>
                </a:lnTo>
                <a:lnTo>
                  <a:pt x="59" y="780"/>
                </a:lnTo>
                <a:lnTo>
                  <a:pt x="60" y="780"/>
                </a:lnTo>
                <a:lnTo>
                  <a:pt x="62" y="780"/>
                </a:lnTo>
                <a:lnTo>
                  <a:pt x="63" y="777"/>
                </a:lnTo>
                <a:lnTo>
                  <a:pt x="63" y="780"/>
                </a:lnTo>
                <a:lnTo>
                  <a:pt x="64" y="778"/>
                </a:lnTo>
                <a:lnTo>
                  <a:pt x="64" y="780"/>
                </a:lnTo>
                <a:lnTo>
                  <a:pt x="65" y="777"/>
                </a:lnTo>
                <a:lnTo>
                  <a:pt x="65" y="780"/>
                </a:lnTo>
                <a:lnTo>
                  <a:pt x="66" y="779"/>
                </a:lnTo>
                <a:lnTo>
                  <a:pt x="66" y="780"/>
                </a:lnTo>
                <a:lnTo>
                  <a:pt x="67" y="780"/>
                </a:lnTo>
                <a:lnTo>
                  <a:pt x="69" y="780"/>
                </a:lnTo>
                <a:lnTo>
                  <a:pt x="70" y="780"/>
                </a:lnTo>
                <a:lnTo>
                  <a:pt x="72" y="780"/>
                </a:lnTo>
                <a:lnTo>
                  <a:pt x="72" y="740"/>
                </a:lnTo>
                <a:lnTo>
                  <a:pt x="72" y="780"/>
                </a:lnTo>
                <a:lnTo>
                  <a:pt x="73" y="761"/>
                </a:lnTo>
                <a:lnTo>
                  <a:pt x="73" y="780"/>
                </a:lnTo>
                <a:lnTo>
                  <a:pt x="74" y="779"/>
                </a:lnTo>
                <a:lnTo>
                  <a:pt x="74" y="780"/>
                </a:lnTo>
                <a:lnTo>
                  <a:pt x="75" y="780"/>
                </a:lnTo>
                <a:lnTo>
                  <a:pt x="76" y="780"/>
                </a:lnTo>
                <a:lnTo>
                  <a:pt x="78" y="780"/>
                </a:lnTo>
                <a:lnTo>
                  <a:pt x="79" y="780"/>
                </a:lnTo>
                <a:lnTo>
                  <a:pt x="80" y="780"/>
                </a:lnTo>
                <a:lnTo>
                  <a:pt x="80" y="774"/>
                </a:lnTo>
                <a:lnTo>
                  <a:pt x="81" y="773"/>
                </a:lnTo>
                <a:lnTo>
                  <a:pt x="81" y="780"/>
                </a:lnTo>
                <a:lnTo>
                  <a:pt x="82" y="780"/>
                </a:lnTo>
                <a:lnTo>
                  <a:pt x="83" y="780"/>
                </a:lnTo>
                <a:lnTo>
                  <a:pt x="84" y="780"/>
                </a:lnTo>
                <a:lnTo>
                  <a:pt x="85" y="780"/>
                </a:lnTo>
                <a:lnTo>
                  <a:pt x="86" y="780"/>
                </a:lnTo>
                <a:lnTo>
                  <a:pt x="86" y="774"/>
                </a:lnTo>
                <a:lnTo>
                  <a:pt x="87" y="778"/>
                </a:lnTo>
                <a:lnTo>
                  <a:pt x="87" y="780"/>
                </a:lnTo>
                <a:lnTo>
                  <a:pt x="88" y="778"/>
                </a:lnTo>
                <a:lnTo>
                  <a:pt x="88" y="780"/>
                </a:lnTo>
                <a:lnTo>
                  <a:pt x="89" y="778"/>
                </a:lnTo>
                <a:lnTo>
                  <a:pt x="89" y="780"/>
                </a:lnTo>
                <a:lnTo>
                  <a:pt x="90" y="779"/>
                </a:lnTo>
                <a:lnTo>
                  <a:pt x="90" y="780"/>
                </a:lnTo>
                <a:lnTo>
                  <a:pt x="91" y="780"/>
                </a:lnTo>
                <a:lnTo>
                  <a:pt x="93" y="780"/>
                </a:lnTo>
                <a:lnTo>
                  <a:pt x="93" y="777"/>
                </a:lnTo>
                <a:lnTo>
                  <a:pt x="93" y="780"/>
                </a:lnTo>
                <a:lnTo>
                  <a:pt x="94" y="778"/>
                </a:lnTo>
                <a:lnTo>
                  <a:pt x="94" y="780"/>
                </a:lnTo>
                <a:lnTo>
                  <a:pt x="95" y="780"/>
                </a:lnTo>
                <a:lnTo>
                  <a:pt x="96" y="780"/>
                </a:lnTo>
                <a:lnTo>
                  <a:pt x="98" y="780"/>
                </a:lnTo>
                <a:lnTo>
                  <a:pt x="98" y="776"/>
                </a:lnTo>
                <a:lnTo>
                  <a:pt x="98" y="780"/>
                </a:lnTo>
                <a:lnTo>
                  <a:pt x="99" y="779"/>
                </a:lnTo>
                <a:lnTo>
                  <a:pt x="99" y="780"/>
                </a:lnTo>
                <a:lnTo>
                  <a:pt x="100" y="780"/>
                </a:lnTo>
                <a:lnTo>
                  <a:pt x="101" y="780"/>
                </a:lnTo>
                <a:lnTo>
                  <a:pt x="102" y="771"/>
                </a:lnTo>
                <a:lnTo>
                  <a:pt x="102" y="780"/>
                </a:lnTo>
                <a:lnTo>
                  <a:pt x="103" y="775"/>
                </a:lnTo>
                <a:lnTo>
                  <a:pt x="103" y="780"/>
                </a:lnTo>
                <a:lnTo>
                  <a:pt x="104" y="780"/>
                </a:lnTo>
                <a:lnTo>
                  <a:pt x="106" y="780"/>
                </a:lnTo>
                <a:lnTo>
                  <a:pt x="108" y="780"/>
                </a:lnTo>
                <a:lnTo>
                  <a:pt x="109" y="780"/>
                </a:lnTo>
                <a:lnTo>
                  <a:pt x="109" y="765"/>
                </a:lnTo>
                <a:lnTo>
                  <a:pt x="110" y="778"/>
                </a:lnTo>
                <a:lnTo>
                  <a:pt x="110" y="780"/>
                </a:lnTo>
                <a:lnTo>
                  <a:pt x="111" y="780"/>
                </a:lnTo>
                <a:lnTo>
                  <a:pt x="111" y="765"/>
                </a:lnTo>
                <a:lnTo>
                  <a:pt x="112" y="772"/>
                </a:lnTo>
                <a:lnTo>
                  <a:pt x="112" y="780"/>
                </a:lnTo>
                <a:lnTo>
                  <a:pt x="113" y="780"/>
                </a:lnTo>
                <a:lnTo>
                  <a:pt x="115" y="780"/>
                </a:lnTo>
                <a:lnTo>
                  <a:pt x="116" y="780"/>
                </a:lnTo>
                <a:lnTo>
                  <a:pt x="116" y="778"/>
                </a:lnTo>
                <a:lnTo>
                  <a:pt x="117" y="780"/>
                </a:lnTo>
                <a:lnTo>
                  <a:pt x="117" y="779"/>
                </a:lnTo>
                <a:lnTo>
                  <a:pt x="118" y="776"/>
                </a:lnTo>
                <a:lnTo>
                  <a:pt x="118" y="780"/>
                </a:lnTo>
                <a:lnTo>
                  <a:pt x="119" y="779"/>
                </a:lnTo>
                <a:lnTo>
                  <a:pt x="119" y="780"/>
                </a:lnTo>
                <a:lnTo>
                  <a:pt x="120" y="780"/>
                </a:lnTo>
                <a:lnTo>
                  <a:pt x="121" y="779"/>
                </a:lnTo>
                <a:lnTo>
                  <a:pt x="121" y="780"/>
                </a:lnTo>
                <a:lnTo>
                  <a:pt x="122" y="778"/>
                </a:lnTo>
                <a:lnTo>
                  <a:pt x="122" y="780"/>
                </a:lnTo>
                <a:lnTo>
                  <a:pt x="123" y="780"/>
                </a:lnTo>
                <a:lnTo>
                  <a:pt x="124" y="780"/>
                </a:lnTo>
                <a:lnTo>
                  <a:pt x="125" y="780"/>
                </a:lnTo>
                <a:lnTo>
                  <a:pt x="126" y="780"/>
                </a:lnTo>
                <a:lnTo>
                  <a:pt x="128" y="780"/>
                </a:lnTo>
                <a:lnTo>
                  <a:pt x="129" y="780"/>
                </a:lnTo>
                <a:lnTo>
                  <a:pt x="130" y="780"/>
                </a:lnTo>
                <a:lnTo>
                  <a:pt x="131" y="780"/>
                </a:lnTo>
                <a:lnTo>
                  <a:pt x="132" y="780"/>
                </a:lnTo>
                <a:lnTo>
                  <a:pt x="133" y="777"/>
                </a:lnTo>
                <a:lnTo>
                  <a:pt x="133" y="780"/>
                </a:lnTo>
                <a:lnTo>
                  <a:pt x="134" y="779"/>
                </a:lnTo>
                <a:lnTo>
                  <a:pt x="134" y="780"/>
                </a:lnTo>
                <a:lnTo>
                  <a:pt x="135" y="780"/>
                </a:lnTo>
                <a:lnTo>
                  <a:pt x="135" y="704"/>
                </a:lnTo>
                <a:lnTo>
                  <a:pt x="136" y="765"/>
                </a:lnTo>
                <a:lnTo>
                  <a:pt x="136" y="780"/>
                </a:lnTo>
                <a:lnTo>
                  <a:pt x="137" y="774"/>
                </a:lnTo>
                <a:lnTo>
                  <a:pt x="137" y="780"/>
                </a:lnTo>
                <a:lnTo>
                  <a:pt x="138" y="777"/>
                </a:lnTo>
                <a:lnTo>
                  <a:pt x="138" y="780"/>
                </a:lnTo>
                <a:lnTo>
                  <a:pt x="139" y="779"/>
                </a:lnTo>
                <a:lnTo>
                  <a:pt x="139" y="780"/>
                </a:lnTo>
                <a:lnTo>
                  <a:pt x="140" y="780"/>
                </a:lnTo>
                <a:lnTo>
                  <a:pt x="140" y="773"/>
                </a:lnTo>
                <a:lnTo>
                  <a:pt x="141" y="780"/>
                </a:lnTo>
                <a:lnTo>
                  <a:pt x="141" y="589"/>
                </a:lnTo>
                <a:lnTo>
                  <a:pt x="142" y="734"/>
                </a:lnTo>
                <a:lnTo>
                  <a:pt x="142" y="780"/>
                </a:lnTo>
                <a:lnTo>
                  <a:pt x="143" y="780"/>
                </a:lnTo>
                <a:lnTo>
                  <a:pt x="144" y="780"/>
                </a:lnTo>
                <a:lnTo>
                  <a:pt x="145" y="780"/>
                </a:lnTo>
                <a:lnTo>
                  <a:pt x="146" y="780"/>
                </a:lnTo>
                <a:lnTo>
                  <a:pt x="147" y="780"/>
                </a:lnTo>
                <a:lnTo>
                  <a:pt x="148" y="780"/>
                </a:lnTo>
                <a:lnTo>
                  <a:pt x="149" y="780"/>
                </a:lnTo>
                <a:lnTo>
                  <a:pt x="150" y="780"/>
                </a:lnTo>
                <a:lnTo>
                  <a:pt x="151" y="780"/>
                </a:lnTo>
                <a:lnTo>
                  <a:pt x="152" y="774"/>
                </a:lnTo>
                <a:lnTo>
                  <a:pt x="152" y="780"/>
                </a:lnTo>
                <a:lnTo>
                  <a:pt x="153" y="779"/>
                </a:lnTo>
                <a:lnTo>
                  <a:pt x="153" y="780"/>
                </a:lnTo>
                <a:lnTo>
                  <a:pt x="155" y="780"/>
                </a:lnTo>
                <a:lnTo>
                  <a:pt x="156" y="780"/>
                </a:lnTo>
                <a:lnTo>
                  <a:pt x="157" y="779"/>
                </a:lnTo>
                <a:lnTo>
                  <a:pt x="157" y="780"/>
                </a:lnTo>
                <a:lnTo>
                  <a:pt x="158" y="780"/>
                </a:lnTo>
                <a:lnTo>
                  <a:pt x="159" y="780"/>
                </a:lnTo>
                <a:lnTo>
                  <a:pt x="160" y="780"/>
                </a:lnTo>
                <a:lnTo>
                  <a:pt x="160" y="779"/>
                </a:lnTo>
                <a:lnTo>
                  <a:pt x="161" y="780"/>
                </a:lnTo>
                <a:lnTo>
                  <a:pt x="161" y="0"/>
                </a:lnTo>
                <a:lnTo>
                  <a:pt x="162" y="780"/>
                </a:lnTo>
                <a:lnTo>
                  <a:pt x="162" y="308"/>
                </a:lnTo>
                <a:lnTo>
                  <a:pt x="163" y="734"/>
                </a:lnTo>
                <a:lnTo>
                  <a:pt x="163" y="780"/>
                </a:lnTo>
                <a:lnTo>
                  <a:pt x="164" y="780"/>
                </a:lnTo>
                <a:lnTo>
                  <a:pt x="166" y="780"/>
                </a:lnTo>
                <a:lnTo>
                  <a:pt x="167" y="779"/>
                </a:lnTo>
                <a:lnTo>
                  <a:pt x="167" y="780"/>
                </a:lnTo>
                <a:lnTo>
                  <a:pt x="168" y="780"/>
                </a:lnTo>
                <a:lnTo>
                  <a:pt x="169" y="780"/>
                </a:lnTo>
                <a:lnTo>
                  <a:pt x="170" y="780"/>
                </a:lnTo>
                <a:lnTo>
                  <a:pt x="171" y="780"/>
                </a:lnTo>
                <a:lnTo>
                  <a:pt x="172" y="779"/>
                </a:lnTo>
                <a:lnTo>
                  <a:pt x="172" y="780"/>
                </a:lnTo>
                <a:lnTo>
                  <a:pt x="173" y="780"/>
                </a:lnTo>
                <a:lnTo>
                  <a:pt x="174" y="780"/>
                </a:lnTo>
                <a:lnTo>
                  <a:pt x="178" y="780"/>
                </a:lnTo>
                <a:lnTo>
                  <a:pt x="178" y="779"/>
                </a:lnTo>
                <a:lnTo>
                  <a:pt x="178" y="780"/>
                </a:lnTo>
                <a:lnTo>
                  <a:pt x="179" y="780"/>
                </a:lnTo>
                <a:lnTo>
                  <a:pt x="180" y="780"/>
                </a:lnTo>
                <a:lnTo>
                  <a:pt x="181" y="780"/>
                </a:lnTo>
                <a:lnTo>
                  <a:pt x="182" y="780"/>
                </a:lnTo>
                <a:lnTo>
                  <a:pt x="183" y="780"/>
                </a:lnTo>
                <a:lnTo>
                  <a:pt x="184" y="780"/>
                </a:lnTo>
                <a:lnTo>
                  <a:pt x="185" y="780"/>
                </a:lnTo>
                <a:lnTo>
                  <a:pt x="186" y="780"/>
                </a:lnTo>
                <a:lnTo>
                  <a:pt x="187" y="779"/>
                </a:lnTo>
                <a:lnTo>
                  <a:pt x="187" y="780"/>
                </a:lnTo>
                <a:lnTo>
                  <a:pt x="188" y="780"/>
                </a:lnTo>
                <a:lnTo>
                  <a:pt x="189" y="780"/>
                </a:lnTo>
                <a:lnTo>
                  <a:pt x="190" y="780"/>
                </a:lnTo>
                <a:lnTo>
                  <a:pt x="191" y="780"/>
                </a:lnTo>
                <a:lnTo>
                  <a:pt x="192" y="778"/>
                </a:lnTo>
                <a:lnTo>
                  <a:pt x="192" y="780"/>
                </a:lnTo>
                <a:lnTo>
                  <a:pt x="193" y="780"/>
                </a:lnTo>
                <a:lnTo>
                  <a:pt x="196" y="780"/>
                </a:lnTo>
                <a:lnTo>
                  <a:pt x="197" y="760"/>
                </a:lnTo>
                <a:lnTo>
                  <a:pt x="197" y="780"/>
                </a:lnTo>
                <a:lnTo>
                  <a:pt x="198" y="776"/>
                </a:lnTo>
                <a:lnTo>
                  <a:pt x="198" y="780"/>
                </a:lnTo>
                <a:lnTo>
                  <a:pt x="199" y="780"/>
                </a:lnTo>
                <a:lnTo>
                  <a:pt x="200" y="780"/>
                </a:lnTo>
                <a:lnTo>
                  <a:pt x="201" y="780"/>
                </a:lnTo>
                <a:lnTo>
                  <a:pt x="202" y="780"/>
                </a:lnTo>
                <a:lnTo>
                  <a:pt x="203" y="780"/>
                </a:lnTo>
                <a:lnTo>
                  <a:pt x="204" y="780"/>
                </a:lnTo>
                <a:lnTo>
                  <a:pt x="205" y="780"/>
                </a:lnTo>
                <a:lnTo>
                  <a:pt x="206" y="780"/>
                </a:lnTo>
                <a:lnTo>
                  <a:pt x="207" y="780"/>
                </a:lnTo>
                <a:lnTo>
                  <a:pt x="210" y="780"/>
                </a:lnTo>
                <a:lnTo>
                  <a:pt x="211" y="779"/>
                </a:lnTo>
                <a:lnTo>
                  <a:pt x="211" y="780"/>
                </a:lnTo>
                <a:lnTo>
                  <a:pt x="212" y="780"/>
                </a:lnTo>
                <a:lnTo>
                  <a:pt x="212" y="629"/>
                </a:lnTo>
                <a:lnTo>
                  <a:pt x="213" y="744"/>
                </a:lnTo>
                <a:lnTo>
                  <a:pt x="213" y="780"/>
                </a:lnTo>
                <a:lnTo>
                  <a:pt x="214" y="779"/>
                </a:lnTo>
                <a:lnTo>
                  <a:pt x="214" y="780"/>
                </a:lnTo>
                <a:lnTo>
                  <a:pt x="215" y="780"/>
                </a:lnTo>
                <a:lnTo>
                  <a:pt x="216" y="779"/>
                </a:lnTo>
                <a:lnTo>
                  <a:pt x="216" y="780"/>
                </a:lnTo>
                <a:lnTo>
                  <a:pt x="217" y="779"/>
                </a:lnTo>
                <a:lnTo>
                  <a:pt x="217" y="780"/>
                </a:lnTo>
                <a:lnTo>
                  <a:pt x="222" y="780"/>
                </a:lnTo>
                <a:lnTo>
                  <a:pt x="223" y="780"/>
                </a:lnTo>
                <a:lnTo>
                  <a:pt x="224" y="780"/>
                </a:lnTo>
                <a:lnTo>
                  <a:pt x="225" y="780"/>
                </a:lnTo>
                <a:lnTo>
                  <a:pt x="226" y="780"/>
                </a:lnTo>
                <a:lnTo>
                  <a:pt x="228" y="780"/>
                </a:lnTo>
                <a:lnTo>
                  <a:pt x="228" y="779"/>
                </a:lnTo>
                <a:lnTo>
                  <a:pt x="228" y="780"/>
                </a:lnTo>
                <a:lnTo>
                  <a:pt x="229" y="775"/>
                </a:lnTo>
                <a:lnTo>
                  <a:pt x="229" y="780"/>
                </a:lnTo>
                <a:lnTo>
                  <a:pt x="230" y="774"/>
                </a:lnTo>
                <a:lnTo>
                  <a:pt x="230" y="780"/>
                </a:lnTo>
                <a:lnTo>
                  <a:pt x="231" y="780"/>
                </a:lnTo>
                <a:lnTo>
                  <a:pt x="232" y="780"/>
                </a:lnTo>
                <a:lnTo>
                  <a:pt x="232" y="777"/>
                </a:lnTo>
                <a:lnTo>
                  <a:pt x="233" y="779"/>
                </a:lnTo>
                <a:lnTo>
                  <a:pt x="233" y="780"/>
                </a:lnTo>
                <a:lnTo>
                  <a:pt x="234" y="780"/>
                </a:lnTo>
                <a:lnTo>
                  <a:pt x="235" y="780"/>
                </a:lnTo>
                <a:lnTo>
                  <a:pt x="236" y="780"/>
                </a:lnTo>
                <a:lnTo>
                  <a:pt x="237" y="780"/>
                </a:lnTo>
                <a:lnTo>
                  <a:pt x="238" y="780"/>
                </a:lnTo>
                <a:lnTo>
                  <a:pt x="238" y="763"/>
                </a:lnTo>
                <a:lnTo>
                  <a:pt x="239" y="772"/>
                </a:lnTo>
                <a:lnTo>
                  <a:pt x="239" y="780"/>
                </a:lnTo>
                <a:lnTo>
                  <a:pt x="240" y="780"/>
                </a:lnTo>
                <a:lnTo>
                  <a:pt x="241" y="780"/>
                </a:lnTo>
                <a:lnTo>
                  <a:pt x="242" y="780"/>
                </a:lnTo>
                <a:lnTo>
                  <a:pt x="244" y="780"/>
                </a:lnTo>
                <a:lnTo>
                  <a:pt x="245" y="780"/>
                </a:lnTo>
                <a:lnTo>
                  <a:pt x="246" y="779"/>
                </a:lnTo>
                <a:lnTo>
                  <a:pt x="246" y="780"/>
                </a:lnTo>
                <a:lnTo>
                  <a:pt x="247" y="780"/>
                </a:lnTo>
                <a:lnTo>
                  <a:pt x="248" y="780"/>
                </a:lnTo>
                <a:lnTo>
                  <a:pt x="249" y="774"/>
                </a:lnTo>
                <a:lnTo>
                  <a:pt x="249" y="780"/>
                </a:lnTo>
                <a:lnTo>
                  <a:pt x="250" y="776"/>
                </a:lnTo>
                <a:lnTo>
                  <a:pt x="250" y="780"/>
                </a:lnTo>
                <a:lnTo>
                  <a:pt x="251" y="780"/>
                </a:lnTo>
                <a:lnTo>
                  <a:pt x="253" y="780"/>
                </a:lnTo>
                <a:lnTo>
                  <a:pt x="253" y="776"/>
                </a:lnTo>
                <a:lnTo>
                  <a:pt x="253" y="780"/>
                </a:lnTo>
                <a:lnTo>
                  <a:pt x="254" y="775"/>
                </a:lnTo>
                <a:lnTo>
                  <a:pt x="254" y="780"/>
                </a:lnTo>
                <a:lnTo>
                  <a:pt x="255" y="780"/>
                </a:lnTo>
                <a:lnTo>
                  <a:pt x="256" y="780"/>
                </a:lnTo>
                <a:lnTo>
                  <a:pt x="257" y="780"/>
                </a:lnTo>
                <a:lnTo>
                  <a:pt x="257" y="778"/>
                </a:lnTo>
                <a:lnTo>
                  <a:pt x="258" y="780"/>
                </a:lnTo>
                <a:lnTo>
                  <a:pt x="259" y="780"/>
                </a:lnTo>
                <a:lnTo>
                  <a:pt x="260" y="779"/>
                </a:lnTo>
                <a:lnTo>
                  <a:pt x="260" y="780"/>
                </a:lnTo>
                <a:lnTo>
                  <a:pt x="261" y="777"/>
                </a:lnTo>
                <a:lnTo>
                  <a:pt x="261" y="780"/>
                </a:lnTo>
                <a:lnTo>
                  <a:pt x="262" y="778"/>
                </a:lnTo>
                <a:lnTo>
                  <a:pt x="262" y="780"/>
                </a:lnTo>
                <a:lnTo>
                  <a:pt x="263" y="780"/>
                </a:lnTo>
                <a:lnTo>
                  <a:pt x="264" y="780"/>
                </a:lnTo>
                <a:lnTo>
                  <a:pt x="266" y="780"/>
                </a:lnTo>
                <a:lnTo>
                  <a:pt x="267" y="780"/>
                </a:lnTo>
                <a:lnTo>
                  <a:pt x="268" y="779"/>
                </a:lnTo>
                <a:lnTo>
                  <a:pt x="268" y="780"/>
                </a:lnTo>
                <a:lnTo>
                  <a:pt x="269" y="780"/>
                </a:lnTo>
                <a:lnTo>
                  <a:pt x="271" y="780"/>
                </a:lnTo>
                <a:lnTo>
                  <a:pt x="271" y="777"/>
                </a:lnTo>
                <a:lnTo>
                  <a:pt x="271" y="780"/>
                </a:lnTo>
                <a:lnTo>
                  <a:pt x="272" y="778"/>
                </a:lnTo>
                <a:lnTo>
                  <a:pt x="272" y="780"/>
                </a:lnTo>
                <a:lnTo>
                  <a:pt x="273" y="780"/>
                </a:lnTo>
                <a:lnTo>
                  <a:pt x="274" y="780"/>
                </a:lnTo>
                <a:lnTo>
                  <a:pt x="275" y="780"/>
                </a:lnTo>
                <a:lnTo>
                  <a:pt x="276" y="780"/>
                </a:lnTo>
                <a:lnTo>
                  <a:pt x="277" y="780"/>
                </a:lnTo>
                <a:lnTo>
                  <a:pt x="279" y="780"/>
                </a:lnTo>
                <a:lnTo>
                  <a:pt x="280" y="780"/>
                </a:lnTo>
                <a:lnTo>
                  <a:pt x="281" y="780"/>
                </a:lnTo>
                <a:lnTo>
                  <a:pt x="283" y="780"/>
                </a:lnTo>
                <a:lnTo>
                  <a:pt x="284" y="780"/>
                </a:lnTo>
                <a:lnTo>
                  <a:pt x="285" y="780"/>
                </a:lnTo>
                <a:lnTo>
                  <a:pt x="286" y="780"/>
                </a:lnTo>
                <a:lnTo>
                  <a:pt x="287" y="780"/>
                </a:lnTo>
                <a:lnTo>
                  <a:pt x="287" y="772"/>
                </a:lnTo>
                <a:lnTo>
                  <a:pt x="288" y="778"/>
                </a:lnTo>
                <a:lnTo>
                  <a:pt x="288" y="780"/>
                </a:lnTo>
                <a:lnTo>
                  <a:pt x="290" y="780"/>
                </a:lnTo>
                <a:lnTo>
                  <a:pt x="291" y="780"/>
                </a:lnTo>
                <a:lnTo>
                  <a:pt x="292" y="780"/>
                </a:lnTo>
                <a:lnTo>
                  <a:pt x="293" y="780"/>
                </a:lnTo>
                <a:lnTo>
                  <a:pt x="294" y="779"/>
                </a:lnTo>
                <a:lnTo>
                  <a:pt x="294" y="780"/>
                </a:lnTo>
                <a:lnTo>
                  <a:pt x="295" y="773"/>
                </a:lnTo>
                <a:lnTo>
                  <a:pt x="295" y="780"/>
                </a:lnTo>
                <a:lnTo>
                  <a:pt x="296" y="776"/>
                </a:lnTo>
                <a:lnTo>
                  <a:pt x="296" y="780"/>
                </a:lnTo>
                <a:lnTo>
                  <a:pt x="297" y="780"/>
                </a:lnTo>
                <a:lnTo>
                  <a:pt x="298" y="779"/>
                </a:lnTo>
                <a:lnTo>
                  <a:pt x="298" y="780"/>
                </a:lnTo>
                <a:lnTo>
                  <a:pt x="299" y="780"/>
                </a:lnTo>
                <a:lnTo>
                  <a:pt x="300" y="780"/>
                </a:lnTo>
                <a:lnTo>
                  <a:pt x="301" y="780"/>
                </a:lnTo>
                <a:lnTo>
                  <a:pt x="303" y="780"/>
                </a:lnTo>
                <a:lnTo>
                  <a:pt x="304" y="780"/>
                </a:lnTo>
                <a:lnTo>
                  <a:pt x="305" y="780"/>
                </a:lnTo>
                <a:lnTo>
                  <a:pt x="306" y="780"/>
                </a:lnTo>
                <a:lnTo>
                  <a:pt x="307" y="779"/>
                </a:lnTo>
                <a:lnTo>
                  <a:pt x="307" y="780"/>
                </a:lnTo>
                <a:lnTo>
                  <a:pt x="308" y="780"/>
                </a:lnTo>
                <a:lnTo>
                  <a:pt x="310" y="780"/>
                </a:lnTo>
                <a:lnTo>
                  <a:pt x="311" y="779"/>
                </a:lnTo>
                <a:lnTo>
                  <a:pt x="311" y="780"/>
                </a:lnTo>
                <a:lnTo>
                  <a:pt x="312" y="780"/>
                </a:lnTo>
                <a:lnTo>
                  <a:pt x="313" y="765"/>
                </a:lnTo>
                <a:lnTo>
                  <a:pt x="313" y="780"/>
                </a:lnTo>
                <a:lnTo>
                  <a:pt x="314" y="769"/>
                </a:lnTo>
                <a:lnTo>
                  <a:pt x="314" y="780"/>
                </a:lnTo>
                <a:lnTo>
                  <a:pt x="315" y="779"/>
                </a:lnTo>
                <a:lnTo>
                  <a:pt x="315" y="780"/>
                </a:lnTo>
                <a:lnTo>
                  <a:pt x="316" y="780"/>
                </a:lnTo>
                <a:lnTo>
                  <a:pt x="317" y="780"/>
                </a:lnTo>
                <a:lnTo>
                  <a:pt x="318" y="779"/>
                </a:lnTo>
                <a:lnTo>
                  <a:pt x="318" y="780"/>
                </a:lnTo>
                <a:lnTo>
                  <a:pt x="319" y="778"/>
                </a:lnTo>
                <a:lnTo>
                  <a:pt x="319" y="780"/>
                </a:lnTo>
                <a:lnTo>
                  <a:pt x="320" y="779"/>
                </a:lnTo>
                <a:lnTo>
                  <a:pt x="320" y="780"/>
                </a:lnTo>
                <a:lnTo>
                  <a:pt x="321" y="780"/>
                </a:lnTo>
                <a:lnTo>
                  <a:pt x="322" y="780"/>
                </a:lnTo>
                <a:lnTo>
                  <a:pt x="323" y="780"/>
                </a:lnTo>
                <a:lnTo>
                  <a:pt x="324" y="780"/>
                </a:lnTo>
                <a:lnTo>
                  <a:pt x="325" y="780"/>
                </a:lnTo>
                <a:lnTo>
                  <a:pt x="327" y="780"/>
                </a:lnTo>
                <a:lnTo>
                  <a:pt x="327" y="778"/>
                </a:lnTo>
                <a:lnTo>
                  <a:pt x="327" y="780"/>
                </a:lnTo>
                <a:lnTo>
                  <a:pt x="328" y="780"/>
                </a:lnTo>
                <a:lnTo>
                  <a:pt x="329" y="780"/>
                </a:lnTo>
                <a:lnTo>
                  <a:pt x="330" y="780"/>
                </a:lnTo>
                <a:lnTo>
                  <a:pt x="331" y="780"/>
                </a:lnTo>
                <a:lnTo>
                  <a:pt x="332" y="780"/>
                </a:lnTo>
                <a:lnTo>
                  <a:pt x="333" y="780"/>
                </a:lnTo>
                <a:lnTo>
                  <a:pt x="335" y="780"/>
                </a:lnTo>
                <a:lnTo>
                  <a:pt x="336" y="780"/>
                </a:lnTo>
                <a:lnTo>
                  <a:pt x="337" y="780"/>
                </a:lnTo>
                <a:lnTo>
                  <a:pt x="338" y="780"/>
                </a:lnTo>
                <a:lnTo>
                  <a:pt x="340" y="780"/>
                </a:lnTo>
                <a:lnTo>
                  <a:pt x="341" y="780"/>
                </a:lnTo>
                <a:lnTo>
                  <a:pt x="342" y="780"/>
                </a:lnTo>
                <a:lnTo>
                  <a:pt x="342" y="777"/>
                </a:lnTo>
                <a:lnTo>
                  <a:pt x="343" y="780"/>
                </a:lnTo>
                <a:lnTo>
                  <a:pt x="344" y="780"/>
                </a:lnTo>
                <a:lnTo>
                  <a:pt x="348" y="780"/>
                </a:lnTo>
                <a:lnTo>
                  <a:pt x="349" y="776"/>
                </a:lnTo>
                <a:lnTo>
                  <a:pt x="349" y="780"/>
                </a:lnTo>
                <a:lnTo>
                  <a:pt x="350" y="779"/>
                </a:lnTo>
                <a:lnTo>
                  <a:pt x="350" y="780"/>
                </a:lnTo>
                <a:lnTo>
                  <a:pt x="351" y="780"/>
                </a:lnTo>
                <a:lnTo>
                  <a:pt x="355" y="780"/>
                </a:lnTo>
                <a:lnTo>
                  <a:pt x="356" y="780"/>
                </a:lnTo>
                <a:lnTo>
                  <a:pt x="357" y="780"/>
                </a:lnTo>
                <a:lnTo>
                  <a:pt x="358" y="780"/>
                </a:lnTo>
                <a:lnTo>
                  <a:pt x="359" y="780"/>
                </a:lnTo>
                <a:lnTo>
                  <a:pt x="360" y="780"/>
                </a:lnTo>
                <a:lnTo>
                  <a:pt x="361" y="780"/>
                </a:lnTo>
                <a:lnTo>
                  <a:pt x="371" y="780"/>
                </a:lnTo>
                <a:lnTo>
                  <a:pt x="372" y="780"/>
                </a:lnTo>
                <a:lnTo>
                  <a:pt x="373" y="780"/>
                </a:lnTo>
                <a:lnTo>
                  <a:pt x="374" y="780"/>
                </a:lnTo>
                <a:lnTo>
                  <a:pt x="377" y="780"/>
                </a:lnTo>
                <a:lnTo>
                  <a:pt x="378" y="779"/>
                </a:lnTo>
                <a:lnTo>
                  <a:pt x="378" y="780"/>
                </a:lnTo>
                <a:lnTo>
                  <a:pt x="380" y="780"/>
                </a:lnTo>
                <a:lnTo>
                  <a:pt x="381" y="780"/>
                </a:lnTo>
                <a:lnTo>
                  <a:pt x="382" y="780"/>
                </a:lnTo>
                <a:lnTo>
                  <a:pt x="383" y="780"/>
                </a:lnTo>
                <a:lnTo>
                  <a:pt x="384" y="780"/>
                </a:lnTo>
                <a:lnTo>
                  <a:pt x="385" y="779"/>
                </a:lnTo>
                <a:lnTo>
                  <a:pt x="385" y="780"/>
                </a:lnTo>
                <a:lnTo>
                  <a:pt x="386" y="779"/>
                </a:lnTo>
                <a:lnTo>
                  <a:pt x="386" y="780"/>
                </a:lnTo>
                <a:lnTo>
                  <a:pt x="387" y="780"/>
                </a:lnTo>
                <a:lnTo>
                  <a:pt x="391" y="780"/>
                </a:lnTo>
                <a:lnTo>
                  <a:pt x="391" y="779"/>
                </a:lnTo>
                <a:lnTo>
                  <a:pt x="391" y="780"/>
                </a:lnTo>
                <a:lnTo>
                  <a:pt x="392" y="713"/>
                </a:lnTo>
                <a:lnTo>
                  <a:pt x="392" y="780"/>
                </a:lnTo>
                <a:lnTo>
                  <a:pt x="393" y="749"/>
                </a:lnTo>
                <a:lnTo>
                  <a:pt x="393" y="780"/>
                </a:lnTo>
                <a:lnTo>
                  <a:pt x="394" y="773"/>
                </a:lnTo>
                <a:lnTo>
                  <a:pt x="394" y="780"/>
                </a:lnTo>
                <a:lnTo>
                  <a:pt x="395" y="779"/>
                </a:lnTo>
                <a:lnTo>
                  <a:pt x="395" y="780"/>
                </a:lnTo>
                <a:lnTo>
                  <a:pt x="405" y="780"/>
                </a:lnTo>
                <a:lnTo>
                  <a:pt x="406" y="780"/>
                </a:lnTo>
                <a:lnTo>
                  <a:pt x="407" y="780"/>
                </a:lnTo>
                <a:lnTo>
                  <a:pt x="409" y="780"/>
                </a:lnTo>
                <a:lnTo>
                  <a:pt x="411" y="780"/>
                </a:lnTo>
                <a:lnTo>
                  <a:pt x="412" y="780"/>
                </a:lnTo>
                <a:lnTo>
                  <a:pt x="414" y="780"/>
                </a:lnTo>
                <a:lnTo>
                  <a:pt x="415" y="780"/>
                </a:lnTo>
                <a:lnTo>
                  <a:pt x="416" y="780"/>
                </a:lnTo>
                <a:lnTo>
                  <a:pt x="417" y="780"/>
                </a:lnTo>
                <a:lnTo>
                  <a:pt x="418" y="780"/>
                </a:lnTo>
                <a:lnTo>
                  <a:pt x="419" y="780"/>
                </a:lnTo>
                <a:lnTo>
                  <a:pt x="419" y="779"/>
                </a:lnTo>
                <a:lnTo>
                  <a:pt x="420" y="779"/>
                </a:lnTo>
                <a:lnTo>
                  <a:pt x="420" y="780"/>
                </a:lnTo>
                <a:lnTo>
                  <a:pt x="421" y="779"/>
                </a:lnTo>
                <a:lnTo>
                  <a:pt x="421" y="780"/>
                </a:lnTo>
                <a:lnTo>
                  <a:pt x="422" y="779"/>
                </a:lnTo>
                <a:lnTo>
                  <a:pt x="422" y="780"/>
                </a:lnTo>
                <a:lnTo>
                  <a:pt x="423" y="779"/>
                </a:lnTo>
                <a:lnTo>
                  <a:pt x="423" y="780"/>
                </a:lnTo>
                <a:lnTo>
                  <a:pt x="424" y="780"/>
                </a:lnTo>
                <a:lnTo>
                  <a:pt x="430" y="780"/>
                </a:lnTo>
                <a:lnTo>
                  <a:pt x="431" y="780"/>
                </a:lnTo>
                <a:lnTo>
                  <a:pt x="432" y="780"/>
                </a:lnTo>
                <a:lnTo>
                  <a:pt x="442" y="780"/>
                </a:lnTo>
                <a:lnTo>
                  <a:pt x="443" y="780"/>
                </a:lnTo>
                <a:lnTo>
                  <a:pt x="445" y="780"/>
                </a:lnTo>
                <a:lnTo>
                  <a:pt x="445" y="774"/>
                </a:lnTo>
                <a:lnTo>
                  <a:pt x="445" y="780"/>
                </a:lnTo>
                <a:lnTo>
                  <a:pt x="446" y="778"/>
                </a:lnTo>
                <a:lnTo>
                  <a:pt x="446" y="780"/>
                </a:lnTo>
                <a:lnTo>
                  <a:pt x="447" y="780"/>
                </a:lnTo>
                <a:lnTo>
                  <a:pt x="452" y="780"/>
                </a:lnTo>
                <a:lnTo>
                  <a:pt x="459" y="780"/>
                </a:lnTo>
                <a:lnTo>
                  <a:pt x="460" y="780"/>
                </a:lnTo>
                <a:lnTo>
                  <a:pt x="461" y="780"/>
                </a:lnTo>
                <a:lnTo>
                  <a:pt x="462" y="780"/>
                </a:lnTo>
                <a:lnTo>
                  <a:pt x="463" y="780"/>
                </a:lnTo>
                <a:lnTo>
                  <a:pt x="464" y="780"/>
                </a:lnTo>
                <a:lnTo>
                  <a:pt x="465" y="780"/>
                </a:lnTo>
                <a:lnTo>
                  <a:pt x="466" y="780"/>
                </a:lnTo>
                <a:lnTo>
                  <a:pt x="467" y="780"/>
                </a:lnTo>
                <a:lnTo>
                  <a:pt x="468" y="780"/>
                </a:lnTo>
                <a:lnTo>
                  <a:pt x="469" y="780"/>
                </a:lnTo>
                <a:lnTo>
                  <a:pt x="470" y="780"/>
                </a:lnTo>
                <a:lnTo>
                  <a:pt x="471" y="780"/>
                </a:lnTo>
                <a:lnTo>
                  <a:pt x="473" y="780"/>
                </a:lnTo>
                <a:lnTo>
                  <a:pt x="474" y="780"/>
                </a:lnTo>
                <a:lnTo>
                  <a:pt x="478" y="780"/>
                </a:lnTo>
                <a:lnTo>
                  <a:pt x="480" y="780"/>
                </a:lnTo>
                <a:lnTo>
                  <a:pt x="485" y="780"/>
                </a:lnTo>
                <a:lnTo>
                  <a:pt x="487" y="780"/>
                </a:lnTo>
                <a:lnTo>
                  <a:pt x="488" y="780"/>
                </a:lnTo>
                <a:lnTo>
                  <a:pt x="489" y="780"/>
                </a:lnTo>
                <a:lnTo>
                  <a:pt x="496" y="780"/>
                </a:lnTo>
                <a:lnTo>
                  <a:pt x="496" y="778"/>
                </a:lnTo>
                <a:lnTo>
                  <a:pt x="496" y="780"/>
                </a:lnTo>
                <a:lnTo>
                  <a:pt x="497" y="779"/>
                </a:lnTo>
                <a:lnTo>
                  <a:pt x="497" y="780"/>
                </a:lnTo>
                <a:lnTo>
                  <a:pt x="498" y="780"/>
                </a:lnTo>
                <a:lnTo>
                  <a:pt x="499" y="780"/>
                </a:lnTo>
                <a:lnTo>
                  <a:pt x="499" y="750"/>
                </a:lnTo>
                <a:lnTo>
                  <a:pt x="500" y="769"/>
                </a:lnTo>
                <a:lnTo>
                  <a:pt x="500" y="780"/>
                </a:lnTo>
                <a:lnTo>
                  <a:pt x="501" y="780"/>
                </a:lnTo>
                <a:lnTo>
                  <a:pt x="510" y="780"/>
                </a:lnTo>
                <a:lnTo>
                  <a:pt x="511" y="780"/>
                </a:lnTo>
                <a:lnTo>
                  <a:pt x="512" y="780"/>
                </a:lnTo>
                <a:lnTo>
                  <a:pt x="513" y="779"/>
                </a:lnTo>
                <a:lnTo>
                  <a:pt x="513" y="780"/>
                </a:lnTo>
                <a:lnTo>
                  <a:pt x="514" y="780"/>
                </a:lnTo>
                <a:lnTo>
                  <a:pt x="515" y="780"/>
                </a:lnTo>
                <a:lnTo>
                  <a:pt x="516" y="780"/>
                </a:lnTo>
                <a:lnTo>
                  <a:pt x="517" y="780"/>
                </a:lnTo>
                <a:lnTo>
                  <a:pt x="528" y="780"/>
                </a:lnTo>
                <a:lnTo>
                  <a:pt x="529" y="779"/>
                </a:lnTo>
                <a:lnTo>
                  <a:pt x="529" y="780"/>
                </a:lnTo>
                <a:lnTo>
                  <a:pt x="530" y="780"/>
                </a:lnTo>
                <a:lnTo>
                  <a:pt x="531" y="780"/>
                </a:lnTo>
                <a:lnTo>
                  <a:pt x="541" y="780"/>
                </a:lnTo>
                <a:lnTo>
                  <a:pt x="542" y="780"/>
                </a:lnTo>
                <a:lnTo>
                  <a:pt x="543" y="780"/>
                </a:lnTo>
                <a:lnTo>
                  <a:pt x="555" y="780"/>
                </a:lnTo>
                <a:lnTo>
                  <a:pt x="561" y="780"/>
                </a:lnTo>
                <a:lnTo>
                  <a:pt x="562" y="780"/>
                </a:lnTo>
                <a:lnTo>
                  <a:pt x="564" y="780"/>
                </a:lnTo>
                <a:lnTo>
                  <a:pt x="565" y="780"/>
                </a:lnTo>
                <a:lnTo>
                  <a:pt x="566" y="780"/>
                </a:lnTo>
                <a:lnTo>
                  <a:pt x="568" y="780"/>
                </a:lnTo>
                <a:lnTo>
                  <a:pt x="573" y="780"/>
                </a:lnTo>
                <a:lnTo>
                  <a:pt x="573" y="778"/>
                </a:lnTo>
                <a:lnTo>
                  <a:pt x="573" y="780"/>
                </a:lnTo>
                <a:lnTo>
                  <a:pt x="574" y="780"/>
                </a:lnTo>
                <a:lnTo>
                  <a:pt x="575" y="780"/>
                </a:lnTo>
                <a:lnTo>
                  <a:pt x="586" y="780"/>
                </a:lnTo>
                <a:lnTo>
                  <a:pt x="586" y="778"/>
                </a:lnTo>
                <a:lnTo>
                  <a:pt x="586" y="780"/>
                </a:lnTo>
                <a:lnTo>
                  <a:pt x="587" y="778"/>
                </a:lnTo>
                <a:lnTo>
                  <a:pt x="587" y="780"/>
                </a:lnTo>
                <a:lnTo>
                  <a:pt x="588" y="780"/>
                </a:lnTo>
                <a:lnTo>
                  <a:pt x="590" y="780"/>
                </a:lnTo>
                <a:lnTo>
                  <a:pt x="592" y="780"/>
                </a:lnTo>
                <a:lnTo>
                  <a:pt x="593" y="779"/>
                </a:lnTo>
                <a:lnTo>
                  <a:pt x="593" y="780"/>
                </a:lnTo>
                <a:lnTo>
                  <a:pt x="606" y="780"/>
                </a:lnTo>
                <a:lnTo>
                  <a:pt x="607" y="780"/>
                </a:lnTo>
                <a:lnTo>
                  <a:pt x="624" y="780"/>
                </a:lnTo>
                <a:lnTo>
                  <a:pt x="626" y="780"/>
                </a:lnTo>
                <a:lnTo>
                  <a:pt x="631" y="780"/>
                </a:lnTo>
                <a:lnTo>
                  <a:pt x="632" y="780"/>
                </a:lnTo>
                <a:lnTo>
                  <a:pt x="633" y="780"/>
                </a:lnTo>
                <a:lnTo>
                  <a:pt x="634" y="780"/>
                </a:lnTo>
                <a:lnTo>
                  <a:pt x="638" y="780"/>
                </a:lnTo>
                <a:lnTo>
                  <a:pt x="638" y="775"/>
                </a:lnTo>
                <a:lnTo>
                  <a:pt x="638" y="780"/>
                </a:lnTo>
                <a:lnTo>
                  <a:pt x="639" y="778"/>
                </a:lnTo>
                <a:lnTo>
                  <a:pt x="639" y="780"/>
                </a:lnTo>
                <a:lnTo>
                  <a:pt x="640" y="779"/>
                </a:lnTo>
                <a:lnTo>
                  <a:pt x="640" y="780"/>
                </a:lnTo>
                <a:lnTo>
                  <a:pt x="641" y="780"/>
                </a:lnTo>
                <a:lnTo>
                  <a:pt x="645" y="780"/>
                </a:lnTo>
                <a:lnTo>
                  <a:pt x="646" y="780"/>
                </a:lnTo>
                <a:lnTo>
                  <a:pt x="649" y="780"/>
                </a:lnTo>
                <a:lnTo>
                  <a:pt x="650" y="780"/>
                </a:lnTo>
                <a:lnTo>
                  <a:pt x="650" y="765"/>
                </a:lnTo>
                <a:lnTo>
                  <a:pt x="651" y="773"/>
                </a:lnTo>
                <a:lnTo>
                  <a:pt x="651" y="780"/>
                </a:lnTo>
                <a:lnTo>
                  <a:pt x="652" y="778"/>
                </a:lnTo>
                <a:lnTo>
                  <a:pt x="652" y="780"/>
                </a:lnTo>
                <a:lnTo>
                  <a:pt x="653" y="780"/>
                </a:lnTo>
                <a:lnTo>
                  <a:pt x="655" y="780"/>
                </a:lnTo>
                <a:lnTo>
                  <a:pt x="664" y="780"/>
                </a:lnTo>
                <a:lnTo>
                  <a:pt x="665" y="780"/>
                </a:lnTo>
                <a:lnTo>
                  <a:pt x="666" y="780"/>
                </a:lnTo>
                <a:lnTo>
                  <a:pt x="671" y="780"/>
                </a:lnTo>
                <a:lnTo>
                  <a:pt x="672" y="780"/>
                </a:lnTo>
                <a:lnTo>
                  <a:pt x="673" y="780"/>
                </a:lnTo>
                <a:lnTo>
                  <a:pt x="674" y="780"/>
                </a:lnTo>
                <a:lnTo>
                  <a:pt x="675" y="780"/>
                </a:lnTo>
                <a:lnTo>
                  <a:pt x="687" y="780"/>
                </a:lnTo>
                <a:lnTo>
                  <a:pt x="688" y="780"/>
                </a:lnTo>
                <a:lnTo>
                  <a:pt x="689" y="780"/>
                </a:lnTo>
                <a:lnTo>
                  <a:pt x="690" y="780"/>
                </a:lnTo>
                <a:lnTo>
                  <a:pt x="691" y="780"/>
                </a:lnTo>
                <a:lnTo>
                  <a:pt x="692" y="780"/>
                </a:lnTo>
                <a:lnTo>
                  <a:pt x="692" y="705"/>
                </a:lnTo>
                <a:lnTo>
                  <a:pt x="693" y="780"/>
                </a:lnTo>
                <a:lnTo>
                  <a:pt x="693" y="734"/>
                </a:lnTo>
                <a:lnTo>
                  <a:pt x="694" y="769"/>
                </a:lnTo>
                <a:lnTo>
                  <a:pt x="694" y="780"/>
                </a:lnTo>
                <a:lnTo>
                  <a:pt x="695" y="780"/>
                </a:lnTo>
                <a:lnTo>
                  <a:pt x="696" y="780"/>
                </a:lnTo>
                <a:lnTo>
                  <a:pt x="698" y="780"/>
                </a:lnTo>
                <a:lnTo>
                  <a:pt x="699" y="780"/>
                </a:lnTo>
                <a:lnTo>
                  <a:pt x="722" y="780"/>
                </a:lnTo>
                <a:lnTo>
                  <a:pt x="725" y="780"/>
                </a:lnTo>
                <a:lnTo>
                  <a:pt x="726" y="780"/>
                </a:lnTo>
                <a:lnTo>
                  <a:pt x="727" y="780"/>
                </a:lnTo>
                <a:lnTo>
                  <a:pt x="733" y="780"/>
                </a:lnTo>
                <a:lnTo>
                  <a:pt x="742" y="780"/>
                </a:lnTo>
                <a:lnTo>
                  <a:pt x="742" y="779"/>
                </a:lnTo>
                <a:lnTo>
                  <a:pt x="743" y="780"/>
                </a:lnTo>
                <a:lnTo>
                  <a:pt x="755" y="780"/>
                </a:lnTo>
                <a:lnTo>
                  <a:pt x="756" y="780"/>
                </a:lnTo>
                <a:lnTo>
                  <a:pt x="763" y="780"/>
                </a:lnTo>
                <a:lnTo>
                  <a:pt x="776" y="780"/>
                </a:lnTo>
                <a:lnTo>
                  <a:pt x="777" y="780"/>
                </a:lnTo>
                <a:lnTo>
                  <a:pt x="792" y="780"/>
                </a:lnTo>
                <a:lnTo>
                  <a:pt x="792" y="764"/>
                </a:lnTo>
                <a:lnTo>
                  <a:pt x="792" y="780"/>
                </a:lnTo>
                <a:lnTo>
                  <a:pt x="793" y="771"/>
                </a:lnTo>
                <a:lnTo>
                  <a:pt x="793" y="780"/>
                </a:lnTo>
                <a:lnTo>
                  <a:pt x="794" y="777"/>
                </a:lnTo>
                <a:lnTo>
                  <a:pt x="794" y="780"/>
                </a:lnTo>
                <a:lnTo>
                  <a:pt x="795" y="780"/>
                </a:lnTo>
                <a:lnTo>
                  <a:pt x="796" y="780"/>
                </a:lnTo>
                <a:lnTo>
                  <a:pt x="836" y="780"/>
                </a:lnTo>
                <a:lnTo>
                  <a:pt x="837" y="780"/>
                </a:lnTo>
                <a:lnTo>
                  <a:pt x="844" y="780"/>
                </a:lnTo>
                <a:lnTo>
                  <a:pt x="846" y="780"/>
                </a:lnTo>
                <a:lnTo>
                  <a:pt x="847" y="780"/>
                </a:lnTo>
                <a:lnTo>
                  <a:pt x="848" y="780"/>
                </a:lnTo>
                <a:lnTo>
                  <a:pt x="849" y="780"/>
                </a:lnTo>
                <a:lnTo>
                  <a:pt x="850" y="780"/>
                </a:lnTo>
                <a:lnTo>
                  <a:pt x="852" y="780"/>
                </a:lnTo>
                <a:lnTo>
                  <a:pt x="853" y="780"/>
                </a:lnTo>
                <a:lnTo>
                  <a:pt x="854" y="780"/>
                </a:lnTo>
                <a:lnTo>
                  <a:pt x="861" y="780"/>
                </a:lnTo>
                <a:lnTo>
                  <a:pt x="862" y="780"/>
                </a:lnTo>
                <a:lnTo>
                  <a:pt x="867" y="780"/>
                </a:lnTo>
                <a:lnTo>
                  <a:pt x="868" y="780"/>
                </a:lnTo>
                <a:lnTo>
                  <a:pt x="869" y="780"/>
                </a:lnTo>
                <a:lnTo>
                  <a:pt x="870" y="780"/>
                </a:lnTo>
                <a:lnTo>
                  <a:pt x="872" y="780"/>
                </a:lnTo>
                <a:lnTo>
                  <a:pt x="873" y="780"/>
                </a:lnTo>
                <a:lnTo>
                  <a:pt x="874" y="780"/>
                </a:lnTo>
                <a:lnTo>
                  <a:pt x="896" y="780"/>
                </a:lnTo>
                <a:lnTo>
                  <a:pt x="921" y="780"/>
                </a:lnTo>
                <a:lnTo>
                  <a:pt x="922" y="780"/>
                </a:lnTo>
                <a:lnTo>
                  <a:pt x="923" y="780"/>
                </a:lnTo>
                <a:lnTo>
                  <a:pt x="924" y="780"/>
                </a:lnTo>
                <a:lnTo>
                  <a:pt x="925" y="780"/>
                </a:lnTo>
                <a:lnTo>
                  <a:pt x="926" y="780"/>
                </a:lnTo>
                <a:lnTo>
                  <a:pt x="927" y="780"/>
                </a:lnTo>
                <a:lnTo>
                  <a:pt x="928" y="780"/>
                </a:lnTo>
                <a:lnTo>
                  <a:pt x="929" y="780"/>
                </a:lnTo>
                <a:lnTo>
                  <a:pt x="930" y="780"/>
                </a:lnTo>
                <a:lnTo>
                  <a:pt x="931" y="780"/>
                </a:lnTo>
                <a:lnTo>
                  <a:pt x="932" y="780"/>
                </a:lnTo>
                <a:lnTo>
                  <a:pt x="933" y="780"/>
                </a:lnTo>
                <a:lnTo>
                  <a:pt x="934" y="780"/>
                </a:lnTo>
                <a:lnTo>
                  <a:pt x="935" y="780"/>
                </a:lnTo>
                <a:lnTo>
                  <a:pt x="973" y="780"/>
                </a:lnTo>
                <a:lnTo>
                  <a:pt x="975" y="780"/>
                </a:lnTo>
                <a:lnTo>
                  <a:pt x="977" y="780"/>
                </a:lnTo>
                <a:lnTo>
                  <a:pt x="978" y="780"/>
                </a:lnTo>
                <a:lnTo>
                  <a:pt x="979" y="780"/>
                </a:lnTo>
                <a:lnTo>
                  <a:pt x="980" y="780"/>
                </a:lnTo>
                <a:lnTo>
                  <a:pt x="982" y="780"/>
                </a:lnTo>
                <a:lnTo>
                  <a:pt x="984" y="780"/>
                </a:lnTo>
                <a:lnTo>
                  <a:pt x="1013" y="780"/>
                </a:lnTo>
                <a:lnTo>
                  <a:pt x="1032" y="780"/>
                </a:lnTo>
                <a:lnTo>
                  <a:pt x="1041" y="780"/>
                </a:lnTo>
                <a:lnTo>
                  <a:pt x="1065" y="780"/>
                </a:lnTo>
                <a:lnTo>
                  <a:pt x="1066" y="780"/>
                </a:lnTo>
                <a:lnTo>
                  <a:pt x="1067" y="780"/>
                </a:lnTo>
                <a:lnTo>
                  <a:pt x="1068" y="780"/>
                </a:lnTo>
                <a:lnTo>
                  <a:pt x="1069" y="780"/>
                </a:lnTo>
                <a:lnTo>
                  <a:pt x="1070" y="780"/>
                </a:lnTo>
                <a:lnTo>
                  <a:pt x="1071" y="780"/>
                </a:lnTo>
                <a:lnTo>
                  <a:pt x="1072" y="780"/>
                </a:lnTo>
                <a:lnTo>
                  <a:pt x="1073" y="780"/>
                </a:lnTo>
                <a:lnTo>
                  <a:pt x="1074" y="780"/>
                </a:lnTo>
                <a:lnTo>
                  <a:pt x="1075" y="780"/>
                </a:lnTo>
                <a:lnTo>
                  <a:pt x="1076" y="780"/>
                </a:lnTo>
                <a:lnTo>
                  <a:pt x="1077" y="780"/>
                </a:lnTo>
                <a:lnTo>
                  <a:pt x="1078" y="780"/>
                </a:lnTo>
                <a:lnTo>
                  <a:pt x="1079" y="780"/>
                </a:lnTo>
                <a:lnTo>
                  <a:pt x="1108" y="780"/>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72" name="Line 383"/>
          <p:cNvSpPr>
            <a:spLocks noChangeShapeType="1"/>
          </p:cNvSpPr>
          <p:nvPr/>
        </p:nvSpPr>
        <p:spPr bwMode="auto">
          <a:xfrm>
            <a:off x="4032250" y="4554538"/>
            <a:ext cx="34353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73" name="Line 384"/>
          <p:cNvSpPr>
            <a:spLocks noChangeShapeType="1"/>
          </p:cNvSpPr>
          <p:nvPr/>
        </p:nvSpPr>
        <p:spPr bwMode="auto">
          <a:xfrm>
            <a:off x="41036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74" name="Line 385"/>
          <p:cNvSpPr>
            <a:spLocks noChangeShapeType="1"/>
          </p:cNvSpPr>
          <p:nvPr/>
        </p:nvSpPr>
        <p:spPr bwMode="auto">
          <a:xfrm>
            <a:off x="414337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75" name="Line 386"/>
          <p:cNvSpPr>
            <a:spLocks noChangeShapeType="1"/>
          </p:cNvSpPr>
          <p:nvPr/>
        </p:nvSpPr>
        <p:spPr bwMode="auto">
          <a:xfrm>
            <a:off x="41846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76" name="Line 387"/>
          <p:cNvSpPr>
            <a:spLocks noChangeShapeType="1"/>
          </p:cNvSpPr>
          <p:nvPr/>
        </p:nvSpPr>
        <p:spPr bwMode="auto">
          <a:xfrm>
            <a:off x="422433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77" name="Line 388"/>
          <p:cNvSpPr>
            <a:spLocks noChangeShapeType="1"/>
          </p:cNvSpPr>
          <p:nvPr/>
        </p:nvSpPr>
        <p:spPr bwMode="auto">
          <a:xfrm>
            <a:off x="43053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78" name="Line 389"/>
          <p:cNvSpPr>
            <a:spLocks noChangeShapeType="1"/>
          </p:cNvSpPr>
          <p:nvPr/>
        </p:nvSpPr>
        <p:spPr bwMode="auto">
          <a:xfrm>
            <a:off x="43449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79" name="Line 390"/>
          <p:cNvSpPr>
            <a:spLocks noChangeShapeType="1"/>
          </p:cNvSpPr>
          <p:nvPr/>
        </p:nvSpPr>
        <p:spPr bwMode="auto">
          <a:xfrm>
            <a:off x="438467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0" name="Line 391"/>
          <p:cNvSpPr>
            <a:spLocks noChangeShapeType="1"/>
          </p:cNvSpPr>
          <p:nvPr/>
        </p:nvSpPr>
        <p:spPr bwMode="auto">
          <a:xfrm>
            <a:off x="44259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1" name="Line 392"/>
          <p:cNvSpPr>
            <a:spLocks noChangeShapeType="1"/>
          </p:cNvSpPr>
          <p:nvPr/>
        </p:nvSpPr>
        <p:spPr bwMode="auto">
          <a:xfrm>
            <a:off x="450691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2" name="Line 393"/>
          <p:cNvSpPr>
            <a:spLocks noChangeShapeType="1"/>
          </p:cNvSpPr>
          <p:nvPr/>
        </p:nvSpPr>
        <p:spPr bwMode="auto">
          <a:xfrm>
            <a:off x="45466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3" name="Line 394"/>
          <p:cNvSpPr>
            <a:spLocks noChangeShapeType="1"/>
          </p:cNvSpPr>
          <p:nvPr/>
        </p:nvSpPr>
        <p:spPr bwMode="auto">
          <a:xfrm>
            <a:off x="458311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4" name="Line 395"/>
          <p:cNvSpPr>
            <a:spLocks noChangeShapeType="1"/>
          </p:cNvSpPr>
          <p:nvPr/>
        </p:nvSpPr>
        <p:spPr bwMode="auto">
          <a:xfrm>
            <a:off x="46243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5" name="Line 396"/>
          <p:cNvSpPr>
            <a:spLocks noChangeShapeType="1"/>
          </p:cNvSpPr>
          <p:nvPr/>
        </p:nvSpPr>
        <p:spPr bwMode="auto">
          <a:xfrm>
            <a:off x="47053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6" name="Line 397"/>
          <p:cNvSpPr>
            <a:spLocks noChangeShapeType="1"/>
          </p:cNvSpPr>
          <p:nvPr/>
        </p:nvSpPr>
        <p:spPr bwMode="auto">
          <a:xfrm>
            <a:off x="474503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7" name="Line 398"/>
          <p:cNvSpPr>
            <a:spLocks noChangeShapeType="1"/>
          </p:cNvSpPr>
          <p:nvPr/>
        </p:nvSpPr>
        <p:spPr bwMode="auto">
          <a:xfrm>
            <a:off x="47847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8" name="Line 399"/>
          <p:cNvSpPr>
            <a:spLocks noChangeShapeType="1"/>
          </p:cNvSpPr>
          <p:nvPr/>
        </p:nvSpPr>
        <p:spPr bwMode="auto">
          <a:xfrm>
            <a:off x="48260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89" name="Line 400"/>
          <p:cNvSpPr>
            <a:spLocks noChangeShapeType="1"/>
          </p:cNvSpPr>
          <p:nvPr/>
        </p:nvSpPr>
        <p:spPr bwMode="auto">
          <a:xfrm>
            <a:off x="490696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0" name="Line 401"/>
          <p:cNvSpPr>
            <a:spLocks noChangeShapeType="1"/>
          </p:cNvSpPr>
          <p:nvPr/>
        </p:nvSpPr>
        <p:spPr bwMode="auto">
          <a:xfrm>
            <a:off x="49466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1" name="Line 402"/>
          <p:cNvSpPr>
            <a:spLocks noChangeShapeType="1"/>
          </p:cNvSpPr>
          <p:nvPr/>
        </p:nvSpPr>
        <p:spPr bwMode="auto">
          <a:xfrm>
            <a:off x="498633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2" name="Line 403"/>
          <p:cNvSpPr>
            <a:spLocks noChangeShapeType="1"/>
          </p:cNvSpPr>
          <p:nvPr/>
        </p:nvSpPr>
        <p:spPr bwMode="auto">
          <a:xfrm>
            <a:off x="502761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3" name="Line 404"/>
          <p:cNvSpPr>
            <a:spLocks noChangeShapeType="1"/>
          </p:cNvSpPr>
          <p:nvPr/>
        </p:nvSpPr>
        <p:spPr bwMode="auto">
          <a:xfrm>
            <a:off x="510857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4" name="Line 405"/>
          <p:cNvSpPr>
            <a:spLocks noChangeShapeType="1"/>
          </p:cNvSpPr>
          <p:nvPr/>
        </p:nvSpPr>
        <p:spPr bwMode="auto">
          <a:xfrm>
            <a:off x="514826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5" name="Line 406"/>
          <p:cNvSpPr>
            <a:spLocks noChangeShapeType="1"/>
          </p:cNvSpPr>
          <p:nvPr/>
        </p:nvSpPr>
        <p:spPr bwMode="auto">
          <a:xfrm>
            <a:off x="51879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6" name="Line 407"/>
          <p:cNvSpPr>
            <a:spLocks noChangeShapeType="1"/>
          </p:cNvSpPr>
          <p:nvPr/>
        </p:nvSpPr>
        <p:spPr bwMode="auto">
          <a:xfrm>
            <a:off x="52292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7" name="Line 408"/>
          <p:cNvSpPr>
            <a:spLocks noChangeShapeType="1"/>
          </p:cNvSpPr>
          <p:nvPr/>
        </p:nvSpPr>
        <p:spPr bwMode="auto">
          <a:xfrm>
            <a:off x="530701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8" name="Line 409"/>
          <p:cNvSpPr>
            <a:spLocks noChangeShapeType="1"/>
          </p:cNvSpPr>
          <p:nvPr/>
        </p:nvSpPr>
        <p:spPr bwMode="auto">
          <a:xfrm>
            <a:off x="53467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299" name="Line 410"/>
          <p:cNvSpPr>
            <a:spLocks noChangeShapeType="1"/>
          </p:cNvSpPr>
          <p:nvPr/>
        </p:nvSpPr>
        <p:spPr bwMode="auto">
          <a:xfrm>
            <a:off x="53863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0" name="Line 411"/>
          <p:cNvSpPr>
            <a:spLocks noChangeShapeType="1"/>
          </p:cNvSpPr>
          <p:nvPr/>
        </p:nvSpPr>
        <p:spPr bwMode="auto">
          <a:xfrm>
            <a:off x="542766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1" name="Line 412"/>
          <p:cNvSpPr>
            <a:spLocks noChangeShapeType="1"/>
          </p:cNvSpPr>
          <p:nvPr/>
        </p:nvSpPr>
        <p:spPr bwMode="auto">
          <a:xfrm>
            <a:off x="55086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2" name="Line 413"/>
          <p:cNvSpPr>
            <a:spLocks noChangeShapeType="1"/>
          </p:cNvSpPr>
          <p:nvPr/>
        </p:nvSpPr>
        <p:spPr bwMode="auto">
          <a:xfrm>
            <a:off x="554831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3" name="Line 414"/>
          <p:cNvSpPr>
            <a:spLocks noChangeShapeType="1"/>
          </p:cNvSpPr>
          <p:nvPr/>
        </p:nvSpPr>
        <p:spPr bwMode="auto">
          <a:xfrm>
            <a:off x="55880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4" name="Line 415"/>
          <p:cNvSpPr>
            <a:spLocks noChangeShapeType="1"/>
          </p:cNvSpPr>
          <p:nvPr/>
        </p:nvSpPr>
        <p:spPr bwMode="auto">
          <a:xfrm>
            <a:off x="562927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5" name="Line 416"/>
          <p:cNvSpPr>
            <a:spLocks noChangeShapeType="1"/>
          </p:cNvSpPr>
          <p:nvPr/>
        </p:nvSpPr>
        <p:spPr bwMode="auto">
          <a:xfrm>
            <a:off x="57086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6" name="Line 417"/>
          <p:cNvSpPr>
            <a:spLocks noChangeShapeType="1"/>
          </p:cNvSpPr>
          <p:nvPr/>
        </p:nvSpPr>
        <p:spPr bwMode="auto">
          <a:xfrm>
            <a:off x="57499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7" name="Line 418"/>
          <p:cNvSpPr>
            <a:spLocks noChangeShapeType="1"/>
          </p:cNvSpPr>
          <p:nvPr/>
        </p:nvSpPr>
        <p:spPr bwMode="auto">
          <a:xfrm>
            <a:off x="578961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8" name="Line 419"/>
          <p:cNvSpPr>
            <a:spLocks noChangeShapeType="1"/>
          </p:cNvSpPr>
          <p:nvPr/>
        </p:nvSpPr>
        <p:spPr bwMode="auto">
          <a:xfrm>
            <a:off x="58308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09" name="Line 420"/>
          <p:cNvSpPr>
            <a:spLocks noChangeShapeType="1"/>
          </p:cNvSpPr>
          <p:nvPr/>
        </p:nvSpPr>
        <p:spPr bwMode="auto">
          <a:xfrm>
            <a:off x="591026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0" name="Line 421"/>
          <p:cNvSpPr>
            <a:spLocks noChangeShapeType="1"/>
          </p:cNvSpPr>
          <p:nvPr/>
        </p:nvSpPr>
        <p:spPr bwMode="auto">
          <a:xfrm>
            <a:off x="594836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1" name="Line 422"/>
          <p:cNvSpPr>
            <a:spLocks noChangeShapeType="1"/>
          </p:cNvSpPr>
          <p:nvPr/>
        </p:nvSpPr>
        <p:spPr bwMode="auto">
          <a:xfrm>
            <a:off x="59880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2" name="Line 423"/>
          <p:cNvSpPr>
            <a:spLocks noChangeShapeType="1"/>
          </p:cNvSpPr>
          <p:nvPr/>
        </p:nvSpPr>
        <p:spPr bwMode="auto">
          <a:xfrm>
            <a:off x="60293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3" name="Line 424"/>
          <p:cNvSpPr>
            <a:spLocks noChangeShapeType="1"/>
          </p:cNvSpPr>
          <p:nvPr/>
        </p:nvSpPr>
        <p:spPr bwMode="auto">
          <a:xfrm>
            <a:off x="61087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4" name="Line 425"/>
          <p:cNvSpPr>
            <a:spLocks noChangeShapeType="1"/>
          </p:cNvSpPr>
          <p:nvPr/>
        </p:nvSpPr>
        <p:spPr bwMode="auto">
          <a:xfrm>
            <a:off x="614997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5" name="Line 426"/>
          <p:cNvSpPr>
            <a:spLocks noChangeShapeType="1"/>
          </p:cNvSpPr>
          <p:nvPr/>
        </p:nvSpPr>
        <p:spPr bwMode="auto">
          <a:xfrm>
            <a:off x="618966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6" name="Line 427"/>
          <p:cNvSpPr>
            <a:spLocks noChangeShapeType="1"/>
          </p:cNvSpPr>
          <p:nvPr/>
        </p:nvSpPr>
        <p:spPr bwMode="auto">
          <a:xfrm>
            <a:off x="623093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7" name="Line 428"/>
          <p:cNvSpPr>
            <a:spLocks noChangeShapeType="1"/>
          </p:cNvSpPr>
          <p:nvPr/>
        </p:nvSpPr>
        <p:spPr bwMode="auto">
          <a:xfrm>
            <a:off x="631031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8" name="Line 429"/>
          <p:cNvSpPr>
            <a:spLocks noChangeShapeType="1"/>
          </p:cNvSpPr>
          <p:nvPr/>
        </p:nvSpPr>
        <p:spPr bwMode="auto">
          <a:xfrm>
            <a:off x="63515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19" name="Line 430"/>
          <p:cNvSpPr>
            <a:spLocks noChangeShapeType="1"/>
          </p:cNvSpPr>
          <p:nvPr/>
        </p:nvSpPr>
        <p:spPr bwMode="auto">
          <a:xfrm>
            <a:off x="639127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0" name="Line 431"/>
          <p:cNvSpPr>
            <a:spLocks noChangeShapeType="1"/>
          </p:cNvSpPr>
          <p:nvPr/>
        </p:nvSpPr>
        <p:spPr bwMode="auto">
          <a:xfrm>
            <a:off x="64325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1" name="Line 432"/>
          <p:cNvSpPr>
            <a:spLocks noChangeShapeType="1"/>
          </p:cNvSpPr>
          <p:nvPr/>
        </p:nvSpPr>
        <p:spPr bwMode="auto">
          <a:xfrm>
            <a:off x="65119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2" name="Line 433"/>
          <p:cNvSpPr>
            <a:spLocks noChangeShapeType="1"/>
          </p:cNvSpPr>
          <p:nvPr/>
        </p:nvSpPr>
        <p:spPr bwMode="auto">
          <a:xfrm>
            <a:off x="65532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3" name="Line 434"/>
          <p:cNvSpPr>
            <a:spLocks noChangeShapeType="1"/>
          </p:cNvSpPr>
          <p:nvPr/>
        </p:nvSpPr>
        <p:spPr bwMode="auto">
          <a:xfrm>
            <a:off x="65928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4" name="Line 435"/>
          <p:cNvSpPr>
            <a:spLocks noChangeShapeType="1"/>
          </p:cNvSpPr>
          <p:nvPr/>
        </p:nvSpPr>
        <p:spPr bwMode="auto">
          <a:xfrm>
            <a:off x="66309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5" name="Line 436"/>
          <p:cNvSpPr>
            <a:spLocks noChangeShapeType="1"/>
          </p:cNvSpPr>
          <p:nvPr/>
        </p:nvSpPr>
        <p:spPr bwMode="auto">
          <a:xfrm>
            <a:off x="671036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6" name="Line 437"/>
          <p:cNvSpPr>
            <a:spLocks noChangeShapeType="1"/>
          </p:cNvSpPr>
          <p:nvPr/>
        </p:nvSpPr>
        <p:spPr bwMode="auto">
          <a:xfrm>
            <a:off x="675163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7" name="Line 438"/>
          <p:cNvSpPr>
            <a:spLocks noChangeShapeType="1"/>
          </p:cNvSpPr>
          <p:nvPr/>
        </p:nvSpPr>
        <p:spPr bwMode="auto">
          <a:xfrm>
            <a:off x="67913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8" name="Line 439"/>
          <p:cNvSpPr>
            <a:spLocks noChangeShapeType="1"/>
          </p:cNvSpPr>
          <p:nvPr/>
        </p:nvSpPr>
        <p:spPr bwMode="auto">
          <a:xfrm>
            <a:off x="68326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29" name="Line 440"/>
          <p:cNvSpPr>
            <a:spLocks noChangeShapeType="1"/>
          </p:cNvSpPr>
          <p:nvPr/>
        </p:nvSpPr>
        <p:spPr bwMode="auto">
          <a:xfrm>
            <a:off x="691197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0" name="Line 441"/>
          <p:cNvSpPr>
            <a:spLocks noChangeShapeType="1"/>
          </p:cNvSpPr>
          <p:nvPr/>
        </p:nvSpPr>
        <p:spPr bwMode="auto">
          <a:xfrm>
            <a:off x="69532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1" name="Line 442"/>
          <p:cNvSpPr>
            <a:spLocks noChangeShapeType="1"/>
          </p:cNvSpPr>
          <p:nvPr/>
        </p:nvSpPr>
        <p:spPr bwMode="auto">
          <a:xfrm>
            <a:off x="699293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2" name="Line 443"/>
          <p:cNvSpPr>
            <a:spLocks noChangeShapeType="1"/>
          </p:cNvSpPr>
          <p:nvPr/>
        </p:nvSpPr>
        <p:spPr bwMode="auto">
          <a:xfrm>
            <a:off x="70326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3" name="Line 444"/>
          <p:cNvSpPr>
            <a:spLocks noChangeShapeType="1"/>
          </p:cNvSpPr>
          <p:nvPr/>
        </p:nvSpPr>
        <p:spPr bwMode="auto">
          <a:xfrm>
            <a:off x="71135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4" name="Line 445"/>
          <p:cNvSpPr>
            <a:spLocks noChangeShapeType="1"/>
          </p:cNvSpPr>
          <p:nvPr/>
        </p:nvSpPr>
        <p:spPr bwMode="auto">
          <a:xfrm>
            <a:off x="7154863"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5" name="Line 446"/>
          <p:cNvSpPr>
            <a:spLocks noChangeShapeType="1"/>
          </p:cNvSpPr>
          <p:nvPr/>
        </p:nvSpPr>
        <p:spPr bwMode="auto">
          <a:xfrm>
            <a:off x="719455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6" name="Line 447"/>
          <p:cNvSpPr>
            <a:spLocks noChangeShapeType="1"/>
          </p:cNvSpPr>
          <p:nvPr/>
        </p:nvSpPr>
        <p:spPr bwMode="auto">
          <a:xfrm>
            <a:off x="723423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7" name="Line 448"/>
          <p:cNvSpPr>
            <a:spLocks noChangeShapeType="1"/>
          </p:cNvSpPr>
          <p:nvPr/>
        </p:nvSpPr>
        <p:spPr bwMode="auto">
          <a:xfrm>
            <a:off x="731202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8" name="Line 449"/>
          <p:cNvSpPr>
            <a:spLocks noChangeShapeType="1"/>
          </p:cNvSpPr>
          <p:nvPr/>
        </p:nvSpPr>
        <p:spPr bwMode="auto">
          <a:xfrm>
            <a:off x="7353300"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39" name="Line 450"/>
          <p:cNvSpPr>
            <a:spLocks noChangeShapeType="1"/>
          </p:cNvSpPr>
          <p:nvPr/>
        </p:nvSpPr>
        <p:spPr bwMode="auto">
          <a:xfrm>
            <a:off x="7392988" y="4554538"/>
            <a:ext cx="1587"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40" name="Line 451"/>
          <p:cNvSpPr>
            <a:spLocks noChangeShapeType="1"/>
          </p:cNvSpPr>
          <p:nvPr/>
        </p:nvSpPr>
        <p:spPr bwMode="auto">
          <a:xfrm>
            <a:off x="7432675" y="4554538"/>
            <a:ext cx="1588" cy="190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41" name="Line 452"/>
          <p:cNvSpPr>
            <a:spLocks noChangeShapeType="1"/>
          </p:cNvSpPr>
          <p:nvPr/>
        </p:nvSpPr>
        <p:spPr bwMode="auto">
          <a:xfrm>
            <a:off x="4062413"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42" name="Rectangle 453"/>
          <p:cNvSpPr>
            <a:spLocks noChangeArrowheads="1"/>
          </p:cNvSpPr>
          <p:nvPr/>
        </p:nvSpPr>
        <p:spPr bwMode="auto">
          <a:xfrm>
            <a:off x="4006850"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493.3</a:t>
            </a:r>
          </a:p>
        </p:txBody>
      </p:sp>
      <p:sp>
        <p:nvSpPr>
          <p:cNvPr id="38343" name="Line 454"/>
          <p:cNvSpPr>
            <a:spLocks noChangeShapeType="1"/>
          </p:cNvSpPr>
          <p:nvPr/>
        </p:nvSpPr>
        <p:spPr bwMode="auto">
          <a:xfrm>
            <a:off x="4264025" y="4554538"/>
            <a:ext cx="1588"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44" name="Line 455"/>
          <p:cNvSpPr>
            <a:spLocks noChangeShapeType="1"/>
          </p:cNvSpPr>
          <p:nvPr/>
        </p:nvSpPr>
        <p:spPr bwMode="auto">
          <a:xfrm>
            <a:off x="4465638"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45" name="Rectangle 456"/>
          <p:cNvSpPr>
            <a:spLocks noChangeArrowheads="1"/>
          </p:cNvSpPr>
          <p:nvPr/>
        </p:nvSpPr>
        <p:spPr bwMode="auto">
          <a:xfrm>
            <a:off x="4410075"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493.5</a:t>
            </a:r>
          </a:p>
        </p:txBody>
      </p:sp>
      <p:sp>
        <p:nvSpPr>
          <p:cNvPr id="38346" name="Line 457"/>
          <p:cNvSpPr>
            <a:spLocks noChangeShapeType="1"/>
          </p:cNvSpPr>
          <p:nvPr/>
        </p:nvSpPr>
        <p:spPr bwMode="auto">
          <a:xfrm>
            <a:off x="4664075" y="4554538"/>
            <a:ext cx="1588"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47" name="Line 458"/>
          <p:cNvSpPr>
            <a:spLocks noChangeShapeType="1"/>
          </p:cNvSpPr>
          <p:nvPr/>
        </p:nvSpPr>
        <p:spPr bwMode="auto">
          <a:xfrm>
            <a:off x="4865688"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48" name="Rectangle 459"/>
          <p:cNvSpPr>
            <a:spLocks noChangeArrowheads="1"/>
          </p:cNvSpPr>
          <p:nvPr/>
        </p:nvSpPr>
        <p:spPr bwMode="auto">
          <a:xfrm>
            <a:off x="4810125"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493.7</a:t>
            </a:r>
          </a:p>
        </p:txBody>
      </p:sp>
      <p:sp>
        <p:nvSpPr>
          <p:cNvPr id="38349" name="Line 460"/>
          <p:cNvSpPr>
            <a:spLocks noChangeShapeType="1"/>
          </p:cNvSpPr>
          <p:nvPr/>
        </p:nvSpPr>
        <p:spPr bwMode="auto">
          <a:xfrm>
            <a:off x="5067300" y="4554538"/>
            <a:ext cx="1588"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50" name="Line 461"/>
          <p:cNvSpPr>
            <a:spLocks noChangeShapeType="1"/>
          </p:cNvSpPr>
          <p:nvPr/>
        </p:nvSpPr>
        <p:spPr bwMode="auto">
          <a:xfrm>
            <a:off x="5265738"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51" name="Rectangle 462"/>
          <p:cNvSpPr>
            <a:spLocks noChangeArrowheads="1"/>
          </p:cNvSpPr>
          <p:nvPr/>
        </p:nvSpPr>
        <p:spPr bwMode="auto">
          <a:xfrm>
            <a:off x="5210175"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493.9</a:t>
            </a:r>
          </a:p>
        </p:txBody>
      </p:sp>
      <p:sp>
        <p:nvSpPr>
          <p:cNvPr id="38352" name="Line 463"/>
          <p:cNvSpPr>
            <a:spLocks noChangeShapeType="1"/>
          </p:cNvSpPr>
          <p:nvPr/>
        </p:nvSpPr>
        <p:spPr bwMode="auto">
          <a:xfrm>
            <a:off x="5467350" y="4554538"/>
            <a:ext cx="1588"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53" name="Line 464"/>
          <p:cNvSpPr>
            <a:spLocks noChangeShapeType="1"/>
          </p:cNvSpPr>
          <p:nvPr/>
        </p:nvSpPr>
        <p:spPr bwMode="auto">
          <a:xfrm>
            <a:off x="5668963"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54" name="Rectangle 465"/>
          <p:cNvSpPr>
            <a:spLocks noChangeArrowheads="1"/>
          </p:cNvSpPr>
          <p:nvPr/>
        </p:nvSpPr>
        <p:spPr bwMode="auto">
          <a:xfrm>
            <a:off x="5613400"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494.1</a:t>
            </a:r>
          </a:p>
        </p:txBody>
      </p:sp>
      <p:sp>
        <p:nvSpPr>
          <p:cNvPr id="38355" name="Line 466"/>
          <p:cNvSpPr>
            <a:spLocks noChangeShapeType="1"/>
          </p:cNvSpPr>
          <p:nvPr/>
        </p:nvSpPr>
        <p:spPr bwMode="auto">
          <a:xfrm>
            <a:off x="5870575" y="4554538"/>
            <a:ext cx="1588"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56" name="Line 467"/>
          <p:cNvSpPr>
            <a:spLocks noChangeShapeType="1"/>
          </p:cNvSpPr>
          <p:nvPr/>
        </p:nvSpPr>
        <p:spPr bwMode="auto">
          <a:xfrm>
            <a:off x="6069013"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57" name="Rectangle 468"/>
          <p:cNvSpPr>
            <a:spLocks noChangeArrowheads="1"/>
          </p:cNvSpPr>
          <p:nvPr/>
        </p:nvSpPr>
        <p:spPr bwMode="auto">
          <a:xfrm>
            <a:off x="6013450"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494.3</a:t>
            </a:r>
          </a:p>
        </p:txBody>
      </p:sp>
      <p:sp>
        <p:nvSpPr>
          <p:cNvPr id="38358" name="Line 469"/>
          <p:cNvSpPr>
            <a:spLocks noChangeShapeType="1"/>
          </p:cNvSpPr>
          <p:nvPr/>
        </p:nvSpPr>
        <p:spPr bwMode="auto">
          <a:xfrm>
            <a:off x="6270625" y="4554538"/>
            <a:ext cx="1588"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59" name="Line 470"/>
          <p:cNvSpPr>
            <a:spLocks noChangeShapeType="1"/>
          </p:cNvSpPr>
          <p:nvPr/>
        </p:nvSpPr>
        <p:spPr bwMode="auto">
          <a:xfrm>
            <a:off x="6472238"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60" name="Rectangle 471"/>
          <p:cNvSpPr>
            <a:spLocks noChangeArrowheads="1"/>
          </p:cNvSpPr>
          <p:nvPr/>
        </p:nvSpPr>
        <p:spPr bwMode="auto">
          <a:xfrm>
            <a:off x="6416675"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494.5</a:t>
            </a:r>
          </a:p>
        </p:txBody>
      </p:sp>
      <p:sp>
        <p:nvSpPr>
          <p:cNvPr id="38361" name="Line 472"/>
          <p:cNvSpPr>
            <a:spLocks noChangeShapeType="1"/>
          </p:cNvSpPr>
          <p:nvPr/>
        </p:nvSpPr>
        <p:spPr bwMode="auto">
          <a:xfrm>
            <a:off x="6670675" y="4554538"/>
            <a:ext cx="1588"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62" name="Line 473"/>
          <p:cNvSpPr>
            <a:spLocks noChangeShapeType="1"/>
          </p:cNvSpPr>
          <p:nvPr/>
        </p:nvSpPr>
        <p:spPr bwMode="auto">
          <a:xfrm>
            <a:off x="6872288"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63" name="Rectangle 474"/>
          <p:cNvSpPr>
            <a:spLocks noChangeArrowheads="1"/>
          </p:cNvSpPr>
          <p:nvPr/>
        </p:nvSpPr>
        <p:spPr bwMode="auto">
          <a:xfrm>
            <a:off x="6816725"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494.7</a:t>
            </a:r>
          </a:p>
        </p:txBody>
      </p:sp>
      <p:sp>
        <p:nvSpPr>
          <p:cNvPr id="38364" name="Line 475"/>
          <p:cNvSpPr>
            <a:spLocks noChangeShapeType="1"/>
          </p:cNvSpPr>
          <p:nvPr/>
        </p:nvSpPr>
        <p:spPr bwMode="auto">
          <a:xfrm>
            <a:off x="7073900" y="4554538"/>
            <a:ext cx="1588"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65" name="Line 476"/>
          <p:cNvSpPr>
            <a:spLocks noChangeShapeType="1"/>
          </p:cNvSpPr>
          <p:nvPr/>
        </p:nvSpPr>
        <p:spPr bwMode="auto">
          <a:xfrm>
            <a:off x="7275513" y="4554538"/>
            <a:ext cx="1587" cy="2857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66" name="Rectangle 477"/>
          <p:cNvSpPr>
            <a:spLocks noChangeArrowheads="1"/>
          </p:cNvSpPr>
          <p:nvPr/>
        </p:nvSpPr>
        <p:spPr bwMode="auto">
          <a:xfrm>
            <a:off x="7219950" y="4583113"/>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494.9</a:t>
            </a:r>
          </a:p>
        </p:txBody>
      </p:sp>
      <p:sp>
        <p:nvSpPr>
          <p:cNvPr id="38367" name="Rectangle 478"/>
          <p:cNvSpPr>
            <a:spLocks noChangeArrowheads="1"/>
          </p:cNvSpPr>
          <p:nvPr/>
        </p:nvSpPr>
        <p:spPr bwMode="auto">
          <a:xfrm>
            <a:off x="5562600" y="4648200"/>
            <a:ext cx="163513" cy="12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m/z</a:t>
            </a:r>
          </a:p>
        </p:txBody>
      </p:sp>
      <p:sp>
        <p:nvSpPr>
          <p:cNvPr id="38368" name="Line 479"/>
          <p:cNvSpPr>
            <a:spLocks noChangeShapeType="1"/>
          </p:cNvSpPr>
          <p:nvPr/>
        </p:nvSpPr>
        <p:spPr bwMode="auto">
          <a:xfrm flipV="1">
            <a:off x="4032250" y="2130425"/>
            <a:ext cx="1588" cy="24209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69" name="Line 480"/>
          <p:cNvSpPr>
            <a:spLocks noChangeShapeType="1"/>
          </p:cNvSpPr>
          <p:nvPr/>
        </p:nvSpPr>
        <p:spPr bwMode="auto">
          <a:xfrm flipH="1">
            <a:off x="4013200" y="45307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0" name="Line 481"/>
          <p:cNvSpPr>
            <a:spLocks noChangeShapeType="1"/>
          </p:cNvSpPr>
          <p:nvPr/>
        </p:nvSpPr>
        <p:spPr bwMode="auto">
          <a:xfrm flipH="1">
            <a:off x="4013200" y="45053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1" name="Line 482"/>
          <p:cNvSpPr>
            <a:spLocks noChangeShapeType="1"/>
          </p:cNvSpPr>
          <p:nvPr/>
        </p:nvSpPr>
        <p:spPr bwMode="auto">
          <a:xfrm flipH="1">
            <a:off x="4013200" y="44799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2" name="Line 483"/>
          <p:cNvSpPr>
            <a:spLocks noChangeShapeType="1"/>
          </p:cNvSpPr>
          <p:nvPr/>
        </p:nvSpPr>
        <p:spPr bwMode="auto">
          <a:xfrm flipH="1">
            <a:off x="4013200" y="4456113"/>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3" name="Line 484"/>
          <p:cNvSpPr>
            <a:spLocks noChangeShapeType="1"/>
          </p:cNvSpPr>
          <p:nvPr/>
        </p:nvSpPr>
        <p:spPr bwMode="auto">
          <a:xfrm flipH="1">
            <a:off x="4013200" y="44084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4" name="Line 485"/>
          <p:cNvSpPr>
            <a:spLocks noChangeShapeType="1"/>
          </p:cNvSpPr>
          <p:nvPr/>
        </p:nvSpPr>
        <p:spPr bwMode="auto">
          <a:xfrm flipH="1">
            <a:off x="4013200" y="43846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5" name="Line 486"/>
          <p:cNvSpPr>
            <a:spLocks noChangeShapeType="1"/>
          </p:cNvSpPr>
          <p:nvPr/>
        </p:nvSpPr>
        <p:spPr bwMode="auto">
          <a:xfrm flipH="1">
            <a:off x="4013200" y="43592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6" name="Line 487"/>
          <p:cNvSpPr>
            <a:spLocks noChangeShapeType="1"/>
          </p:cNvSpPr>
          <p:nvPr/>
        </p:nvSpPr>
        <p:spPr bwMode="auto">
          <a:xfrm flipH="1">
            <a:off x="4013200" y="4335463"/>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7" name="Line 488"/>
          <p:cNvSpPr>
            <a:spLocks noChangeShapeType="1"/>
          </p:cNvSpPr>
          <p:nvPr/>
        </p:nvSpPr>
        <p:spPr bwMode="auto">
          <a:xfrm flipH="1">
            <a:off x="4013200" y="42878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8" name="Line 489"/>
          <p:cNvSpPr>
            <a:spLocks noChangeShapeType="1"/>
          </p:cNvSpPr>
          <p:nvPr/>
        </p:nvSpPr>
        <p:spPr bwMode="auto">
          <a:xfrm flipH="1">
            <a:off x="4013200" y="42640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79" name="Line 490"/>
          <p:cNvSpPr>
            <a:spLocks noChangeShapeType="1"/>
          </p:cNvSpPr>
          <p:nvPr/>
        </p:nvSpPr>
        <p:spPr bwMode="auto">
          <a:xfrm flipH="1">
            <a:off x="4013200" y="42386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0" name="Line 491"/>
          <p:cNvSpPr>
            <a:spLocks noChangeShapeType="1"/>
          </p:cNvSpPr>
          <p:nvPr/>
        </p:nvSpPr>
        <p:spPr bwMode="auto">
          <a:xfrm flipH="1">
            <a:off x="4013200" y="42132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1" name="Line 492"/>
          <p:cNvSpPr>
            <a:spLocks noChangeShapeType="1"/>
          </p:cNvSpPr>
          <p:nvPr/>
        </p:nvSpPr>
        <p:spPr bwMode="auto">
          <a:xfrm flipH="1">
            <a:off x="4013200" y="41671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2" name="Line 493"/>
          <p:cNvSpPr>
            <a:spLocks noChangeShapeType="1"/>
          </p:cNvSpPr>
          <p:nvPr/>
        </p:nvSpPr>
        <p:spPr bwMode="auto">
          <a:xfrm flipH="1">
            <a:off x="4013200" y="41417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3" name="Line 494"/>
          <p:cNvSpPr>
            <a:spLocks noChangeShapeType="1"/>
          </p:cNvSpPr>
          <p:nvPr/>
        </p:nvSpPr>
        <p:spPr bwMode="auto">
          <a:xfrm flipH="1">
            <a:off x="4013200" y="41179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4" name="Line 495"/>
          <p:cNvSpPr>
            <a:spLocks noChangeShapeType="1"/>
          </p:cNvSpPr>
          <p:nvPr/>
        </p:nvSpPr>
        <p:spPr bwMode="auto">
          <a:xfrm flipH="1">
            <a:off x="4013200" y="40925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5" name="Line 496"/>
          <p:cNvSpPr>
            <a:spLocks noChangeShapeType="1"/>
          </p:cNvSpPr>
          <p:nvPr/>
        </p:nvSpPr>
        <p:spPr bwMode="auto">
          <a:xfrm flipH="1">
            <a:off x="4013200" y="4043363"/>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6" name="Line 497"/>
          <p:cNvSpPr>
            <a:spLocks noChangeShapeType="1"/>
          </p:cNvSpPr>
          <p:nvPr/>
        </p:nvSpPr>
        <p:spPr bwMode="auto">
          <a:xfrm flipH="1">
            <a:off x="4013200" y="40211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7" name="Line 498"/>
          <p:cNvSpPr>
            <a:spLocks noChangeShapeType="1"/>
          </p:cNvSpPr>
          <p:nvPr/>
        </p:nvSpPr>
        <p:spPr bwMode="auto">
          <a:xfrm flipH="1">
            <a:off x="4013200" y="39973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8" name="Line 499"/>
          <p:cNvSpPr>
            <a:spLocks noChangeShapeType="1"/>
          </p:cNvSpPr>
          <p:nvPr/>
        </p:nvSpPr>
        <p:spPr bwMode="auto">
          <a:xfrm flipH="1">
            <a:off x="4013200" y="39719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89" name="Line 500"/>
          <p:cNvSpPr>
            <a:spLocks noChangeShapeType="1"/>
          </p:cNvSpPr>
          <p:nvPr/>
        </p:nvSpPr>
        <p:spPr bwMode="auto">
          <a:xfrm flipH="1">
            <a:off x="4013200" y="3922713"/>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0" name="Line 501"/>
          <p:cNvSpPr>
            <a:spLocks noChangeShapeType="1"/>
          </p:cNvSpPr>
          <p:nvPr/>
        </p:nvSpPr>
        <p:spPr bwMode="auto">
          <a:xfrm flipH="1">
            <a:off x="4013200" y="39004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1" name="Line 502"/>
          <p:cNvSpPr>
            <a:spLocks noChangeShapeType="1"/>
          </p:cNvSpPr>
          <p:nvPr/>
        </p:nvSpPr>
        <p:spPr bwMode="auto">
          <a:xfrm flipH="1">
            <a:off x="4013200" y="38750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2" name="Line 503"/>
          <p:cNvSpPr>
            <a:spLocks noChangeShapeType="1"/>
          </p:cNvSpPr>
          <p:nvPr/>
        </p:nvSpPr>
        <p:spPr bwMode="auto">
          <a:xfrm flipH="1">
            <a:off x="4013200" y="38512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3" name="Line 504"/>
          <p:cNvSpPr>
            <a:spLocks noChangeShapeType="1"/>
          </p:cNvSpPr>
          <p:nvPr/>
        </p:nvSpPr>
        <p:spPr bwMode="auto">
          <a:xfrm flipH="1">
            <a:off x="4013200" y="3802063"/>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4" name="Line 505"/>
          <p:cNvSpPr>
            <a:spLocks noChangeShapeType="1"/>
          </p:cNvSpPr>
          <p:nvPr/>
        </p:nvSpPr>
        <p:spPr bwMode="auto">
          <a:xfrm flipH="1">
            <a:off x="4013200" y="37798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5" name="Line 506"/>
          <p:cNvSpPr>
            <a:spLocks noChangeShapeType="1"/>
          </p:cNvSpPr>
          <p:nvPr/>
        </p:nvSpPr>
        <p:spPr bwMode="auto">
          <a:xfrm flipH="1">
            <a:off x="4013200" y="37544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6" name="Line 507"/>
          <p:cNvSpPr>
            <a:spLocks noChangeShapeType="1"/>
          </p:cNvSpPr>
          <p:nvPr/>
        </p:nvSpPr>
        <p:spPr bwMode="auto">
          <a:xfrm flipH="1">
            <a:off x="4013200" y="37306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7" name="Line 508"/>
          <p:cNvSpPr>
            <a:spLocks noChangeShapeType="1"/>
          </p:cNvSpPr>
          <p:nvPr/>
        </p:nvSpPr>
        <p:spPr bwMode="auto">
          <a:xfrm flipH="1">
            <a:off x="4013200" y="36798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8" name="Line 509"/>
          <p:cNvSpPr>
            <a:spLocks noChangeShapeType="1"/>
          </p:cNvSpPr>
          <p:nvPr/>
        </p:nvSpPr>
        <p:spPr bwMode="auto">
          <a:xfrm flipH="1">
            <a:off x="4013200" y="36591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399" name="Line 510"/>
          <p:cNvSpPr>
            <a:spLocks noChangeShapeType="1"/>
          </p:cNvSpPr>
          <p:nvPr/>
        </p:nvSpPr>
        <p:spPr bwMode="auto">
          <a:xfrm flipH="1">
            <a:off x="4013200" y="36337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0" name="Line 511"/>
          <p:cNvSpPr>
            <a:spLocks noChangeShapeType="1"/>
          </p:cNvSpPr>
          <p:nvPr/>
        </p:nvSpPr>
        <p:spPr bwMode="auto">
          <a:xfrm flipH="1">
            <a:off x="4013200" y="36083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1" name="Line 512"/>
          <p:cNvSpPr>
            <a:spLocks noChangeShapeType="1"/>
          </p:cNvSpPr>
          <p:nvPr/>
        </p:nvSpPr>
        <p:spPr bwMode="auto">
          <a:xfrm flipH="1">
            <a:off x="4013200" y="35591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2" name="Line 513"/>
          <p:cNvSpPr>
            <a:spLocks noChangeShapeType="1"/>
          </p:cNvSpPr>
          <p:nvPr/>
        </p:nvSpPr>
        <p:spPr bwMode="auto">
          <a:xfrm flipH="1">
            <a:off x="4013200" y="3535363"/>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3" name="Line 514"/>
          <p:cNvSpPr>
            <a:spLocks noChangeShapeType="1"/>
          </p:cNvSpPr>
          <p:nvPr/>
        </p:nvSpPr>
        <p:spPr bwMode="auto">
          <a:xfrm flipH="1">
            <a:off x="4013200" y="35131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4" name="Line 515"/>
          <p:cNvSpPr>
            <a:spLocks noChangeShapeType="1"/>
          </p:cNvSpPr>
          <p:nvPr/>
        </p:nvSpPr>
        <p:spPr bwMode="auto">
          <a:xfrm flipH="1">
            <a:off x="4013200" y="34877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5" name="Line 516"/>
          <p:cNvSpPr>
            <a:spLocks noChangeShapeType="1"/>
          </p:cNvSpPr>
          <p:nvPr/>
        </p:nvSpPr>
        <p:spPr bwMode="auto">
          <a:xfrm flipH="1">
            <a:off x="4013200" y="34385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6" name="Line 517"/>
          <p:cNvSpPr>
            <a:spLocks noChangeShapeType="1"/>
          </p:cNvSpPr>
          <p:nvPr/>
        </p:nvSpPr>
        <p:spPr bwMode="auto">
          <a:xfrm flipH="1">
            <a:off x="4013200" y="34131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7" name="Line 518"/>
          <p:cNvSpPr>
            <a:spLocks noChangeShapeType="1"/>
          </p:cNvSpPr>
          <p:nvPr/>
        </p:nvSpPr>
        <p:spPr bwMode="auto">
          <a:xfrm flipH="1">
            <a:off x="4013200" y="33924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8" name="Line 519"/>
          <p:cNvSpPr>
            <a:spLocks noChangeShapeType="1"/>
          </p:cNvSpPr>
          <p:nvPr/>
        </p:nvSpPr>
        <p:spPr bwMode="auto">
          <a:xfrm flipH="1">
            <a:off x="4013200" y="33670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09" name="Line 520"/>
          <p:cNvSpPr>
            <a:spLocks noChangeShapeType="1"/>
          </p:cNvSpPr>
          <p:nvPr/>
        </p:nvSpPr>
        <p:spPr bwMode="auto">
          <a:xfrm flipH="1">
            <a:off x="4013200" y="33178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0" name="Line 521"/>
          <p:cNvSpPr>
            <a:spLocks noChangeShapeType="1"/>
          </p:cNvSpPr>
          <p:nvPr/>
        </p:nvSpPr>
        <p:spPr bwMode="auto">
          <a:xfrm flipH="1">
            <a:off x="4013200" y="32924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1" name="Line 522"/>
          <p:cNvSpPr>
            <a:spLocks noChangeShapeType="1"/>
          </p:cNvSpPr>
          <p:nvPr/>
        </p:nvSpPr>
        <p:spPr bwMode="auto">
          <a:xfrm flipH="1">
            <a:off x="4013200" y="32718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2" name="Line 523"/>
          <p:cNvSpPr>
            <a:spLocks noChangeShapeType="1"/>
          </p:cNvSpPr>
          <p:nvPr/>
        </p:nvSpPr>
        <p:spPr bwMode="auto">
          <a:xfrm flipH="1">
            <a:off x="4013200" y="32464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3" name="Line 524"/>
          <p:cNvSpPr>
            <a:spLocks noChangeShapeType="1"/>
          </p:cNvSpPr>
          <p:nvPr/>
        </p:nvSpPr>
        <p:spPr bwMode="auto">
          <a:xfrm flipH="1">
            <a:off x="4013200" y="31972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4" name="Line 525"/>
          <p:cNvSpPr>
            <a:spLocks noChangeShapeType="1"/>
          </p:cNvSpPr>
          <p:nvPr/>
        </p:nvSpPr>
        <p:spPr bwMode="auto">
          <a:xfrm flipH="1">
            <a:off x="4013200" y="31718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5" name="Line 526"/>
          <p:cNvSpPr>
            <a:spLocks noChangeShapeType="1"/>
          </p:cNvSpPr>
          <p:nvPr/>
        </p:nvSpPr>
        <p:spPr bwMode="auto">
          <a:xfrm flipH="1">
            <a:off x="4013200" y="31496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6" name="Line 527"/>
          <p:cNvSpPr>
            <a:spLocks noChangeShapeType="1"/>
          </p:cNvSpPr>
          <p:nvPr/>
        </p:nvSpPr>
        <p:spPr bwMode="auto">
          <a:xfrm flipH="1">
            <a:off x="4013200" y="31257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7" name="Line 528"/>
          <p:cNvSpPr>
            <a:spLocks noChangeShapeType="1"/>
          </p:cNvSpPr>
          <p:nvPr/>
        </p:nvSpPr>
        <p:spPr bwMode="auto">
          <a:xfrm flipH="1">
            <a:off x="4013200" y="30749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8" name="Line 529"/>
          <p:cNvSpPr>
            <a:spLocks noChangeShapeType="1"/>
          </p:cNvSpPr>
          <p:nvPr/>
        </p:nvSpPr>
        <p:spPr bwMode="auto">
          <a:xfrm flipH="1">
            <a:off x="4013200" y="30511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19" name="Line 530"/>
          <p:cNvSpPr>
            <a:spLocks noChangeShapeType="1"/>
          </p:cNvSpPr>
          <p:nvPr/>
        </p:nvSpPr>
        <p:spPr bwMode="auto">
          <a:xfrm flipH="1">
            <a:off x="4013200" y="30257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0" name="Line 531"/>
          <p:cNvSpPr>
            <a:spLocks noChangeShapeType="1"/>
          </p:cNvSpPr>
          <p:nvPr/>
        </p:nvSpPr>
        <p:spPr bwMode="auto">
          <a:xfrm flipH="1">
            <a:off x="4013200" y="30051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1" name="Line 532"/>
          <p:cNvSpPr>
            <a:spLocks noChangeShapeType="1"/>
          </p:cNvSpPr>
          <p:nvPr/>
        </p:nvSpPr>
        <p:spPr bwMode="auto">
          <a:xfrm flipH="1">
            <a:off x="4013200" y="29543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2" name="Line 533"/>
          <p:cNvSpPr>
            <a:spLocks noChangeShapeType="1"/>
          </p:cNvSpPr>
          <p:nvPr/>
        </p:nvSpPr>
        <p:spPr bwMode="auto">
          <a:xfrm flipH="1">
            <a:off x="4013200" y="29305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3" name="Line 534"/>
          <p:cNvSpPr>
            <a:spLocks noChangeShapeType="1"/>
          </p:cNvSpPr>
          <p:nvPr/>
        </p:nvSpPr>
        <p:spPr bwMode="auto">
          <a:xfrm flipH="1">
            <a:off x="4013200" y="29051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4" name="Line 535"/>
          <p:cNvSpPr>
            <a:spLocks noChangeShapeType="1"/>
          </p:cNvSpPr>
          <p:nvPr/>
        </p:nvSpPr>
        <p:spPr bwMode="auto">
          <a:xfrm flipH="1">
            <a:off x="4013200" y="28829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5" name="Line 536"/>
          <p:cNvSpPr>
            <a:spLocks noChangeShapeType="1"/>
          </p:cNvSpPr>
          <p:nvPr/>
        </p:nvSpPr>
        <p:spPr bwMode="auto">
          <a:xfrm flipH="1">
            <a:off x="4013200" y="28336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6" name="Line 537"/>
          <p:cNvSpPr>
            <a:spLocks noChangeShapeType="1"/>
          </p:cNvSpPr>
          <p:nvPr/>
        </p:nvSpPr>
        <p:spPr bwMode="auto">
          <a:xfrm flipH="1">
            <a:off x="4013200" y="28098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7" name="Line 538"/>
          <p:cNvSpPr>
            <a:spLocks noChangeShapeType="1"/>
          </p:cNvSpPr>
          <p:nvPr/>
        </p:nvSpPr>
        <p:spPr bwMode="auto">
          <a:xfrm flipH="1">
            <a:off x="4013200" y="27844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8" name="Line 539"/>
          <p:cNvSpPr>
            <a:spLocks noChangeShapeType="1"/>
          </p:cNvSpPr>
          <p:nvPr/>
        </p:nvSpPr>
        <p:spPr bwMode="auto">
          <a:xfrm flipH="1">
            <a:off x="4013200" y="276225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29" name="Line 540"/>
          <p:cNvSpPr>
            <a:spLocks noChangeShapeType="1"/>
          </p:cNvSpPr>
          <p:nvPr/>
        </p:nvSpPr>
        <p:spPr bwMode="auto">
          <a:xfrm flipH="1">
            <a:off x="4013200" y="27130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0" name="Line 541"/>
          <p:cNvSpPr>
            <a:spLocks noChangeShapeType="1"/>
          </p:cNvSpPr>
          <p:nvPr/>
        </p:nvSpPr>
        <p:spPr bwMode="auto">
          <a:xfrm flipH="1">
            <a:off x="4013200" y="26876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1" name="Line 542"/>
          <p:cNvSpPr>
            <a:spLocks noChangeShapeType="1"/>
          </p:cNvSpPr>
          <p:nvPr/>
        </p:nvSpPr>
        <p:spPr bwMode="auto">
          <a:xfrm flipH="1">
            <a:off x="4013200" y="26638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2" name="Line 543"/>
          <p:cNvSpPr>
            <a:spLocks noChangeShapeType="1"/>
          </p:cNvSpPr>
          <p:nvPr/>
        </p:nvSpPr>
        <p:spPr bwMode="auto">
          <a:xfrm flipH="1">
            <a:off x="4013200" y="26416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3" name="Line 544"/>
          <p:cNvSpPr>
            <a:spLocks noChangeShapeType="1"/>
          </p:cNvSpPr>
          <p:nvPr/>
        </p:nvSpPr>
        <p:spPr bwMode="auto">
          <a:xfrm flipH="1">
            <a:off x="4013200" y="25923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4" name="Line 545"/>
          <p:cNvSpPr>
            <a:spLocks noChangeShapeType="1"/>
          </p:cNvSpPr>
          <p:nvPr/>
        </p:nvSpPr>
        <p:spPr bwMode="auto">
          <a:xfrm flipH="1">
            <a:off x="4013200" y="25669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5" name="Line 546"/>
          <p:cNvSpPr>
            <a:spLocks noChangeShapeType="1"/>
          </p:cNvSpPr>
          <p:nvPr/>
        </p:nvSpPr>
        <p:spPr bwMode="auto">
          <a:xfrm flipH="1">
            <a:off x="4013200" y="25431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6" name="Line 547"/>
          <p:cNvSpPr>
            <a:spLocks noChangeShapeType="1"/>
          </p:cNvSpPr>
          <p:nvPr/>
        </p:nvSpPr>
        <p:spPr bwMode="auto">
          <a:xfrm flipH="1">
            <a:off x="4013200" y="25177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7" name="Line 548"/>
          <p:cNvSpPr>
            <a:spLocks noChangeShapeType="1"/>
          </p:cNvSpPr>
          <p:nvPr/>
        </p:nvSpPr>
        <p:spPr bwMode="auto">
          <a:xfrm flipH="1">
            <a:off x="4013200" y="24717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8" name="Line 549"/>
          <p:cNvSpPr>
            <a:spLocks noChangeShapeType="1"/>
          </p:cNvSpPr>
          <p:nvPr/>
        </p:nvSpPr>
        <p:spPr bwMode="auto">
          <a:xfrm flipH="1">
            <a:off x="4013200" y="24463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39" name="Line 550"/>
          <p:cNvSpPr>
            <a:spLocks noChangeShapeType="1"/>
          </p:cNvSpPr>
          <p:nvPr/>
        </p:nvSpPr>
        <p:spPr bwMode="auto">
          <a:xfrm flipH="1">
            <a:off x="4013200" y="24209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0" name="Line 551"/>
          <p:cNvSpPr>
            <a:spLocks noChangeShapeType="1"/>
          </p:cNvSpPr>
          <p:nvPr/>
        </p:nvSpPr>
        <p:spPr bwMode="auto">
          <a:xfrm flipH="1">
            <a:off x="4013200" y="239712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1" name="Line 552"/>
          <p:cNvSpPr>
            <a:spLocks noChangeShapeType="1"/>
          </p:cNvSpPr>
          <p:nvPr/>
        </p:nvSpPr>
        <p:spPr bwMode="auto">
          <a:xfrm flipH="1">
            <a:off x="4013200" y="234950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2" name="Line 553"/>
          <p:cNvSpPr>
            <a:spLocks noChangeShapeType="1"/>
          </p:cNvSpPr>
          <p:nvPr/>
        </p:nvSpPr>
        <p:spPr bwMode="auto">
          <a:xfrm flipH="1">
            <a:off x="4013200" y="23256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3" name="Line 554"/>
          <p:cNvSpPr>
            <a:spLocks noChangeShapeType="1"/>
          </p:cNvSpPr>
          <p:nvPr/>
        </p:nvSpPr>
        <p:spPr bwMode="auto">
          <a:xfrm flipH="1">
            <a:off x="4013200" y="230028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4" name="Line 555"/>
          <p:cNvSpPr>
            <a:spLocks noChangeShapeType="1"/>
          </p:cNvSpPr>
          <p:nvPr/>
        </p:nvSpPr>
        <p:spPr bwMode="auto">
          <a:xfrm flipH="1">
            <a:off x="4013200" y="2276475"/>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5" name="Line 556"/>
          <p:cNvSpPr>
            <a:spLocks noChangeShapeType="1"/>
          </p:cNvSpPr>
          <p:nvPr/>
        </p:nvSpPr>
        <p:spPr bwMode="auto">
          <a:xfrm flipH="1">
            <a:off x="4013200" y="2228850"/>
            <a:ext cx="1905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6" name="Line 557"/>
          <p:cNvSpPr>
            <a:spLocks noChangeShapeType="1"/>
          </p:cNvSpPr>
          <p:nvPr/>
        </p:nvSpPr>
        <p:spPr bwMode="auto">
          <a:xfrm flipH="1">
            <a:off x="4013200" y="22050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7" name="Line 558"/>
          <p:cNvSpPr>
            <a:spLocks noChangeShapeType="1"/>
          </p:cNvSpPr>
          <p:nvPr/>
        </p:nvSpPr>
        <p:spPr bwMode="auto">
          <a:xfrm flipH="1">
            <a:off x="4013200" y="21796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8" name="Line 559"/>
          <p:cNvSpPr>
            <a:spLocks noChangeShapeType="1"/>
          </p:cNvSpPr>
          <p:nvPr/>
        </p:nvSpPr>
        <p:spPr bwMode="auto">
          <a:xfrm flipH="1">
            <a:off x="4013200" y="2154238"/>
            <a:ext cx="190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49" name="Line 560"/>
          <p:cNvSpPr>
            <a:spLocks noChangeShapeType="1"/>
          </p:cNvSpPr>
          <p:nvPr/>
        </p:nvSpPr>
        <p:spPr bwMode="auto">
          <a:xfrm flipH="1">
            <a:off x="4003675" y="4551363"/>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50" name="Rectangle 561"/>
          <p:cNvSpPr>
            <a:spLocks noChangeArrowheads="1"/>
          </p:cNvSpPr>
          <p:nvPr/>
        </p:nvSpPr>
        <p:spPr bwMode="auto">
          <a:xfrm>
            <a:off x="3886200" y="4495800"/>
            <a:ext cx="5129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0</a:t>
            </a:r>
          </a:p>
        </p:txBody>
      </p:sp>
      <p:sp>
        <p:nvSpPr>
          <p:cNvPr id="38451" name="Line 562"/>
          <p:cNvSpPr>
            <a:spLocks noChangeShapeType="1"/>
          </p:cNvSpPr>
          <p:nvPr/>
        </p:nvSpPr>
        <p:spPr bwMode="auto">
          <a:xfrm flipH="1">
            <a:off x="4003675" y="4430713"/>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52" name="Line 563"/>
          <p:cNvSpPr>
            <a:spLocks noChangeShapeType="1"/>
          </p:cNvSpPr>
          <p:nvPr/>
        </p:nvSpPr>
        <p:spPr bwMode="auto">
          <a:xfrm flipH="1">
            <a:off x="4003675" y="4310063"/>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53" name="Rectangle 564"/>
          <p:cNvSpPr>
            <a:spLocks noChangeArrowheads="1"/>
          </p:cNvSpPr>
          <p:nvPr/>
        </p:nvSpPr>
        <p:spPr bwMode="auto">
          <a:xfrm>
            <a:off x="3886200" y="42672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10</a:t>
            </a:r>
          </a:p>
        </p:txBody>
      </p:sp>
      <p:sp>
        <p:nvSpPr>
          <p:cNvPr id="38454" name="Line 565"/>
          <p:cNvSpPr>
            <a:spLocks noChangeShapeType="1"/>
          </p:cNvSpPr>
          <p:nvPr/>
        </p:nvSpPr>
        <p:spPr bwMode="auto">
          <a:xfrm flipH="1">
            <a:off x="4003675" y="4189413"/>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55" name="Line 566"/>
          <p:cNvSpPr>
            <a:spLocks noChangeShapeType="1"/>
          </p:cNvSpPr>
          <p:nvPr/>
        </p:nvSpPr>
        <p:spPr bwMode="auto">
          <a:xfrm flipH="1">
            <a:off x="4003675" y="4068763"/>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56" name="Rectangle 567"/>
          <p:cNvSpPr>
            <a:spLocks noChangeArrowheads="1"/>
          </p:cNvSpPr>
          <p:nvPr/>
        </p:nvSpPr>
        <p:spPr bwMode="auto">
          <a:xfrm>
            <a:off x="3886200" y="40386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20</a:t>
            </a:r>
          </a:p>
        </p:txBody>
      </p:sp>
      <p:sp>
        <p:nvSpPr>
          <p:cNvPr id="38457" name="Line 568"/>
          <p:cNvSpPr>
            <a:spLocks noChangeShapeType="1"/>
          </p:cNvSpPr>
          <p:nvPr/>
        </p:nvSpPr>
        <p:spPr bwMode="auto">
          <a:xfrm flipH="1">
            <a:off x="4003675" y="3946525"/>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58" name="Line 569"/>
          <p:cNvSpPr>
            <a:spLocks noChangeShapeType="1"/>
          </p:cNvSpPr>
          <p:nvPr/>
        </p:nvSpPr>
        <p:spPr bwMode="auto">
          <a:xfrm flipH="1">
            <a:off x="4003675" y="3825875"/>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59" name="Rectangle 570"/>
          <p:cNvSpPr>
            <a:spLocks noChangeArrowheads="1"/>
          </p:cNvSpPr>
          <p:nvPr/>
        </p:nvSpPr>
        <p:spPr bwMode="auto">
          <a:xfrm>
            <a:off x="3886200" y="38100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30</a:t>
            </a:r>
          </a:p>
        </p:txBody>
      </p:sp>
      <p:sp>
        <p:nvSpPr>
          <p:cNvPr id="38460" name="Line 571"/>
          <p:cNvSpPr>
            <a:spLocks noChangeShapeType="1"/>
          </p:cNvSpPr>
          <p:nvPr/>
        </p:nvSpPr>
        <p:spPr bwMode="auto">
          <a:xfrm flipH="1">
            <a:off x="4003675" y="3705225"/>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61" name="Line 572"/>
          <p:cNvSpPr>
            <a:spLocks noChangeShapeType="1"/>
          </p:cNvSpPr>
          <p:nvPr/>
        </p:nvSpPr>
        <p:spPr bwMode="auto">
          <a:xfrm flipH="1">
            <a:off x="4003675" y="3584575"/>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62" name="Rectangle 573"/>
          <p:cNvSpPr>
            <a:spLocks noChangeArrowheads="1"/>
          </p:cNvSpPr>
          <p:nvPr/>
        </p:nvSpPr>
        <p:spPr bwMode="auto">
          <a:xfrm>
            <a:off x="3886200" y="35814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40</a:t>
            </a:r>
          </a:p>
        </p:txBody>
      </p:sp>
      <p:sp>
        <p:nvSpPr>
          <p:cNvPr id="38463" name="Line 574"/>
          <p:cNvSpPr>
            <a:spLocks noChangeShapeType="1"/>
          </p:cNvSpPr>
          <p:nvPr/>
        </p:nvSpPr>
        <p:spPr bwMode="auto">
          <a:xfrm flipH="1">
            <a:off x="4003675" y="3463925"/>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64" name="Line 575"/>
          <p:cNvSpPr>
            <a:spLocks noChangeShapeType="1"/>
          </p:cNvSpPr>
          <p:nvPr/>
        </p:nvSpPr>
        <p:spPr bwMode="auto">
          <a:xfrm flipH="1">
            <a:off x="4003675" y="3341688"/>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65" name="Rectangle 576"/>
          <p:cNvSpPr>
            <a:spLocks noChangeArrowheads="1"/>
          </p:cNvSpPr>
          <p:nvPr/>
        </p:nvSpPr>
        <p:spPr bwMode="auto">
          <a:xfrm>
            <a:off x="3886200" y="33528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50</a:t>
            </a:r>
          </a:p>
        </p:txBody>
      </p:sp>
      <p:sp>
        <p:nvSpPr>
          <p:cNvPr id="38466" name="Line 577"/>
          <p:cNvSpPr>
            <a:spLocks noChangeShapeType="1"/>
          </p:cNvSpPr>
          <p:nvPr/>
        </p:nvSpPr>
        <p:spPr bwMode="auto">
          <a:xfrm flipH="1">
            <a:off x="4003675" y="3221038"/>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67" name="Line 578"/>
          <p:cNvSpPr>
            <a:spLocks noChangeShapeType="1"/>
          </p:cNvSpPr>
          <p:nvPr/>
        </p:nvSpPr>
        <p:spPr bwMode="auto">
          <a:xfrm flipH="1">
            <a:off x="4003675" y="3100388"/>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68" name="Rectangle 579"/>
          <p:cNvSpPr>
            <a:spLocks noChangeArrowheads="1"/>
          </p:cNvSpPr>
          <p:nvPr/>
        </p:nvSpPr>
        <p:spPr bwMode="auto">
          <a:xfrm>
            <a:off x="3886200" y="30480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60</a:t>
            </a:r>
          </a:p>
        </p:txBody>
      </p:sp>
      <p:sp>
        <p:nvSpPr>
          <p:cNvPr id="38469" name="Line 580"/>
          <p:cNvSpPr>
            <a:spLocks noChangeShapeType="1"/>
          </p:cNvSpPr>
          <p:nvPr/>
        </p:nvSpPr>
        <p:spPr bwMode="auto">
          <a:xfrm flipH="1">
            <a:off x="4003675" y="2979738"/>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70" name="Line 581"/>
          <p:cNvSpPr>
            <a:spLocks noChangeShapeType="1"/>
          </p:cNvSpPr>
          <p:nvPr/>
        </p:nvSpPr>
        <p:spPr bwMode="auto">
          <a:xfrm flipH="1">
            <a:off x="4003675" y="2859088"/>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71" name="Rectangle 582"/>
          <p:cNvSpPr>
            <a:spLocks noChangeArrowheads="1"/>
          </p:cNvSpPr>
          <p:nvPr/>
        </p:nvSpPr>
        <p:spPr bwMode="auto">
          <a:xfrm>
            <a:off x="3886200" y="28194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70</a:t>
            </a:r>
          </a:p>
        </p:txBody>
      </p:sp>
      <p:sp>
        <p:nvSpPr>
          <p:cNvPr id="38472" name="Line 583"/>
          <p:cNvSpPr>
            <a:spLocks noChangeShapeType="1"/>
          </p:cNvSpPr>
          <p:nvPr/>
        </p:nvSpPr>
        <p:spPr bwMode="auto">
          <a:xfrm flipH="1">
            <a:off x="4003675" y="2738438"/>
            <a:ext cx="2857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73" name="Line 584"/>
          <p:cNvSpPr>
            <a:spLocks noChangeShapeType="1"/>
          </p:cNvSpPr>
          <p:nvPr/>
        </p:nvSpPr>
        <p:spPr bwMode="auto">
          <a:xfrm flipH="1">
            <a:off x="4003675" y="2616200"/>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74" name="Rectangle 585"/>
          <p:cNvSpPr>
            <a:spLocks noChangeArrowheads="1"/>
          </p:cNvSpPr>
          <p:nvPr/>
        </p:nvSpPr>
        <p:spPr bwMode="auto">
          <a:xfrm>
            <a:off x="3886200" y="25908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80</a:t>
            </a:r>
          </a:p>
        </p:txBody>
      </p:sp>
      <p:sp>
        <p:nvSpPr>
          <p:cNvPr id="38475" name="Line 586"/>
          <p:cNvSpPr>
            <a:spLocks noChangeShapeType="1"/>
          </p:cNvSpPr>
          <p:nvPr/>
        </p:nvSpPr>
        <p:spPr bwMode="auto">
          <a:xfrm flipH="1">
            <a:off x="4003675" y="2495550"/>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76" name="Line 587"/>
          <p:cNvSpPr>
            <a:spLocks noChangeShapeType="1"/>
          </p:cNvSpPr>
          <p:nvPr/>
        </p:nvSpPr>
        <p:spPr bwMode="auto">
          <a:xfrm flipH="1">
            <a:off x="4003675" y="2374900"/>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77" name="Rectangle 588"/>
          <p:cNvSpPr>
            <a:spLocks noChangeArrowheads="1"/>
          </p:cNvSpPr>
          <p:nvPr/>
        </p:nvSpPr>
        <p:spPr bwMode="auto">
          <a:xfrm>
            <a:off x="3886200" y="2362200"/>
            <a:ext cx="10259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90</a:t>
            </a:r>
          </a:p>
        </p:txBody>
      </p:sp>
      <p:sp>
        <p:nvSpPr>
          <p:cNvPr id="38478" name="Line 589"/>
          <p:cNvSpPr>
            <a:spLocks noChangeShapeType="1"/>
          </p:cNvSpPr>
          <p:nvPr/>
        </p:nvSpPr>
        <p:spPr bwMode="auto">
          <a:xfrm flipH="1">
            <a:off x="4003675" y="2254250"/>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79" name="Line 590"/>
          <p:cNvSpPr>
            <a:spLocks noChangeShapeType="1"/>
          </p:cNvSpPr>
          <p:nvPr/>
        </p:nvSpPr>
        <p:spPr bwMode="auto">
          <a:xfrm flipH="1">
            <a:off x="4003675" y="2130425"/>
            <a:ext cx="2857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80" name="Rectangle 591"/>
          <p:cNvSpPr>
            <a:spLocks noChangeArrowheads="1"/>
          </p:cNvSpPr>
          <p:nvPr/>
        </p:nvSpPr>
        <p:spPr bwMode="auto">
          <a:xfrm>
            <a:off x="3810000" y="2133600"/>
            <a:ext cx="15388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100</a:t>
            </a:r>
          </a:p>
        </p:txBody>
      </p:sp>
      <p:sp>
        <p:nvSpPr>
          <p:cNvPr id="38481" name="Rectangle 592"/>
          <p:cNvSpPr>
            <a:spLocks noChangeArrowheads="1"/>
          </p:cNvSpPr>
          <p:nvPr/>
        </p:nvSpPr>
        <p:spPr bwMode="auto">
          <a:xfrm rot="16200000">
            <a:off x="3377336" y="3215839"/>
            <a:ext cx="835165"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800">
                <a:solidFill>
                  <a:srgbClr val="000000"/>
                </a:solidFill>
                <a:latin typeface="Calibri" panose="020F0502020204030204" pitchFamily="34" charset="0"/>
              </a:rPr>
              <a:t>Relative Abundance</a:t>
            </a:r>
          </a:p>
        </p:txBody>
      </p:sp>
      <p:sp>
        <p:nvSpPr>
          <p:cNvPr id="38482" name="Freeform 593"/>
          <p:cNvSpPr>
            <a:spLocks/>
          </p:cNvSpPr>
          <p:nvPr/>
        </p:nvSpPr>
        <p:spPr bwMode="auto">
          <a:xfrm>
            <a:off x="4032250" y="2130425"/>
            <a:ext cx="3435350" cy="2420938"/>
          </a:xfrm>
          <a:custGeom>
            <a:avLst/>
            <a:gdLst>
              <a:gd name="T0" fmla="*/ 492979 w 1108"/>
              <a:gd name="T1" fmla="*/ 2420938 h 781"/>
              <a:gd name="T2" fmla="*/ 508481 w 1108"/>
              <a:gd name="T3" fmla="*/ 2420938 h 781"/>
              <a:gd name="T4" fmla="*/ 527084 w 1108"/>
              <a:gd name="T5" fmla="*/ 2393040 h 781"/>
              <a:gd name="T6" fmla="*/ 542587 w 1108"/>
              <a:gd name="T7" fmla="*/ 1729684 h 781"/>
              <a:gd name="T8" fmla="*/ 561190 w 1108"/>
              <a:gd name="T9" fmla="*/ 61996 h 781"/>
              <a:gd name="T10" fmla="*/ 576692 w 1108"/>
              <a:gd name="T11" fmla="*/ 685054 h 781"/>
              <a:gd name="T12" fmla="*/ 592195 w 1108"/>
              <a:gd name="T13" fmla="*/ 2265948 h 781"/>
              <a:gd name="T14" fmla="*/ 610798 w 1108"/>
              <a:gd name="T15" fmla="*/ 2420938 h 781"/>
              <a:gd name="T16" fmla="*/ 626300 w 1108"/>
              <a:gd name="T17" fmla="*/ 2420938 h 781"/>
              <a:gd name="T18" fmla="*/ 908445 w 1108"/>
              <a:gd name="T19" fmla="*/ 2420938 h 781"/>
              <a:gd name="T20" fmla="*/ 927048 w 1108"/>
              <a:gd name="T21" fmla="*/ 2420938 h 781"/>
              <a:gd name="T22" fmla="*/ 942551 w 1108"/>
              <a:gd name="T23" fmla="*/ 2414738 h 781"/>
              <a:gd name="T24" fmla="*/ 958053 w 1108"/>
              <a:gd name="T25" fmla="*/ 1962169 h 781"/>
              <a:gd name="T26" fmla="*/ 976656 w 1108"/>
              <a:gd name="T27" fmla="*/ 1035331 h 781"/>
              <a:gd name="T28" fmla="*/ 992159 w 1108"/>
              <a:gd name="T29" fmla="*/ 1509599 h 781"/>
              <a:gd name="T30" fmla="*/ 1007661 w 1108"/>
              <a:gd name="T31" fmla="*/ 2352743 h 781"/>
              <a:gd name="T32" fmla="*/ 1026264 w 1108"/>
              <a:gd name="T33" fmla="*/ 2420938 h 781"/>
              <a:gd name="T34" fmla="*/ 1041767 w 1108"/>
              <a:gd name="T35" fmla="*/ 2420938 h 781"/>
              <a:gd name="T36" fmla="*/ 1165787 w 1108"/>
              <a:gd name="T37" fmla="*/ 2420938 h 781"/>
              <a:gd name="T38" fmla="*/ 1184390 w 1108"/>
              <a:gd name="T39" fmla="*/ 2420938 h 781"/>
              <a:gd name="T40" fmla="*/ 1199892 w 1108"/>
              <a:gd name="T41" fmla="*/ 2420938 h 781"/>
              <a:gd name="T42" fmla="*/ 1215395 w 1108"/>
              <a:gd name="T43" fmla="*/ 1618092 h 781"/>
              <a:gd name="T44" fmla="*/ 1233998 w 1108"/>
              <a:gd name="T45" fmla="*/ 492867 h 781"/>
              <a:gd name="T46" fmla="*/ 1249500 w 1108"/>
              <a:gd name="T47" fmla="*/ 1354609 h 781"/>
              <a:gd name="T48" fmla="*/ 1268103 w 1108"/>
              <a:gd name="T49" fmla="*/ 2393040 h 781"/>
              <a:gd name="T50" fmla="*/ 1283606 w 1108"/>
              <a:gd name="T51" fmla="*/ 2420938 h 781"/>
              <a:gd name="T52" fmla="*/ 1299108 w 1108"/>
              <a:gd name="T53" fmla="*/ 2420938 h 781"/>
              <a:gd name="T54" fmla="*/ 1841695 w 1108"/>
              <a:gd name="T55" fmla="*/ 2420938 h 781"/>
              <a:gd name="T56" fmla="*/ 1857197 w 1108"/>
              <a:gd name="T57" fmla="*/ 2420938 h 781"/>
              <a:gd name="T58" fmla="*/ 1875800 w 1108"/>
              <a:gd name="T59" fmla="*/ 2377541 h 781"/>
              <a:gd name="T60" fmla="*/ 1891303 w 1108"/>
              <a:gd name="T61" fmla="*/ 1869175 h 781"/>
              <a:gd name="T62" fmla="*/ 1906805 w 1108"/>
              <a:gd name="T63" fmla="*/ 1562295 h 781"/>
              <a:gd name="T64" fmla="*/ 1925408 w 1108"/>
              <a:gd name="T65" fmla="*/ 2123358 h 781"/>
              <a:gd name="T66" fmla="*/ 1940911 w 1108"/>
              <a:gd name="T67" fmla="*/ 2411639 h 781"/>
              <a:gd name="T68" fmla="*/ 1956413 w 1108"/>
              <a:gd name="T69" fmla="*/ 2346543 h 781"/>
              <a:gd name="T70" fmla="*/ 1975016 w 1108"/>
              <a:gd name="T71" fmla="*/ 1983867 h 781"/>
              <a:gd name="T72" fmla="*/ 1990519 w 1108"/>
              <a:gd name="T73" fmla="*/ 1738984 h 781"/>
              <a:gd name="T74" fmla="*/ 2009122 w 1108"/>
              <a:gd name="T75" fmla="*/ 2222551 h 781"/>
              <a:gd name="T76" fmla="*/ 2024624 w 1108"/>
              <a:gd name="T77" fmla="*/ 2420938 h 781"/>
              <a:gd name="T78" fmla="*/ 2040127 w 1108"/>
              <a:gd name="T79" fmla="*/ 2420938 h 781"/>
              <a:gd name="T80" fmla="*/ 2514503 w 1108"/>
              <a:gd name="T81" fmla="*/ 2420938 h 781"/>
              <a:gd name="T82" fmla="*/ 2533106 w 1108"/>
              <a:gd name="T83" fmla="*/ 2420938 h 781"/>
              <a:gd name="T84" fmla="*/ 2548608 w 1108"/>
              <a:gd name="T85" fmla="*/ 2399239 h 781"/>
              <a:gd name="T86" fmla="*/ 2567211 w 1108"/>
              <a:gd name="T87" fmla="*/ 2272148 h 781"/>
              <a:gd name="T88" fmla="*/ 2582713 w 1108"/>
              <a:gd name="T89" fmla="*/ 2238050 h 781"/>
              <a:gd name="T90" fmla="*/ 2598216 w 1108"/>
              <a:gd name="T91" fmla="*/ 2374441 h 781"/>
              <a:gd name="T92" fmla="*/ 2616819 w 1108"/>
              <a:gd name="T93" fmla="*/ 2420938 h 781"/>
              <a:gd name="T94" fmla="*/ 2632321 w 1108"/>
              <a:gd name="T95" fmla="*/ 2420938 h 781"/>
              <a:gd name="T96" fmla="*/ 2917567 w 1108"/>
              <a:gd name="T97" fmla="*/ 2420938 h 781"/>
              <a:gd name="T98" fmla="*/ 2933070 w 1108"/>
              <a:gd name="T99" fmla="*/ 2420938 h 781"/>
              <a:gd name="T100" fmla="*/ 2948572 w 1108"/>
              <a:gd name="T101" fmla="*/ 2396140 h 781"/>
              <a:gd name="T102" fmla="*/ 2967175 w 1108"/>
              <a:gd name="T103" fmla="*/ 2327944 h 781"/>
              <a:gd name="T104" fmla="*/ 2982678 w 1108"/>
              <a:gd name="T105" fmla="*/ 2383740 h 781"/>
              <a:gd name="T106" fmla="*/ 2998180 w 1108"/>
              <a:gd name="T107" fmla="*/ 2420938 h 781"/>
              <a:gd name="T108" fmla="*/ 3016783 w 1108"/>
              <a:gd name="T109" fmla="*/ 2420938 h 781"/>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108" h="781">
                <a:moveTo>
                  <a:pt x="0" y="781"/>
                </a:moveTo>
                <a:lnTo>
                  <a:pt x="159" y="781"/>
                </a:lnTo>
                <a:lnTo>
                  <a:pt x="162" y="781"/>
                </a:lnTo>
                <a:lnTo>
                  <a:pt x="164" y="781"/>
                </a:lnTo>
                <a:lnTo>
                  <a:pt x="167" y="781"/>
                </a:lnTo>
                <a:lnTo>
                  <a:pt x="170" y="772"/>
                </a:lnTo>
                <a:lnTo>
                  <a:pt x="173" y="746"/>
                </a:lnTo>
                <a:lnTo>
                  <a:pt x="175" y="558"/>
                </a:lnTo>
                <a:lnTo>
                  <a:pt x="178" y="264"/>
                </a:lnTo>
                <a:lnTo>
                  <a:pt x="181" y="20"/>
                </a:lnTo>
                <a:lnTo>
                  <a:pt x="183" y="0"/>
                </a:lnTo>
                <a:lnTo>
                  <a:pt x="186" y="221"/>
                </a:lnTo>
                <a:lnTo>
                  <a:pt x="189" y="523"/>
                </a:lnTo>
                <a:lnTo>
                  <a:pt x="191" y="731"/>
                </a:lnTo>
                <a:lnTo>
                  <a:pt x="194" y="774"/>
                </a:lnTo>
                <a:lnTo>
                  <a:pt x="197" y="781"/>
                </a:lnTo>
                <a:lnTo>
                  <a:pt x="199" y="781"/>
                </a:lnTo>
                <a:lnTo>
                  <a:pt x="202" y="781"/>
                </a:lnTo>
                <a:lnTo>
                  <a:pt x="205" y="781"/>
                </a:lnTo>
                <a:lnTo>
                  <a:pt x="293" y="781"/>
                </a:lnTo>
                <a:lnTo>
                  <a:pt x="296" y="781"/>
                </a:lnTo>
                <a:lnTo>
                  <a:pt x="299" y="781"/>
                </a:lnTo>
                <a:lnTo>
                  <a:pt x="301" y="781"/>
                </a:lnTo>
                <a:lnTo>
                  <a:pt x="304" y="779"/>
                </a:lnTo>
                <a:lnTo>
                  <a:pt x="307" y="753"/>
                </a:lnTo>
                <a:lnTo>
                  <a:pt x="309" y="633"/>
                </a:lnTo>
                <a:lnTo>
                  <a:pt x="312" y="460"/>
                </a:lnTo>
                <a:lnTo>
                  <a:pt x="315" y="334"/>
                </a:lnTo>
                <a:lnTo>
                  <a:pt x="317" y="347"/>
                </a:lnTo>
                <a:lnTo>
                  <a:pt x="320" y="487"/>
                </a:lnTo>
                <a:lnTo>
                  <a:pt x="323" y="655"/>
                </a:lnTo>
                <a:lnTo>
                  <a:pt x="325" y="759"/>
                </a:lnTo>
                <a:lnTo>
                  <a:pt x="328" y="781"/>
                </a:lnTo>
                <a:lnTo>
                  <a:pt x="331" y="781"/>
                </a:lnTo>
                <a:lnTo>
                  <a:pt x="333" y="781"/>
                </a:lnTo>
                <a:lnTo>
                  <a:pt x="336" y="781"/>
                </a:lnTo>
                <a:lnTo>
                  <a:pt x="339" y="781"/>
                </a:lnTo>
                <a:lnTo>
                  <a:pt x="376" y="781"/>
                </a:lnTo>
                <a:lnTo>
                  <a:pt x="379" y="781"/>
                </a:lnTo>
                <a:lnTo>
                  <a:pt x="382" y="781"/>
                </a:lnTo>
                <a:lnTo>
                  <a:pt x="384" y="781"/>
                </a:lnTo>
                <a:lnTo>
                  <a:pt x="387" y="781"/>
                </a:lnTo>
                <a:lnTo>
                  <a:pt x="390" y="706"/>
                </a:lnTo>
                <a:lnTo>
                  <a:pt x="392" y="522"/>
                </a:lnTo>
                <a:lnTo>
                  <a:pt x="395" y="292"/>
                </a:lnTo>
                <a:lnTo>
                  <a:pt x="398" y="159"/>
                </a:lnTo>
                <a:lnTo>
                  <a:pt x="400" y="224"/>
                </a:lnTo>
                <a:lnTo>
                  <a:pt x="403" y="437"/>
                </a:lnTo>
                <a:lnTo>
                  <a:pt x="406" y="653"/>
                </a:lnTo>
                <a:lnTo>
                  <a:pt x="409" y="772"/>
                </a:lnTo>
                <a:lnTo>
                  <a:pt x="411" y="781"/>
                </a:lnTo>
                <a:lnTo>
                  <a:pt x="414" y="781"/>
                </a:lnTo>
                <a:lnTo>
                  <a:pt x="417" y="781"/>
                </a:lnTo>
                <a:lnTo>
                  <a:pt x="419" y="781"/>
                </a:lnTo>
                <a:lnTo>
                  <a:pt x="591" y="781"/>
                </a:lnTo>
                <a:lnTo>
                  <a:pt x="594" y="781"/>
                </a:lnTo>
                <a:lnTo>
                  <a:pt x="596" y="781"/>
                </a:lnTo>
                <a:lnTo>
                  <a:pt x="599" y="781"/>
                </a:lnTo>
                <a:lnTo>
                  <a:pt x="602" y="778"/>
                </a:lnTo>
                <a:lnTo>
                  <a:pt x="605" y="767"/>
                </a:lnTo>
                <a:lnTo>
                  <a:pt x="607" y="705"/>
                </a:lnTo>
                <a:lnTo>
                  <a:pt x="610" y="603"/>
                </a:lnTo>
                <a:lnTo>
                  <a:pt x="613" y="517"/>
                </a:lnTo>
                <a:lnTo>
                  <a:pt x="615" y="504"/>
                </a:lnTo>
                <a:lnTo>
                  <a:pt x="618" y="576"/>
                </a:lnTo>
                <a:lnTo>
                  <a:pt x="621" y="685"/>
                </a:lnTo>
                <a:lnTo>
                  <a:pt x="623" y="767"/>
                </a:lnTo>
                <a:lnTo>
                  <a:pt x="626" y="778"/>
                </a:lnTo>
                <a:lnTo>
                  <a:pt x="629" y="765"/>
                </a:lnTo>
                <a:lnTo>
                  <a:pt x="631" y="757"/>
                </a:lnTo>
                <a:lnTo>
                  <a:pt x="634" y="729"/>
                </a:lnTo>
                <a:lnTo>
                  <a:pt x="637" y="640"/>
                </a:lnTo>
                <a:lnTo>
                  <a:pt x="639" y="564"/>
                </a:lnTo>
                <a:lnTo>
                  <a:pt x="642" y="561"/>
                </a:lnTo>
                <a:lnTo>
                  <a:pt x="645" y="630"/>
                </a:lnTo>
                <a:lnTo>
                  <a:pt x="648" y="717"/>
                </a:lnTo>
                <a:lnTo>
                  <a:pt x="650" y="772"/>
                </a:lnTo>
                <a:lnTo>
                  <a:pt x="653" y="781"/>
                </a:lnTo>
                <a:lnTo>
                  <a:pt x="656" y="781"/>
                </a:lnTo>
                <a:lnTo>
                  <a:pt x="658" y="781"/>
                </a:lnTo>
                <a:lnTo>
                  <a:pt x="661" y="781"/>
                </a:lnTo>
                <a:lnTo>
                  <a:pt x="811" y="781"/>
                </a:lnTo>
                <a:lnTo>
                  <a:pt x="814" y="781"/>
                </a:lnTo>
                <a:lnTo>
                  <a:pt x="817" y="781"/>
                </a:lnTo>
                <a:lnTo>
                  <a:pt x="820" y="781"/>
                </a:lnTo>
                <a:lnTo>
                  <a:pt x="822" y="774"/>
                </a:lnTo>
                <a:lnTo>
                  <a:pt x="825" y="756"/>
                </a:lnTo>
                <a:lnTo>
                  <a:pt x="828" y="733"/>
                </a:lnTo>
                <a:lnTo>
                  <a:pt x="830" y="719"/>
                </a:lnTo>
                <a:lnTo>
                  <a:pt x="833" y="722"/>
                </a:lnTo>
                <a:lnTo>
                  <a:pt x="836" y="743"/>
                </a:lnTo>
                <a:lnTo>
                  <a:pt x="838" y="766"/>
                </a:lnTo>
                <a:lnTo>
                  <a:pt x="841" y="781"/>
                </a:lnTo>
                <a:lnTo>
                  <a:pt x="844" y="781"/>
                </a:lnTo>
                <a:lnTo>
                  <a:pt x="846" y="781"/>
                </a:lnTo>
                <a:lnTo>
                  <a:pt x="849" y="781"/>
                </a:lnTo>
                <a:lnTo>
                  <a:pt x="852" y="781"/>
                </a:lnTo>
                <a:lnTo>
                  <a:pt x="941" y="781"/>
                </a:lnTo>
                <a:lnTo>
                  <a:pt x="943" y="781"/>
                </a:lnTo>
                <a:lnTo>
                  <a:pt x="946" y="781"/>
                </a:lnTo>
                <a:lnTo>
                  <a:pt x="949" y="781"/>
                </a:lnTo>
                <a:lnTo>
                  <a:pt x="951" y="773"/>
                </a:lnTo>
                <a:lnTo>
                  <a:pt x="954" y="761"/>
                </a:lnTo>
                <a:lnTo>
                  <a:pt x="957" y="751"/>
                </a:lnTo>
                <a:lnTo>
                  <a:pt x="959" y="755"/>
                </a:lnTo>
                <a:lnTo>
                  <a:pt x="962" y="769"/>
                </a:lnTo>
                <a:lnTo>
                  <a:pt x="965" y="781"/>
                </a:lnTo>
                <a:lnTo>
                  <a:pt x="967" y="781"/>
                </a:lnTo>
                <a:lnTo>
                  <a:pt x="970" y="781"/>
                </a:lnTo>
                <a:lnTo>
                  <a:pt x="973" y="781"/>
                </a:lnTo>
                <a:lnTo>
                  <a:pt x="1108" y="781"/>
                </a:lnTo>
              </a:path>
            </a:pathLst>
          </a:custGeom>
          <a:noFill/>
          <a:ln w="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83" name="Text Box 594"/>
          <p:cNvSpPr txBox="1">
            <a:spLocks noChangeArrowheads="1"/>
          </p:cNvSpPr>
          <p:nvPr/>
        </p:nvSpPr>
        <p:spPr bwMode="auto">
          <a:xfrm>
            <a:off x="2041525" y="2068513"/>
            <a:ext cx="10262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a:solidFill>
                  <a:srgbClr val="000000"/>
                </a:solidFill>
                <a:latin typeface="Calibri" panose="020F0502020204030204" pitchFamily="34" charset="0"/>
              </a:rPr>
              <a:t>575.3066</a:t>
            </a:r>
          </a:p>
          <a:p>
            <a:pPr eaLnBrk="1" fontAlgn="base" hangingPunct="1">
              <a:spcBef>
                <a:spcPct val="0"/>
              </a:spcBef>
              <a:spcAft>
                <a:spcPct val="0"/>
              </a:spcAft>
            </a:pPr>
            <a:r>
              <a:rPr lang="en-US" altLang="en-US" sz="1400">
                <a:solidFill>
                  <a:srgbClr val="FF0000"/>
                </a:solidFill>
                <a:latin typeface="Calibri" panose="020F0502020204030204" pitchFamily="34" charset="0"/>
              </a:rPr>
              <a:t>(1e9 signal)</a:t>
            </a:r>
          </a:p>
        </p:txBody>
      </p:sp>
      <p:sp>
        <p:nvSpPr>
          <p:cNvPr id="38484" name="Text Box 595"/>
          <p:cNvSpPr txBox="1">
            <a:spLocks noChangeArrowheads="1"/>
          </p:cNvSpPr>
          <p:nvPr/>
        </p:nvSpPr>
        <p:spPr bwMode="auto">
          <a:xfrm>
            <a:off x="881556" y="1743951"/>
            <a:ext cx="24721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000" dirty="0">
                <a:solidFill>
                  <a:srgbClr val="000000"/>
                </a:solidFill>
                <a:latin typeface="Calibri" panose="020F0502020204030204" pitchFamily="34" charset="0"/>
              </a:rPr>
              <a:t>Single Mass Spectrum</a:t>
            </a:r>
          </a:p>
        </p:txBody>
      </p:sp>
      <p:sp>
        <p:nvSpPr>
          <p:cNvPr id="38485" name="Text Box 596"/>
          <p:cNvSpPr txBox="1">
            <a:spLocks noChangeArrowheads="1"/>
          </p:cNvSpPr>
          <p:nvPr/>
        </p:nvSpPr>
        <p:spPr bwMode="auto">
          <a:xfrm>
            <a:off x="7010400" y="4038600"/>
            <a:ext cx="102624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dirty="0">
                <a:solidFill>
                  <a:srgbClr val="00B050"/>
                </a:solidFill>
                <a:latin typeface="Calibri" panose="020F0502020204030204" pitchFamily="34" charset="0"/>
              </a:rPr>
              <a:t>494.7637</a:t>
            </a:r>
          </a:p>
          <a:p>
            <a:pPr eaLnBrk="1" fontAlgn="base" hangingPunct="1">
              <a:spcBef>
                <a:spcPct val="0"/>
              </a:spcBef>
              <a:spcAft>
                <a:spcPct val="0"/>
              </a:spcAft>
            </a:pPr>
            <a:r>
              <a:rPr lang="en-US" altLang="en-US" sz="1400" dirty="0">
                <a:solidFill>
                  <a:srgbClr val="FF0000"/>
                </a:solidFill>
                <a:latin typeface="Calibri" panose="020F0502020204030204" pitchFamily="34" charset="0"/>
              </a:rPr>
              <a:t>(5e5 signal)</a:t>
            </a:r>
          </a:p>
        </p:txBody>
      </p:sp>
      <p:sp>
        <p:nvSpPr>
          <p:cNvPr id="38486" name="Text Box 597"/>
          <p:cNvSpPr txBox="1">
            <a:spLocks noChangeArrowheads="1"/>
          </p:cNvSpPr>
          <p:nvPr/>
        </p:nvSpPr>
        <p:spPr bwMode="auto">
          <a:xfrm>
            <a:off x="4114800" y="1828800"/>
            <a:ext cx="8691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u="sng" dirty="0">
                <a:solidFill>
                  <a:schemeClr val="accent6">
                    <a:lumMod val="50000"/>
                  </a:schemeClr>
                </a:solidFill>
                <a:latin typeface="Calibri" panose="020F0502020204030204" pitchFamily="34" charset="0"/>
              </a:rPr>
              <a:t>493.5656</a:t>
            </a:r>
          </a:p>
        </p:txBody>
      </p:sp>
      <p:sp>
        <p:nvSpPr>
          <p:cNvPr id="38487" name="Text Box 598"/>
          <p:cNvSpPr txBox="1">
            <a:spLocks noChangeArrowheads="1"/>
          </p:cNvSpPr>
          <p:nvPr/>
        </p:nvSpPr>
        <p:spPr bwMode="auto">
          <a:xfrm>
            <a:off x="5257800" y="2514600"/>
            <a:ext cx="8691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u="sng" dirty="0">
                <a:solidFill>
                  <a:schemeClr val="accent6">
                    <a:lumMod val="50000"/>
                  </a:schemeClr>
                </a:solidFill>
                <a:latin typeface="Calibri" panose="020F0502020204030204" pitchFamily="34" charset="0"/>
              </a:rPr>
              <a:t>493.8997</a:t>
            </a:r>
          </a:p>
        </p:txBody>
      </p:sp>
      <p:sp>
        <p:nvSpPr>
          <p:cNvPr id="38488" name="Text Box 599"/>
          <p:cNvSpPr txBox="1">
            <a:spLocks noChangeArrowheads="1"/>
          </p:cNvSpPr>
          <p:nvPr/>
        </p:nvSpPr>
        <p:spPr bwMode="auto">
          <a:xfrm>
            <a:off x="5150857" y="3560506"/>
            <a:ext cx="8691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u="sng" dirty="0">
                <a:solidFill>
                  <a:schemeClr val="accent6">
                    <a:lumMod val="50000"/>
                  </a:schemeClr>
                </a:solidFill>
                <a:latin typeface="Calibri" panose="020F0502020204030204" pitchFamily="34" charset="0"/>
              </a:rPr>
              <a:t>494.2336</a:t>
            </a:r>
          </a:p>
        </p:txBody>
      </p:sp>
      <p:sp>
        <p:nvSpPr>
          <p:cNvPr id="38489" name="Text Box 600"/>
          <p:cNvSpPr txBox="1">
            <a:spLocks noChangeArrowheads="1"/>
          </p:cNvSpPr>
          <p:nvPr/>
        </p:nvSpPr>
        <p:spPr bwMode="auto">
          <a:xfrm>
            <a:off x="4648200" y="2819400"/>
            <a:ext cx="8691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dirty="0">
                <a:solidFill>
                  <a:srgbClr val="00B050"/>
                </a:solidFill>
                <a:latin typeface="Calibri" panose="020F0502020204030204" pitchFamily="34" charset="0"/>
              </a:rPr>
              <a:t>493.7722</a:t>
            </a:r>
          </a:p>
        </p:txBody>
      </p:sp>
      <p:sp>
        <p:nvSpPr>
          <p:cNvPr id="38490" name="Text Box 601"/>
          <p:cNvSpPr txBox="1">
            <a:spLocks noChangeArrowheads="1"/>
          </p:cNvSpPr>
          <p:nvPr/>
        </p:nvSpPr>
        <p:spPr bwMode="auto">
          <a:xfrm>
            <a:off x="5943600" y="3657600"/>
            <a:ext cx="8691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dirty="0">
                <a:solidFill>
                  <a:srgbClr val="00B050"/>
                </a:solidFill>
                <a:latin typeface="Calibri" panose="020F0502020204030204" pitchFamily="34" charset="0"/>
              </a:rPr>
              <a:t>494.2747</a:t>
            </a:r>
          </a:p>
        </p:txBody>
      </p:sp>
      <p:sp>
        <p:nvSpPr>
          <p:cNvPr id="38491" name="Text Box 602"/>
          <p:cNvSpPr txBox="1">
            <a:spLocks noChangeArrowheads="1"/>
          </p:cNvSpPr>
          <p:nvPr/>
        </p:nvSpPr>
        <p:spPr bwMode="auto">
          <a:xfrm>
            <a:off x="6172200" y="4038600"/>
            <a:ext cx="86914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400" u="sng" dirty="0">
                <a:solidFill>
                  <a:schemeClr val="accent6">
                    <a:lumMod val="50000"/>
                  </a:schemeClr>
                </a:solidFill>
                <a:latin typeface="Calibri" panose="020F0502020204030204" pitchFamily="34" charset="0"/>
              </a:rPr>
              <a:t>494.5686</a:t>
            </a:r>
          </a:p>
        </p:txBody>
      </p:sp>
      <p:sp>
        <p:nvSpPr>
          <p:cNvPr id="38492" name="AutoShape 603"/>
          <p:cNvSpPr>
            <a:spLocks/>
          </p:cNvSpPr>
          <p:nvPr/>
        </p:nvSpPr>
        <p:spPr bwMode="auto">
          <a:xfrm rot="-5400000">
            <a:off x="1524000" y="5334000"/>
            <a:ext cx="152400" cy="152400"/>
          </a:xfrm>
          <a:prstGeom prst="rightBrace">
            <a:avLst>
              <a:gd name="adj1" fmla="val 8333"/>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endParaRPr lang="en-US" altLang="en-US">
              <a:solidFill>
                <a:srgbClr val="000000"/>
              </a:solidFill>
              <a:latin typeface="Calibri" panose="020F0502020204030204" pitchFamily="34" charset="0"/>
            </a:endParaRPr>
          </a:p>
        </p:txBody>
      </p:sp>
      <p:sp>
        <p:nvSpPr>
          <p:cNvPr id="38493" name="Line 604"/>
          <p:cNvSpPr>
            <a:spLocks noChangeShapeType="1"/>
          </p:cNvSpPr>
          <p:nvPr/>
        </p:nvSpPr>
        <p:spPr bwMode="auto">
          <a:xfrm flipV="1">
            <a:off x="1600200" y="4191000"/>
            <a:ext cx="213360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94" name="Line 605"/>
          <p:cNvSpPr>
            <a:spLocks noChangeShapeType="1"/>
          </p:cNvSpPr>
          <p:nvPr/>
        </p:nvSpPr>
        <p:spPr bwMode="auto">
          <a:xfrm>
            <a:off x="4581307" y="2743200"/>
            <a:ext cx="645414" cy="0"/>
          </a:xfrm>
          <a:prstGeom prst="line">
            <a:avLst/>
          </a:prstGeom>
          <a:noFill/>
          <a:ln w="12700">
            <a:solidFill>
              <a:schemeClr val="accent6">
                <a:lumMod val="50000"/>
              </a:schemeClr>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95" name="Text Box 606"/>
          <p:cNvSpPr txBox="1">
            <a:spLocks noChangeArrowheads="1"/>
          </p:cNvSpPr>
          <p:nvPr/>
        </p:nvSpPr>
        <p:spPr bwMode="auto">
          <a:xfrm>
            <a:off x="5054652" y="1981200"/>
            <a:ext cx="94128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600" dirty="0">
                <a:solidFill>
                  <a:schemeClr val="accent6">
                    <a:lumMod val="50000"/>
                  </a:schemeClr>
                </a:solidFill>
                <a:latin typeface="Symbol" panose="05050102010706020507" pitchFamily="18" charset="2"/>
              </a:rPr>
              <a:t>D</a:t>
            </a:r>
            <a:r>
              <a:rPr lang="en-US" altLang="en-US" sz="1600" dirty="0">
                <a:solidFill>
                  <a:schemeClr val="accent6">
                    <a:lumMod val="50000"/>
                  </a:schemeClr>
                </a:solidFill>
                <a:latin typeface="Calibri" panose="020F0502020204030204" pitchFamily="34" charset="0"/>
              </a:rPr>
              <a:t>m~0.33</a:t>
            </a:r>
          </a:p>
          <a:p>
            <a:pPr algn="ctr" eaLnBrk="1" fontAlgn="base" hangingPunct="1">
              <a:spcBef>
                <a:spcPct val="0"/>
              </a:spcBef>
              <a:spcAft>
                <a:spcPct val="0"/>
              </a:spcAft>
            </a:pPr>
            <a:r>
              <a:rPr lang="en-US" altLang="en-US" sz="1600" dirty="0">
                <a:solidFill>
                  <a:schemeClr val="accent6">
                    <a:lumMod val="50000"/>
                  </a:schemeClr>
                </a:solidFill>
                <a:latin typeface="Calibri" panose="020F0502020204030204" pitchFamily="34" charset="0"/>
              </a:rPr>
              <a:t>3</a:t>
            </a:r>
            <a:r>
              <a:rPr lang="en-US" altLang="en-US" sz="1600" baseline="30000" dirty="0">
                <a:solidFill>
                  <a:schemeClr val="accent6">
                    <a:lumMod val="50000"/>
                  </a:schemeClr>
                </a:solidFill>
                <a:latin typeface="Calibri" panose="020F0502020204030204" pitchFamily="34" charset="0"/>
              </a:rPr>
              <a:t>+</a:t>
            </a:r>
            <a:r>
              <a:rPr lang="en-US" altLang="en-US" sz="1600" dirty="0">
                <a:solidFill>
                  <a:schemeClr val="accent6">
                    <a:lumMod val="50000"/>
                  </a:schemeClr>
                </a:solidFill>
                <a:latin typeface="Calibri" panose="020F0502020204030204" pitchFamily="34" charset="0"/>
              </a:rPr>
              <a:t> ion</a:t>
            </a:r>
          </a:p>
        </p:txBody>
      </p:sp>
      <p:sp>
        <p:nvSpPr>
          <p:cNvPr id="38496" name="Line 607"/>
          <p:cNvSpPr>
            <a:spLocks noChangeShapeType="1"/>
          </p:cNvSpPr>
          <p:nvPr/>
        </p:nvSpPr>
        <p:spPr bwMode="auto">
          <a:xfrm flipV="1">
            <a:off x="4876800" y="2362200"/>
            <a:ext cx="304800" cy="304800"/>
          </a:xfrm>
          <a:prstGeom prst="line">
            <a:avLst/>
          </a:prstGeom>
          <a:noFill/>
          <a:ln w="9525">
            <a:solidFill>
              <a:schemeClr val="accent6">
                <a:lumMod val="50000"/>
              </a:schemeClr>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97" name="Line 608"/>
          <p:cNvSpPr>
            <a:spLocks noChangeShapeType="1"/>
          </p:cNvSpPr>
          <p:nvPr/>
        </p:nvSpPr>
        <p:spPr bwMode="auto">
          <a:xfrm>
            <a:off x="5029200" y="4038600"/>
            <a:ext cx="990600" cy="0"/>
          </a:xfrm>
          <a:prstGeom prst="line">
            <a:avLst/>
          </a:prstGeom>
          <a:noFill/>
          <a:ln w="12700">
            <a:solidFill>
              <a:srgbClr val="00B050"/>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98" name="Line 609"/>
          <p:cNvSpPr>
            <a:spLocks noChangeShapeType="1"/>
          </p:cNvSpPr>
          <p:nvPr/>
        </p:nvSpPr>
        <p:spPr bwMode="auto">
          <a:xfrm flipV="1">
            <a:off x="5638800" y="3429000"/>
            <a:ext cx="609600" cy="533400"/>
          </a:xfrm>
          <a:prstGeom prst="line">
            <a:avLst/>
          </a:prstGeom>
          <a:noFill/>
          <a:ln w="9525">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499" name="Text Box 610"/>
          <p:cNvSpPr txBox="1">
            <a:spLocks noChangeArrowheads="1"/>
          </p:cNvSpPr>
          <p:nvPr/>
        </p:nvSpPr>
        <p:spPr bwMode="auto">
          <a:xfrm>
            <a:off x="6096000" y="3048000"/>
            <a:ext cx="145424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dirty="0">
                <a:solidFill>
                  <a:srgbClr val="00B050"/>
                </a:solidFill>
                <a:latin typeface="Symbol" panose="05050102010706020507" pitchFamily="18" charset="2"/>
              </a:rPr>
              <a:t>D</a:t>
            </a:r>
            <a:r>
              <a:rPr lang="en-US" altLang="en-US" sz="1600" dirty="0">
                <a:solidFill>
                  <a:srgbClr val="00B050"/>
                </a:solidFill>
                <a:latin typeface="Calibri" panose="020F0502020204030204" pitchFamily="34" charset="0"/>
              </a:rPr>
              <a:t>m~0.5; 2</a:t>
            </a:r>
            <a:r>
              <a:rPr lang="en-US" altLang="en-US" sz="1600" baseline="30000" dirty="0">
                <a:solidFill>
                  <a:srgbClr val="00B050"/>
                </a:solidFill>
                <a:latin typeface="Calibri" panose="020F0502020204030204" pitchFamily="34" charset="0"/>
              </a:rPr>
              <a:t>+</a:t>
            </a:r>
            <a:r>
              <a:rPr lang="en-US" altLang="en-US" sz="1600" dirty="0">
                <a:solidFill>
                  <a:srgbClr val="00B050"/>
                </a:solidFill>
                <a:latin typeface="Calibri" panose="020F0502020204030204" pitchFamily="34" charset="0"/>
              </a:rPr>
              <a:t> ion</a:t>
            </a:r>
          </a:p>
        </p:txBody>
      </p:sp>
      <p:sp>
        <p:nvSpPr>
          <p:cNvPr id="38500" name="Line 611"/>
          <p:cNvSpPr>
            <a:spLocks noChangeShapeType="1"/>
          </p:cNvSpPr>
          <p:nvPr/>
        </p:nvSpPr>
        <p:spPr bwMode="auto">
          <a:xfrm>
            <a:off x="2514600" y="2590800"/>
            <a:ext cx="1371600" cy="25146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501" name="Line 612"/>
          <p:cNvSpPr>
            <a:spLocks noChangeShapeType="1"/>
          </p:cNvSpPr>
          <p:nvPr/>
        </p:nvSpPr>
        <p:spPr bwMode="auto">
          <a:xfrm flipV="1">
            <a:off x="3886200" y="5105400"/>
            <a:ext cx="3276600" cy="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502" name="Line 613"/>
          <p:cNvSpPr>
            <a:spLocks noChangeShapeType="1"/>
          </p:cNvSpPr>
          <p:nvPr/>
        </p:nvSpPr>
        <p:spPr bwMode="auto">
          <a:xfrm flipH="1">
            <a:off x="7162800" y="4572000"/>
            <a:ext cx="533400" cy="5334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503" name="Line 614"/>
          <p:cNvSpPr>
            <a:spLocks noChangeShapeType="1"/>
          </p:cNvSpPr>
          <p:nvPr/>
        </p:nvSpPr>
        <p:spPr bwMode="auto">
          <a:xfrm>
            <a:off x="7162800" y="5105400"/>
            <a:ext cx="381000" cy="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504" name="Text Box 615"/>
          <p:cNvSpPr txBox="1">
            <a:spLocks noChangeArrowheads="1"/>
          </p:cNvSpPr>
          <p:nvPr/>
        </p:nvSpPr>
        <p:spPr bwMode="auto">
          <a:xfrm>
            <a:off x="7506181" y="4784725"/>
            <a:ext cx="101662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b="1" dirty="0">
                <a:solidFill>
                  <a:srgbClr val="FF0000"/>
                </a:solidFill>
                <a:latin typeface="Calibri" panose="020F0502020204030204" pitchFamily="34" charset="0"/>
              </a:rPr>
              <a:t>2000x</a:t>
            </a:r>
          </a:p>
          <a:p>
            <a:pPr algn="ctr" eaLnBrk="1" fontAlgn="base" hangingPunct="1">
              <a:spcBef>
                <a:spcPct val="0"/>
              </a:spcBef>
              <a:spcAft>
                <a:spcPct val="0"/>
              </a:spcAft>
            </a:pPr>
            <a:r>
              <a:rPr lang="en-US" altLang="en-US" b="1" dirty="0">
                <a:solidFill>
                  <a:srgbClr val="FF0000"/>
                </a:solidFill>
                <a:latin typeface="Calibri" panose="020F0502020204030204" pitchFamily="34" charset="0"/>
              </a:rPr>
              <a:t>Dynamic</a:t>
            </a:r>
          </a:p>
          <a:p>
            <a:pPr algn="ctr" eaLnBrk="1" fontAlgn="base" hangingPunct="1">
              <a:spcBef>
                <a:spcPct val="0"/>
              </a:spcBef>
              <a:spcAft>
                <a:spcPct val="0"/>
              </a:spcAft>
            </a:pPr>
            <a:r>
              <a:rPr lang="en-US" altLang="en-US" b="1" dirty="0">
                <a:solidFill>
                  <a:srgbClr val="FF0000"/>
                </a:solidFill>
                <a:latin typeface="Calibri" panose="020F0502020204030204" pitchFamily="34" charset="0"/>
              </a:rPr>
              <a:t>Range</a:t>
            </a:r>
          </a:p>
        </p:txBody>
      </p:sp>
      <p:sp>
        <p:nvSpPr>
          <p:cNvPr id="38505" name="Freeform 616"/>
          <p:cNvSpPr>
            <a:spLocks/>
          </p:cNvSpPr>
          <p:nvPr/>
        </p:nvSpPr>
        <p:spPr bwMode="auto">
          <a:xfrm>
            <a:off x="4114800" y="2133600"/>
            <a:ext cx="3276600" cy="2362200"/>
          </a:xfrm>
          <a:custGeom>
            <a:avLst/>
            <a:gdLst>
              <a:gd name="T0" fmla="*/ 0 w 2064"/>
              <a:gd name="T1" fmla="*/ 2362200 h 1296"/>
              <a:gd name="T2" fmla="*/ 304800 w 2064"/>
              <a:gd name="T3" fmla="*/ 1487311 h 1296"/>
              <a:gd name="T4" fmla="*/ 762000 w 2064"/>
              <a:gd name="T5" fmla="*/ 0 h 1296"/>
              <a:gd name="T6" fmla="*/ 1295400 w 2064"/>
              <a:gd name="T7" fmla="*/ 1487311 h 1296"/>
              <a:gd name="T8" fmla="*/ 1905000 w 2064"/>
              <a:gd name="T9" fmla="*/ 1224844 h 1296"/>
              <a:gd name="T10" fmla="*/ 2438400 w 2064"/>
              <a:gd name="T11" fmla="*/ 1749778 h 1296"/>
              <a:gd name="T12" fmla="*/ 2971800 w 2064"/>
              <a:gd name="T13" fmla="*/ 1574800 h 1296"/>
              <a:gd name="T14" fmla="*/ 3276600 w 2064"/>
              <a:gd name="T15" fmla="*/ 1749778 h 129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064" h="1296">
                <a:moveTo>
                  <a:pt x="0" y="1296"/>
                </a:moveTo>
                <a:cubicBezTo>
                  <a:pt x="56" y="1164"/>
                  <a:pt x="112" y="1032"/>
                  <a:pt x="192" y="816"/>
                </a:cubicBezTo>
                <a:cubicBezTo>
                  <a:pt x="272" y="600"/>
                  <a:pt x="376" y="0"/>
                  <a:pt x="480" y="0"/>
                </a:cubicBezTo>
                <a:cubicBezTo>
                  <a:pt x="584" y="0"/>
                  <a:pt x="696" y="704"/>
                  <a:pt x="816" y="816"/>
                </a:cubicBezTo>
                <a:cubicBezTo>
                  <a:pt x="936" y="928"/>
                  <a:pt x="1080" y="648"/>
                  <a:pt x="1200" y="672"/>
                </a:cubicBezTo>
                <a:cubicBezTo>
                  <a:pt x="1320" y="696"/>
                  <a:pt x="1424" y="928"/>
                  <a:pt x="1536" y="960"/>
                </a:cubicBezTo>
                <a:cubicBezTo>
                  <a:pt x="1648" y="992"/>
                  <a:pt x="1784" y="864"/>
                  <a:pt x="1872" y="864"/>
                </a:cubicBezTo>
                <a:cubicBezTo>
                  <a:pt x="1960" y="864"/>
                  <a:pt x="2012" y="912"/>
                  <a:pt x="2064" y="960"/>
                </a:cubicBez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506" name="Line 617"/>
          <p:cNvSpPr>
            <a:spLocks noChangeShapeType="1"/>
          </p:cNvSpPr>
          <p:nvPr/>
        </p:nvSpPr>
        <p:spPr bwMode="auto">
          <a:xfrm flipV="1">
            <a:off x="7315200" y="3505200"/>
            <a:ext cx="4572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a:solidFill>
                <a:srgbClr val="000000"/>
              </a:solidFill>
              <a:latin typeface="Calibri" panose="020F0502020204030204" pitchFamily="34" charset="0"/>
            </a:endParaRPr>
          </a:p>
        </p:txBody>
      </p:sp>
      <p:sp>
        <p:nvSpPr>
          <p:cNvPr id="38507" name="Text Box 618"/>
          <p:cNvSpPr txBox="1">
            <a:spLocks noChangeArrowheads="1"/>
          </p:cNvSpPr>
          <p:nvPr/>
        </p:nvSpPr>
        <p:spPr bwMode="auto">
          <a:xfrm>
            <a:off x="7696775" y="3048000"/>
            <a:ext cx="129266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Lower</a:t>
            </a:r>
          </a:p>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Resolution</a:t>
            </a:r>
          </a:p>
          <a:p>
            <a:pPr algn="ctr" eaLnBrk="1" fontAlgn="base" hangingPunct="1">
              <a:spcBef>
                <a:spcPct val="0"/>
              </a:spcBef>
              <a:spcAft>
                <a:spcPct val="0"/>
              </a:spcAft>
            </a:pPr>
            <a:r>
              <a:rPr lang="en-US" altLang="en-US" sz="2000" dirty="0">
                <a:solidFill>
                  <a:srgbClr val="000000"/>
                </a:solidFill>
                <a:latin typeface="Calibri" panose="020F0502020204030204" pitchFamily="34" charset="0"/>
              </a:rPr>
              <a:t>Analysis</a:t>
            </a:r>
          </a:p>
        </p:txBody>
      </p:sp>
      <p:sp>
        <p:nvSpPr>
          <p:cNvPr id="38508" name="Text Box 619"/>
          <p:cNvSpPr txBox="1">
            <a:spLocks noChangeArrowheads="1"/>
          </p:cNvSpPr>
          <p:nvPr/>
        </p:nvSpPr>
        <p:spPr bwMode="auto">
          <a:xfrm>
            <a:off x="171188" y="683383"/>
            <a:ext cx="2153025" cy="1200329"/>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2400" b="1" dirty="0">
                <a:solidFill>
                  <a:srgbClr val="333399"/>
                </a:solidFill>
                <a:latin typeface="Calibri" panose="020F0502020204030204" pitchFamily="34" charset="0"/>
              </a:rPr>
              <a:t>Resolution</a:t>
            </a:r>
          </a:p>
          <a:p>
            <a:pPr eaLnBrk="1" fontAlgn="base" hangingPunct="1">
              <a:spcBef>
                <a:spcPct val="0"/>
              </a:spcBef>
              <a:spcAft>
                <a:spcPct val="0"/>
              </a:spcAft>
            </a:pPr>
            <a:r>
              <a:rPr lang="en-US" altLang="en-US" sz="2400" b="1" dirty="0">
                <a:solidFill>
                  <a:srgbClr val="006600"/>
                </a:solidFill>
                <a:latin typeface="Calibri" panose="020F0502020204030204" pitchFamily="34" charset="0"/>
              </a:rPr>
              <a:t>Mass Accuracy</a:t>
            </a:r>
          </a:p>
          <a:p>
            <a:pPr eaLnBrk="1" fontAlgn="base" hangingPunct="1">
              <a:spcBef>
                <a:spcPct val="0"/>
              </a:spcBef>
              <a:spcAft>
                <a:spcPct val="0"/>
              </a:spcAft>
            </a:pPr>
            <a:r>
              <a:rPr lang="en-US" altLang="en-US" sz="2400" b="1" dirty="0">
                <a:solidFill>
                  <a:srgbClr val="FF0000"/>
                </a:solidFill>
                <a:latin typeface="Calibri" panose="020F0502020204030204" pitchFamily="34" charset="0"/>
              </a:rPr>
              <a:t>Dynamic Range</a:t>
            </a:r>
          </a:p>
        </p:txBody>
      </p:sp>
      <p:sp>
        <p:nvSpPr>
          <p:cNvPr id="38509" name="Text Box 620"/>
          <p:cNvSpPr txBox="1">
            <a:spLocks noChangeArrowheads="1"/>
          </p:cNvSpPr>
          <p:nvPr/>
        </p:nvSpPr>
        <p:spPr bwMode="auto">
          <a:xfrm>
            <a:off x="6364682" y="1145183"/>
            <a:ext cx="244169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b="1" dirty="0">
                <a:solidFill>
                  <a:srgbClr val="333399"/>
                </a:solidFill>
                <a:latin typeface="Calibri" panose="020F0502020204030204" pitchFamily="34" charset="0"/>
              </a:rPr>
              <a:t>High resolution allows</a:t>
            </a:r>
          </a:p>
          <a:p>
            <a:pPr algn="ctr" eaLnBrk="1" fontAlgn="base" hangingPunct="1">
              <a:spcBef>
                <a:spcPct val="0"/>
              </a:spcBef>
              <a:spcAft>
                <a:spcPct val="0"/>
              </a:spcAft>
            </a:pPr>
            <a:r>
              <a:rPr lang="en-US" altLang="en-US" b="1" dirty="0">
                <a:solidFill>
                  <a:srgbClr val="333399"/>
                </a:solidFill>
                <a:latin typeface="Calibri" panose="020F0502020204030204" pitchFamily="34" charset="0"/>
              </a:rPr>
              <a:t>distinguishing peptides</a:t>
            </a:r>
          </a:p>
          <a:p>
            <a:pPr algn="ctr" eaLnBrk="1" fontAlgn="base" hangingPunct="1">
              <a:spcBef>
                <a:spcPct val="0"/>
              </a:spcBef>
              <a:spcAft>
                <a:spcPct val="0"/>
              </a:spcAft>
            </a:pPr>
            <a:r>
              <a:rPr lang="en-US" altLang="en-US" b="1" dirty="0">
                <a:solidFill>
                  <a:srgbClr val="333399"/>
                </a:solidFill>
                <a:latin typeface="Calibri" panose="020F0502020204030204" pitchFamily="34" charset="0"/>
              </a:rPr>
              <a:t>with similar m/z</a:t>
            </a:r>
          </a:p>
          <a:p>
            <a:pPr algn="ctr" eaLnBrk="1" fontAlgn="base" hangingPunct="1">
              <a:spcBef>
                <a:spcPct val="0"/>
              </a:spcBef>
              <a:spcAft>
                <a:spcPct val="0"/>
              </a:spcAft>
            </a:pPr>
            <a:r>
              <a:rPr lang="en-US" altLang="en-US" b="1" dirty="0">
                <a:solidFill>
                  <a:srgbClr val="333399"/>
                </a:solidFill>
                <a:latin typeface="Calibri" panose="020F0502020204030204" pitchFamily="34" charset="0"/>
              </a:rPr>
              <a:t>494Da/0.04Da=~12,000</a:t>
            </a:r>
          </a:p>
        </p:txBody>
      </p:sp>
      <p:sp>
        <p:nvSpPr>
          <p:cNvPr id="38512" name="Text Box 623"/>
          <p:cNvSpPr txBox="1">
            <a:spLocks noChangeArrowheads="1"/>
          </p:cNvSpPr>
          <p:nvPr/>
        </p:nvSpPr>
        <p:spPr bwMode="auto">
          <a:xfrm>
            <a:off x="3584784" y="1219200"/>
            <a:ext cx="226812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2000" b="1" dirty="0">
                <a:solidFill>
                  <a:srgbClr val="006600"/>
                </a:solidFill>
                <a:latin typeface="Calibri" panose="020F0502020204030204" pitchFamily="34" charset="0"/>
              </a:rPr>
              <a:t>+/- 5-10 ppm</a:t>
            </a:r>
          </a:p>
          <a:p>
            <a:pPr algn="ctr" eaLnBrk="1" fontAlgn="base" hangingPunct="1">
              <a:spcBef>
                <a:spcPct val="0"/>
              </a:spcBef>
              <a:spcAft>
                <a:spcPct val="0"/>
              </a:spcAft>
            </a:pPr>
            <a:r>
              <a:rPr lang="en-US" altLang="en-US" sz="2000" b="1" dirty="0">
                <a:solidFill>
                  <a:srgbClr val="006600"/>
                </a:solidFill>
                <a:latin typeface="Calibri" panose="020F0502020204030204" pitchFamily="34" charset="0"/>
              </a:rPr>
              <a:t>mass measurement</a:t>
            </a:r>
          </a:p>
        </p:txBody>
      </p:sp>
      <p:sp>
        <p:nvSpPr>
          <p:cNvPr id="625" name="Text Box 595"/>
          <p:cNvSpPr txBox="1">
            <a:spLocks noChangeArrowheads="1"/>
          </p:cNvSpPr>
          <p:nvPr/>
        </p:nvSpPr>
        <p:spPr bwMode="auto">
          <a:xfrm>
            <a:off x="275899" y="5932714"/>
            <a:ext cx="519879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dirty="0">
                <a:solidFill>
                  <a:srgbClr val="000000"/>
                </a:solidFill>
                <a:latin typeface="Calibri" panose="020F0502020204030204" pitchFamily="34" charset="0"/>
              </a:rPr>
              <a:t>M/</a:t>
            </a:r>
            <a:r>
              <a:rPr lang="en-US" altLang="en-US" dirty="0">
                <a:solidFill>
                  <a:srgbClr val="000000"/>
                </a:solidFill>
                <a:latin typeface="Symbol" panose="05050102010706020507" pitchFamily="18" charset="2"/>
              </a:rPr>
              <a:t>D</a:t>
            </a:r>
            <a:r>
              <a:rPr lang="en-US" altLang="en-US" dirty="0">
                <a:solidFill>
                  <a:srgbClr val="000000"/>
                </a:solidFill>
                <a:latin typeface="Calibri" panose="020F0502020204030204" pitchFamily="34" charset="0"/>
              </a:rPr>
              <a:t>M = Resolving Power; 1,000/0.1 Da = 10,000 R.P.</a:t>
            </a:r>
          </a:p>
          <a:p>
            <a:pPr eaLnBrk="1" fontAlgn="base" hangingPunct="1">
              <a:spcBef>
                <a:spcPct val="0"/>
              </a:spcBef>
              <a:spcAft>
                <a:spcPct val="0"/>
              </a:spcAft>
            </a:pPr>
            <a:r>
              <a:rPr lang="en-US" altLang="en-US" dirty="0">
                <a:solidFill>
                  <a:srgbClr val="000000"/>
                </a:solidFill>
                <a:latin typeface="Symbol" panose="05050102010706020507" pitchFamily="18" charset="2"/>
              </a:rPr>
              <a:t>D</a:t>
            </a:r>
            <a:r>
              <a:rPr lang="en-US" altLang="en-US" dirty="0">
                <a:solidFill>
                  <a:srgbClr val="000000"/>
                </a:solidFill>
                <a:latin typeface="Calibri" panose="020F0502020204030204" pitchFamily="34" charset="0"/>
              </a:rPr>
              <a:t>M/M = Resolution; 0.01/1,000 Da = 1x10</a:t>
            </a:r>
            <a:r>
              <a:rPr lang="en-US" altLang="en-US" baseline="30000" dirty="0">
                <a:solidFill>
                  <a:srgbClr val="000000"/>
                </a:solidFill>
                <a:latin typeface="Calibri" panose="020F0502020204030204" pitchFamily="34" charset="0"/>
              </a:rPr>
              <a:t>-5</a:t>
            </a:r>
            <a:r>
              <a:rPr lang="en-US" altLang="en-US" dirty="0">
                <a:solidFill>
                  <a:srgbClr val="000000"/>
                </a:solidFill>
                <a:latin typeface="Calibri" panose="020F0502020204030204" pitchFamily="34" charset="0"/>
              </a:rPr>
              <a:t> Res.</a:t>
            </a:r>
          </a:p>
        </p:txBody>
      </p:sp>
    </p:spTree>
    <p:extLst>
      <p:ext uri="{BB962C8B-B14F-4D97-AF65-F5344CB8AC3E}">
        <p14:creationId xmlns:p14="http://schemas.microsoft.com/office/powerpoint/2010/main" val="28563761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5"/>
          <p:cNvSpPr>
            <a:spLocks noGrp="1" noChangeArrowheads="1"/>
          </p:cNvSpPr>
          <p:nvPr>
            <p:ph type="title"/>
          </p:nvPr>
        </p:nvSpPr>
        <p:spPr bwMode="auto">
          <a:xfrm>
            <a:off x="381000" y="304800"/>
            <a:ext cx="82296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t>MS Proteomics Data Analysis</a:t>
            </a:r>
            <a:endParaRPr lang="en-US" altLang="en-US" sz="3200" dirty="0">
              <a:solidFill>
                <a:schemeClr val="accent2"/>
              </a:solidFill>
            </a:endParaRPr>
          </a:p>
        </p:txBody>
      </p:sp>
      <p:sp>
        <p:nvSpPr>
          <p:cNvPr id="40963" name="Rectangle 3"/>
          <p:cNvSpPr>
            <a:spLocks noGrp="1" noChangeArrowheads="1"/>
          </p:cNvSpPr>
          <p:nvPr>
            <p:ph idx="1"/>
          </p:nvPr>
        </p:nvSpPr>
        <p:spPr>
          <a:xfrm>
            <a:off x="381000" y="1259112"/>
            <a:ext cx="8534400" cy="5257800"/>
          </a:xfrm>
        </p:spPr>
        <p:txBody>
          <a:bodyPr/>
          <a:lstStyle/>
          <a:p>
            <a:r>
              <a:rPr lang="en-US" altLang="en-US" sz="2400" dirty="0"/>
              <a:t>Peptide identification</a:t>
            </a:r>
          </a:p>
          <a:p>
            <a:pPr lvl="1"/>
            <a:r>
              <a:rPr lang="en-US" altLang="en-US" sz="2400" dirty="0"/>
              <a:t>Match MS data with predicted data from database proteins</a:t>
            </a:r>
          </a:p>
          <a:p>
            <a:pPr lvl="2"/>
            <a:r>
              <a:rPr lang="en-US" altLang="en-US" sz="2000" dirty="0"/>
              <a:t>Precursor and fragment ion masses</a:t>
            </a:r>
          </a:p>
          <a:p>
            <a:pPr lvl="1"/>
            <a:r>
              <a:rPr lang="en-US" altLang="en-US" sz="2400" dirty="0"/>
              <a:t>Software and manual analysis</a:t>
            </a:r>
          </a:p>
          <a:p>
            <a:r>
              <a:rPr lang="en-US" altLang="en-US" sz="2400" dirty="0"/>
              <a:t>Protein “identification” (inference)</a:t>
            </a:r>
          </a:p>
          <a:p>
            <a:pPr lvl="1"/>
            <a:r>
              <a:rPr lang="en-US" altLang="en-US" sz="2400" dirty="0"/>
              <a:t>Software and manual analysis</a:t>
            </a:r>
          </a:p>
          <a:p>
            <a:pPr lvl="2"/>
            <a:r>
              <a:rPr lang="en-US" altLang="en-US" dirty="0"/>
              <a:t>Determine most likely proteins using parsimony rules/analysis</a:t>
            </a:r>
            <a:endParaRPr lang="en-US" altLang="en-US" i="1" dirty="0"/>
          </a:p>
          <a:p>
            <a:r>
              <a:rPr lang="en-US" altLang="en-US" sz="2400" dirty="0"/>
              <a:t>Peptide/protein “quantitation”</a:t>
            </a:r>
          </a:p>
          <a:p>
            <a:pPr lvl="1"/>
            <a:r>
              <a:rPr lang="en-US" altLang="en-US" dirty="0"/>
              <a:t>Differential protein expression</a:t>
            </a:r>
          </a:p>
          <a:p>
            <a:pPr lvl="1"/>
            <a:r>
              <a:rPr lang="en-US" altLang="en-US" sz="2400" dirty="0"/>
              <a:t>Two or more samples/analyses/data files</a:t>
            </a:r>
          </a:p>
          <a:p>
            <a:pPr lvl="1"/>
            <a:r>
              <a:rPr lang="en-US" altLang="en-US" dirty="0"/>
              <a:t>Measure peptide relative abundances</a:t>
            </a:r>
            <a:endParaRPr lang="en-US" altLang="en-US" sz="2400" dirty="0"/>
          </a:p>
          <a:p>
            <a:pPr lvl="2"/>
            <a:r>
              <a:rPr lang="en-US" altLang="en-US" dirty="0"/>
              <a:t>Label: mass tag chemical derivatives</a:t>
            </a:r>
          </a:p>
          <a:p>
            <a:pPr lvl="2"/>
            <a:r>
              <a:rPr lang="en-US" altLang="en-US" dirty="0"/>
              <a:t>Label-free: spectral counting, spectral feature</a:t>
            </a:r>
          </a:p>
          <a:p>
            <a:pPr lvl="1"/>
            <a:endParaRPr lang="en-US" altLang="en-US" sz="2000" dirty="0"/>
          </a:p>
          <a:p>
            <a:endParaRPr lang="en-US" altLang="en-US" sz="2400" dirty="0"/>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40962" name="Slide Number Placeholder 5"/>
          <p:cNvSpPr>
            <a:spLocks noGrp="1"/>
          </p:cNvSpPr>
          <p:nvPr>
            <p:ph type="sldNum" sz="quarter" idx="12"/>
          </p:nvPr>
        </p:nvSpPr>
        <p:spPr>
          <a:xfrm>
            <a:off x="6553200" y="6245225"/>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3B9877C-3046-4F37-8A02-C606DAF0DEF6}" type="slidenum">
              <a:rPr lang="en-US" altLang="en-US" smtClean="0">
                <a:solidFill>
                  <a:srgbClr val="000000"/>
                </a:solidFill>
              </a:rPr>
              <a:pPr eaLnBrk="1" hangingPunct="1"/>
              <a:t>32</a:t>
            </a:fld>
            <a:endParaRPr lang="en-US" altLang="en-US">
              <a:solidFill>
                <a:srgbClr val="000000"/>
              </a:solidFill>
            </a:endParaRPr>
          </a:p>
        </p:txBody>
      </p:sp>
    </p:spTree>
    <p:extLst>
      <p:ext uri="{BB962C8B-B14F-4D97-AF65-F5344CB8AC3E}">
        <p14:creationId xmlns:p14="http://schemas.microsoft.com/office/powerpoint/2010/main" val="32149441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bwMode="auto">
          <a:xfrm>
            <a:off x="1998983" y="152400"/>
            <a:ext cx="4679119"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en-US" dirty="0"/>
              <a:t>MS Proteomics Data Analysis</a:t>
            </a:r>
            <a:endParaRPr lang="en-US" altLang="en-US" sz="3200" dirty="0">
              <a:solidFill>
                <a:schemeClr val="accent2"/>
              </a:solidFill>
            </a:endParaRPr>
          </a:p>
        </p:txBody>
      </p:sp>
      <p:sp>
        <p:nvSpPr>
          <p:cNvPr id="3" name="Date Placeholder 2"/>
          <p:cNvSpPr>
            <a:spLocks noGrp="1"/>
          </p:cNvSpPr>
          <p:nvPr>
            <p:ph type="dt" sz="half" idx="10"/>
          </p:nvPr>
        </p:nvSpPr>
        <p:spPr>
          <a:xfrm>
            <a:off x="0" y="6356350"/>
            <a:ext cx="2057400" cy="365125"/>
          </a:xfrm>
          <a:prstGeom prst="rect">
            <a:avLst/>
          </a:prstGeom>
        </p:spPr>
        <p:txBody>
          <a:bodyPr/>
          <a:lstStyle/>
          <a:p>
            <a:r>
              <a:rPr lang="en-US"/>
              <a:t>11/2/2015</a:t>
            </a:r>
          </a:p>
        </p:txBody>
      </p:sp>
      <p:sp>
        <p:nvSpPr>
          <p:cNvPr id="4" name="Footer Placeholder 3"/>
          <p:cNvSpPr>
            <a:spLocks noGrp="1"/>
          </p:cNvSpPr>
          <p:nvPr>
            <p:ph type="ftr" sz="quarter" idx="11"/>
          </p:nvPr>
        </p:nvSpPr>
        <p:spPr/>
        <p:txBody>
          <a:bodyPr/>
          <a:lstStyle/>
          <a:p>
            <a:r>
              <a:rPr lang="en-US"/>
              <a:t>Hsu group meeting</a:t>
            </a:r>
          </a:p>
        </p:txBody>
      </p:sp>
      <p:sp>
        <p:nvSpPr>
          <p:cNvPr id="41986" name="Slide Number Placeholder 5"/>
          <p:cNvSpPr>
            <a:spLocks noGrp="1"/>
          </p:cNvSpPr>
          <p:nvPr>
            <p:ph type="sldNum" sz="quarter" idx="12"/>
          </p:nvPr>
        </p:nvSpPr>
        <p:spPr>
          <a:xfrm>
            <a:off x="6553200" y="6245225"/>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E8D6E06C-B7A9-455F-A402-AC6DDF00DA58}" type="slidenum">
              <a:rPr lang="en-US" altLang="en-US" smtClean="0">
                <a:solidFill>
                  <a:srgbClr val="000000"/>
                </a:solidFill>
                <a:latin typeface="Calibri" panose="020F0502020204030204" pitchFamily="34" charset="0"/>
              </a:rPr>
              <a:pPr eaLnBrk="1" hangingPunct="1"/>
              <a:t>33</a:t>
            </a:fld>
            <a:endParaRPr lang="en-US" altLang="en-US">
              <a:solidFill>
                <a:srgbClr val="000000"/>
              </a:solidFill>
              <a:latin typeface="Calibri" panose="020F0502020204030204" pitchFamily="34" charset="0"/>
            </a:endParaRPr>
          </a:p>
        </p:txBody>
      </p:sp>
      <p:pic>
        <p:nvPicPr>
          <p:cNvPr id="419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609600"/>
            <a:ext cx="5852886" cy="577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991" name="Text Box 7"/>
          <p:cNvSpPr txBox="1">
            <a:spLocks noChangeArrowheads="1"/>
          </p:cNvSpPr>
          <p:nvPr/>
        </p:nvSpPr>
        <p:spPr bwMode="auto">
          <a:xfrm>
            <a:off x="4191000" y="6248400"/>
            <a:ext cx="423186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dirty="0">
                <a:solidFill>
                  <a:srgbClr val="000000"/>
                </a:solidFill>
                <a:latin typeface="Calibri" panose="020F0502020204030204" pitchFamily="34" charset="0"/>
              </a:rPr>
              <a:t>R. </a:t>
            </a:r>
            <a:r>
              <a:rPr lang="en-US" altLang="en-US" sz="1600" dirty="0" err="1">
                <a:solidFill>
                  <a:srgbClr val="000000"/>
                </a:solidFill>
                <a:latin typeface="Calibri" panose="020F0502020204030204" pitchFamily="34" charset="0"/>
              </a:rPr>
              <a:t>Aebersold</a:t>
            </a:r>
            <a:r>
              <a:rPr lang="en-US" altLang="en-US" sz="1600" dirty="0">
                <a:solidFill>
                  <a:srgbClr val="000000"/>
                </a:solidFill>
                <a:latin typeface="Calibri" panose="020F0502020204030204" pitchFamily="34" charset="0"/>
              </a:rPr>
              <a:t>, </a:t>
            </a:r>
            <a:r>
              <a:rPr lang="en-US" altLang="en-US" sz="1600" i="1" dirty="0">
                <a:solidFill>
                  <a:srgbClr val="000000"/>
                </a:solidFill>
                <a:latin typeface="Calibri" panose="020F0502020204030204" pitchFamily="34" charset="0"/>
              </a:rPr>
              <a:t>Nature Methods</a:t>
            </a:r>
            <a:r>
              <a:rPr lang="en-US" altLang="en-US" sz="1600" dirty="0">
                <a:solidFill>
                  <a:srgbClr val="000000"/>
                </a:solidFill>
                <a:latin typeface="Calibri" panose="020F0502020204030204" pitchFamily="34" charset="0"/>
              </a:rPr>
              <a:t> 4(10) 787 (2007). </a:t>
            </a:r>
          </a:p>
        </p:txBody>
      </p:sp>
      <p:sp>
        <p:nvSpPr>
          <p:cNvPr id="2" name="TextBox 1"/>
          <p:cNvSpPr txBox="1"/>
          <p:nvPr/>
        </p:nvSpPr>
        <p:spPr>
          <a:xfrm>
            <a:off x="715001" y="1264502"/>
            <a:ext cx="1843453" cy="830997"/>
          </a:xfrm>
          <a:prstGeom prst="rect">
            <a:avLst/>
          </a:prstGeom>
          <a:noFill/>
        </p:spPr>
        <p:txBody>
          <a:bodyPr wrap="none" rtlCol="0">
            <a:spAutoFit/>
          </a:bodyPr>
          <a:lstStyle/>
          <a:p>
            <a:pPr algn="ctr" fontAlgn="base">
              <a:spcBef>
                <a:spcPct val="0"/>
              </a:spcBef>
              <a:spcAft>
                <a:spcPct val="0"/>
              </a:spcAft>
            </a:pPr>
            <a:r>
              <a:rPr lang="en-US" sz="2400" dirty="0">
                <a:solidFill>
                  <a:srgbClr val="000000"/>
                </a:solidFill>
                <a:latin typeface="Calibri" panose="020F0502020204030204" pitchFamily="34" charset="0"/>
              </a:rPr>
              <a:t>Peptide</a:t>
            </a:r>
          </a:p>
          <a:p>
            <a:pPr algn="ctr" fontAlgn="base">
              <a:spcBef>
                <a:spcPct val="0"/>
              </a:spcBef>
              <a:spcAft>
                <a:spcPct val="0"/>
              </a:spcAft>
            </a:pPr>
            <a:r>
              <a:rPr lang="en-US" sz="2400" dirty="0">
                <a:solidFill>
                  <a:srgbClr val="000000"/>
                </a:solidFill>
                <a:latin typeface="Calibri" panose="020F0502020204030204" pitchFamily="34" charset="0"/>
              </a:rPr>
              <a:t>Identification</a:t>
            </a:r>
          </a:p>
        </p:txBody>
      </p:sp>
      <p:sp>
        <p:nvSpPr>
          <p:cNvPr id="9" name="Rectangle 8"/>
          <p:cNvSpPr/>
          <p:nvPr/>
        </p:nvSpPr>
        <p:spPr>
          <a:xfrm>
            <a:off x="76200" y="2711622"/>
            <a:ext cx="3686576" cy="2862322"/>
          </a:xfrm>
          <a:prstGeom prst="rect">
            <a:avLst/>
          </a:prstGeom>
          <a:ln>
            <a:solidFill>
              <a:schemeClr val="tx1"/>
            </a:solidFill>
          </a:ln>
        </p:spPr>
        <p:txBody>
          <a:bodyPr wrap="square">
            <a:spAutoFit/>
          </a:bodyPr>
          <a:lstStyle/>
          <a:p>
            <a:pPr algn="ctr" fontAlgn="base">
              <a:spcBef>
                <a:spcPct val="0"/>
              </a:spcBef>
              <a:spcAft>
                <a:spcPct val="0"/>
              </a:spcAft>
            </a:pPr>
            <a:r>
              <a:rPr lang="en-US" u="sng" dirty="0">
                <a:solidFill>
                  <a:srgbClr val="000000"/>
                </a:solidFill>
                <a:latin typeface="Calibri" panose="020F0502020204030204" pitchFamily="34" charset="0"/>
              </a:rPr>
              <a:t>Effect of Mass Accuracy/Tolerance </a:t>
            </a:r>
          </a:p>
          <a:p>
            <a:pPr algn="ctr" fontAlgn="base">
              <a:spcBef>
                <a:spcPct val="0"/>
              </a:spcBef>
              <a:spcAft>
                <a:spcPct val="0"/>
              </a:spcAft>
            </a:pPr>
            <a:r>
              <a:rPr lang="en-US" u="sng" dirty="0">
                <a:solidFill>
                  <a:srgbClr val="000000"/>
                </a:solidFill>
                <a:latin typeface="Calibri" panose="020F0502020204030204" pitchFamily="34" charset="0"/>
              </a:rPr>
              <a:t>on Database (</a:t>
            </a:r>
            <a:r>
              <a:rPr lang="en-US" u="sng" dirty="0" err="1">
                <a:solidFill>
                  <a:srgbClr val="000000"/>
                </a:solidFill>
                <a:latin typeface="Calibri" panose="020F0502020204030204" pitchFamily="34" charset="0"/>
              </a:rPr>
              <a:t>Db</a:t>
            </a:r>
            <a:r>
              <a:rPr lang="en-US" u="sng" dirty="0">
                <a:solidFill>
                  <a:srgbClr val="000000"/>
                </a:solidFill>
                <a:latin typeface="Calibri" panose="020F0502020204030204" pitchFamily="34" charset="0"/>
              </a:rPr>
              <a:t>) Search Result</a:t>
            </a:r>
          </a:p>
          <a:p>
            <a:pPr fontAlgn="base">
              <a:spcBef>
                <a:spcPct val="0"/>
              </a:spcBef>
              <a:spcAft>
                <a:spcPct val="0"/>
              </a:spcAft>
            </a:pPr>
            <a:endParaRPr lang="en-US" dirty="0">
              <a:solidFill>
                <a:srgbClr val="000000"/>
              </a:solidFill>
              <a:latin typeface="Calibri" panose="020F0502020204030204" pitchFamily="34" charset="0"/>
            </a:endParaRPr>
          </a:p>
          <a:p>
            <a:pPr fontAlgn="base">
              <a:spcBef>
                <a:spcPct val="0"/>
              </a:spcBef>
              <a:spcAft>
                <a:spcPct val="0"/>
              </a:spcAft>
            </a:pPr>
            <a:r>
              <a:rPr lang="en-US" dirty="0">
                <a:solidFill>
                  <a:srgbClr val="000000"/>
                </a:solidFill>
                <a:latin typeface="Calibri" panose="020F0502020204030204" pitchFamily="34" charset="0"/>
              </a:rPr>
              <a:t>Search	       Mass		No. </a:t>
            </a:r>
            <a:r>
              <a:rPr lang="en-US" dirty="0" err="1">
                <a:solidFill>
                  <a:srgbClr val="000000"/>
                </a:solidFill>
                <a:latin typeface="Calibri" panose="020F0502020204030204" pitchFamily="34" charset="0"/>
              </a:rPr>
              <a:t>Db</a:t>
            </a:r>
            <a:endParaRPr lang="en-US" dirty="0">
              <a:solidFill>
                <a:srgbClr val="000000"/>
              </a:solidFill>
              <a:latin typeface="Calibri" panose="020F0502020204030204" pitchFamily="34" charset="0"/>
            </a:endParaRPr>
          </a:p>
          <a:p>
            <a:pPr fontAlgn="base">
              <a:spcBef>
                <a:spcPct val="0"/>
              </a:spcBef>
              <a:spcAft>
                <a:spcPct val="0"/>
              </a:spcAft>
            </a:pPr>
            <a:r>
              <a:rPr lang="en-US" dirty="0">
                <a:solidFill>
                  <a:srgbClr val="000000"/>
                </a:solidFill>
                <a:latin typeface="Calibri" panose="020F0502020204030204" pitchFamily="34" charset="0"/>
              </a:rPr>
              <a:t>  </a:t>
            </a:r>
            <a:r>
              <a:rPr lang="en-US" u="sng" dirty="0">
                <a:solidFill>
                  <a:srgbClr val="000000"/>
                </a:solidFill>
                <a:latin typeface="Calibri" panose="020F0502020204030204" pitchFamily="34" charset="0"/>
              </a:rPr>
              <a:t>m/z</a:t>
            </a:r>
            <a:r>
              <a:rPr lang="en-US" dirty="0">
                <a:solidFill>
                  <a:srgbClr val="000000"/>
                </a:solidFill>
                <a:latin typeface="Calibri" panose="020F0502020204030204" pitchFamily="34" charset="0"/>
              </a:rPr>
              <a:t>	  </a:t>
            </a:r>
            <a:r>
              <a:rPr lang="en-US" u="sng" dirty="0">
                <a:solidFill>
                  <a:srgbClr val="000000"/>
                </a:solidFill>
                <a:latin typeface="Calibri" panose="020F0502020204030204" pitchFamily="34" charset="0"/>
              </a:rPr>
              <a:t>Tolerance(Da)</a:t>
            </a:r>
            <a:r>
              <a:rPr lang="en-US" dirty="0">
                <a:solidFill>
                  <a:srgbClr val="000000"/>
                </a:solidFill>
                <a:latin typeface="Calibri" panose="020F0502020204030204" pitchFamily="34" charset="0"/>
              </a:rPr>
              <a:t>       </a:t>
            </a:r>
            <a:r>
              <a:rPr lang="en-US" u="sng" dirty="0">
                <a:solidFill>
                  <a:srgbClr val="000000"/>
                </a:solidFill>
                <a:latin typeface="Calibri" panose="020F0502020204030204" pitchFamily="34" charset="0"/>
              </a:rPr>
              <a:t>Matches</a:t>
            </a:r>
          </a:p>
          <a:p>
            <a:pPr fontAlgn="base">
              <a:spcBef>
                <a:spcPct val="0"/>
              </a:spcBef>
              <a:spcAft>
                <a:spcPct val="0"/>
              </a:spcAft>
            </a:pPr>
            <a:r>
              <a:rPr lang="en-US" dirty="0">
                <a:solidFill>
                  <a:srgbClr val="000000"/>
                </a:solidFill>
                <a:latin typeface="Calibri" panose="020F0502020204030204" pitchFamily="34" charset="0"/>
              </a:rPr>
              <a:t>1529	           1		  478</a:t>
            </a:r>
          </a:p>
          <a:p>
            <a:pPr fontAlgn="base">
              <a:spcBef>
                <a:spcPct val="0"/>
              </a:spcBef>
              <a:spcAft>
                <a:spcPct val="0"/>
              </a:spcAft>
            </a:pPr>
            <a:r>
              <a:rPr lang="en-US" dirty="0">
                <a:solidFill>
                  <a:srgbClr val="000000"/>
                </a:solidFill>
                <a:latin typeface="Calibri" panose="020F0502020204030204" pitchFamily="34" charset="0"/>
              </a:rPr>
              <a:t>1529.7               0.1		  164</a:t>
            </a:r>
          </a:p>
          <a:p>
            <a:pPr fontAlgn="base">
              <a:spcBef>
                <a:spcPct val="0"/>
              </a:spcBef>
              <a:spcAft>
                <a:spcPct val="0"/>
              </a:spcAft>
            </a:pPr>
            <a:r>
              <a:rPr lang="en-US" dirty="0">
                <a:solidFill>
                  <a:srgbClr val="000000"/>
                </a:solidFill>
                <a:latin typeface="Calibri" panose="020F0502020204030204" pitchFamily="34" charset="0"/>
              </a:rPr>
              <a:t>1529.73	         0.01		   25</a:t>
            </a:r>
          </a:p>
          <a:p>
            <a:pPr fontAlgn="base">
              <a:spcBef>
                <a:spcPct val="0"/>
              </a:spcBef>
              <a:spcAft>
                <a:spcPct val="0"/>
              </a:spcAft>
            </a:pPr>
            <a:r>
              <a:rPr lang="en-US" dirty="0">
                <a:solidFill>
                  <a:srgbClr val="000000"/>
                </a:solidFill>
                <a:latin typeface="Calibri" panose="020F0502020204030204" pitchFamily="34" charset="0"/>
              </a:rPr>
              <a:t>1529.734	        0.001	    4</a:t>
            </a:r>
          </a:p>
          <a:p>
            <a:pPr fontAlgn="base">
              <a:spcBef>
                <a:spcPct val="0"/>
              </a:spcBef>
              <a:spcAft>
                <a:spcPct val="0"/>
              </a:spcAft>
            </a:pPr>
            <a:r>
              <a:rPr lang="en-US" dirty="0">
                <a:solidFill>
                  <a:srgbClr val="000000"/>
                </a:solidFill>
                <a:latin typeface="Calibri" panose="020F0502020204030204" pitchFamily="34" charset="0"/>
              </a:rPr>
              <a:t>1529.7348      0.0001	    2</a:t>
            </a:r>
          </a:p>
        </p:txBody>
      </p:sp>
      <p:sp>
        <p:nvSpPr>
          <p:cNvPr id="10" name="Text Box 7"/>
          <p:cNvSpPr txBox="1">
            <a:spLocks noChangeArrowheads="1"/>
          </p:cNvSpPr>
          <p:nvPr/>
        </p:nvSpPr>
        <p:spPr bwMode="auto">
          <a:xfrm>
            <a:off x="432353" y="5731850"/>
            <a:ext cx="312502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fontAlgn="base" hangingPunct="1">
              <a:spcBef>
                <a:spcPct val="0"/>
              </a:spcBef>
              <a:spcAft>
                <a:spcPct val="0"/>
              </a:spcAft>
            </a:pPr>
            <a:r>
              <a:rPr lang="en-US" altLang="en-US" sz="1600" dirty="0">
                <a:solidFill>
                  <a:srgbClr val="000000"/>
                </a:solidFill>
                <a:latin typeface="Calibri" panose="020F0502020204030204" pitchFamily="34" charset="0"/>
              </a:rPr>
              <a:t>N.E. Sherman, Intro. to MS Course, </a:t>
            </a:r>
          </a:p>
          <a:p>
            <a:pPr algn="ctr" eaLnBrk="1" fontAlgn="base" hangingPunct="1">
              <a:spcBef>
                <a:spcPct val="0"/>
              </a:spcBef>
              <a:spcAft>
                <a:spcPct val="0"/>
              </a:spcAft>
            </a:pPr>
            <a:r>
              <a:rPr lang="en-US" altLang="en-US" sz="1600" dirty="0" err="1">
                <a:solidFill>
                  <a:srgbClr val="000000"/>
                </a:solidFill>
                <a:latin typeface="Calibri" panose="020F0502020204030204" pitchFamily="34" charset="0"/>
              </a:rPr>
              <a:t>UVa</a:t>
            </a:r>
            <a:r>
              <a:rPr lang="en-US" altLang="en-US" sz="1600" dirty="0">
                <a:solidFill>
                  <a:srgbClr val="000000"/>
                </a:solidFill>
                <a:latin typeface="Calibri" panose="020F0502020204030204" pitchFamily="34" charset="0"/>
              </a:rPr>
              <a:t> W.M. Keck Lab, 2010.</a:t>
            </a:r>
          </a:p>
        </p:txBody>
      </p:sp>
    </p:spTree>
    <p:extLst>
      <p:ext uri="{BB962C8B-B14F-4D97-AF65-F5344CB8AC3E}">
        <p14:creationId xmlns:p14="http://schemas.microsoft.com/office/powerpoint/2010/main" val="178585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bwMode="auto">
          <a:xfrm>
            <a:off x="1518105" y="198695"/>
            <a:ext cx="6107790" cy="5152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Quantitative Proteomics</a:t>
            </a:r>
          </a:p>
        </p:txBody>
      </p:sp>
      <p:sp>
        <p:nvSpPr>
          <p:cNvPr id="43012" name="Rectangle 3"/>
          <p:cNvSpPr>
            <a:spLocks noGrp="1" noChangeArrowheads="1"/>
          </p:cNvSpPr>
          <p:nvPr>
            <p:ph idx="1"/>
          </p:nvPr>
        </p:nvSpPr>
        <p:spPr>
          <a:xfrm>
            <a:off x="25400" y="1219200"/>
            <a:ext cx="2971800" cy="4906963"/>
          </a:xfrm>
        </p:spPr>
        <p:txBody>
          <a:bodyPr/>
          <a:lstStyle/>
          <a:p>
            <a:pPr>
              <a:lnSpc>
                <a:spcPct val="80000"/>
              </a:lnSpc>
            </a:pPr>
            <a:r>
              <a:rPr lang="en-US" altLang="en-US" sz="2400" dirty="0"/>
              <a:t>Label</a:t>
            </a:r>
          </a:p>
          <a:p>
            <a:pPr lvl="1">
              <a:lnSpc>
                <a:spcPct val="80000"/>
              </a:lnSpc>
            </a:pPr>
            <a:r>
              <a:rPr lang="en-US" altLang="en-US" sz="2400" dirty="0"/>
              <a:t>SILAC (MS)</a:t>
            </a:r>
          </a:p>
          <a:p>
            <a:pPr lvl="1">
              <a:lnSpc>
                <a:spcPct val="80000"/>
              </a:lnSpc>
            </a:pPr>
            <a:r>
              <a:rPr lang="en-US" altLang="en-US" sz="2400" dirty="0" err="1"/>
              <a:t>iTRAQ</a:t>
            </a:r>
            <a:r>
              <a:rPr lang="en-US" altLang="en-US" sz="2400" dirty="0"/>
              <a:t> (MS/MS) </a:t>
            </a:r>
          </a:p>
          <a:p>
            <a:pPr lvl="1">
              <a:lnSpc>
                <a:spcPct val="80000"/>
              </a:lnSpc>
            </a:pPr>
            <a:r>
              <a:rPr lang="en-US" altLang="en-US" sz="2400" dirty="0"/>
              <a:t>Limited sample number; chemistry</a:t>
            </a:r>
          </a:p>
          <a:p>
            <a:pPr>
              <a:lnSpc>
                <a:spcPct val="80000"/>
              </a:lnSpc>
            </a:pPr>
            <a:r>
              <a:rPr lang="en-US" altLang="en-US" sz="2400" dirty="0"/>
              <a:t>Label-free</a:t>
            </a:r>
          </a:p>
          <a:p>
            <a:pPr lvl="1">
              <a:lnSpc>
                <a:spcPct val="80000"/>
              </a:lnSpc>
            </a:pPr>
            <a:r>
              <a:rPr lang="en-US" altLang="en-US" sz="2400" dirty="0"/>
              <a:t>Spectral count</a:t>
            </a:r>
          </a:p>
          <a:p>
            <a:pPr lvl="1">
              <a:lnSpc>
                <a:spcPct val="80000"/>
              </a:lnSpc>
            </a:pPr>
            <a:r>
              <a:rPr lang="en-US" altLang="en-US" sz="2400" dirty="0"/>
              <a:t>Spectral feature</a:t>
            </a:r>
          </a:p>
          <a:p>
            <a:pPr lvl="1">
              <a:lnSpc>
                <a:spcPct val="80000"/>
              </a:lnSpc>
            </a:pPr>
            <a:r>
              <a:rPr lang="en-US" altLang="en-US" sz="2400" dirty="0"/>
              <a:t>No sample number limit; no chemistry</a:t>
            </a:r>
          </a:p>
          <a:p>
            <a:pPr lvl="1">
              <a:lnSpc>
                <a:spcPct val="80000"/>
              </a:lnSpc>
            </a:pPr>
            <a:r>
              <a:rPr lang="en-US" altLang="en-US" sz="2400" dirty="0"/>
              <a:t>Requires high reproducibility</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43010" name="Slide Number Placeholder 5"/>
          <p:cNvSpPr>
            <a:spLocks noGrp="1"/>
          </p:cNvSpPr>
          <p:nvPr>
            <p:ph type="sldNum" sz="quarter" idx="12"/>
          </p:nvPr>
        </p:nvSpPr>
        <p:spPr>
          <a:xfrm>
            <a:off x="6553200" y="6245225"/>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7690107-BFFC-46C4-8D34-3BD7182D4029}" type="slidenum">
              <a:rPr lang="en-US" altLang="en-US" smtClean="0">
                <a:solidFill>
                  <a:srgbClr val="000000"/>
                </a:solidFill>
              </a:rPr>
              <a:pPr eaLnBrk="1" hangingPunct="1"/>
              <a:t>34</a:t>
            </a:fld>
            <a:endParaRPr lang="en-US" altLang="en-US">
              <a:solidFill>
                <a:srgbClr val="000000"/>
              </a:solidFill>
            </a:endParaRPr>
          </a:p>
        </p:txBody>
      </p:sp>
      <p:pic>
        <p:nvPicPr>
          <p:cNvPr id="4301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4484" y="685800"/>
            <a:ext cx="6057116" cy="566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14" name="Text Box 5"/>
          <p:cNvSpPr txBox="1">
            <a:spLocks noChangeArrowheads="1"/>
          </p:cNvSpPr>
          <p:nvPr/>
        </p:nvSpPr>
        <p:spPr bwMode="auto">
          <a:xfrm>
            <a:off x="4191000" y="6324600"/>
            <a:ext cx="423186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dirty="0">
                <a:solidFill>
                  <a:srgbClr val="000000"/>
                </a:solidFill>
                <a:latin typeface="Calibri" panose="020F0502020204030204" pitchFamily="34" charset="0"/>
              </a:rPr>
              <a:t>R. </a:t>
            </a:r>
            <a:r>
              <a:rPr lang="en-US" altLang="en-US" sz="1600" dirty="0" err="1">
                <a:solidFill>
                  <a:srgbClr val="000000"/>
                </a:solidFill>
                <a:latin typeface="Calibri" panose="020F0502020204030204" pitchFamily="34" charset="0"/>
              </a:rPr>
              <a:t>Aebersold</a:t>
            </a:r>
            <a:r>
              <a:rPr lang="en-US" altLang="en-US" sz="1600" dirty="0">
                <a:solidFill>
                  <a:srgbClr val="000000"/>
                </a:solidFill>
                <a:latin typeface="Calibri" panose="020F0502020204030204" pitchFamily="34" charset="0"/>
              </a:rPr>
              <a:t>, </a:t>
            </a:r>
            <a:r>
              <a:rPr lang="en-US" altLang="en-US" sz="1600" i="1" dirty="0">
                <a:solidFill>
                  <a:srgbClr val="000000"/>
                </a:solidFill>
                <a:latin typeface="Calibri" panose="020F0502020204030204" pitchFamily="34" charset="0"/>
              </a:rPr>
              <a:t>Nature Methods</a:t>
            </a:r>
            <a:r>
              <a:rPr lang="en-US" altLang="en-US" sz="1600" dirty="0">
                <a:solidFill>
                  <a:srgbClr val="000000"/>
                </a:solidFill>
                <a:latin typeface="Calibri" panose="020F0502020204030204" pitchFamily="34" charset="0"/>
              </a:rPr>
              <a:t> 4(10) 787 (2007). </a:t>
            </a:r>
          </a:p>
        </p:txBody>
      </p:sp>
    </p:spTree>
    <p:extLst>
      <p:ext uri="{BB962C8B-B14F-4D97-AF65-F5344CB8AC3E}">
        <p14:creationId xmlns:p14="http://schemas.microsoft.com/office/powerpoint/2010/main" val="530150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bwMode="auto">
          <a:xfrm>
            <a:off x="2057400" y="164538"/>
            <a:ext cx="52341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solidFill>
                  <a:schemeClr val="tx1"/>
                </a:solidFill>
              </a:rPr>
              <a:t>“Top Down” Proteomics</a:t>
            </a:r>
          </a:p>
        </p:txBody>
      </p:sp>
      <p:sp>
        <p:nvSpPr>
          <p:cNvPr id="44036" name="Rectangle 3"/>
          <p:cNvSpPr>
            <a:spLocks noGrp="1" noChangeArrowheads="1"/>
          </p:cNvSpPr>
          <p:nvPr>
            <p:ph idx="1"/>
          </p:nvPr>
        </p:nvSpPr>
        <p:spPr>
          <a:xfrm>
            <a:off x="-29029" y="1083312"/>
            <a:ext cx="3564169" cy="5783579"/>
          </a:xfrm>
        </p:spPr>
        <p:txBody>
          <a:bodyPr/>
          <a:lstStyle/>
          <a:p>
            <a:r>
              <a:rPr lang="en-US" altLang="en-US" sz="2000" dirty="0"/>
              <a:t>Contrast to “Bottom Up”</a:t>
            </a:r>
          </a:p>
          <a:p>
            <a:pPr lvl="1"/>
            <a:r>
              <a:rPr lang="en-US" altLang="en-US" sz="2000" dirty="0"/>
              <a:t>Peptides</a:t>
            </a:r>
          </a:p>
          <a:p>
            <a:r>
              <a:rPr lang="en-US" altLang="en-US" sz="2000" dirty="0"/>
              <a:t>Intact protein analysis</a:t>
            </a:r>
          </a:p>
          <a:p>
            <a:pPr lvl="1"/>
            <a:r>
              <a:rPr lang="en-US" altLang="en-US" sz="2000" dirty="0"/>
              <a:t>LC-ESI-FTMS</a:t>
            </a:r>
          </a:p>
          <a:p>
            <a:pPr lvl="1"/>
            <a:r>
              <a:rPr lang="en-US" altLang="en-US" sz="2000" dirty="0"/>
              <a:t>Electron capture/transfer </a:t>
            </a:r>
          </a:p>
          <a:p>
            <a:pPr marL="457200" lvl="1" indent="0">
              <a:buNone/>
            </a:pPr>
            <a:r>
              <a:rPr lang="en-US" altLang="en-US" sz="2000" dirty="0"/>
              <a:t>	dissociation</a:t>
            </a:r>
          </a:p>
          <a:p>
            <a:pPr lvl="1"/>
            <a:r>
              <a:rPr lang="en-US" altLang="en-US" sz="2000" dirty="0"/>
              <a:t>Data analysis</a:t>
            </a:r>
          </a:p>
          <a:p>
            <a:r>
              <a:rPr lang="en-US" altLang="en-US" sz="2000" dirty="0"/>
              <a:t>Capabilities</a:t>
            </a:r>
          </a:p>
          <a:p>
            <a:pPr lvl="1"/>
            <a:r>
              <a:rPr lang="en-US" altLang="en-US" sz="2000" dirty="0"/>
              <a:t>PTMs, protein variants</a:t>
            </a:r>
          </a:p>
          <a:p>
            <a:pPr lvl="1"/>
            <a:r>
              <a:rPr lang="en-US" altLang="en-US" sz="2000" dirty="0"/>
              <a:t>Intact endogenous </a:t>
            </a:r>
          </a:p>
          <a:p>
            <a:pPr marL="457200" lvl="1" indent="0">
              <a:buNone/>
            </a:pPr>
            <a:r>
              <a:rPr lang="en-US" altLang="en-US" sz="2000" dirty="0"/>
              <a:t>	molecules</a:t>
            </a:r>
          </a:p>
          <a:p>
            <a:r>
              <a:rPr lang="en-US" altLang="en-US" sz="2000" dirty="0"/>
              <a:t>Application</a:t>
            </a:r>
          </a:p>
          <a:p>
            <a:pPr lvl="1"/>
            <a:r>
              <a:rPr lang="en-US" altLang="en-US" sz="2000" dirty="0"/>
              <a:t>Bacteria identification</a:t>
            </a:r>
          </a:p>
          <a:p>
            <a:pPr lvl="1"/>
            <a:r>
              <a:rPr lang="en-US" altLang="en-US" sz="2000" dirty="0"/>
              <a:t>Verify/expand genomic </a:t>
            </a:r>
          </a:p>
          <a:p>
            <a:pPr marL="457200" lvl="1" indent="0">
              <a:buNone/>
            </a:pPr>
            <a:r>
              <a:rPr lang="en-US" altLang="en-US" sz="2000" dirty="0"/>
              <a:t>	analysis</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44034" name="Slide Number Placeholder 5"/>
          <p:cNvSpPr>
            <a:spLocks noGrp="1"/>
          </p:cNvSpPr>
          <p:nvPr>
            <p:ph type="sldNum" sz="quarter" idx="12"/>
          </p:nvPr>
        </p:nvSpPr>
        <p:spPr>
          <a:xfrm>
            <a:off x="6553200" y="6245225"/>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57125092-80E3-4035-AFE7-C7070A816C0C}" type="slidenum">
              <a:rPr lang="en-US" altLang="en-US" smtClean="0">
                <a:solidFill>
                  <a:srgbClr val="000000"/>
                </a:solidFill>
              </a:rPr>
              <a:pPr eaLnBrk="1" hangingPunct="1"/>
              <a:t>35</a:t>
            </a:fld>
            <a:endParaRPr lang="en-US" altLang="en-US">
              <a:solidFill>
                <a:srgbClr val="000000"/>
              </a:solidFill>
            </a:endParaRPr>
          </a:p>
        </p:txBody>
      </p:sp>
      <p:pic>
        <p:nvPicPr>
          <p:cNvPr id="440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838200"/>
            <a:ext cx="5791200" cy="5283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4040" name="Text Box 7"/>
          <p:cNvSpPr txBox="1">
            <a:spLocks noChangeArrowheads="1"/>
          </p:cNvSpPr>
          <p:nvPr/>
        </p:nvSpPr>
        <p:spPr bwMode="auto">
          <a:xfrm>
            <a:off x="3973290" y="6179494"/>
            <a:ext cx="472161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dirty="0">
                <a:solidFill>
                  <a:srgbClr val="000000"/>
                </a:solidFill>
                <a:latin typeface="Calibri" panose="020F0502020204030204" pitchFamily="34" charset="0"/>
              </a:rPr>
              <a:t>N.L. Kelleher, </a:t>
            </a:r>
            <a:r>
              <a:rPr lang="en-US" altLang="en-US" i="1" dirty="0">
                <a:solidFill>
                  <a:srgbClr val="000000"/>
                </a:solidFill>
                <a:latin typeface="Calibri" panose="020F0502020204030204" pitchFamily="34" charset="0"/>
              </a:rPr>
              <a:t>Nature Methods</a:t>
            </a:r>
            <a:r>
              <a:rPr lang="en-US" altLang="en-US" dirty="0">
                <a:solidFill>
                  <a:srgbClr val="000000"/>
                </a:solidFill>
                <a:latin typeface="Calibri" panose="020F0502020204030204" pitchFamily="34" charset="0"/>
              </a:rPr>
              <a:t>, 4(10) 817 (2007).</a:t>
            </a:r>
          </a:p>
        </p:txBody>
      </p:sp>
    </p:spTree>
    <p:extLst>
      <p:ext uri="{BB962C8B-B14F-4D97-AF65-F5344CB8AC3E}">
        <p14:creationId xmlns:p14="http://schemas.microsoft.com/office/powerpoint/2010/main" val="2865847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bwMode="auto">
          <a:xfrm>
            <a:off x="2260600" y="0"/>
            <a:ext cx="4622799"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a:solidFill>
                  <a:schemeClr val="tx1"/>
                </a:solidFill>
              </a:rPr>
              <a:t>Targeted Proteomics</a:t>
            </a:r>
          </a:p>
        </p:txBody>
      </p:sp>
      <p:sp>
        <p:nvSpPr>
          <p:cNvPr id="45060" name="Rectangle 3"/>
          <p:cNvSpPr>
            <a:spLocks noGrp="1" noChangeArrowheads="1"/>
          </p:cNvSpPr>
          <p:nvPr>
            <p:ph idx="1"/>
          </p:nvPr>
        </p:nvSpPr>
        <p:spPr>
          <a:xfrm>
            <a:off x="0" y="2051982"/>
            <a:ext cx="3505200" cy="4044018"/>
          </a:xfrm>
        </p:spPr>
        <p:txBody>
          <a:bodyPr>
            <a:normAutofit fontScale="92500" lnSpcReduction="10000"/>
          </a:bodyPr>
          <a:lstStyle/>
          <a:p>
            <a:r>
              <a:rPr lang="en-US" altLang="en-US" sz="2400" dirty="0"/>
              <a:t>Selected sub-proteome</a:t>
            </a:r>
          </a:p>
          <a:p>
            <a:pPr marL="0" indent="0">
              <a:buNone/>
            </a:pPr>
            <a:r>
              <a:rPr lang="en-US" altLang="en-US" sz="2400" dirty="0"/>
              <a:t>       - Cell compartment</a:t>
            </a:r>
          </a:p>
          <a:p>
            <a:r>
              <a:rPr lang="en-US" altLang="en-US" sz="2400" dirty="0"/>
              <a:t>Protein characteristics</a:t>
            </a:r>
          </a:p>
          <a:p>
            <a:pPr marL="0" indent="0">
              <a:buNone/>
            </a:pPr>
            <a:r>
              <a:rPr lang="en-US" altLang="en-US" sz="2400" dirty="0"/>
              <a:t>       - PTMs: How many?</a:t>
            </a:r>
            <a:endParaRPr lang="en-US" altLang="en-US" sz="2400" i="1" dirty="0"/>
          </a:p>
          <a:p>
            <a:r>
              <a:rPr lang="en-US" altLang="en-US" sz="2400" dirty="0"/>
              <a:t>Protein-protein </a:t>
            </a:r>
          </a:p>
          <a:p>
            <a:pPr marL="0" indent="0">
              <a:buNone/>
            </a:pPr>
            <a:r>
              <a:rPr lang="en-US" altLang="en-US" sz="2400" dirty="0"/>
              <a:t>       interactions</a:t>
            </a:r>
          </a:p>
          <a:p>
            <a:r>
              <a:rPr lang="en-US" altLang="en-US" sz="2400" dirty="0"/>
              <a:t>Activity</a:t>
            </a:r>
          </a:p>
          <a:p>
            <a:pPr marL="0" indent="0">
              <a:buNone/>
            </a:pPr>
            <a:r>
              <a:rPr lang="en-US" altLang="en-US" sz="2400" dirty="0"/>
              <a:t>       - Enzyme, secretion,</a:t>
            </a:r>
          </a:p>
          <a:p>
            <a:pPr marL="0" indent="0">
              <a:buNone/>
            </a:pPr>
            <a:r>
              <a:rPr lang="en-US" altLang="en-US" sz="2400" dirty="0"/>
              <a:t>         receptor</a:t>
            </a:r>
          </a:p>
          <a:p>
            <a:r>
              <a:rPr lang="en-US" altLang="en-US" sz="2400" dirty="0"/>
              <a:t>Best use of MS?</a:t>
            </a:r>
          </a:p>
        </p:txBody>
      </p:sp>
      <p:sp>
        <p:nvSpPr>
          <p:cNvPr id="2" name="Date Placeholder 1"/>
          <p:cNvSpPr>
            <a:spLocks noGrp="1"/>
          </p:cNvSpPr>
          <p:nvPr>
            <p:ph type="dt" sz="half" idx="10"/>
          </p:nvPr>
        </p:nvSpPr>
        <p:spPr>
          <a:xfrm>
            <a:off x="0" y="6356350"/>
            <a:ext cx="2057400" cy="365125"/>
          </a:xfrm>
          <a:prstGeom prst="rect">
            <a:avLst/>
          </a:prstGeom>
        </p:spPr>
        <p:txBody>
          <a:bodyPr/>
          <a:lstStyle/>
          <a:p>
            <a:r>
              <a:rPr lang="en-US"/>
              <a:t>11/2/2015</a:t>
            </a:r>
          </a:p>
        </p:txBody>
      </p:sp>
      <p:sp>
        <p:nvSpPr>
          <p:cNvPr id="3" name="Footer Placeholder 2"/>
          <p:cNvSpPr>
            <a:spLocks noGrp="1"/>
          </p:cNvSpPr>
          <p:nvPr>
            <p:ph type="ftr" sz="quarter" idx="11"/>
          </p:nvPr>
        </p:nvSpPr>
        <p:spPr/>
        <p:txBody>
          <a:bodyPr/>
          <a:lstStyle/>
          <a:p>
            <a:r>
              <a:rPr lang="en-US"/>
              <a:t>Hsu group meeting</a:t>
            </a:r>
          </a:p>
        </p:txBody>
      </p:sp>
      <p:sp>
        <p:nvSpPr>
          <p:cNvPr id="45058" name="Slide Number Placeholder 5"/>
          <p:cNvSpPr>
            <a:spLocks noGrp="1"/>
          </p:cNvSpPr>
          <p:nvPr>
            <p:ph type="sldNum" sz="quarter" idx="12"/>
          </p:nvPr>
        </p:nvSpPr>
        <p:spPr>
          <a:xfrm>
            <a:off x="6553200" y="6245225"/>
            <a:ext cx="2133600" cy="476250"/>
          </a:xfrm>
          <a:noFill/>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fld id="{A593AD50-EC9C-4EB4-A13F-26E6C654ADE4}" type="slidenum">
              <a:rPr lang="en-US" altLang="en-US" smtClean="0">
                <a:solidFill>
                  <a:srgbClr val="000000"/>
                </a:solidFill>
              </a:rPr>
              <a:pPr eaLnBrk="1" hangingPunct="1"/>
              <a:t>36</a:t>
            </a:fld>
            <a:endParaRPr lang="en-US" altLang="en-US">
              <a:solidFill>
                <a:srgbClr val="000000"/>
              </a:solidFill>
            </a:endParaRPr>
          </a:p>
        </p:txBody>
      </p:sp>
      <p:pic>
        <p:nvPicPr>
          <p:cNvPr id="4506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83225" y="533401"/>
            <a:ext cx="5760775" cy="6063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62" name="Text Box 5"/>
          <p:cNvSpPr txBox="1">
            <a:spLocks noChangeArrowheads="1"/>
          </p:cNvSpPr>
          <p:nvPr/>
        </p:nvSpPr>
        <p:spPr bwMode="auto">
          <a:xfrm>
            <a:off x="1217821" y="6173892"/>
            <a:ext cx="3924408" cy="338554"/>
          </a:xfrm>
          <a:prstGeom prst="rect">
            <a:avLst/>
          </a:prstGeom>
          <a:solidFill>
            <a:schemeClr val="bg1"/>
          </a:solidFill>
          <a:ln>
            <a:noFill/>
          </a:ln>
          <a:effectLs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fontAlgn="base" hangingPunct="1">
              <a:spcBef>
                <a:spcPct val="0"/>
              </a:spcBef>
              <a:spcAft>
                <a:spcPct val="0"/>
              </a:spcAft>
            </a:pPr>
            <a:r>
              <a:rPr lang="en-US" altLang="en-US" sz="1600" dirty="0">
                <a:latin typeface="Calibri" panose="020F0502020204030204" pitchFamily="34" charset="0"/>
              </a:rPr>
              <a:t>N.G. </a:t>
            </a:r>
            <a:r>
              <a:rPr lang="en-US" altLang="en-US" sz="1600" dirty="0" err="1">
                <a:latin typeface="Calibri" panose="020F0502020204030204" pitchFamily="34" charset="0"/>
              </a:rPr>
              <a:t>Ahn</a:t>
            </a:r>
            <a:r>
              <a:rPr lang="en-US" altLang="en-US" sz="1600" dirty="0">
                <a:latin typeface="Calibri" panose="020F0502020204030204" pitchFamily="34" charset="0"/>
              </a:rPr>
              <a:t>, </a:t>
            </a:r>
            <a:r>
              <a:rPr lang="en-US" altLang="en-US" sz="1600" i="1" dirty="0">
                <a:latin typeface="Calibri" panose="020F0502020204030204" pitchFamily="34" charset="0"/>
              </a:rPr>
              <a:t>Nature Methods</a:t>
            </a:r>
            <a:r>
              <a:rPr lang="en-US" altLang="en-US" sz="1600" dirty="0">
                <a:latin typeface="Calibri" panose="020F0502020204030204" pitchFamily="34" charset="0"/>
              </a:rPr>
              <a:t>, 4(10) 798 (2007).</a:t>
            </a:r>
          </a:p>
        </p:txBody>
      </p:sp>
    </p:spTree>
    <p:extLst>
      <p:ext uri="{BB962C8B-B14F-4D97-AF65-F5344CB8AC3E}">
        <p14:creationId xmlns:p14="http://schemas.microsoft.com/office/powerpoint/2010/main" val="36397650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6206"/>
            <a:ext cx="8229600" cy="533400"/>
          </a:xfrm>
        </p:spPr>
        <p:txBody>
          <a:bodyPr>
            <a:normAutofit/>
          </a:bodyPr>
          <a:lstStyle/>
          <a:p>
            <a:r>
              <a:rPr lang="en-US" dirty="0"/>
              <a:t>References</a:t>
            </a:r>
          </a:p>
        </p:txBody>
      </p:sp>
      <p:sp>
        <p:nvSpPr>
          <p:cNvPr id="3" name="Content Placeholder 2"/>
          <p:cNvSpPr>
            <a:spLocks noGrp="1"/>
          </p:cNvSpPr>
          <p:nvPr>
            <p:ph idx="1"/>
          </p:nvPr>
        </p:nvSpPr>
        <p:spPr>
          <a:xfrm>
            <a:off x="381000" y="1143000"/>
            <a:ext cx="8229600" cy="5334000"/>
          </a:xfrm>
        </p:spPr>
        <p:txBody>
          <a:bodyPr>
            <a:normAutofit fontScale="92500" lnSpcReduction="10000"/>
          </a:bodyPr>
          <a:lstStyle/>
          <a:p>
            <a:pPr marL="0" indent="0">
              <a:buNone/>
            </a:pPr>
            <a:r>
              <a:rPr lang="en-US" sz="2000" dirty="0"/>
              <a:t>Mass spectrometry basics</a:t>
            </a:r>
          </a:p>
          <a:p>
            <a:r>
              <a:rPr lang="en-US" sz="1600" dirty="0"/>
              <a:t>The basics of mass spectrometry in the twenty-first century, G.L. </a:t>
            </a:r>
            <a:r>
              <a:rPr lang="en-US" sz="1600" dirty="0" err="1"/>
              <a:t>Glish</a:t>
            </a:r>
            <a:r>
              <a:rPr lang="en-US" sz="1600" dirty="0"/>
              <a:t> and R. W. </a:t>
            </a:r>
            <a:r>
              <a:rPr lang="en-US" sz="1600" dirty="0" err="1"/>
              <a:t>Vachet</a:t>
            </a:r>
            <a:r>
              <a:rPr lang="en-US" sz="1600" dirty="0"/>
              <a:t>, Nature Reviews Drug Discovery 2, 140-150 (February 2003), doi:10.1038/nrd1011.</a:t>
            </a:r>
          </a:p>
          <a:p>
            <a:r>
              <a:rPr lang="en-US" sz="1600" dirty="0">
                <a:hlinkClick r:id="rId2"/>
              </a:rPr>
              <a:t>http://science.howstuffworks.com/mass-spectrometry1.htm</a:t>
            </a:r>
            <a:endParaRPr lang="en-US" sz="1600" dirty="0"/>
          </a:p>
          <a:p>
            <a:r>
              <a:rPr lang="en-US" sz="1600" dirty="0"/>
              <a:t>American Society for Mass Spectrometry: </a:t>
            </a:r>
            <a:r>
              <a:rPr lang="en-US" sz="1600" dirty="0">
                <a:hlinkClick r:id="rId3"/>
              </a:rPr>
              <a:t>http://www.asms.org/about/about-mass-spectrometry</a:t>
            </a:r>
            <a:endParaRPr lang="en-US" sz="1600" dirty="0"/>
          </a:p>
          <a:p>
            <a:endParaRPr lang="en-US" sz="1600" dirty="0"/>
          </a:p>
          <a:p>
            <a:pPr marL="0" indent="0">
              <a:buNone/>
            </a:pPr>
            <a:r>
              <a:rPr lang="en-US" sz="2000" dirty="0"/>
              <a:t>Mass spectrometry history</a:t>
            </a:r>
          </a:p>
          <a:p>
            <a:r>
              <a:rPr lang="en-US" sz="1600" dirty="0">
                <a:hlinkClick r:id="rId4"/>
              </a:rPr>
              <a:t>http://masspec.scripps.edu/mshistory/mshistory.php</a:t>
            </a:r>
            <a:endParaRPr lang="en-US" sz="1600" dirty="0"/>
          </a:p>
          <a:p>
            <a:r>
              <a:rPr lang="en-US" sz="1600" dirty="0"/>
              <a:t>A brief history of mass spectrometry, J. Griffiths, Anal. Chem., 2008, 80, 5678–5683</a:t>
            </a:r>
          </a:p>
          <a:p>
            <a:r>
              <a:rPr lang="en-US" sz="1600" dirty="0"/>
              <a:t>A century of mass spectrometry: from atoms to proteomes, J.R. Yates III, Nature Methods    8, 633–637, (2011) doi:10.1038/nmeth.1659.</a:t>
            </a:r>
          </a:p>
          <a:p>
            <a:r>
              <a:rPr lang="en-US" sz="1600" dirty="0"/>
              <a:t>Nature Milestones, Mass Spectrometry, www.nature.com/milestones/mass-spec </a:t>
            </a:r>
          </a:p>
          <a:p>
            <a:endParaRPr lang="en-US" sz="1600" dirty="0"/>
          </a:p>
          <a:p>
            <a:pPr marL="0" indent="0">
              <a:buNone/>
            </a:pPr>
            <a:r>
              <a:rPr lang="en-US" sz="2000" dirty="0"/>
              <a:t>Proteomics history and introduction</a:t>
            </a:r>
          </a:p>
          <a:p>
            <a:r>
              <a:rPr lang="en-US" sz="1600" dirty="0"/>
              <a:t>Proteomics: the first decade and beyond, S.D. Patterson, R.H. </a:t>
            </a:r>
            <a:r>
              <a:rPr lang="en-US" sz="1600" dirty="0" err="1"/>
              <a:t>Aebersold</a:t>
            </a:r>
            <a:r>
              <a:rPr lang="en-US" sz="1600" dirty="0"/>
              <a:t>, Nat Genet. 2003 Mar;33 Suppl:311-23.</a:t>
            </a:r>
          </a:p>
          <a:p>
            <a:r>
              <a:rPr lang="en-US" sz="1600" dirty="0">
                <a:hlinkClick r:id="rId5"/>
              </a:rPr>
              <a:t>http://en.wikibooks.org/wiki/Proteomics/Introduction_to_Proteomics</a:t>
            </a:r>
            <a:endParaRPr lang="en-US" sz="1600" dirty="0"/>
          </a:p>
          <a:p>
            <a:endParaRPr lang="en-US" sz="1600" dirty="0"/>
          </a:p>
          <a:p>
            <a:pPr marL="0" indent="0">
              <a:buNone/>
            </a:pPr>
            <a:endParaRPr lang="en-US" sz="1600" dirty="0"/>
          </a:p>
          <a:p>
            <a:endParaRPr lang="en-US" sz="1600" dirty="0"/>
          </a:p>
        </p:txBody>
      </p:sp>
      <p:sp>
        <p:nvSpPr>
          <p:cNvPr id="4" name="Slide Number Placeholder 3"/>
          <p:cNvSpPr>
            <a:spLocks noGrp="1"/>
          </p:cNvSpPr>
          <p:nvPr>
            <p:ph type="sldNum" sz="quarter" idx="12"/>
          </p:nvPr>
        </p:nvSpPr>
        <p:spPr/>
        <p:txBody>
          <a:bodyPr/>
          <a:lstStyle/>
          <a:p>
            <a:pPr>
              <a:defRPr/>
            </a:pPr>
            <a:fld id="{01D328C1-7B20-4E01-9630-CCC817AFFEC5}" type="slidenum">
              <a:rPr lang="en-US" smtClean="0">
                <a:solidFill>
                  <a:srgbClr val="000000"/>
                </a:solidFill>
              </a:rPr>
              <a:pPr>
                <a:defRPr/>
              </a:pPr>
              <a:t>37</a:t>
            </a:fld>
            <a:endParaRPr lang="en-US" dirty="0">
              <a:solidFill>
                <a:srgbClr val="000000"/>
              </a:solidFill>
            </a:endParaRPr>
          </a:p>
        </p:txBody>
      </p:sp>
      <p:sp>
        <p:nvSpPr>
          <p:cNvPr id="5" name="Date Placeholder 4"/>
          <p:cNvSpPr>
            <a:spLocks noGrp="1"/>
          </p:cNvSpPr>
          <p:nvPr>
            <p:ph type="dt" sz="half" idx="10"/>
          </p:nvPr>
        </p:nvSpPr>
        <p:spPr/>
        <p:txBody>
          <a:bodyPr/>
          <a:lstStyle/>
          <a:p>
            <a:r>
              <a:rPr lang="en-US"/>
              <a:t>11/2/2015</a:t>
            </a:r>
          </a:p>
        </p:txBody>
      </p:sp>
      <p:sp>
        <p:nvSpPr>
          <p:cNvPr id="6" name="Footer Placeholder 5"/>
          <p:cNvSpPr>
            <a:spLocks noGrp="1"/>
          </p:cNvSpPr>
          <p:nvPr>
            <p:ph type="ftr" sz="quarter" idx="11"/>
          </p:nvPr>
        </p:nvSpPr>
        <p:spPr/>
        <p:txBody>
          <a:bodyPr/>
          <a:lstStyle/>
          <a:p>
            <a:r>
              <a:rPr lang="en-US"/>
              <a:t>Hsu group meeting</a:t>
            </a:r>
          </a:p>
        </p:txBody>
      </p:sp>
    </p:spTree>
    <p:extLst>
      <p:ext uri="{BB962C8B-B14F-4D97-AF65-F5344CB8AC3E}">
        <p14:creationId xmlns:p14="http://schemas.microsoft.com/office/powerpoint/2010/main" val="34248887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8665"/>
            <a:ext cx="8229600" cy="533400"/>
          </a:xfrm>
        </p:spPr>
        <p:txBody>
          <a:bodyPr>
            <a:normAutofit/>
          </a:bodyPr>
          <a:lstStyle/>
          <a:p>
            <a:r>
              <a:rPr lang="en-US" dirty="0"/>
              <a:t>References</a:t>
            </a:r>
          </a:p>
        </p:txBody>
      </p:sp>
      <p:sp>
        <p:nvSpPr>
          <p:cNvPr id="3" name="Content Placeholder 2"/>
          <p:cNvSpPr>
            <a:spLocks noGrp="1"/>
          </p:cNvSpPr>
          <p:nvPr>
            <p:ph idx="1"/>
          </p:nvPr>
        </p:nvSpPr>
        <p:spPr>
          <a:xfrm>
            <a:off x="457200" y="1371600"/>
            <a:ext cx="8229600" cy="4800600"/>
          </a:xfrm>
        </p:spPr>
        <p:txBody>
          <a:bodyPr>
            <a:normAutofit/>
          </a:bodyPr>
          <a:lstStyle/>
          <a:p>
            <a:pPr marL="0" indent="0">
              <a:buNone/>
            </a:pPr>
            <a:r>
              <a:rPr lang="en-US" sz="2000" dirty="0"/>
              <a:t>Mass spectrometry proteomics</a:t>
            </a:r>
          </a:p>
          <a:p>
            <a:pPr marL="0" indent="0">
              <a:buNone/>
            </a:pPr>
            <a:endParaRPr lang="en-US" sz="2000" dirty="0"/>
          </a:p>
          <a:p>
            <a:r>
              <a:rPr lang="en-US" sz="1600" dirty="0"/>
              <a:t>Applying mass spectrometry-based proteomics to genetics, genomics and network biology, M. </a:t>
            </a:r>
            <a:r>
              <a:rPr lang="en-US" sz="1600" dirty="0" err="1"/>
              <a:t>Gstaiger</a:t>
            </a:r>
            <a:r>
              <a:rPr lang="en-US" sz="1600" dirty="0"/>
              <a:t> and R. </a:t>
            </a:r>
            <a:r>
              <a:rPr lang="en-US" sz="1600" dirty="0" err="1"/>
              <a:t>Aebersold</a:t>
            </a:r>
            <a:r>
              <a:rPr lang="en-US" sz="1600" dirty="0"/>
              <a:t>, Nature Reviews Genetics 10, 617-627 (September 2009) | doi:10.1038/nrg2633.</a:t>
            </a:r>
          </a:p>
          <a:p>
            <a:r>
              <a:rPr lang="en-US" sz="1600" dirty="0"/>
              <a:t>Proteomics by mass spectrometry: approaches, advances, and applications, J.R. Yates, C.I. Ruse, A. </a:t>
            </a:r>
            <a:r>
              <a:rPr lang="en-US" sz="1600" dirty="0" err="1"/>
              <a:t>Nakorchevsky</a:t>
            </a:r>
            <a:r>
              <a:rPr lang="en-US" sz="1600" dirty="0"/>
              <a:t>, </a:t>
            </a:r>
            <a:r>
              <a:rPr lang="en-US" sz="1600" dirty="0" err="1"/>
              <a:t>Annu</a:t>
            </a:r>
            <a:r>
              <a:rPr lang="en-US" sz="1600" dirty="0"/>
              <a:t> Rev Biomed Eng. 2009;11:49-79. </a:t>
            </a:r>
            <a:r>
              <a:rPr lang="en-US" sz="1600" dirty="0" err="1"/>
              <a:t>doi</a:t>
            </a:r>
            <a:r>
              <a:rPr lang="en-US" sz="1600" dirty="0"/>
              <a:t>: 10.1146/annurev-bioeng-061008-124934.</a:t>
            </a:r>
          </a:p>
          <a:p>
            <a:r>
              <a:rPr lang="en-US" sz="1600" dirty="0"/>
              <a:t>Mass Spectrometry–Based Proteomics and Network Biology Annual Review of Biochemistry, Vol. 81: 379-405 (Volume publication date July 2012), A. </a:t>
            </a:r>
            <a:r>
              <a:rPr lang="en-US" sz="1600" dirty="0" err="1"/>
              <a:t>Bensimon</a:t>
            </a:r>
            <a:r>
              <a:rPr lang="en-US" sz="1600" dirty="0"/>
              <a:t>, A.J.R. Heck, and R.  </a:t>
            </a:r>
            <a:r>
              <a:rPr lang="en-US" sz="1600" dirty="0" err="1"/>
              <a:t>Aebersold</a:t>
            </a:r>
            <a:r>
              <a:rPr lang="en-US" sz="1600" dirty="0"/>
              <a:t>, DOI: 10.1146/annurev-biochem-072909-100424.</a:t>
            </a:r>
          </a:p>
          <a:p>
            <a:r>
              <a:rPr lang="en-US" sz="1600" dirty="0"/>
              <a:t>Tutorial Review: Mass spectrometry-based proteomics: existing capabilities and future directions, T.E. Angel, U.K. </a:t>
            </a:r>
            <a:r>
              <a:rPr lang="en-US" sz="1600" dirty="0" err="1"/>
              <a:t>Aryal</a:t>
            </a:r>
            <a:r>
              <a:rPr lang="en-US" sz="1600" dirty="0"/>
              <a:t>, S.M. </a:t>
            </a:r>
            <a:r>
              <a:rPr lang="en-US" sz="1600" dirty="0" err="1"/>
              <a:t>Hengel</a:t>
            </a:r>
            <a:r>
              <a:rPr lang="en-US" sz="1600" dirty="0"/>
              <a:t>, E.S. Baker, R.T. Kelly, E.W. Robinson and  R.D. Smith, Chem. Soc. Rev., 2012,41, 3912-3928.</a:t>
            </a:r>
          </a:p>
          <a:p>
            <a:r>
              <a:rPr lang="en-US" sz="1600" dirty="0"/>
              <a:t>Quantitative mass spectrometry in proteomics: critical review update from 2007 to the present, </a:t>
            </a:r>
            <a:r>
              <a:rPr lang="en-US" sz="1600" dirty="0" err="1"/>
              <a:t>Bantscheff</a:t>
            </a:r>
            <a:r>
              <a:rPr lang="en-US" sz="1600" dirty="0"/>
              <a:t> M, </a:t>
            </a:r>
            <a:r>
              <a:rPr lang="en-US" sz="1600" dirty="0" err="1"/>
              <a:t>Lemeer</a:t>
            </a:r>
            <a:r>
              <a:rPr lang="en-US" sz="1600" dirty="0"/>
              <a:t> S, </a:t>
            </a:r>
            <a:r>
              <a:rPr lang="en-US" sz="1600" dirty="0" err="1"/>
              <a:t>Savitski</a:t>
            </a:r>
            <a:r>
              <a:rPr lang="en-US" sz="1600" dirty="0"/>
              <a:t> MM, </a:t>
            </a:r>
            <a:r>
              <a:rPr lang="en-US" sz="1600" dirty="0" err="1"/>
              <a:t>Kuster</a:t>
            </a:r>
            <a:r>
              <a:rPr lang="en-US" sz="1600" dirty="0"/>
              <a:t> B., Anal </a:t>
            </a:r>
            <a:r>
              <a:rPr lang="en-US" sz="1600" dirty="0" err="1"/>
              <a:t>Bioanal</a:t>
            </a:r>
            <a:r>
              <a:rPr lang="en-US" sz="1600" dirty="0"/>
              <a:t> Chem. 2012 Sep;404(4):939-65. </a:t>
            </a:r>
            <a:r>
              <a:rPr lang="en-US" sz="1600" dirty="0" err="1"/>
              <a:t>doi</a:t>
            </a:r>
            <a:r>
              <a:rPr lang="en-US" sz="1600" dirty="0"/>
              <a:t>: 10.1007/s00216-012-6203-4.</a:t>
            </a:r>
          </a:p>
          <a:p>
            <a:endParaRPr lang="en-US" sz="1600" dirty="0"/>
          </a:p>
          <a:p>
            <a:endParaRPr lang="en-US" sz="1600" dirty="0"/>
          </a:p>
          <a:p>
            <a:endParaRPr lang="en-US" sz="1600" dirty="0"/>
          </a:p>
        </p:txBody>
      </p:sp>
      <p:sp>
        <p:nvSpPr>
          <p:cNvPr id="4" name="Slide Number Placeholder 3"/>
          <p:cNvSpPr>
            <a:spLocks noGrp="1"/>
          </p:cNvSpPr>
          <p:nvPr>
            <p:ph type="sldNum" sz="quarter" idx="12"/>
          </p:nvPr>
        </p:nvSpPr>
        <p:spPr/>
        <p:txBody>
          <a:bodyPr/>
          <a:lstStyle/>
          <a:p>
            <a:pPr>
              <a:defRPr/>
            </a:pPr>
            <a:fld id="{01D328C1-7B20-4E01-9630-CCC817AFFEC5}" type="slidenum">
              <a:rPr lang="en-US" smtClean="0">
                <a:solidFill>
                  <a:srgbClr val="000000"/>
                </a:solidFill>
              </a:rPr>
              <a:pPr>
                <a:defRPr/>
              </a:pPr>
              <a:t>38</a:t>
            </a:fld>
            <a:endParaRPr lang="en-US" dirty="0">
              <a:solidFill>
                <a:srgbClr val="000000"/>
              </a:solidFill>
            </a:endParaRPr>
          </a:p>
        </p:txBody>
      </p:sp>
      <p:sp>
        <p:nvSpPr>
          <p:cNvPr id="5" name="Date Placeholder 4"/>
          <p:cNvSpPr>
            <a:spLocks noGrp="1"/>
          </p:cNvSpPr>
          <p:nvPr>
            <p:ph type="dt" sz="half" idx="10"/>
          </p:nvPr>
        </p:nvSpPr>
        <p:spPr/>
        <p:txBody>
          <a:bodyPr/>
          <a:lstStyle/>
          <a:p>
            <a:r>
              <a:rPr lang="en-US"/>
              <a:t>11/2/2015</a:t>
            </a:r>
          </a:p>
        </p:txBody>
      </p:sp>
      <p:sp>
        <p:nvSpPr>
          <p:cNvPr id="6" name="Footer Placeholder 5"/>
          <p:cNvSpPr>
            <a:spLocks noGrp="1"/>
          </p:cNvSpPr>
          <p:nvPr>
            <p:ph type="ftr" sz="quarter" idx="11"/>
          </p:nvPr>
        </p:nvSpPr>
        <p:spPr/>
        <p:txBody>
          <a:bodyPr/>
          <a:lstStyle/>
          <a:p>
            <a:r>
              <a:rPr lang="en-US"/>
              <a:t>Hsu group meeting</a:t>
            </a:r>
          </a:p>
        </p:txBody>
      </p:sp>
    </p:spTree>
    <p:extLst>
      <p:ext uri="{BB962C8B-B14F-4D97-AF65-F5344CB8AC3E}">
        <p14:creationId xmlns:p14="http://schemas.microsoft.com/office/powerpoint/2010/main" val="1395575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3200"/>
            <a:ext cx="7886700" cy="685800"/>
          </a:xfrm>
        </p:spPr>
        <p:txBody>
          <a:bodyPr>
            <a:normAutofit/>
          </a:bodyPr>
          <a:lstStyle/>
          <a:p>
            <a:r>
              <a:rPr lang="en-US" dirty="0"/>
              <a:t>Hsu Lab Proteomics</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39</a:t>
            </a:fld>
            <a:endParaRPr lang="en-US" dirty="0"/>
          </a:p>
        </p:txBody>
      </p:sp>
    </p:spTree>
    <p:extLst>
      <p:ext uri="{BB962C8B-B14F-4D97-AF65-F5344CB8AC3E}">
        <p14:creationId xmlns:p14="http://schemas.microsoft.com/office/powerpoint/2010/main" val="2920127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917" y="4119"/>
            <a:ext cx="7886700" cy="685800"/>
          </a:xfrm>
        </p:spPr>
        <p:txBody>
          <a:bodyPr>
            <a:normAutofit/>
          </a:bodyPr>
          <a:lstStyle/>
          <a:p>
            <a:r>
              <a:rPr lang="en-US" dirty="0"/>
              <a:t>Hsu Lab Proteomics</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40</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2263776"/>
            <a:ext cx="2505382" cy="260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24089"/>
            <a:ext cx="1733550" cy="2647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566373" y="2341828"/>
            <a:ext cx="1618713" cy="2031325"/>
          </a:xfrm>
          <a:prstGeom prst="rect">
            <a:avLst/>
          </a:prstGeom>
          <a:noFill/>
        </p:spPr>
        <p:txBody>
          <a:bodyPr wrap="none" rtlCol="0">
            <a:spAutoFit/>
          </a:bodyPr>
          <a:lstStyle/>
          <a:p>
            <a:pPr algn="ctr"/>
            <a:r>
              <a:rPr lang="en-US" b="1" dirty="0"/>
              <a:t>HPLC</a:t>
            </a:r>
          </a:p>
          <a:p>
            <a:pPr algn="ctr"/>
            <a:endParaRPr lang="en-US" dirty="0"/>
          </a:p>
          <a:p>
            <a:pPr algn="ctr"/>
            <a:r>
              <a:rPr lang="en-US" dirty="0"/>
              <a:t>1. Pumps</a:t>
            </a:r>
          </a:p>
          <a:p>
            <a:pPr algn="ctr"/>
            <a:endParaRPr lang="en-US" dirty="0"/>
          </a:p>
          <a:p>
            <a:pPr algn="ctr"/>
            <a:r>
              <a:rPr lang="en-US" dirty="0"/>
              <a:t>2. Columns</a:t>
            </a:r>
          </a:p>
          <a:p>
            <a:pPr algn="ctr"/>
            <a:endParaRPr lang="en-US" dirty="0"/>
          </a:p>
          <a:p>
            <a:pPr algn="ctr"/>
            <a:r>
              <a:rPr lang="en-US" dirty="0"/>
              <a:t>3. </a:t>
            </a:r>
            <a:r>
              <a:rPr lang="en-US" dirty="0" err="1"/>
              <a:t>Autosampler</a:t>
            </a:r>
            <a:endParaRPr lang="en-US" dirty="0"/>
          </a:p>
        </p:txBody>
      </p:sp>
      <p:sp>
        <p:nvSpPr>
          <p:cNvPr id="12" name="TextBox 11"/>
          <p:cNvSpPr txBox="1"/>
          <p:nvPr/>
        </p:nvSpPr>
        <p:spPr>
          <a:xfrm>
            <a:off x="7323606" y="2341828"/>
            <a:ext cx="1535997" cy="2585323"/>
          </a:xfrm>
          <a:prstGeom prst="rect">
            <a:avLst/>
          </a:prstGeom>
          <a:noFill/>
        </p:spPr>
        <p:txBody>
          <a:bodyPr wrap="none" rtlCol="0">
            <a:spAutoFit/>
          </a:bodyPr>
          <a:lstStyle/>
          <a:p>
            <a:pPr algn="ctr"/>
            <a:r>
              <a:rPr lang="en-US" b="1" dirty="0"/>
              <a:t>MS</a:t>
            </a:r>
          </a:p>
          <a:p>
            <a:pPr algn="ctr"/>
            <a:endParaRPr lang="en-US" dirty="0"/>
          </a:p>
          <a:p>
            <a:pPr algn="ctr"/>
            <a:r>
              <a:rPr lang="en-US" dirty="0"/>
              <a:t>1. ESI source</a:t>
            </a:r>
          </a:p>
          <a:p>
            <a:pPr algn="ctr"/>
            <a:endParaRPr lang="en-US" dirty="0"/>
          </a:p>
          <a:p>
            <a:pPr algn="ctr"/>
            <a:r>
              <a:rPr lang="en-US" dirty="0"/>
              <a:t>2. Quadrupole</a:t>
            </a:r>
          </a:p>
          <a:p>
            <a:pPr algn="ctr"/>
            <a:r>
              <a:rPr lang="en-US" dirty="0"/>
              <a:t>mass filters</a:t>
            </a:r>
          </a:p>
          <a:p>
            <a:pPr algn="ctr"/>
            <a:endParaRPr lang="en-US" dirty="0"/>
          </a:p>
          <a:p>
            <a:pPr algn="ctr"/>
            <a:r>
              <a:rPr lang="en-US" dirty="0"/>
              <a:t>3. </a:t>
            </a:r>
            <a:r>
              <a:rPr lang="en-US" dirty="0" err="1"/>
              <a:t>Orbitrap</a:t>
            </a:r>
            <a:endParaRPr lang="en-US" dirty="0"/>
          </a:p>
          <a:p>
            <a:pPr algn="ctr"/>
            <a:r>
              <a:rPr lang="en-US" dirty="0"/>
              <a:t>analyzer</a:t>
            </a:r>
          </a:p>
        </p:txBody>
      </p:sp>
      <p:sp>
        <p:nvSpPr>
          <p:cNvPr id="13" name="TextBox 12"/>
          <p:cNvSpPr txBox="1"/>
          <p:nvPr/>
        </p:nvSpPr>
        <p:spPr>
          <a:xfrm>
            <a:off x="1033330" y="973819"/>
            <a:ext cx="7123873" cy="677108"/>
          </a:xfrm>
          <a:prstGeom prst="rect">
            <a:avLst/>
          </a:prstGeom>
          <a:noFill/>
        </p:spPr>
        <p:txBody>
          <a:bodyPr wrap="none" rtlCol="0">
            <a:spAutoFit/>
          </a:bodyPr>
          <a:lstStyle/>
          <a:p>
            <a:pPr algn="ctr"/>
            <a:r>
              <a:rPr lang="en-US" sz="2000" dirty="0"/>
              <a:t>Instrumentation: </a:t>
            </a:r>
          </a:p>
          <a:p>
            <a:pPr algn="ctr"/>
            <a:r>
              <a:rPr lang="en-US" dirty="0"/>
              <a:t>High-Performance Liquid Chromatograph (HPLC)/Mass Spectrometer (MS)</a:t>
            </a:r>
          </a:p>
        </p:txBody>
      </p:sp>
      <p:sp>
        <p:nvSpPr>
          <p:cNvPr id="8" name="TextBox 7"/>
          <p:cNvSpPr txBox="1"/>
          <p:nvPr/>
        </p:nvSpPr>
        <p:spPr>
          <a:xfrm>
            <a:off x="4893348" y="4751032"/>
            <a:ext cx="2123402" cy="338554"/>
          </a:xfrm>
          <a:prstGeom prst="rect">
            <a:avLst/>
          </a:prstGeom>
          <a:noFill/>
        </p:spPr>
        <p:txBody>
          <a:bodyPr wrap="none" rtlCol="0">
            <a:spAutoFit/>
          </a:bodyPr>
          <a:lstStyle/>
          <a:p>
            <a:r>
              <a:rPr lang="en-US" sz="1600" dirty="0"/>
              <a:t>Thermo Q Exactive Plus</a:t>
            </a:r>
          </a:p>
        </p:txBody>
      </p:sp>
      <p:sp>
        <p:nvSpPr>
          <p:cNvPr id="15" name="TextBox 14"/>
          <p:cNvSpPr txBox="1"/>
          <p:nvPr/>
        </p:nvSpPr>
        <p:spPr>
          <a:xfrm>
            <a:off x="1646953" y="4757874"/>
            <a:ext cx="2859244" cy="338554"/>
          </a:xfrm>
          <a:prstGeom prst="rect">
            <a:avLst/>
          </a:prstGeom>
          <a:noFill/>
        </p:spPr>
        <p:txBody>
          <a:bodyPr wrap="none" rtlCol="0">
            <a:spAutoFit/>
          </a:bodyPr>
          <a:lstStyle/>
          <a:p>
            <a:r>
              <a:rPr lang="en-US" sz="1600" dirty="0"/>
              <a:t>Dionex Ultimate 3000 </a:t>
            </a:r>
            <a:r>
              <a:rPr lang="en-US" sz="1600" dirty="0" err="1"/>
              <a:t>RSLCnano</a:t>
            </a:r>
            <a:endParaRPr lang="en-US" sz="1600" dirty="0"/>
          </a:p>
        </p:txBody>
      </p:sp>
    </p:spTree>
    <p:extLst>
      <p:ext uri="{BB962C8B-B14F-4D97-AF65-F5344CB8AC3E}">
        <p14:creationId xmlns:p14="http://schemas.microsoft.com/office/powerpoint/2010/main" val="2561296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Hsu Lab Proteomics</a:t>
            </a:r>
          </a:p>
        </p:txBody>
      </p:sp>
      <p:sp>
        <p:nvSpPr>
          <p:cNvPr id="3" name="Content Placeholder 2"/>
          <p:cNvSpPr>
            <a:spLocks noGrp="1"/>
          </p:cNvSpPr>
          <p:nvPr>
            <p:ph idx="1"/>
          </p:nvPr>
        </p:nvSpPr>
        <p:spPr>
          <a:xfrm>
            <a:off x="457200" y="838200"/>
            <a:ext cx="3867150" cy="457200"/>
          </a:xfrm>
        </p:spPr>
        <p:txBody>
          <a:bodyPr>
            <a:normAutofit lnSpcReduction="10000"/>
          </a:bodyPr>
          <a:lstStyle/>
          <a:p>
            <a:r>
              <a:rPr lang="en-US" dirty="0"/>
              <a:t>LC-MS-MS/MS: LC</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41</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871" y="1429930"/>
            <a:ext cx="2805113" cy="449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001" y="2144500"/>
            <a:ext cx="4029264"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5354035" y="5085522"/>
            <a:ext cx="1439818" cy="523220"/>
          </a:xfrm>
          <a:prstGeom prst="rect">
            <a:avLst/>
          </a:prstGeom>
          <a:noFill/>
        </p:spPr>
        <p:txBody>
          <a:bodyPr wrap="none" rtlCol="0">
            <a:spAutoFit/>
          </a:bodyPr>
          <a:lstStyle/>
          <a:p>
            <a:r>
              <a:rPr lang="en-US" sz="1400" dirty="0"/>
              <a:t>1. Sample loaded</a:t>
            </a:r>
          </a:p>
          <a:p>
            <a:r>
              <a:rPr lang="en-US" sz="1400" dirty="0"/>
              <a:t>into the loop</a:t>
            </a:r>
          </a:p>
        </p:txBody>
      </p:sp>
      <p:sp>
        <p:nvSpPr>
          <p:cNvPr id="12" name="TextBox 11"/>
          <p:cNvSpPr txBox="1"/>
          <p:nvPr/>
        </p:nvSpPr>
        <p:spPr>
          <a:xfrm>
            <a:off x="5267057" y="4223674"/>
            <a:ext cx="1448923" cy="523220"/>
          </a:xfrm>
          <a:prstGeom prst="rect">
            <a:avLst/>
          </a:prstGeom>
          <a:noFill/>
        </p:spPr>
        <p:txBody>
          <a:bodyPr wrap="none" rtlCol="0">
            <a:spAutoFit/>
          </a:bodyPr>
          <a:lstStyle/>
          <a:p>
            <a:r>
              <a:rPr lang="en-US" sz="1400" dirty="0"/>
              <a:t>2. Sample loaded</a:t>
            </a:r>
          </a:p>
          <a:p>
            <a:r>
              <a:rPr lang="en-US" sz="1400" dirty="0"/>
              <a:t>onto trap column</a:t>
            </a:r>
          </a:p>
        </p:txBody>
      </p:sp>
      <p:sp>
        <p:nvSpPr>
          <p:cNvPr id="13" name="TextBox 12"/>
          <p:cNvSpPr txBox="1"/>
          <p:nvPr/>
        </p:nvSpPr>
        <p:spPr>
          <a:xfrm>
            <a:off x="6922856" y="3531898"/>
            <a:ext cx="1448923" cy="523220"/>
          </a:xfrm>
          <a:prstGeom prst="rect">
            <a:avLst/>
          </a:prstGeom>
          <a:noFill/>
        </p:spPr>
        <p:txBody>
          <a:bodyPr wrap="none" rtlCol="0">
            <a:spAutoFit/>
          </a:bodyPr>
          <a:lstStyle/>
          <a:p>
            <a:r>
              <a:rPr lang="en-US" sz="1400" dirty="0"/>
              <a:t>3. Sample eluted </a:t>
            </a:r>
          </a:p>
          <a:p>
            <a:r>
              <a:rPr lang="en-US" sz="1400" dirty="0"/>
              <a:t>from trap column</a:t>
            </a:r>
          </a:p>
        </p:txBody>
      </p:sp>
      <p:sp>
        <p:nvSpPr>
          <p:cNvPr id="14" name="TextBox 13"/>
          <p:cNvSpPr txBox="1"/>
          <p:nvPr/>
        </p:nvSpPr>
        <p:spPr>
          <a:xfrm>
            <a:off x="6531476" y="2475267"/>
            <a:ext cx="1447512" cy="738664"/>
          </a:xfrm>
          <a:prstGeom prst="rect">
            <a:avLst/>
          </a:prstGeom>
          <a:noFill/>
        </p:spPr>
        <p:txBody>
          <a:bodyPr wrap="none" rtlCol="0">
            <a:spAutoFit/>
          </a:bodyPr>
          <a:lstStyle/>
          <a:p>
            <a:r>
              <a:rPr lang="en-US" sz="1400" dirty="0"/>
              <a:t>4. Sample eluted </a:t>
            </a:r>
          </a:p>
          <a:p>
            <a:r>
              <a:rPr lang="en-US" sz="1400" dirty="0"/>
              <a:t>from analytical</a:t>
            </a:r>
          </a:p>
          <a:p>
            <a:r>
              <a:rPr lang="en-US" sz="1400" dirty="0"/>
              <a:t>column into MS</a:t>
            </a:r>
          </a:p>
        </p:txBody>
      </p:sp>
      <p:cxnSp>
        <p:nvCxnSpPr>
          <p:cNvPr id="11" name="Straight Connector 10"/>
          <p:cNvCxnSpPr/>
          <p:nvPr/>
        </p:nvCxnSpPr>
        <p:spPr>
          <a:xfrm>
            <a:off x="4963930" y="4485284"/>
            <a:ext cx="0" cy="40241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083676" y="5050986"/>
            <a:ext cx="381000"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411730" y="5040100"/>
            <a:ext cx="381000"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flipV="1">
            <a:off x="6715430" y="4317441"/>
            <a:ext cx="550" cy="40241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flipV="1">
            <a:off x="6715980" y="3642338"/>
            <a:ext cx="550" cy="302341"/>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932919" y="3363700"/>
            <a:ext cx="557822"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6930" y="1393384"/>
            <a:ext cx="2009775" cy="109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TextBox 20"/>
          <p:cNvSpPr txBox="1"/>
          <p:nvPr/>
        </p:nvSpPr>
        <p:spPr>
          <a:xfrm>
            <a:off x="4753231" y="1586321"/>
            <a:ext cx="1543949" cy="923330"/>
          </a:xfrm>
          <a:prstGeom prst="rect">
            <a:avLst/>
          </a:prstGeom>
          <a:noFill/>
        </p:spPr>
        <p:txBody>
          <a:bodyPr wrap="none" rtlCol="0">
            <a:spAutoFit/>
          </a:bodyPr>
          <a:lstStyle/>
          <a:p>
            <a:pPr algn="ctr"/>
            <a:r>
              <a:rPr lang="en-US" dirty="0" err="1"/>
              <a:t>Nanoflow</a:t>
            </a:r>
            <a:endParaRPr lang="en-US" dirty="0"/>
          </a:p>
          <a:p>
            <a:pPr algn="ctr"/>
            <a:r>
              <a:rPr lang="en-US" dirty="0"/>
              <a:t>Pumps</a:t>
            </a:r>
          </a:p>
          <a:p>
            <a:pPr algn="ctr"/>
            <a:r>
              <a:rPr lang="en-US" dirty="0"/>
              <a:t>A:H2O   B:ACN</a:t>
            </a:r>
          </a:p>
        </p:txBody>
      </p:sp>
      <p:sp>
        <p:nvSpPr>
          <p:cNvPr id="31" name="TextBox 30"/>
          <p:cNvSpPr txBox="1"/>
          <p:nvPr/>
        </p:nvSpPr>
        <p:spPr>
          <a:xfrm>
            <a:off x="4638794" y="3353078"/>
            <a:ext cx="920445" cy="646331"/>
          </a:xfrm>
          <a:prstGeom prst="rect">
            <a:avLst/>
          </a:prstGeom>
          <a:noFill/>
        </p:spPr>
        <p:txBody>
          <a:bodyPr wrap="none" rtlCol="0">
            <a:spAutoFit/>
          </a:bodyPr>
          <a:lstStyle/>
          <a:p>
            <a:pPr algn="ctr"/>
            <a:r>
              <a:rPr lang="en-US" dirty="0"/>
              <a:t>Loading</a:t>
            </a:r>
          </a:p>
          <a:p>
            <a:pPr algn="ctr"/>
            <a:r>
              <a:rPr lang="en-US" dirty="0"/>
              <a:t>Pump</a:t>
            </a:r>
          </a:p>
        </p:txBody>
      </p:sp>
    </p:spTree>
    <p:extLst>
      <p:ext uri="{BB962C8B-B14F-4D97-AF65-F5344CB8AC3E}">
        <p14:creationId xmlns:p14="http://schemas.microsoft.com/office/powerpoint/2010/main" val="3228965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Hsu Lab Proteomics</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42</a:t>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701143"/>
            <a:ext cx="4706937" cy="256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5629" y="1143000"/>
            <a:ext cx="4739712"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Content Placeholder 2"/>
          <p:cNvSpPr>
            <a:spLocks noGrp="1"/>
          </p:cNvSpPr>
          <p:nvPr>
            <p:ph idx="1"/>
          </p:nvPr>
        </p:nvSpPr>
        <p:spPr>
          <a:xfrm>
            <a:off x="392054" y="1143000"/>
            <a:ext cx="3867150" cy="457200"/>
          </a:xfrm>
        </p:spPr>
        <p:txBody>
          <a:bodyPr>
            <a:normAutofit lnSpcReduction="10000"/>
          </a:bodyPr>
          <a:lstStyle/>
          <a:p>
            <a:r>
              <a:rPr lang="en-US" dirty="0"/>
              <a:t>LC-MS-MS/MS: MS</a:t>
            </a:r>
          </a:p>
        </p:txBody>
      </p:sp>
      <p:sp>
        <p:nvSpPr>
          <p:cNvPr id="7" name="TextBox 6"/>
          <p:cNvSpPr txBox="1"/>
          <p:nvPr/>
        </p:nvSpPr>
        <p:spPr>
          <a:xfrm>
            <a:off x="6381257" y="5261678"/>
            <a:ext cx="575799" cy="369332"/>
          </a:xfrm>
          <a:prstGeom prst="rect">
            <a:avLst/>
          </a:prstGeom>
          <a:noFill/>
          <a:ln>
            <a:solidFill>
              <a:srgbClr val="FF0000"/>
            </a:solidFill>
          </a:ln>
        </p:spPr>
        <p:txBody>
          <a:bodyPr wrap="none" rtlCol="0">
            <a:spAutoFit/>
          </a:bodyPr>
          <a:lstStyle/>
          <a:p>
            <a:r>
              <a:rPr lang="en-US" dirty="0">
                <a:solidFill>
                  <a:srgbClr val="FF0000"/>
                </a:solidFill>
              </a:rPr>
              <a:t>Ions</a:t>
            </a:r>
          </a:p>
        </p:txBody>
      </p:sp>
      <p:sp>
        <p:nvSpPr>
          <p:cNvPr id="11" name="TextBox 10"/>
          <p:cNvSpPr txBox="1"/>
          <p:nvPr/>
        </p:nvSpPr>
        <p:spPr>
          <a:xfrm>
            <a:off x="5410669" y="5638800"/>
            <a:ext cx="458139" cy="369332"/>
          </a:xfrm>
          <a:prstGeom prst="rect">
            <a:avLst/>
          </a:prstGeom>
          <a:noFill/>
        </p:spPr>
        <p:txBody>
          <a:bodyPr wrap="none" rtlCol="0">
            <a:spAutoFit/>
          </a:bodyPr>
          <a:lstStyle/>
          <a:p>
            <a:r>
              <a:rPr lang="en-US" dirty="0"/>
              <a:t>ESI</a:t>
            </a:r>
          </a:p>
        </p:txBody>
      </p:sp>
      <p:cxnSp>
        <p:nvCxnSpPr>
          <p:cNvPr id="12" name="Straight Arrow Connector 11"/>
          <p:cNvCxnSpPr>
            <a:stCxn id="7" idx="0"/>
          </p:cNvCxnSpPr>
          <p:nvPr/>
        </p:nvCxnSpPr>
        <p:spPr>
          <a:xfrm flipH="1" flipV="1">
            <a:off x="6669156" y="4728278"/>
            <a:ext cx="1" cy="5334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6201642" y="3755571"/>
            <a:ext cx="381002" cy="381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4378419" y="3810000"/>
            <a:ext cx="145584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2971800" y="3810000"/>
            <a:ext cx="575520" cy="0"/>
          </a:xfrm>
          <a:prstGeom prst="straightConnector1">
            <a:avLst/>
          </a:prstGeom>
          <a:ln w="28575">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3886200" y="4787758"/>
            <a:ext cx="1" cy="41444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1609984" y="5123178"/>
            <a:ext cx="1431289" cy="646331"/>
          </a:xfrm>
          <a:prstGeom prst="rect">
            <a:avLst/>
          </a:prstGeom>
          <a:noFill/>
        </p:spPr>
        <p:txBody>
          <a:bodyPr wrap="none" rtlCol="0">
            <a:spAutoFit/>
          </a:bodyPr>
          <a:lstStyle/>
          <a:p>
            <a:pPr algn="ctr"/>
            <a:r>
              <a:rPr lang="en-US" dirty="0"/>
              <a:t>MS, MS/MS</a:t>
            </a:r>
          </a:p>
          <a:p>
            <a:pPr algn="ctr"/>
            <a:r>
              <a:rPr lang="en-US" dirty="0"/>
              <a:t>ion detection</a:t>
            </a:r>
          </a:p>
        </p:txBody>
      </p:sp>
      <p:sp>
        <p:nvSpPr>
          <p:cNvPr id="24" name="TextBox 23"/>
          <p:cNvSpPr txBox="1"/>
          <p:nvPr/>
        </p:nvSpPr>
        <p:spPr>
          <a:xfrm>
            <a:off x="1247943" y="3841368"/>
            <a:ext cx="1525802" cy="646331"/>
          </a:xfrm>
          <a:prstGeom prst="rect">
            <a:avLst/>
          </a:prstGeom>
          <a:noFill/>
        </p:spPr>
        <p:txBody>
          <a:bodyPr wrap="none" rtlCol="0">
            <a:spAutoFit/>
          </a:bodyPr>
          <a:lstStyle/>
          <a:p>
            <a:pPr algn="ctr"/>
            <a:r>
              <a:rPr lang="en-US" dirty="0"/>
              <a:t>MS/MS ion </a:t>
            </a:r>
          </a:p>
          <a:p>
            <a:pPr algn="ctr"/>
            <a:r>
              <a:rPr lang="en-US" dirty="0"/>
              <a:t>fragmentation</a:t>
            </a:r>
          </a:p>
        </p:txBody>
      </p:sp>
      <p:sp>
        <p:nvSpPr>
          <p:cNvPr id="25" name="TextBox 24"/>
          <p:cNvSpPr txBox="1"/>
          <p:nvPr/>
        </p:nvSpPr>
        <p:spPr>
          <a:xfrm>
            <a:off x="4581047" y="4821980"/>
            <a:ext cx="985270" cy="369332"/>
          </a:xfrm>
          <a:prstGeom prst="rect">
            <a:avLst/>
          </a:prstGeom>
          <a:noFill/>
        </p:spPr>
        <p:txBody>
          <a:bodyPr wrap="none" rtlCol="0">
            <a:spAutoFit/>
          </a:bodyPr>
          <a:lstStyle/>
          <a:p>
            <a:r>
              <a:rPr lang="en-US" dirty="0"/>
              <a:t>Ion filter</a:t>
            </a:r>
          </a:p>
        </p:txBody>
      </p:sp>
    </p:spTree>
    <p:extLst>
      <p:ext uri="{BB962C8B-B14F-4D97-AF65-F5344CB8AC3E}">
        <p14:creationId xmlns:p14="http://schemas.microsoft.com/office/powerpoint/2010/main" val="14372182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611718" y="1360714"/>
            <a:ext cx="4361509" cy="4582886"/>
          </a:xfrm>
          <a:prstGeom prst="rect">
            <a:avLst/>
          </a:prstGeom>
        </p:spPr>
      </p:pic>
      <p:sp>
        <p:nvSpPr>
          <p:cNvPr id="3" name="Title 1"/>
          <p:cNvSpPr txBox="1">
            <a:spLocks/>
          </p:cNvSpPr>
          <p:nvPr/>
        </p:nvSpPr>
        <p:spPr>
          <a:xfrm>
            <a:off x="657482" y="4120"/>
            <a:ext cx="7886700" cy="685800"/>
          </a:xfrm>
          <a:prstGeom prst="rect">
            <a:avLst/>
          </a:prstGeom>
        </p:spPr>
        <p:txBody>
          <a:bodyPr>
            <a:normAutofit/>
          </a:bodyPr>
          <a:lstStyle>
            <a:lvl1pPr algn="ctr" defTabSz="914400" rtl="0" eaLnBrk="1" latinLnBrk="0" hangingPunct="1">
              <a:lnSpc>
                <a:spcPct val="90000"/>
              </a:lnSpc>
              <a:spcBef>
                <a:spcPct val="0"/>
              </a:spcBef>
              <a:buNone/>
              <a:defRPr sz="3200" b="1" kern="1200">
                <a:solidFill>
                  <a:schemeClr val="tx1"/>
                </a:solidFill>
                <a:latin typeface="+mn-lt"/>
                <a:ea typeface="+mj-ea"/>
                <a:cs typeface="+mj-cs"/>
              </a:defRPr>
            </a:lvl1pPr>
          </a:lstStyle>
          <a:p>
            <a:r>
              <a:rPr lang="en-US" dirty="0"/>
              <a:t>Hsu Lab Proteomics</a:t>
            </a:r>
          </a:p>
        </p:txBody>
      </p:sp>
      <p:sp>
        <p:nvSpPr>
          <p:cNvPr id="5" name="Content Placeholder 2"/>
          <p:cNvSpPr txBox="1">
            <a:spLocks/>
          </p:cNvSpPr>
          <p:nvPr/>
        </p:nvSpPr>
        <p:spPr>
          <a:xfrm>
            <a:off x="5029200" y="762000"/>
            <a:ext cx="3124200" cy="45720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MS-MS/MS method</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371599"/>
            <a:ext cx="4293307" cy="4582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ontent Placeholder 2"/>
          <p:cNvSpPr txBox="1">
            <a:spLocks/>
          </p:cNvSpPr>
          <p:nvPr/>
        </p:nvSpPr>
        <p:spPr>
          <a:xfrm>
            <a:off x="1346553" y="762000"/>
            <a:ext cx="1905000" cy="457200"/>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LC method</a:t>
            </a:r>
          </a:p>
        </p:txBody>
      </p:sp>
    </p:spTree>
    <p:extLst>
      <p:ext uri="{BB962C8B-B14F-4D97-AF65-F5344CB8AC3E}">
        <p14:creationId xmlns:p14="http://schemas.microsoft.com/office/powerpoint/2010/main" val="39426264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44</a:t>
            </a:fld>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2370" y="1371604"/>
            <a:ext cx="7145338" cy="4621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txBox="1">
            <a:spLocks/>
          </p:cNvSpPr>
          <p:nvPr/>
        </p:nvSpPr>
        <p:spPr>
          <a:xfrm>
            <a:off x="620412" y="125629"/>
            <a:ext cx="7886700" cy="68580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200" b="1" kern="1200">
                <a:solidFill>
                  <a:schemeClr val="tx1"/>
                </a:solidFill>
                <a:latin typeface="+mn-lt"/>
                <a:ea typeface="+mj-ea"/>
                <a:cs typeface="+mj-cs"/>
              </a:defRPr>
            </a:lvl1pPr>
          </a:lstStyle>
          <a:p>
            <a:r>
              <a:rPr lang="en-US" dirty="0"/>
              <a:t>Hsu Lab Proteomics</a:t>
            </a:r>
          </a:p>
        </p:txBody>
      </p:sp>
      <p:sp>
        <p:nvSpPr>
          <p:cNvPr id="9" name="Content Placeholder 2"/>
          <p:cNvSpPr>
            <a:spLocks noGrp="1"/>
          </p:cNvSpPr>
          <p:nvPr>
            <p:ph idx="1"/>
          </p:nvPr>
        </p:nvSpPr>
        <p:spPr>
          <a:xfrm>
            <a:off x="696612" y="762000"/>
            <a:ext cx="3867150" cy="457200"/>
          </a:xfrm>
        </p:spPr>
        <p:txBody>
          <a:bodyPr>
            <a:normAutofit lnSpcReduction="10000"/>
          </a:bodyPr>
          <a:lstStyle/>
          <a:p>
            <a:pPr marL="0" indent="0">
              <a:buNone/>
            </a:pPr>
            <a:r>
              <a:rPr lang="en-US" dirty="0"/>
              <a:t>MS instrument control</a:t>
            </a:r>
          </a:p>
        </p:txBody>
      </p:sp>
    </p:spTree>
    <p:extLst>
      <p:ext uri="{BB962C8B-B14F-4D97-AF65-F5344CB8AC3E}">
        <p14:creationId xmlns:p14="http://schemas.microsoft.com/office/powerpoint/2010/main" val="3644610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Hsu Lab Proteomics</a:t>
            </a:r>
          </a:p>
        </p:txBody>
      </p:sp>
      <p:sp>
        <p:nvSpPr>
          <p:cNvPr id="3" name="Content Placeholder 2"/>
          <p:cNvSpPr>
            <a:spLocks noGrp="1"/>
          </p:cNvSpPr>
          <p:nvPr>
            <p:ph idx="1"/>
          </p:nvPr>
        </p:nvSpPr>
        <p:spPr>
          <a:xfrm>
            <a:off x="628650" y="1219200"/>
            <a:ext cx="7886700" cy="4267200"/>
          </a:xfrm>
        </p:spPr>
        <p:txBody>
          <a:bodyPr>
            <a:normAutofit/>
          </a:bodyPr>
          <a:lstStyle/>
          <a:p>
            <a:r>
              <a:rPr lang="en-US" dirty="0"/>
              <a:t>LC-MS-MS/MS method performance assessment</a:t>
            </a:r>
          </a:p>
          <a:p>
            <a:pPr lvl="1"/>
            <a:r>
              <a:rPr lang="en-US" dirty="0"/>
              <a:t>Standards</a:t>
            </a:r>
          </a:p>
          <a:p>
            <a:pPr lvl="2"/>
            <a:r>
              <a:rPr lang="en-US" dirty="0"/>
              <a:t>2-peptide mixture (“AV”)</a:t>
            </a:r>
          </a:p>
          <a:p>
            <a:pPr lvl="3"/>
            <a:r>
              <a:rPr lang="en-US" dirty="0"/>
              <a:t>Angiotensin I (A) and vasoactive intestinal (V) peptides</a:t>
            </a:r>
          </a:p>
          <a:p>
            <a:pPr lvl="2"/>
            <a:r>
              <a:rPr lang="en-US" dirty="0"/>
              <a:t>15-peptide mixture (“PRTC”)</a:t>
            </a:r>
          </a:p>
          <a:p>
            <a:pPr lvl="3"/>
            <a:r>
              <a:rPr lang="en-US" dirty="0"/>
              <a:t>Peptide retention time calibration mixture (Thermo)</a:t>
            </a:r>
          </a:p>
          <a:p>
            <a:pPr lvl="3"/>
            <a:r>
              <a:rPr lang="en-US" dirty="0"/>
              <a:t>Synthetic isotopically-labeled peptides</a:t>
            </a:r>
          </a:p>
          <a:p>
            <a:pPr lvl="1"/>
            <a:r>
              <a:rPr lang="en-US" dirty="0"/>
              <a:t>LC and MS data evaluation</a:t>
            </a:r>
          </a:p>
          <a:p>
            <a:pPr lvl="2"/>
            <a:r>
              <a:rPr lang="en-US" dirty="0"/>
              <a:t>LC retention times and peak shapes</a:t>
            </a:r>
          </a:p>
          <a:p>
            <a:pPr lvl="2"/>
            <a:r>
              <a:rPr lang="en-US" dirty="0"/>
              <a:t>MS masses and abundances</a:t>
            </a:r>
          </a:p>
          <a:p>
            <a:pPr lvl="3"/>
            <a:r>
              <a:rPr lang="en-US" dirty="0"/>
              <a:t>Mass measurement error &lt;5ppm</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45</a:t>
            </a:fld>
            <a:endParaRPr lang="en-US" dirty="0"/>
          </a:p>
        </p:txBody>
      </p:sp>
    </p:spTree>
    <p:extLst>
      <p:ext uri="{BB962C8B-B14F-4D97-AF65-F5344CB8AC3E}">
        <p14:creationId xmlns:p14="http://schemas.microsoft.com/office/powerpoint/2010/main" val="1805525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586359"/>
            <a:ext cx="6269038" cy="6275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txBox="1">
            <a:spLocks/>
          </p:cNvSpPr>
          <p:nvPr/>
        </p:nvSpPr>
        <p:spPr>
          <a:xfrm>
            <a:off x="628650" y="0"/>
            <a:ext cx="7886700" cy="457200"/>
          </a:xfrm>
          <a:prstGeom prst="rect">
            <a:avLst/>
          </a:prstGeom>
        </p:spPr>
        <p:txBody>
          <a:bodyPr>
            <a:normAutofit lnSpcReduction="10000"/>
          </a:bodyPr>
          <a:lstStyle>
            <a:lvl1pPr algn="ctr" defTabSz="914400" rtl="0" eaLnBrk="1" latinLnBrk="0" hangingPunct="1">
              <a:lnSpc>
                <a:spcPct val="90000"/>
              </a:lnSpc>
              <a:spcBef>
                <a:spcPct val="0"/>
              </a:spcBef>
              <a:buNone/>
              <a:defRPr sz="3200" b="1" kern="1200">
                <a:solidFill>
                  <a:schemeClr val="tx1"/>
                </a:solidFill>
                <a:latin typeface="+mn-lt"/>
                <a:ea typeface="+mj-ea"/>
                <a:cs typeface="+mj-cs"/>
              </a:defRPr>
            </a:lvl1pPr>
          </a:lstStyle>
          <a:p>
            <a:r>
              <a:rPr lang="en-US" sz="2800"/>
              <a:t>Hsu Lab Proteomics</a:t>
            </a:r>
            <a:endParaRPr lang="en-US" sz="2800" dirty="0"/>
          </a:p>
        </p:txBody>
      </p:sp>
      <p:sp>
        <p:nvSpPr>
          <p:cNvPr id="2" name="TextBox 1"/>
          <p:cNvSpPr txBox="1"/>
          <p:nvPr/>
        </p:nvSpPr>
        <p:spPr>
          <a:xfrm>
            <a:off x="125304" y="865257"/>
            <a:ext cx="1422569" cy="1200329"/>
          </a:xfrm>
          <a:prstGeom prst="rect">
            <a:avLst/>
          </a:prstGeom>
          <a:noFill/>
        </p:spPr>
        <p:txBody>
          <a:bodyPr wrap="none" rtlCol="0">
            <a:spAutoFit/>
          </a:bodyPr>
          <a:lstStyle/>
          <a:p>
            <a:pPr algn="ctr"/>
            <a:r>
              <a:rPr lang="en-US" sz="2400" b="1" dirty="0"/>
              <a:t>“AV”</a:t>
            </a:r>
          </a:p>
          <a:p>
            <a:pPr algn="ctr"/>
            <a:r>
              <a:rPr lang="en-US" sz="2400" b="1" dirty="0"/>
              <a:t>2-peptide</a:t>
            </a:r>
          </a:p>
          <a:p>
            <a:pPr algn="ctr"/>
            <a:r>
              <a:rPr lang="en-US" sz="2400" b="1" dirty="0"/>
              <a:t>mixture</a:t>
            </a:r>
          </a:p>
        </p:txBody>
      </p:sp>
      <p:sp>
        <p:nvSpPr>
          <p:cNvPr id="5" name="TextBox 4"/>
          <p:cNvSpPr txBox="1"/>
          <p:nvPr/>
        </p:nvSpPr>
        <p:spPr>
          <a:xfrm>
            <a:off x="2393205" y="3113983"/>
            <a:ext cx="1436995" cy="646331"/>
          </a:xfrm>
          <a:prstGeom prst="rect">
            <a:avLst/>
          </a:prstGeom>
          <a:noFill/>
        </p:spPr>
        <p:txBody>
          <a:bodyPr wrap="none" rtlCol="0">
            <a:spAutoFit/>
          </a:bodyPr>
          <a:lstStyle/>
          <a:p>
            <a:pPr algn="ctr"/>
            <a:r>
              <a:rPr lang="en-US" b="1" dirty="0"/>
              <a:t>Angiotensin I</a:t>
            </a:r>
          </a:p>
          <a:p>
            <a:pPr algn="ctr"/>
            <a:r>
              <a:rPr lang="en-US" b="1" dirty="0"/>
              <a:t>[M+3H]</a:t>
            </a:r>
            <a:r>
              <a:rPr lang="en-US" b="1" baseline="30000" dirty="0"/>
              <a:t>+3</a:t>
            </a:r>
          </a:p>
        </p:txBody>
      </p:sp>
      <p:sp>
        <p:nvSpPr>
          <p:cNvPr id="6" name="TextBox 5"/>
          <p:cNvSpPr txBox="1"/>
          <p:nvPr/>
        </p:nvSpPr>
        <p:spPr>
          <a:xfrm>
            <a:off x="3224775" y="5040088"/>
            <a:ext cx="1167307" cy="707886"/>
          </a:xfrm>
          <a:prstGeom prst="rect">
            <a:avLst/>
          </a:prstGeom>
          <a:noFill/>
        </p:spPr>
        <p:txBody>
          <a:bodyPr wrap="none" rtlCol="0">
            <a:spAutoFit/>
          </a:bodyPr>
          <a:lstStyle/>
          <a:p>
            <a:pPr algn="ctr"/>
            <a:r>
              <a:rPr lang="en-US" sz="2000" b="1" dirty="0"/>
              <a:t>MS/MS</a:t>
            </a:r>
          </a:p>
          <a:p>
            <a:pPr algn="ctr"/>
            <a:r>
              <a:rPr lang="en-US" sz="2000" b="1" dirty="0"/>
              <a:t>[M+2H]</a:t>
            </a:r>
            <a:r>
              <a:rPr lang="en-US" sz="2000" b="1" baseline="30000" dirty="0"/>
              <a:t>+2</a:t>
            </a:r>
          </a:p>
        </p:txBody>
      </p:sp>
      <p:sp>
        <p:nvSpPr>
          <p:cNvPr id="3" name="Rectangle 2"/>
          <p:cNvSpPr/>
          <p:nvPr/>
        </p:nvSpPr>
        <p:spPr>
          <a:xfrm>
            <a:off x="2288963" y="3223260"/>
            <a:ext cx="164939" cy="11734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2453902" y="3810000"/>
            <a:ext cx="1584698"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4572000" y="1905000"/>
            <a:ext cx="164939" cy="4524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H="1">
            <a:off x="4381500" y="2357427"/>
            <a:ext cx="190500" cy="46197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913738" y="1928426"/>
            <a:ext cx="309700" cy="338554"/>
          </a:xfrm>
          <a:prstGeom prst="rect">
            <a:avLst/>
          </a:prstGeom>
          <a:solidFill>
            <a:schemeClr val="bg1"/>
          </a:solidFill>
        </p:spPr>
        <p:txBody>
          <a:bodyPr wrap="none" rtlCol="0">
            <a:spAutoFit/>
          </a:bodyPr>
          <a:lstStyle/>
          <a:p>
            <a:r>
              <a:rPr lang="en-US" sz="1600" b="1" dirty="0">
                <a:solidFill>
                  <a:srgbClr val="FF0000"/>
                </a:solidFill>
              </a:rPr>
              <a:t>A</a:t>
            </a:r>
          </a:p>
        </p:txBody>
      </p:sp>
      <p:sp>
        <p:nvSpPr>
          <p:cNvPr id="12" name="TextBox 11"/>
          <p:cNvSpPr txBox="1"/>
          <p:nvPr/>
        </p:nvSpPr>
        <p:spPr>
          <a:xfrm>
            <a:off x="3879742" y="1538774"/>
            <a:ext cx="306494" cy="338554"/>
          </a:xfrm>
          <a:prstGeom prst="rect">
            <a:avLst/>
          </a:prstGeom>
          <a:solidFill>
            <a:schemeClr val="bg1"/>
          </a:solidFill>
        </p:spPr>
        <p:txBody>
          <a:bodyPr wrap="none" rtlCol="0">
            <a:spAutoFit/>
          </a:bodyPr>
          <a:lstStyle/>
          <a:p>
            <a:r>
              <a:rPr lang="en-US" sz="1600" b="1" dirty="0"/>
              <a:t>V</a:t>
            </a:r>
          </a:p>
        </p:txBody>
      </p:sp>
      <p:sp>
        <p:nvSpPr>
          <p:cNvPr id="13" name="TextBox 12"/>
          <p:cNvSpPr txBox="1"/>
          <p:nvPr/>
        </p:nvSpPr>
        <p:spPr>
          <a:xfrm>
            <a:off x="2295044" y="762000"/>
            <a:ext cx="444352" cy="338554"/>
          </a:xfrm>
          <a:prstGeom prst="rect">
            <a:avLst/>
          </a:prstGeom>
          <a:solidFill>
            <a:schemeClr val="bg1"/>
          </a:solidFill>
        </p:spPr>
        <p:txBody>
          <a:bodyPr wrap="none" rtlCol="0">
            <a:spAutoFit/>
          </a:bodyPr>
          <a:lstStyle/>
          <a:p>
            <a:r>
              <a:rPr lang="en-US" sz="1600" dirty="0"/>
              <a:t>TIC</a:t>
            </a:r>
          </a:p>
        </p:txBody>
      </p:sp>
      <p:sp>
        <p:nvSpPr>
          <p:cNvPr id="14" name="TextBox 13"/>
          <p:cNvSpPr txBox="1"/>
          <p:nvPr/>
        </p:nvSpPr>
        <p:spPr>
          <a:xfrm>
            <a:off x="2286000" y="1154668"/>
            <a:ext cx="511679" cy="338554"/>
          </a:xfrm>
          <a:prstGeom prst="rect">
            <a:avLst/>
          </a:prstGeom>
          <a:solidFill>
            <a:schemeClr val="bg1"/>
          </a:solidFill>
        </p:spPr>
        <p:txBody>
          <a:bodyPr wrap="none" rtlCol="0">
            <a:spAutoFit/>
          </a:bodyPr>
          <a:lstStyle/>
          <a:p>
            <a:r>
              <a:rPr lang="en-US" sz="1600" dirty="0"/>
              <a:t>BPC</a:t>
            </a:r>
          </a:p>
        </p:txBody>
      </p:sp>
      <p:sp>
        <p:nvSpPr>
          <p:cNvPr id="9" name="TextBox 8"/>
          <p:cNvSpPr txBox="1"/>
          <p:nvPr/>
        </p:nvSpPr>
        <p:spPr>
          <a:xfrm>
            <a:off x="5068588" y="3188751"/>
            <a:ext cx="1321196" cy="307777"/>
          </a:xfrm>
          <a:prstGeom prst="rect">
            <a:avLst/>
          </a:prstGeom>
          <a:noFill/>
        </p:spPr>
        <p:txBody>
          <a:bodyPr wrap="none" rtlCol="0">
            <a:spAutoFit/>
          </a:bodyPr>
          <a:lstStyle/>
          <a:p>
            <a:r>
              <a:rPr lang="en-US" sz="1400" dirty="0">
                <a:latin typeface="Symbol" panose="05050102010706020507" pitchFamily="18" charset="2"/>
              </a:rPr>
              <a:t>D</a:t>
            </a:r>
            <a:r>
              <a:rPr lang="en-US" sz="1400" dirty="0"/>
              <a:t>M/M=3.7ppm</a:t>
            </a:r>
          </a:p>
        </p:txBody>
      </p:sp>
    </p:spTree>
    <p:extLst>
      <p:ext uri="{BB962C8B-B14F-4D97-AF65-F5344CB8AC3E}">
        <p14:creationId xmlns:p14="http://schemas.microsoft.com/office/powerpoint/2010/main" val="13450347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31572" y="557651"/>
            <a:ext cx="4712153" cy="6290804"/>
          </a:xfrm>
          <a:prstGeom prst="rect">
            <a:avLst/>
          </a:prstGeom>
        </p:spPr>
      </p:pic>
      <p:sp>
        <p:nvSpPr>
          <p:cNvPr id="3" name="Title 1"/>
          <p:cNvSpPr txBox="1">
            <a:spLocks/>
          </p:cNvSpPr>
          <p:nvPr/>
        </p:nvSpPr>
        <p:spPr>
          <a:xfrm>
            <a:off x="644298" y="5901"/>
            <a:ext cx="7886700" cy="685800"/>
          </a:xfrm>
          <a:prstGeom prst="rect">
            <a:avLst/>
          </a:prstGeom>
        </p:spPr>
        <p:txBody>
          <a:bodyPr>
            <a:normAutofit/>
          </a:bodyPr>
          <a:lstStyle>
            <a:lvl1pPr algn="ctr" defTabSz="914400" rtl="0" eaLnBrk="1" latinLnBrk="0" hangingPunct="1">
              <a:lnSpc>
                <a:spcPct val="90000"/>
              </a:lnSpc>
              <a:spcBef>
                <a:spcPct val="0"/>
              </a:spcBef>
              <a:buNone/>
              <a:defRPr sz="3200" b="1" kern="1200">
                <a:solidFill>
                  <a:schemeClr val="tx1"/>
                </a:solidFill>
                <a:latin typeface="+mn-lt"/>
                <a:ea typeface="+mj-ea"/>
                <a:cs typeface="+mj-cs"/>
              </a:defRPr>
            </a:lvl1pPr>
          </a:lstStyle>
          <a:p>
            <a:r>
              <a:rPr lang="en-US" sz="2800"/>
              <a:t>Hsu Lab Proteomics</a:t>
            </a:r>
            <a:endParaRPr lang="en-US" sz="2800" dirty="0"/>
          </a:p>
        </p:txBody>
      </p:sp>
      <p:sp>
        <p:nvSpPr>
          <p:cNvPr id="4" name="TextBox 3"/>
          <p:cNvSpPr txBox="1"/>
          <p:nvPr/>
        </p:nvSpPr>
        <p:spPr>
          <a:xfrm>
            <a:off x="457202" y="691701"/>
            <a:ext cx="1578060" cy="1200329"/>
          </a:xfrm>
          <a:prstGeom prst="rect">
            <a:avLst/>
          </a:prstGeom>
          <a:noFill/>
        </p:spPr>
        <p:txBody>
          <a:bodyPr wrap="none" rtlCol="0">
            <a:spAutoFit/>
          </a:bodyPr>
          <a:lstStyle/>
          <a:p>
            <a:pPr algn="ctr"/>
            <a:r>
              <a:rPr lang="en-US" sz="2400" b="1" dirty="0"/>
              <a:t>“PRTC”</a:t>
            </a:r>
          </a:p>
          <a:p>
            <a:pPr algn="ctr"/>
            <a:r>
              <a:rPr lang="en-US" sz="2400" b="1" dirty="0"/>
              <a:t>15-peptide</a:t>
            </a:r>
          </a:p>
          <a:p>
            <a:pPr algn="ctr"/>
            <a:r>
              <a:rPr lang="en-US" sz="2400" b="1" dirty="0"/>
              <a:t>mixture</a:t>
            </a:r>
          </a:p>
        </p:txBody>
      </p:sp>
    </p:spTree>
    <p:extLst>
      <p:ext uri="{BB962C8B-B14F-4D97-AF65-F5344CB8AC3E}">
        <p14:creationId xmlns:p14="http://schemas.microsoft.com/office/powerpoint/2010/main" val="22272368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Hsu Lab Proteomics</a:t>
            </a:r>
          </a:p>
        </p:txBody>
      </p:sp>
      <p:sp>
        <p:nvSpPr>
          <p:cNvPr id="3" name="Content Placeholder 2"/>
          <p:cNvSpPr>
            <a:spLocks noGrp="1"/>
          </p:cNvSpPr>
          <p:nvPr>
            <p:ph idx="1"/>
          </p:nvPr>
        </p:nvSpPr>
        <p:spPr>
          <a:xfrm>
            <a:off x="1219200" y="1219200"/>
            <a:ext cx="6705600" cy="5105400"/>
          </a:xfrm>
        </p:spPr>
        <p:txBody>
          <a:bodyPr>
            <a:normAutofit lnSpcReduction="10000"/>
          </a:bodyPr>
          <a:lstStyle/>
          <a:p>
            <a:r>
              <a:rPr lang="en-US" dirty="0"/>
              <a:t>Experimental approach</a:t>
            </a:r>
          </a:p>
          <a:p>
            <a:pPr lvl="1"/>
            <a:r>
              <a:rPr lang="en-US" dirty="0"/>
              <a:t>Samples</a:t>
            </a:r>
          </a:p>
          <a:p>
            <a:pPr lvl="2"/>
            <a:r>
              <a:rPr lang="en-US" dirty="0"/>
              <a:t>Cells grown in </a:t>
            </a:r>
            <a:r>
              <a:rPr lang="en-US" baseline="30000" dirty="0"/>
              <a:t>13</a:t>
            </a:r>
            <a:r>
              <a:rPr lang="en-US" dirty="0"/>
              <a:t>C/</a:t>
            </a:r>
            <a:r>
              <a:rPr lang="en-US" baseline="30000" dirty="0"/>
              <a:t>15</a:t>
            </a:r>
            <a:r>
              <a:rPr lang="en-US" dirty="0"/>
              <a:t>N-labeled K/R media -/+ drug</a:t>
            </a:r>
          </a:p>
          <a:p>
            <a:pPr lvl="2"/>
            <a:r>
              <a:rPr lang="en-US" dirty="0"/>
              <a:t>Protein extraction and enrichment</a:t>
            </a:r>
          </a:p>
          <a:p>
            <a:pPr lvl="2"/>
            <a:r>
              <a:rPr lang="en-US" dirty="0"/>
              <a:t>Trypsin digestion</a:t>
            </a:r>
          </a:p>
          <a:p>
            <a:pPr lvl="2"/>
            <a:r>
              <a:rPr lang="en-US" dirty="0"/>
              <a:t>Sample cleanup</a:t>
            </a:r>
          </a:p>
          <a:p>
            <a:pPr lvl="1"/>
            <a:r>
              <a:rPr lang="en-US" dirty="0"/>
              <a:t>Sample analysis</a:t>
            </a:r>
          </a:p>
          <a:p>
            <a:pPr lvl="2"/>
            <a:r>
              <a:rPr lang="en-US" dirty="0"/>
              <a:t>LC-MS-MS/MS of light/heavy-labeled peptides</a:t>
            </a:r>
          </a:p>
          <a:p>
            <a:pPr lvl="1"/>
            <a:r>
              <a:rPr lang="en-US" dirty="0"/>
              <a:t>Data analysis</a:t>
            </a:r>
          </a:p>
          <a:p>
            <a:pPr lvl="2"/>
            <a:r>
              <a:rPr lang="en-US" dirty="0"/>
              <a:t>Search MS data v. protein database</a:t>
            </a:r>
          </a:p>
          <a:p>
            <a:pPr lvl="1"/>
            <a:r>
              <a:rPr lang="en-US" dirty="0"/>
              <a:t>Search results analysis</a:t>
            </a:r>
          </a:p>
          <a:p>
            <a:pPr lvl="2"/>
            <a:r>
              <a:rPr lang="en-US" dirty="0"/>
              <a:t>Peptide/protein assignment evaluation</a:t>
            </a:r>
          </a:p>
          <a:p>
            <a:pPr lvl="1"/>
            <a:r>
              <a:rPr lang="en-US" dirty="0"/>
              <a:t>Analytical and biological replicates</a:t>
            </a:r>
          </a:p>
          <a:p>
            <a:pPr lvl="1"/>
            <a:r>
              <a:rPr lang="en-US" dirty="0"/>
              <a:t>Results confirmation</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48</a:t>
            </a:fld>
            <a:endParaRPr lang="en-US" dirty="0"/>
          </a:p>
        </p:txBody>
      </p:sp>
    </p:spTree>
    <p:extLst>
      <p:ext uri="{BB962C8B-B14F-4D97-AF65-F5344CB8AC3E}">
        <p14:creationId xmlns:p14="http://schemas.microsoft.com/office/powerpoint/2010/main" val="9770961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58270" y="457200"/>
            <a:ext cx="4978165" cy="6400800"/>
          </a:xfrm>
          <a:prstGeom prst="rect">
            <a:avLst/>
          </a:prstGeom>
        </p:spPr>
      </p:pic>
      <p:sp>
        <p:nvSpPr>
          <p:cNvPr id="3" name="Title 1"/>
          <p:cNvSpPr txBox="1">
            <a:spLocks/>
          </p:cNvSpPr>
          <p:nvPr/>
        </p:nvSpPr>
        <p:spPr>
          <a:xfrm>
            <a:off x="648125" y="20321"/>
            <a:ext cx="7886700" cy="685800"/>
          </a:xfrm>
          <a:prstGeom prst="rect">
            <a:avLst/>
          </a:prstGeom>
        </p:spPr>
        <p:txBody>
          <a:bodyPr>
            <a:normAutofit/>
          </a:bodyPr>
          <a:lstStyle>
            <a:lvl1pPr algn="ctr" defTabSz="914400" rtl="0" eaLnBrk="1" latinLnBrk="0" hangingPunct="1">
              <a:lnSpc>
                <a:spcPct val="90000"/>
              </a:lnSpc>
              <a:spcBef>
                <a:spcPct val="0"/>
              </a:spcBef>
              <a:buNone/>
              <a:defRPr sz="3200" b="1" kern="1200">
                <a:solidFill>
                  <a:schemeClr val="tx1"/>
                </a:solidFill>
                <a:latin typeface="+mn-lt"/>
                <a:ea typeface="+mj-ea"/>
                <a:cs typeface="+mj-cs"/>
              </a:defRPr>
            </a:lvl1pPr>
          </a:lstStyle>
          <a:p>
            <a:r>
              <a:rPr lang="en-US" dirty="0"/>
              <a:t>Hsu Lab Proteomics</a:t>
            </a:r>
          </a:p>
        </p:txBody>
      </p:sp>
      <p:sp>
        <p:nvSpPr>
          <p:cNvPr id="4" name="TextBox 3"/>
          <p:cNvSpPr txBox="1"/>
          <p:nvPr/>
        </p:nvSpPr>
        <p:spPr>
          <a:xfrm>
            <a:off x="72526" y="368302"/>
            <a:ext cx="2114040" cy="2677656"/>
          </a:xfrm>
          <a:prstGeom prst="rect">
            <a:avLst/>
          </a:prstGeom>
          <a:noFill/>
        </p:spPr>
        <p:txBody>
          <a:bodyPr wrap="none" rtlCol="0">
            <a:spAutoFit/>
          </a:bodyPr>
          <a:lstStyle/>
          <a:p>
            <a:pPr algn="ctr"/>
            <a:r>
              <a:rPr lang="en-US" sz="2400" b="1" dirty="0"/>
              <a:t>N2A cells,</a:t>
            </a:r>
          </a:p>
          <a:p>
            <a:pPr algn="ctr"/>
            <a:r>
              <a:rPr lang="en-US" sz="2400" b="1" dirty="0"/>
              <a:t>-/+ KT185,</a:t>
            </a:r>
          </a:p>
          <a:p>
            <a:pPr algn="ctr"/>
            <a:r>
              <a:rPr lang="en-US" sz="2400" b="1" dirty="0"/>
              <a:t>membrane </a:t>
            </a:r>
          </a:p>
          <a:p>
            <a:pPr algn="ctr"/>
            <a:r>
              <a:rPr lang="en-US" sz="2400" b="1" dirty="0"/>
              <a:t>fraction,</a:t>
            </a:r>
          </a:p>
          <a:p>
            <a:pPr algn="ctr"/>
            <a:r>
              <a:rPr lang="en-US" sz="2400" b="1" dirty="0"/>
              <a:t>3/100uL?,</a:t>
            </a:r>
          </a:p>
          <a:p>
            <a:pPr algn="ctr"/>
            <a:r>
              <a:rPr lang="en-US" sz="2400" b="1" dirty="0"/>
              <a:t>[protein]/</a:t>
            </a:r>
            <a:r>
              <a:rPr lang="en-US" sz="2400" b="1" dirty="0" err="1"/>
              <a:t>c.e</a:t>
            </a:r>
            <a:r>
              <a:rPr lang="en-US" sz="2400" b="1" dirty="0"/>
              <a:t>.?,</a:t>
            </a:r>
          </a:p>
          <a:p>
            <a:pPr algn="ctr"/>
            <a:r>
              <a:rPr lang="en-US" sz="2400" b="1" dirty="0"/>
              <a:t>(int. </a:t>
            </a:r>
            <a:r>
              <a:rPr lang="en-US" sz="2400" b="1" dirty="0" err="1"/>
              <a:t>stds</a:t>
            </a:r>
            <a:r>
              <a:rPr lang="en-US" sz="2400" b="1" dirty="0"/>
              <a:t>)</a:t>
            </a:r>
          </a:p>
        </p:txBody>
      </p:sp>
      <p:sp>
        <p:nvSpPr>
          <p:cNvPr id="5" name="TextBox 4"/>
          <p:cNvSpPr txBox="1"/>
          <p:nvPr/>
        </p:nvSpPr>
        <p:spPr>
          <a:xfrm>
            <a:off x="2575503" y="755114"/>
            <a:ext cx="444352" cy="338554"/>
          </a:xfrm>
          <a:prstGeom prst="rect">
            <a:avLst/>
          </a:prstGeom>
          <a:solidFill>
            <a:schemeClr val="bg1"/>
          </a:solidFill>
        </p:spPr>
        <p:txBody>
          <a:bodyPr wrap="none" rtlCol="0">
            <a:spAutoFit/>
          </a:bodyPr>
          <a:lstStyle/>
          <a:p>
            <a:r>
              <a:rPr lang="en-US" sz="1600" dirty="0"/>
              <a:t>TIC</a:t>
            </a:r>
          </a:p>
        </p:txBody>
      </p:sp>
      <p:sp>
        <p:nvSpPr>
          <p:cNvPr id="6" name="TextBox 5"/>
          <p:cNvSpPr txBox="1"/>
          <p:nvPr/>
        </p:nvSpPr>
        <p:spPr>
          <a:xfrm>
            <a:off x="2575503" y="1493222"/>
            <a:ext cx="511679" cy="338554"/>
          </a:xfrm>
          <a:prstGeom prst="rect">
            <a:avLst/>
          </a:prstGeom>
          <a:solidFill>
            <a:schemeClr val="bg1"/>
          </a:solidFill>
        </p:spPr>
        <p:txBody>
          <a:bodyPr wrap="none" rtlCol="0">
            <a:spAutoFit/>
          </a:bodyPr>
          <a:lstStyle/>
          <a:p>
            <a:r>
              <a:rPr lang="en-US" sz="1600" dirty="0"/>
              <a:t>BPC</a:t>
            </a:r>
          </a:p>
        </p:txBody>
      </p:sp>
      <p:sp>
        <p:nvSpPr>
          <p:cNvPr id="7" name="TextBox 6"/>
          <p:cNvSpPr txBox="1"/>
          <p:nvPr/>
        </p:nvSpPr>
        <p:spPr>
          <a:xfrm>
            <a:off x="4876800" y="2971800"/>
            <a:ext cx="2172903" cy="338554"/>
          </a:xfrm>
          <a:prstGeom prst="rect">
            <a:avLst/>
          </a:prstGeom>
          <a:solidFill>
            <a:schemeClr val="bg1"/>
          </a:solidFill>
        </p:spPr>
        <p:txBody>
          <a:bodyPr wrap="none" rtlCol="0">
            <a:spAutoFit/>
          </a:bodyPr>
          <a:lstStyle/>
          <a:p>
            <a:r>
              <a:rPr lang="en-US" sz="1600" dirty="0"/>
              <a:t>Averaged MS ~1 minute</a:t>
            </a:r>
          </a:p>
        </p:txBody>
      </p:sp>
      <p:sp>
        <p:nvSpPr>
          <p:cNvPr id="9" name="Right Brace 8"/>
          <p:cNvSpPr/>
          <p:nvPr/>
        </p:nvSpPr>
        <p:spPr>
          <a:xfrm rot="5400000">
            <a:off x="4154474" y="2223025"/>
            <a:ext cx="125950" cy="251901"/>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1" name="Straight Arrow Connector 10"/>
          <p:cNvCxnSpPr/>
          <p:nvPr/>
        </p:nvCxnSpPr>
        <p:spPr>
          <a:xfrm>
            <a:off x="4258086" y="2515188"/>
            <a:ext cx="374026" cy="72912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364572" y="1260663"/>
            <a:ext cx="1524968" cy="3693319"/>
          </a:xfrm>
          <a:prstGeom prst="rect">
            <a:avLst/>
          </a:prstGeom>
          <a:noFill/>
        </p:spPr>
        <p:txBody>
          <a:bodyPr wrap="none" rtlCol="0">
            <a:spAutoFit/>
          </a:bodyPr>
          <a:lstStyle/>
          <a:p>
            <a:pPr algn="ctr"/>
            <a:r>
              <a:rPr lang="en-US" b="1" dirty="0"/>
              <a:t>MS </a:t>
            </a:r>
          </a:p>
          <a:p>
            <a:pPr algn="ctr"/>
            <a:r>
              <a:rPr lang="en-US" b="1" dirty="0"/>
              <a:t>m/z 375-1500</a:t>
            </a:r>
          </a:p>
          <a:p>
            <a:pPr algn="ctr"/>
            <a:endParaRPr lang="en-US" b="1" dirty="0"/>
          </a:p>
          <a:p>
            <a:pPr algn="ctr"/>
            <a:r>
              <a:rPr lang="en-US" b="1" dirty="0"/>
              <a:t>MS/MS</a:t>
            </a:r>
          </a:p>
          <a:p>
            <a:pPr algn="ctr"/>
            <a:r>
              <a:rPr lang="en-US" b="1" dirty="0"/>
              <a:t>Top 10 HCD</a:t>
            </a:r>
          </a:p>
          <a:p>
            <a:pPr algn="ctr"/>
            <a:endParaRPr lang="en-US" b="1" dirty="0"/>
          </a:p>
          <a:p>
            <a:pPr algn="ctr"/>
            <a:r>
              <a:rPr lang="en-US" b="1" dirty="0"/>
              <a:t>100 min.</a:t>
            </a:r>
          </a:p>
          <a:p>
            <a:pPr algn="ctr"/>
            <a:r>
              <a:rPr lang="en-US" b="1" dirty="0"/>
              <a:t>or</a:t>
            </a:r>
          </a:p>
          <a:p>
            <a:pPr algn="ctr"/>
            <a:r>
              <a:rPr lang="en-US" b="1" dirty="0"/>
              <a:t>6000 sec. x</a:t>
            </a:r>
          </a:p>
          <a:p>
            <a:pPr algn="ctr"/>
            <a:r>
              <a:rPr lang="en-US" b="1" dirty="0"/>
              <a:t>10 MS2/sec. =</a:t>
            </a:r>
          </a:p>
          <a:p>
            <a:pPr algn="ctr"/>
            <a:endParaRPr lang="en-US" b="1" dirty="0"/>
          </a:p>
          <a:p>
            <a:pPr algn="ctr"/>
            <a:r>
              <a:rPr lang="en-US" b="1" dirty="0"/>
              <a:t>60,000 MS2</a:t>
            </a:r>
          </a:p>
          <a:p>
            <a:pPr algn="ctr"/>
            <a:r>
              <a:rPr lang="en-US" b="1" dirty="0"/>
              <a:t>(~47,000)</a:t>
            </a:r>
          </a:p>
        </p:txBody>
      </p:sp>
      <p:sp>
        <p:nvSpPr>
          <p:cNvPr id="13" name="Right Brace 12"/>
          <p:cNvSpPr/>
          <p:nvPr/>
        </p:nvSpPr>
        <p:spPr>
          <a:xfrm rot="5400000">
            <a:off x="3273659" y="4426107"/>
            <a:ext cx="125950" cy="251901"/>
          </a:xfrm>
          <a:prstGeom prst="righ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4" name="Straight Arrow Connector 13"/>
          <p:cNvCxnSpPr/>
          <p:nvPr/>
        </p:nvCxnSpPr>
        <p:spPr>
          <a:xfrm>
            <a:off x="3377271" y="4718270"/>
            <a:ext cx="374026" cy="72912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480441" y="2938046"/>
            <a:ext cx="453970" cy="338554"/>
          </a:xfrm>
          <a:prstGeom prst="rect">
            <a:avLst/>
          </a:prstGeom>
          <a:solidFill>
            <a:schemeClr val="bg1"/>
          </a:solidFill>
        </p:spPr>
        <p:txBody>
          <a:bodyPr wrap="none" rtlCol="0">
            <a:spAutoFit/>
          </a:bodyPr>
          <a:lstStyle/>
          <a:p>
            <a:r>
              <a:rPr lang="en-US" sz="1600" dirty="0"/>
              <a:t>MS</a:t>
            </a:r>
          </a:p>
        </p:txBody>
      </p:sp>
      <p:sp>
        <p:nvSpPr>
          <p:cNvPr id="16" name="TextBox 15"/>
          <p:cNvSpPr txBox="1"/>
          <p:nvPr/>
        </p:nvSpPr>
        <p:spPr>
          <a:xfrm>
            <a:off x="2514600" y="5071646"/>
            <a:ext cx="453970" cy="338554"/>
          </a:xfrm>
          <a:prstGeom prst="rect">
            <a:avLst/>
          </a:prstGeom>
          <a:solidFill>
            <a:schemeClr val="bg1"/>
          </a:solidFill>
        </p:spPr>
        <p:txBody>
          <a:bodyPr wrap="none" rtlCol="0">
            <a:spAutoFit/>
          </a:bodyPr>
          <a:lstStyle/>
          <a:p>
            <a:r>
              <a:rPr lang="en-US" sz="1600" dirty="0"/>
              <a:t>MS</a:t>
            </a:r>
          </a:p>
        </p:txBody>
      </p:sp>
      <p:sp>
        <p:nvSpPr>
          <p:cNvPr id="17" name="Rectangle 16"/>
          <p:cNvSpPr/>
          <p:nvPr/>
        </p:nvSpPr>
        <p:spPr>
          <a:xfrm>
            <a:off x="2635535" y="5638800"/>
            <a:ext cx="433836" cy="91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4006251" y="5070390"/>
            <a:ext cx="524942" cy="147265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4597451" y="5608320"/>
            <a:ext cx="433836" cy="9144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5608538" y="5063861"/>
            <a:ext cx="524942" cy="147265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272479" y="5309667"/>
            <a:ext cx="477220" cy="121706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97715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Hsu Lab Proteomics</a:t>
            </a:r>
          </a:p>
        </p:txBody>
      </p:sp>
      <p:sp>
        <p:nvSpPr>
          <p:cNvPr id="3" name="Content Placeholder 2"/>
          <p:cNvSpPr>
            <a:spLocks noGrp="1"/>
          </p:cNvSpPr>
          <p:nvPr>
            <p:ph idx="1"/>
          </p:nvPr>
        </p:nvSpPr>
        <p:spPr>
          <a:xfrm>
            <a:off x="628650" y="990600"/>
            <a:ext cx="7886700" cy="4724400"/>
          </a:xfrm>
        </p:spPr>
        <p:txBody>
          <a:bodyPr>
            <a:normAutofit/>
          </a:bodyPr>
          <a:lstStyle/>
          <a:p>
            <a:r>
              <a:rPr lang="en-US" dirty="0"/>
              <a:t>Data analysis - informatics</a:t>
            </a:r>
          </a:p>
          <a:p>
            <a:pPr lvl="1"/>
            <a:r>
              <a:rPr lang="en-US" dirty="0"/>
              <a:t>Peptide identification</a:t>
            </a:r>
          </a:p>
          <a:p>
            <a:pPr lvl="2"/>
            <a:r>
              <a:rPr lang="en-US" dirty="0"/>
              <a:t>Search MS data v. protein database (“IP2”</a:t>
            </a:r>
            <a:r>
              <a:rPr lang="en-US" baseline="30000" dirty="0"/>
              <a:t>1</a:t>
            </a:r>
            <a:r>
              <a:rPr lang="en-US" dirty="0"/>
              <a:t>; ProLuCID</a:t>
            </a:r>
            <a:r>
              <a:rPr lang="en-US" baseline="30000" dirty="0"/>
              <a:t>2</a:t>
            </a:r>
            <a:r>
              <a:rPr lang="en-US" dirty="0"/>
              <a:t> program)</a:t>
            </a:r>
          </a:p>
          <a:p>
            <a:pPr lvl="2"/>
            <a:r>
              <a:rPr lang="en-US" dirty="0"/>
              <a:t>Search parameters: enzyme, mass tolerances, modifications</a:t>
            </a:r>
          </a:p>
          <a:p>
            <a:pPr lvl="2"/>
            <a:r>
              <a:rPr lang="en-US" dirty="0"/>
              <a:t>Search 10,000+ spectra per experiment</a:t>
            </a:r>
          </a:p>
          <a:p>
            <a:pPr lvl="1"/>
            <a:r>
              <a:rPr lang="en-US" dirty="0"/>
              <a:t>Protein inference</a:t>
            </a:r>
          </a:p>
          <a:p>
            <a:pPr lvl="2"/>
            <a:r>
              <a:rPr lang="en-US" dirty="0"/>
              <a:t>Analyze search results/raw data</a:t>
            </a:r>
          </a:p>
          <a:p>
            <a:pPr lvl="2"/>
            <a:r>
              <a:rPr lang="en-US" dirty="0"/>
              <a:t>“Unique” peptides</a:t>
            </a:r>
          </a:p>
          <a:p>
            <a:pPr lvl="2"/>
            <a:r>
              <a:rPr lang="en-US" dirty="0"/>
              <a:t>Parsimony</a:t>
            </a:r>
          </a:p>
          <a:p>
            <a:pPr lvl="1"/>
            <a:r>
              <a:rPr lang="en-US" dirty="0"/>
              <a:t>Peptide/protein “quantitation”</a:t>
            </a:r>
          </a:p>
          <a:p>
            <a:pPr lvl="2"/>
            <a:r>
              <a:rPr lang="en-US" dirty="0"/>
              <a:t>Determine relative peptide/protein amounts</a:t>
            </a:r>
          </a:p>
          <a:p>
            <a:pPr lvl="2"/>
            <a:r>
              <a:rPr lang="en-US" dirty="0"/>
              <a:t>Ion abundances</a:t>
            </a:r>
          </a:p>
          <a:p>
            <a:pPr lvl="2"/>
            <a:r>
              <a:rPr lang="en-US" dirty="0"/>
              <a:t>Spectral (MS2) or peptide counts</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50</a:t>
            </a:fld>
            <a:endParaRPr lang="en-US" dirty="0"/>
          </a:p>
        </p:txBody>
      </p:sp>
      <p:sp>
        <p:nvSpPr>
          <p:cNvPr id="7" name="TextBox 6"/>
          <p:cNvSpPr txBox="1"/>
          <p:nvPr/>
        </p:nvSpPr>
        <p:spPr>
          <a:xfrm>
            <a:off x="457200" y="5867400"/>
            <a:ext cx="7889789" cy="738664"/>
          </a:xfrm>
          <a:prstGeom prst="rect">
            <a:avLst/>
          </a:prstGeom>
          <a:noFill/>
        </p:spPr>
        <p:txBody>
          <a:bodyPr wrap="none" rtlCol="0">
            <a:spAutoFit/>
          </a:bodyPr>
          <a:lstStyle/>
          <a:p>
            <a:pPr lvl="1"/>
            <a:r>
              <a:rPr lang="en-US" sz="1400" baseline="30000" dirty="0"/>
              <a:t>1</a:t>
            </a:r>
            <a:r>
              <a:rPr lang="en-US" sz="1400" dirty="0"/>
              <a:t>IP2: Integrated Proteomics Applications; http://integratedproteomics.com/</a:t>
            </a:r>
          </a:p>
          <a:p>
            <a:pPr lvl="1"/>
            <a:r>
              <a:rPr lang="en-US" sz="1400" baseline="30000" dirty="0"/>
              <a:t>2</a:t>
            </a:r>
            <a:r>
              <a:rPr lang="en-US" sz="1400" dirty="0"/>
              <a:t>J. Proteomics. 2015 Jul 11. </a:t>
            </a:r>
            <a:r>
              <a:rPr lang="en-US" sz="1400" dirty="0" err="1"/>
              <a:t>pii</a:t>
            </a:r>
            <a:r>
              <a:rPr lang="en-US" sz="1400" dirty="0"/>
              <a:t>: S1874-3919(15)30059-2. </a:t>
            </a:r>
            <a:r>
              <a:rPr lang="en-US" sz="1400" dirty="0" err="1"/>
              <a:t>doi</a:t>
            </a:r>
            <a:r>
              <a:rPr lang="en-US" sz="1400" dirty="0"/>
              <a:t>: 10.1016/j.jprot.2015.07.001. </a:t>
            </a:r>
          </a:p>
          <a:p>
            <a:pPr lvl="1"/>
            <a:r>
              <a:rPr lang="en-US" sz="1400" dirty="0" err="1"/>
              <a:t>ProLuCID</a:t>
            </a:r>
            <a:r>
              <a:rPr lang="en-US" sz="1400" dirty="0"/>
              <a:t>: An improved SEQUEST-like algorithm with enhanced sensitivity and specificity. Xu T. et al.</a:t>
            </a:r>
          </a:p>
        </p:txBody>
      </p:sp>
    </p:spTree>
    <p:extLst>
      <p:ext uri="{BB962C8B-B14F-4D97-AF65-F5344CB8AC3E}">
        <p14:creationId xmlns:p14="http://schemas.microsoft.com/office/powerpoint/2010/main" val="35530419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Hsu Lab Proteomics</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51</a:t>
            </a:fld>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0971" y="914400"/>
            <a:ext cx="6324600" cy="41451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8613" y="5672654"/>
            <a:ext cx="6435273" cy="5249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96680" y="720804"/>
            <a:ext cx="2127955" cy="2862322"/>
          </a:xfrm>
          <a:prstGeom prst="rect">
            <a:avLst/>
          </a:prstGeom>
          <a:noFill/>
        </p:spPr>
        <p:txBody>
          <a:bodyPr wrap="none" rtlCol="0">
            <a:spAutoFit/>
          </a:bodyPr>
          <a:lstStyle/>
          <a:p>
            <a:pPr algn="ctr"/>
            <a:r>
              <a:rPr lang="en-US" b="1" dirty="0"/>
              <a:t>MS-Database</a:t>
            </a:r>
          </a:p>
          <a:p>
            <a:pPr algn="ctr"/>
            <a:r>
              <a:rPr lang="en-US" b="1" dirty="0"/>
              <a:t>Search Results –</a:t>
            </a:r>
          </a:p>
          <a:p>
            <a:pPr algn="ctr"/>
            <a:r>
              <a:rPr lang="en-US" b="1" dirty="0"/>
              <a:t>Proteins</a:t>
            </a:r>
          </a:p>
          <a:p>
            <a:endParaRPr lang="en-US" dirty="0"/>
          </a:p>
          <a:p>
            <a:endParaRPr lang="en-US" dirty="0"/>
          </a:p>
          <a:p>
            <a:r>
              <a:rPr lang="en-US" dirty="0"/>
              <a:t>Results analysis -</a:t>
            </a:r>
          </a:p>
          <a:p>
            <a:r>
              <a:rPr lang="en-US" u="sng" dirty="0"/>
              <a:t>score/filter matches</a:t>
            </a:r>
            <a:r>
              <a:rPr lang="en-US" dirty="0"/>
              <a:t>:</a:t>
            </a:r>
          </a:p>
          <a:p>
            <a:r>
              <a:rPr lang="en-US" dirty="0"/>
              <a:t>Correlation</a:t>
            </a:r>
          </a:p>
          <a:p>
            <a:r>
              <a:rPr lang="en-US" dirty="0"/>
              <a:t>Probability</a:t>
            </a:r>
          </a:p>
          <a:p>
            <a:r>
              <a:rPr lang="en-US" dirty="0"/>
              <a:t>False discovery rate</a:t>
            </a:r>
          </a:p>
        </p:txBody>
      </p:sp>
      <p:sp>
        <p:nvSpPr>
          <p:cNvPr id="8" name="Rectangle 7"/>
          <p:cNvSpPr/>
          <p:nvPr/>
        </p:nvSpPr>
        <p:spPr>
          <a:xfrm>
            <a:off x="2168613" y="5791200"/>
            <a:ext cx="6435273" cy="3048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168876" y="5611943"/>
            <a:ext cx="1473224" cy="646331"/>
          </a:xfrm>
          <a:prstGeom prst="rect">
            <a:avLst/>
          </a:prstGeom>
          <a:noFill/>
        </p:spPr>
        <p:txBody>
          <a:bodyPr wrap="none" rtlCol="0">
            <a:spAutoFit/>
          </a:bodyPr>
          <a:lstStyle/>
          <a:p>
            <a:pPr algn="ctr"/>
            <a:r>
              <a:rPr lang="en-US" dirty="0"/>
              <a:t>Diacylglycerol</a:t>
            </a:r>
          </a:p>
          <a:p>
            <a:pPr algn="ctr"/>
            <a:r>
              <a:rPr lang="en-US" dirty="0"/>
              <a:t>lipase beta</a:t>
            </a:r>
          </a:p>
        </p:txBody>
      </p:sp>
      <p:cxnSp>
        <p:nvCxnSpPr>
          <p:cNvPr id="11" name="Straight Connector 10"/>
          <p:cNvCxnSpPr/>
          <p:nvPr/>
        </p:nvCxnSpPr>
        <p:spPr>
          <a:xfrm>
            <a:off x="5330914" y="5059531"/>
            <a:ext cx="0" cy="552412"/>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929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Hsu Lab Proteomics</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52</a:t>
            </a:fld>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96" y="3615035"/>
            <a:ext cx="4265616" cy="2831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9027" y="3200400"/>
            <a:ext cx="4414653" cy="3307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186" y="1415808"/>
            <a:ext cx="4781550" cy="1771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7736" y="1440522"/>
            <a:ext cx="3219450" cy="1704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4967" y="4072625"/>
            <a:ext cx="1238250" cy="1276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452438" y="492478"/>
            <a:ext cx="1726498" cy="923330"/>
          </a:xfrm>
          <a:prstGeom prst="rect">
            <a:avLst/>
          </a:prstGeom>
          <a:noFill/>
        </p:spPr>
        <p:txBody>
          <a:bodyPr wrap="none" rtlCol="0">
            <a:spAutoFit/>
          </a:bodyPr>
          <a:lstStyle/>
          <a:p>
            <a:pPr algn="ctr"/>
            <a:r>
              <a:rPr lang="en-US" b="1" dirty="0"/>
              <a:t>MS-Database</a:t>
            </a:r>
          </a:p>
          <a:p>
            <a:pPr algn="ctr"/>
            <a:r>
              <a:rPr lang="en-US" b="1" dirty="0"/>
              <a:t>Search Results –</a:t>
            </a:r>
          </a:p>
          <a:p>
            <a:pPr algn="ctr"/>
            <a:r>
              <a:rPr lang="en-US" b="1" dirty="0"/>
              <a:t>Peptides</a:t>
            </a:r>
          </a:p>
        </p:txBody>
      </p:sp>
      <p:sp>
        <p:nvSpPr>
          <p:cNvPr id="8" name="TextBox 7"/>
          <p:cNvSpPr txBox="1"/>
          <p:nvPr/>
        </p:nvSpPr>
        <p:spPr>
          <a:xfrm>
            <a:off x="155854" y="3384683"/>
            <a:ext cx="824969" cy="338554"/>
          </a:xfrm>
          <a:prstGeom prst="rect">
            <a:avLst/>
          </a:prstGeom>
          <a:noFill/>
        </p:spPr>
        <p:txBody>
          <a:bodyPr wrap="none" rtlCol="0">
            <a:spAutoFit/>
          </a:bodyPr>
          <a:lstStyle/>
          <a:p>
            <a:r>
              <a:rPr lang="en-US" sz="1600" b="1" dirty="0"/>
              <a:t>DAGL-</a:t>
            </a:r>
            <a:r>
              <a:rPr lang="en-US" sz="1600" b="1" dirty="0">
                <a:latin typeface="Symbol" panose="05050102010706020507" pitchFamily="18" charset="2"/>
              </a:rPr>
              <a:t>b</a:t>
            </a:r>
          </a:p>
        </p:txBody>
      </p:sp>
      <p:sp>
        <p:nvSpPr>
          <p:cNvPr id="9" name="Rectangle 8"/>
          <p:cNvSpPr/>
          <p:nvPr/>
        </p:nvSpPr>
        <p:spPr>
          <a:xfrm>
            <a:off x="3204295" y="4947129"/>
            <a:ext cx="609600" cy="10831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V="1">
            <a:off x="3833047" y="4691550"/>
            <a:ext cx="1272353" cy="31479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452438" y="2939807"/>
            <a:ext cx="7984747" cy="20568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endCxn id="9" idx="0"/>
          </p:cNvCxnSpPr>
          <p:nvPr/>
        </p:nvCxnSpPr>
        <p:spPr>
          <a:xfrm>
            <a:off x="1315687" y="3085125"/>
            <a:ext cx="2193408" cy="18620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4976757" y="3615035"/>
            <a:ext cx="2426305" cy="338554"/>
          </a:xfrm>
          <a:prstGeom prst="rect">
            <a:avLst/>
          </a:prstGeom>
          <a:noFill/>
        </p:spPr>
        <p:txBody>
          <a:bodyPr wrap="none" rtlCol="0">
            <a:spAutoFit/>
          </a:bodyPr>
          <a:lstStyle/>
          <a:p>
            <a:r>
              <a:rPr lang="en-US" sz="1600" dirty="0"/>
              <a:t>MS/MS 419.72</a:t>
            </a:r>
            <a:r>
              <a:rPr lang="en-US" sz="1600" baseline="30000" dirty="0"/>
              <a:t>+2</a:t>
            </a:r>
            <a:r>
              <a:rPr lang="en-US" sz="1600" dirty="0"/>
              <a:t> TTGLQYR</a:t>
            </a:r>
          </a:p>
        </p:txBody>
      </p:sp>
      <p:sp>
        <p:nvSpPr>
          <p:cNvPr id="16" name="Right Brace 15"/>
          <p:cNvSpPr/>
          <p:nvPr/>
        </p:nvSpPr>
        <p:spPr>
          <a:xfrm rot="16200000">
            <a:off x="5276295" y="4794654"/>
            <a:ext cx="304800" cy="42338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5298512" y="4522273"/>
            <a:ext cx="279244" cy="338554"/>
          </a:xfrm>
          <a:prstGeom prst="rect">
            <a:avLst/>
          </a:prstGeom>
          <a:noFill/>
        </p:spPr>
        <p:txBody>
          <a:bodyPr wrap="none" rtlCol="0">
            <a:spAutoFit/>
          </a:bodyPr>
          <a:lstStyle/>
          <a:p>
            <a:r>
              <a:rPr lang="en-US" sz="1600" dirty="0"/>
              <a:t>?</a:t>
            </a:r>
          </a:p>
        </p:txBody>
      </p:sp>
    </p:spTree>
    <p:extLst>
      <p:ext uri="{BB962C8B-B14F-4D97-AF65-F5344CB8AC3E}">
        <p14:creationId xmlns:p14="http://schemas.microsoft.com/office/powerpoint/2010/main" val="372452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2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2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9" grpId="0" animBg="1"/>
      <p:bldP spid="13" grpId="0"/>
      <p:bldP spid="16" grpId="0" animBg="1"/>
      <p:bldP spid="1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56057" y="0"/>
            <a:ext cx="7886700" cy="777875"/>
          </a:xfrm>
        </p:spPr>
        <p:txBody>
          <a:bodyPr/>
          <a:lstStyle/>
          <a:p>
            <a:r>
              <a:rPr lang="en-US" dirty="0"/>
              <a:t>Hsu Lab Proteomics</a:t>
            </a:r>
          </a:p>
        </p:txBody>
      </p:sp>
      <p:sp>
        <p:nvSpPr>
          <p:cNvPr id="4" name="Date Placeholder 3"/>
          <p:cNvSpPr>
            <a:spLocks noGrp="1"/>
          </p:cNvSpPr>
          <p:nvPr>
            <p:ph type="dt" sz="half" idx="10"/>
          </p:nvPr>
        </p:nvSpPr>
        <p:spPr/>
        <p:txBody>
          <a:bodyPr/>
          <a:lstStyle/>
          <a:p>
            <a:r>
              <a:rPr lang="en-US"/>
              <a:t>11/2/2015</a:t>
            </a:r>
          </a:p>
        </p:txBody>
      </p:sp>
      <p:sp>
        <p:nvSpPr>
          <p:cNvPr id="5" name="Footer Placeholder 4"/>
          <p:cNvSpPr>
            <a:spLocks noGrp="1"/>
          </p:cNvSpPr>
          <p:nvPr>
            <p:ph type="ftr" sz="quarter" idx="11"/>
          </p:nvPr>
        </p:nvSpPr>
        <p:spPr/>
        <p:txBody>
          <a:bodyPr/>
          <a:lstStyle/>
          <a:p>
            <a:r>
              <a:rPr lang="en-US"/>
              <a:t>Hsu group meeting</a:t>
            </a:r>
          </a:p>
        </p:txBody>
      </p:sp>
      <p:sp>
        <p:nvSpPr>
          <p:cNvPr id="6" name="Slide Number Placeholder 5"/>
          <p:cNvSpPr>
            <a:spLocks noGrp="1"/>
          </p:cNvSpPr>
          <p:nvPr>
            <p:ph type="sldNum" sz="quarter" idx="12"/>
          </p:nvPr>
        </p:nvSpPr>
        <p:spPr/>
        <p:txBody>
          <a:bodyPr/>
          <a:lstStyle/>
          <a:p>
            <a:fld id="{69B5BC37-830D-4F1C-891C-DA1C51928656}" type="slidenum">
              <a:rPr lang="en-US" smtClean="0"/>
              <a:pPr/>
              <a:t>53</a:t>
            </a:fld>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762000"/>
            <a:ext cx="7674814" cy="594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937417"/>
            <a:ext cx="3562350" cy="146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0074" y="4423716"/>
            <a:ext cx="1638300" cy="169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Straight Arrow Connector 9"/>
          <p:cNvCxnSpPr/>
          <p:nvPr/>
        </p:nvCxnSpPr>
        <p:spPr>
          <a:xfrm flipV="1">
            <a:off x="1504950" y="3671030"/>
            <a:ext cx="3295650" cy="73361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149424" y="1136420"/>
            <a:ext cx="444352" cy="338554"/>
          </a:xfrm>
          <a:prstGeom prst="rect">
            <a:avLst/>
          </a:prstGeom>
          <a:noFill/>
        </p:spPr>
        <p:txBody>
          <a:bodyPr wrap="none" rtlCol="0">
            <a:spAutoFit/>
          </a:bodyPr>
          <a:lstStyle/>
          <a:p>
            <a:r>
              <a:rPr lang="en-US" sz="1600" dirty="0"/>
              <a:t>TIC</a:t>
            </a:r>
          </a:p>
        </p:txBody>
      </p:sp>
      <p:sp>
        <p:nvSpPr>
          <p:cNvPr id="18" name="TextBox 17"/>
          <p:cNvSpPr txBox="1"/>
          <p:nvPr/>
        </p:nvSpPr>
        <p:spPr>
          <a:xfrm>
            <a:off x="1149424" y="1640935"/>
            <a:ext cx="511679" cy="338554"/>
          </a:xfrm>
          <a:prstGeom prst="rect">
            <a:avLst/>
          </a:prstGeom>
          <a:noFill/>
        </p:spPr>
        <p:txBody>
          <a:bodyPr wrap="none" rtlCol="0">
            <a:spAutoFit/>
          </a:bodyPr>
          <a:lstStyle/>
          <a:p>
            <a:r>
              <a:rPr lang="en-US" sz="1600" dirty="0"/>
              <a:t>BPC</a:t>
            </a:r>
          </a:p>
        </p:txBody>
      </p:sp>
      <p:sp>
        <p:nvSpPr>
          <p:cNvPr id="19" name="TextBox 18"/>
          <p:cNvSpPr txBox="1"/>
          <p:nvPr/>
        </p:nvSpPr>
        <p:spPr>
          <a:xfrm>
            <a:off x="1159206" y="2131086"/>
            <a:ext cx="457176" cy="338554"/>
          </a:xfrm>
          <a:prstGeom prst="rect">
            <a:avLst/>
          </a:prstGeom>
          <a:noFill/>
        </p:spPr>
        <p:txBody>
          <a:bodyPr wrap="none" rtlCol="0">
            <a:spAutoFit/>
          </a:bodyPr>
          <a:lstStyle/>
          <a:p>
            <a:r>
              <a:rPr lang="en-US" sz="1600" dirty="0"/>
              <a:t>RIC</a:t>
            </a:r>
          </a:p>
        </p:txBody>
      </p:sp>
      <p:sp>
        <p:nvSpPr>
          <p:cNvPr id="20" name="TextBox 19"/>
          <p:cNvSpPr txBox="1"/>
          <p:nvPr/>
        </p:nvSpPr>
        <p:spPr>
          <a:xfrm>
            <a:off x="5870066" y="2140808"/>
            <a:ext cx="1691489" cy="338554"/>
          </a:xfrm>
          <a:prstGeom prst="rect">
            <a:avLst/>
          </a:prstGeom>
          <a:noFill/>
        </p:spPr>
        <p:txBody>
          <a:bodyPr wrap="none" rtlCol="0">
            <a:spAutoFit/>
          </a:bodyPr>
          <a:lstStyle/>
          <a:p>
            <a:r>
              <a:rPr lang="en-US" sz="1600" dirty="0"/>
              <a:t>419.7245+/-2ppm</a:t>
            </a:r>
          </a:p>
        </p:txBody>
      </p:sp>
      <p:sp>
        <p:nvSpPr>
          <p:cNvPr id="12" name="TextBox 11"/>
          <p:cNvSpPr txBox="1"/>
          <p:nvPr/>
        </p:nvSpPr>
        <p:spPr>
          <a:xfrm>
            <a:off x="2248929" y="5579073"/>
            <a:ext cx="370614" cy="307777"/>
          </a:xfrm>
          <a:prstGeom prst="rect">
            <a:avLst/>
          </a:prstGeom>
          <a:noFill/>
        </p:spPr>
        <p:txBody>
          <a:bodyPr wrap="none" rtlCol="0">
            <a:spAutoFit/>
          </a:bodyPr>
          <a:lstStyle/>
          <a:p>
            <a:r>
              <a:rPr lang="en-US" sz="1400" dirty="0"/>
              <a:t>b2</a:t>
            </a:r>
          </a:p>
        </p:txBody>
      </p:sp>
      <p:sp>
        <p:nvSpPr>
          <p:cNvPr id="22" name="TextBox 21"/>
          <p:cNvSpPr txBox="1"/>
          <p:nvPr/>
        </p:nvSpPr>
        <p:spPr>
          <a:xfrm>
            <a:off x="3429000" y="5811389"/>
            <a:ext cx="357790" cy="307777"/>
          </a:xfrm>
          <a:prstGeom prst="rect">
            <a:avLst/>
          </a:prstGeom>
          <a:noFill/>
        </p:spPr>
        <p:txBody>
          <a:bodyPr wrap="none" rtlCol="0">
            <a:spAutoFit/>
          </a:bodyPr>
          <a:lstStyle/>
          <a:p>
            <a:r>
              <a:rPr lang="en-US" sz="1400" dirty="0"/>
              <a:t>y2</a:t>
            </a:r>
          </a:p>
        </p:txBody>
      </p:sp>
      <p:sp>
        <p:nvSpPr>
          <p:cNvPr id="23" name="TextBox 22"/>
          <p:cNvSpPr txBox="1"/>
          <p:nvPr/>
        </p:nvSpPr>
        <p:spPr>
          <a:xfrm>
            <a:off x="1975496" y="5117552"/>
            <a:ext cx="357790" cy="307777"/>
          </a:xfrm>
          <a:prstGeom prst="rect">
            <a:avLst/>
          </a:prstGeom>
          <a:noFill/>
        </p:spPr>
        <p:txBody>
          <a:bodyPr wrap="none" rtlCol="0">
            <a:spAutoFit/>
          </a:bodyPr>
          <a:lstStyle/>
          <a:p>
            <a:r>
              <a:rPr lang="en-US" sz="1400" dirty="0"/>
              <a:t>y1</a:t>
            </a:r>
          </a:p>
        </p:txBody>
      </p:sp>
      <p:sp>
        <p:nvSpPr>
          <p:cNvPr id="24" name="TextBox 23"/>
          <p:cNvSpPr txBox="1"/>
          <p:nvPr/>
        </p:nvSpPr>
        <p:spPr>
          <a:xfrm>
            <a:off x="4683490" y="5742511"/>
            <a:ext cx="357790" cy="307777"/>
          </a:xfrm>
          <a:prstGeom prst="rect">
            <a:avLst/>
          </a:prstGeom>
          <a:noFill/>
        </p:spPr>
        <p:txBody>
          <a:bodyPr wrap="none" rtlCol="0">
            <a:spAutoFit/>
          </a:bodyPr>
          <a:lstStyle/>
          <a:p>
            <a:r>
              <a:rPr lang="en-US" sz="1400" dirty="0"/>
              <a:t>y3</a:t>
            </a:r>
          </a:p>
        </p:txBody>
      </p:sp>
      <p:sp>
        <p:nvSpPr>
          <p:cNvPr id="25" name="TextBox 24"/>
          <p:cNvSpPr txBox="1"/>
          <p:nvPr/>
        </p:nvSpPr>
        <p:spPr>
          <a:xfrm>
            <a:off x="5638800" y="5732961"/>
            <a:ext cx="357790" cy="307777"/>
          </a:xfrm>
          <a:prstGeom prst="rect">
            <a:avLst/>
          </a:prstGeom>
          <a:noFill/>
        </p:spPr>
        <p:txBody>
          <a:bodyPr wrap="none" rtlCol="0">
            <a:spAutoFit/>
          </a:bodyPr>
          <a:lstStyle/>
          <a:p>
            <a:r>
              <a:rPr lang="en-US" sz="1400" dirty="0"/>
              <a:t>y4</a:t>
            </a:r>
          </a:p>
        </p:txBody>
      </p:sp>
      <p:sp>
        <p:nvSpPr>
          <p:cNvPr id="26" name="TextBox 25"/>
          <p:cNvSpPr txBox="1"/>
          <p:nvPr/>
        </p:nvSpPr>
        <p:spPr>
          <a:xfrm>
            <a:off x="5891837" y="5003303"/>
            <a:ext cx="357790" cy="307777"/>
          </a:xfrm>
          <a:prstGeom prst="rect">
            <a:avLst/>
          </a:prstGeom>
          <a:noFill/>
        </p:spPr>
        <p:txBody>
          <a:bodyPr wrap="none" rtlCol="0">
            <a:spAutoFit/>
          </a:bodyPr>
          <a:lstStyle/>
          <a:p>
            <a:r>
              <a:rPr lang="en-US" sz="1400" dirty="0"/>
              <a:t>y5</a:t>
            </a:r>
          </a:p>
        </p:txBody>
      </p:sp>
      <p:sp>
        <p:nvSpPr>
          <p:cNvPr id="27" name="TextBox 26"/>
          <p:cNvSpPr txBox="1"/>
          <p:nvPr/>
        </p:nvSpPr>
        <p:spPr>
          <a:xfrm>
            <a:off x="7103417" y="5936278"/>
            <a:ext cx="357790" cy="307777"/>
          </a:xfrm>
          <a:prstGeom prst="rect">
            <a:avLst/>
          </a:prstGeom>
          <a:noFill/>
        </p:spPr>
        <p:txBody>
          <a:bodyPr wrap="none" rtlCol="0">
            <a:spAutoFit/>
          </a:bodyPr>
          <a:lstStyle/>
          <a:p>
            <a:r>
              <a:rPr lang="en-US" sz="1400" dirty="0"/>
              <a:t>y6</a:t>
            </a:r>
          </a:p>
        </p:txBody>
      </p:sp>
      <p:sp>
        <p:nvSpPr>
          <p:cNvPr id="28" name="TextBox 27"/>
          <p:cNvSpPr txBox="1"/>
          <p:nvPr/>
        </p:nvSpPr>
        <p:spPr>
          <a:xfrm>
            <a:off x="4063520" y="5271296"/>
            <a:ext cx="752129" cy="307777"/>
          </a:xfrm>
          <a:prstGeom prst="rect">
            <a:avLst/>
          </a:prstGeom>
          <a:noFill/>
        </p:spPr>
        <p:txBody>
          <a:bodyPr wrap="none" rtlCol="0">
            <a:spAutoFit/>
          </a:bodyPr>
          <a:lstStyle/>
          <a:p>
            <a:r>
              <a:rPr lang="en-US" sz="1400" dirty="0"/>
              <a:t>M+2H</a:t>
            </a:r>
            <a:r>
              <a:rPr lang="en-US" sz="1400" baseline="30000" dirty="0"/>
              <a:t>+2</a:t>
            </a:r>
          </a:p>
        </p:txBody>
      </p:sp>
      <p:cxnSp>
        <p:nvCxnSpPr>
          <p:cNvPr id="29" name="Straight Arrow Connector 28"/>
          <p:cNvCxnSpPr>
            <a:stCxn id="28" idx="2"/>
          </p:cNvCxnSpPr>
          <p:nvPr/>
        </p:nvCxnSpPr>
        <p:spPr>
          <a:xfrm flipH="1">
            <a:off x="4439584" y="5579073"/>
            <a:ext cx="1" cy="31732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438424" y="3166646"/>
            <a:ext cx="1383584" cy="338554"/>
          </a:xfrm>
          <a:prstGeom prst="rect">
            <a:avLst/>
          </a:prstGeom>
          <a:noFill/>
        </p:spPr>
        <p:txBody>
          <a:bodyPr wrap="none" rtlCol="0">
            <a:spAutoFit/>
          </a:bodyPr>
          <a:lstStyle/>
          <a:p>
            <a:r>
              <a:rPr lang="en-US" sz="1600" dirty="0"/>
              <a:t>MS (averaged)</a:t>
            </a:r>
          </a:p>
        </p:txBody>
      </p:sp>
      <p:sp>
        <p:nvSpPr>
          <p:cNvPr id="2" name="Rectangle 1"/>
          <p:cNvSpPr/>
          <p:nvPr/>
        </p:nvSpPr>
        <p:spPr>
          <a:xfrm>
            <a:off x="1975496" y="2140808"/>
            <a:ext cx="178895" cy="5261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p:cNvCxnSpPr/>
          <p:nvPr/>
        </p:nvCxnSpPr>
        <p:spPr>
          <a:xfrm flipH="1">
            <a:off x="1661103" y="2667000"/>
            <a:ext cx="403840" cy="6689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1328482" y="4244019"/>
            <a:ext cx="162632" cy="3593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64575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Hsu Lab Proteomics</a:t>
            </a:r>
          </a:p>
        </p:txBody>
      </p:sp>
      <p:sp>
        <p:nvSpPr>
          <p:cNvPr id="3" name="Date Placeholder 2"/>
          <p:cNvSpPr>
            <a:spLocks noGrp="1"/>
          </p:cNvSpPr>
          <p:nvPr>
            <p:ph type="dt" sz="half" idx="10"/>
          </p:nvPr>
        </p:nvSpPr>
        <p:spPr/>
        <p:txBody>
          <a:bodyPr/>
          <a:lstStyle/>
          <a:p>
            <a:r>
              <a:rPr lang="en-US"/>
              <a:t>11/2/2015</a:t>
            </a:r>
          </a:p>
        </p:txBody>
      </p:sp>
      <p:sp>
        <p:nvSpPr>
          <p:cNvPr id="4" name="Footer Placeholder 3"/>
          <p:cNvSpPr>
            <a:spLocks noGrp="1"/>
          </p:cNvSpPr>
          <p:nvPr>
            <p:ph type="ftr" sz="quarter" idx="11"/>
          </p:nvPr>
        </p:nvSpPr>
        <p:spPr/>
        <p:txBody>
          <a:bodyPr/>
          <a:lstStyle/>
          <a:p>
            <a:r>
              <a:rPr lang="en-US"/>
              <a:t>Hsu group meeting</a:t>
            </a:r>
          </a:p>
        </p:txBody>
      </p:sp>
      <p:sp>
        <p:nvSpPr>
          <p:cNvPr id="5" name="Slide Number Placeholder 4"/>
          <p:cNvSpPr>
            <a:spLocks noGrp="1"/>
          </p:cNvSpPr>
          <p:nvPr>
            <p:ph type="sldNum" sz="quarter" idx="12"/>
          </p:nvPr>
        </p:nvSpPr>
        <p:spPr/>
        <p:txBody>
          <a:bodyPr/>
          <a:lstStyle/>
          <a:p>
            <a:fld id="{69B5BC37-830D-4F1C-891C-DA1C51928656}" type="slidenum">
              <a:rPr lang="en-US" smtClean="0"/>
              <a:t>54</a:t>
            </a:fld>
            <a:endParaRPr lang="en-US"/>
          </a:p>
        </p:txBody>
      </p:sp>
      <p:sp>
        <p:nvSpPr>
          <p:cNvPr id="6" name="TextBox 5"/>
          <p:cNvSpPr txBox="1"/>
          <p:nvPr/>
        </p:nvSpPr>
        <p:spPr>
          <a:xfrm>
            <a:off x="1371600" y="1219200"/>
            <a:ext cx="6019800" cy="4893647"/>
          </a:xfrm>
          <a:prstGeom prst="rect">
            <a:avLst/>
          </a:prstGeom>
          <a:noFill/>
        </p:spPr>
        <p:txBody>
          <a:bodyPr wrap="square" rtlCol="0">
            <a:spAutoFit/>
          </a:bodyPr>
          <a:lstStyle/>
          <a:p>
            <a:r>
              <a:rPr lang="en-US" sz="2400" dirty="0"/>
              <a:t>Future</a:t>
            </a:r>
          </a:p>
          <a:p>
            <a:endParaRPr lang="en-US" sz="2400" dirty="0"/>
          </a:p>
          <a:p>
            <a:pPr marL="342900" indent="-342900">
              <a:buFont typeface="Arial" panose="020B0604020202020204" pitchFamily="34" charset="0"/>
              <a:buChar char="•"/>
            </a:pPr>
            <a:r>
              <a:rPr lang="en-US" sz="2400" dirty="0"/>
              <a:t>Bioinformatics</a:t>
            </a:r>
          </a:p>
          <a:p>
            <a:endParaRPr lang="en-US" sz="2400" dirty="0"/>
          </a:p>
          <a:p>
            <a:pPr marL="342900" indent="-342900">
              <a:buFont typeface="Arial" panose="020B0604020202020204" pitchFamily="34" charset="0"/>
              <a:buChar char="•"/>
            </a:pPr>
            <a:r>
              <a:rPr lang="en-US" sz="2400" dirty="0"/>
              <a:t>Improved sample preparation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Peptide label v. label-free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Whole cell lysate analysis (no enrichment)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Advanced LC-MS technology/method</a:t>
            </a:r>
          </a:p>
          <a:p>
            <a:endParaRPr lang="en-US" sz="2400" dirty="0"/>
          </a:p>
          <a:p>
            <a:pPr marL="342900" indent="-342900">
              <a:buFont typeface="Arial" panose="020B0604020202020204" pitchFamily="34" charset="0"/>
              <a:buChar char="•"/>
            </a:pPr>
            <a:r>
              <a:rPr lang="en-US" sz="2400" dirty="0"/>
              <a:t>Targeted MS/MS</a:t>
            </a:r>
          </a:p>
        </p:txBody>
      </p:sp>
    </p:spTree>
    <p:extLst>
      <p:ext uri="{BB962C8B-B14F-4D97-AF65-F5344CB8AC3E}">
        <p14:creationId xmlns:p14="http://schemas.microsoft.com/office/powerpoint/2010/main" val="39422958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“Take-Home” Messages</a:t>
            </a:r>
          </a:p>
        </p:txBody>
      </p:sp>
      <p:sp>
        <p:nvSpPr>
          <p:cNvPr id="3" name="Date Placeholder 2"/>
          <p:cNvSpPr>
            <a:spLocks noGrp="1"/>
          </p:cNvSpPr>
          <p:nvPr>
            <p:ph type="dt" sz="half" idx="10"/>
          </p:nvPr>
        </p:nvSpPr>
        <p:spPr/>
        <p:txBody>
          <a:bodyPr/>
          <a:lstStyle/>
          <a:p>
            <a:r>
              <a:rPr lang="en-US"/>
              <a:t>11/2/2015</a:t>
            </a:r>
          </a:p>
        </p:txBody>
      </p:sp>
      <p:sp>
        <p:nvSpPr>
          <p:cNvPr id="4" name="Footer Placeholder 3"/>
          <p:cNvSpPr>
            <a:spLocks noGrp="1"/>
          </p:cNvSpPr>
          <p:nvPr>
            <p:ph type="ftr" sz="quarter" idx="11"/>
          </p:nvPr>
        </p:nvSpPr>
        <p:spPr/>
        <p:txBody>
          <a:bodyPr/>
          <a:lstStyle/>
          <a:p>
            <a:r>
              <a:rPr lang="en-US"/>
              <a:t>Hsu group meeting</a:t>
            </a:r>
          </a:p>
        </p:txBody>
      </p:sp>
      <p:sp>
        <p:nvSpPr>
          <p:cNvPr id="5" name="Slide Number Placeholder 4"/>
          <p:cNvSpPr>
            <a:spLocks noGrp="1"/>
          </p:cNvSpPr>
          <p:nvPr>
            <p:ph type="sldNum" sz="quarter" idx="12"/>
          </p:nvPr>
        </p:nvSpPr>
        <p:spPr/>
        <p:txBody>
          <a:bodyPr/>
          <a:lstStyle/>
          <a:p>
            <a:fld id="{69B5BC37-830D-4F1C-891C-DA1C51928656}" type="slidenum">
              <a:rPr lang="en-US" smtClean="0"/>
              <a:t>55</a:t>
            </a:fld>
            <a:endParaRPr lang="en-US"/>
          </a:p>
        </p:txBody>
      </p:sp>
      <p:sp>
        <p:nvSpPr>
          <p:cNvPr id="6" name="TextBox 5"/>
          <p:cNvSpPr txBox="1"/>
          <p:nvPr/>
        </p:nvSpPr>
        <p:spPr>
          <a:xfrm>
            <a:off x="1559545" y="1524000"/>
            <a:ext cx="6019800"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Simplified but complex instrumentation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Identify peptides, infer proteins</a:t>
            </a:r>
          </a:p>
          <a:p>
            <a:endParaRPr lang="en-US" sz="2400" dirty="0"/>
          </a:p>
          <a:p>
            <a:pPr marL="342900" indent="-342900">
              <a:buFont typeface="Arial" panose="020B0604020202020204" pitchFamily="34" charset="0"/>
              <a:buChar char="•"/>
            </a:pPr>
            <a:r>
              <a:rPr lang="en-US" sz="2400" dirty="0"/>
              <a:t>“Quantitate” peptides not proteins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Manual raw data/search results analysis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Validate results</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318893031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10950</TotalTime>
  <Words>5138</Words>
  <Application>Microsoft Macintosh PowerPoint</Application>
  <PresentationFormat>On-screen Show (4:3)</PresentationFormat>
  <Paragraphs>1385</Paragraphs>
  <Slides>55</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Calibri Light</vt:lpstr>
      <vt:lpstr>Symbol</vt:lpstr>
      <vt:lpstr>Times New Roman</vt:lpstr>
      <vt:lpstr>Custom Design</vt:lpstr>
      <vt:lpstr>PowerPoint Presentation</vt:lpstr>
      <vt:lpstr>Research Plan</vt:lpstr>
      <vt:lpstr>Protein Analysis (now Proteomics)</vt:lpstr>
      <vt:lpstr>Example: Proteomics Research Plan</vt:lpstr>
      <vt:lpstr>A Component of the Research Plan: Mass Spectrometry</vt:lpstr>
      <vt:lpstr>PowerPoint Presentation</vt:lpstr>
      <vt:lpstr>MS History</vt:lpstr>
      <vt:lpstr>MS History</vt:lpstr>
      <vt:lpstr>MS History and Applications</vt:lpstr>
      <vt:lpstr>Proteins Structure, Function, Analysis   </vt:lpstr>
      <vt:lpstr>Protein Structure</vt:lpstr>
      <vt:lpstr>Protein Function</vt:lpstr>
      <vt:lpstr>Protein Analysis  Pre-Mass Spectrometry</vt:lpstr>
      <vt:lpstr>Protein Analysis By Mass Spectrometry?</vt:lpstr>
      <vt:lpstr>PowerPoint Presentation</vt:lpstr>
      <vt:lpstr>PowerPoint Presentation</vt:lpstr>
      <vt:lpstr>Protein Analysis by Mass Spectrometry</vt:lpstr>
      <vt:lpstr>Mass Spectrometry Applied to Protein Analysis (Proteomics) Methods</vt:lpstr>
      <vt:lpstr>MS Proteomics</vt:lpstr>
      <vt:lpstr>Proteomics History</vt:lpstr>
      <vt:lpstr>Proteomics History</vt:lpstr>
      <vt:lpstr>Proteomics History</vt:lpstr>
      <vt:lpstr>Proteomics History</vt:lpstr>
      <vt:lpstr>Proteomics Strategy</vt:lpstr>
      <vt:lpstr>Proteomics Method Steps</vt:lpstr>
      <vt:lpstr>Proteomics Method Steps</vt:lpstr>
      <vt:lpstr>Proteomics Method Steps</vt:lpstr>
      <vt:lpstr>MS Data Example</vt:lpstr>
      <vt:lpstr>MS Data Example</vt:lpstr>
      <vt:lpstr>MS Data Example</vt:lpstr>
      <vt:lpstr>MS Data Example</vt:lpstr>
      <vt:lpstr>MS Proteomics Data Analysis</vt:lpstr>
      <vt:lpstr>MS Proteomics Data Analysis</vt:lpstr>
      <vt:lpstr>Quantitative Proteomics</vt:lpstr>
      <vt:lpstr>“Top Down” Proteomics</vt:lpstr>
      <vt:lpstr>Targeted Proteomics</vt:lpstr>
      <vt:lpstr>References</vt:lpstr>
      <vt:lpstr>References</vt:lpstr>
      <vt:lpstr>Hsu Lab Proteomics</vt:lpstr>
      <vt:lpstr>Hsu Lab Proteomics</vt:lpstr>
      <vt:lpstr>Hsu Lab Proteomics</vt:lpstr>
      <vt:lpstr>Hsu Lab Proteomics</vt:lpstr>
      <vt:lpstr>PowerPoint Presentation</vt:lpstr>
      <vt:lpstr>PowerPoint Presentation</vt:lpstr>
      <vt:lpstr>Hsu Lab Proteomics</vt:lpstr>
      <vt:lpstr>PowerPoint Presentation</vt:lpstr>
      <vt:lpstr>PowerPoint Presentation</vt:lpstr>
      <vt:lpstr>Hsu Lab Proteomics</vt:lpstr>
      <vt:lpstr>PowerPoint Presentation</vt:lpstr>
      <vt:lpstr>Hsu Lab Proteomics</vt:lpstr>
      <vt:lpstr>Hsu Lab Proteomics</vt:lpstr>
      <vt:lpstr>Hsu Lab Proteomics</vt:lpstr>
      <vt:lpstr>Hsu Lab Proteomics</vt:lpstr>
      <vt:lpstr>Hsu Lab Proteomics</vt:lpstr>
      <vt:lpstr>“Take-Home” Messages</vt:lpstr>
    </vt:vector>
  </TitlesOfParts>
  <Company>FDA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Ross, Mark</dc:creator>
  <cp:lastModifiedBy>Ken Hsu</cp:lastModifiedBy>
  <cp:revision>91</cp:revision>
  <dcterms:created xsi:type="dcterms:W3CDTF">2014-02-10T15:30:58Z</dcterms:created>
  <dcterms:modified xsi:type="dcterms:W3CDTF">2019-02-01T22:28:24Z</dcterms:modified>
</cp:coreProperties>
</file>