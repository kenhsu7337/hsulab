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300" r:id="rId3"/>
    <p:sldId id="339" r:id="rId4"/>
    <p:sldId id="340" r:id="rId5"/>
    <p:sldId id="262" r:id="rId6"/>
    <p:sldId id="258" r:id="rId7"/>
    <p:sldId id="259" r:id="rId8"/>
    <p:sldId id="377" r:id="rId9"/>
    <p:sldId id="260" r:id="rId10"/>
    <p:sldId id="301" r:id="rId11"/>
    <p:sldId id="302" r:id="rId12"/>
    <p:sldId id="265" r:id="rId13"/>
    <p:sldId id="264" r:id="rId14"/>
    <p:sldId id="275" r:id="rId15"/>
    <p:sldId id="266" r:id="rId16"/>
    <p:sldId id="293" r:id="rId17"/>
    <p:sldId id="325" r:id="rId18"/>
    <p:sldId id="303" r:id="rId19"/>
    <p:sldId id="294" r:id="rId20"/>
    <p:sldId id="296" r:id="rId21"/>
    <p:sldId id="298" r:id="rId22"/>
    <p:sldId id="299" r:id="rId23"/>
    <p:sldId id="276" r:id="rId24"/>
    <p:sldId id="278" r:id="rId25"/>
    <p:sldId id="313" r:id="rId26"/>
    <p:sldId id="263" r:id="rId27"/>
    <p:sldId id="373" r:id="rId28"/>
    <p:sldId id="329" r:id="rId29"/>
    <p:sldId id="343" r:id="rId30"/>
    <p:sldId id="371" r:id="rId31"/>
    <p:sldId id="348" r:id="rId32"/>
    <p:sldId id="344" r:id="rId33"/>
    <p:sldId id="345" r:id="rId34"/>
    <p:sldId id="346" r:id="rId35"/>
    <p:sldId id="347" r:id="rId36"/>
    <p:sldId id="349" r:id="rId37"/>
    <p:sldId id="353" r:id="rId38"/>
    <p:sldId id="357" r:id="rId39"/>
    <p:sldId id="354" r:id="rId40"/>
    <p:sldId id="359" r:id="rId41"/>
    <p:sldId id="358" r:id="rId42"/>
    <p:sldId id="360" r:id="rId43"/>
    <p:sldId id="356" r:id="rId44"/>
    <p:sldId id="355" r:id="rId45"/>
    <p:sldId id="361" r:id="rId46"/>
    <p:sldId id="363" r:id="rId47"/>
    <p:sldId id="364" r:id="rId48"/>
    <p:sldId id="365" r:id="rId49"/>
    <p:sldId id="306" r:id="rId50"/>
    <p:sldId id="307" r:id="rId51"/>
    <p:sldId id="370" r:id="rId52"/>
    <p:sldId id="367" r:id="rId53"/>
    <p:sldId id="372" r:id="rId54"/>
    <p:sldId id="368" r:id="rId55"/>
    <p:sldId id="369" r:id="rId56"/>
    <p:sldId id="366" r:id="rId57"/>
    <p:sldId id="375" r:id="rId58"/>
    <p:sldId id="281" r:id="rId59"/>
    <p:sldId id="314" r:id="rId60"/>
    <p:sldId id="284" r:id="rId61"/>
    <p:sldId id="37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0047" autoAdjust="0"/>
  </p:normalViewPr>
  <p:slideViewPr>
    <p:cSldViewPr snapToGrid="0">
      <p:cViewPr varScale="1">
        <p:scale>
          <a:sx n="87" d="100"/>
          <a:sy n="87" d="100"/>
        </p:scale>
        <p:origin x="9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0371D-2EF4-4C1D-ADD5-720F9BAA9BB8}" type="datetimeFigureOut">
              <a:rPr lang="en-US" smtClean="0"/>
              <a:t>10/30/2022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BFA674-0B3E-4D7C-976A-C69FC6DEA320}" type="slidenum">
              <a:rPr lang="en-US" smtClean="0"/>
              <a:t>‹#›</a:t>
            </a:fld>
            <a:endParaRPr lang="en-US"/>
          </a:p>
        </p:txBody>
      </p:sp>
    </p:spTree>
    <p:extLst>
      <p:ext uri="{BB962C8B-B14F-4D97-AF65-F5344CB8AC3E}">
        <p14:creationId xmlns:p14="http://schemas.microsoft.com/office/powerpoint/2010/main" val="3435045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FA674-0B3E-4D7C-976A-C69FC6DEA320}" type="slidenum">
              <a:rPr lang="en-US" smtClean="0"/>
              <a:t>1</a:t>
            </a:fld>
            <a:endParaRPr lang="en-US"/>
          </a:p>
        </p:txBody>
      </p:sp>
    </p:spTree>
    <p:extLst>
      <p:ext uri="{BB962C8B-B14F-4D97-AF65-F5344CB8AC3E}">
        <p14:creationId xmlns:p14="http://schemas.microsoft.com/office/powerpoint/2010/main" val="1217539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Not intact proteins</a:t>
            </a:r>
          </a:p>
        </p:txBody>
      </p:sp>
      <p:sp>
        <p:nvSpPr>
          <p:cNvPr id="4" name="Slide Number Placeholder 3"/>
          <p:cNvSpPr>
            <a:spLocks noGrp="1"/>
          </p:cNvSpPr>
          <p:nvPr>
            <p:ph type="sldNum" sz="quarter" idx="10"/>
          </p:nvPr>
        </p:nvSpPr>
        <p:spPr/>
        <p:txBody>
          <a:bodyPr/>
          <a:lstStyle/>
          <a:p>
            <a:fld id="{BA8ACA8A-A4FF-4059-89F3-CB117213B8EC}"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Marshall’s email on 2/9/2015</a:t>
            </a:r>
          </a:p>
          <a:p>
            <a:r>
              <a:rPr lang="en-US" dirty="0"/>
              <a:t>1.  c-1 and z+1 peaks in spectra from low-charge (z=2+) precursors</a:t>
            </a:r>
            <a:br>
              <a:rPr lang="en-US" dirty="0"/>
            </a:br>
            <a:r>
              <a:rPr lang="en-US" dirty="0"/>
              <a:t>2.  Charge reduction of higher charge fragments producing c+1, c+2, and z+1, z+2 peaks  (that is, seemingly large isotope peaks)</a:t>
            </a:r>
            <a:br>
              <a:rPr lang="en-US" dirty="0"/>
            </a:br>
            <a:r>
              <a:rPr lang="en-US" dirty="0"/>
              <a:t>3.  Side-chain loss from z-ions with N-terminal </a:t>
            </a:r>
            <a:r>
              <a:rPr lang="en-US" dirty="0" err="1"/>
              <a:t>Cys</a:t>
            </a:r>
            <a:r>
              <a:rPr lang="en-US" dirty="0"/>
              <a:t> (really useful for </a:t>
            </a:r>
            <a:r>
              <a:rPr lang="en-US" dirty="0" err="1"/>
              <a:t>Cys</a:t>
            </a:r>
            <a:r>
              <a:rPr lang="en-US" dirty="0"/>
              <a:t> rich sequences,</a:t>
            </a:r>
            <a:r>
              <a:rPr lang="en-US" baseline="0" dirty="0"/>
              <a:t> like those from toxins)</a:t>
            </a:r>
            <a:br>
              <a:rPr lang="en-US" dirty="0"/>
            </a:br>
            <a:r>
              <a:rPr lang="en-US" dirty="0"/>
              <a:t>4.  Predicted fragment charges dependent upon precursor charge and basicity of fragment</a:t>
            </a:r>
            <a:br>
              <a:rPr lang="en-US" dirty="0"/>
            </a:br>
            <a:r>
              <a:rPr lang="en-US" dirty="0"/>
              <a:t>5.  ETD splitting cysteine cysteinylation (loss of 119 and/or 120 Da).</a:t>
            </a:r>
            <a:br>
              <a:rPr lang="en-US" dirty="0"/>
            </a:br>
            <a:endParaRPr lang="en-US" dirty="0"/>
          </a:p>
          <a:p>
            <a:r>
              <a:rPr lang="en-US" dirty="0"/>
              <a:t>And some </a:t>
            </a:r>
            <a:r>
              <a:rPr lang="en-US" dirty="0" err="1"/>
              <a:t>glycopeptide</a:t>
            </a:r>
            <a:r>
              <a:rPr lang="en-US" dirty="0"/>
              <a:t>-specific characteristics:</a:t>
            </a:r>
            <a:br>
              <a:rPr lang="en-US" dirty="0"/>
            </a:br>
            <a:r>
              <a:rPr lang="en-US" dirty="0"/>
              <a:t>6.  ETD cleaving off the Acetyl group from </a:t>
            </a:r>
            <a:r>
              <a:rPr lang="en-US" dirty="0" err="1"/>
              <a:t>HexNAc</a:t>
            </a:r>
            <a:br>
              <a:rPr lang="en-US" dirty="0"/>
            </a:br>
            <a:r>
              <a:rPr lang="en-US" dirty="0"/>
              <a:t>7.  ETD cleaving off sialic acids from </a:t>
            </a:r>
            <a:r>
              <a:rPr lang="en-US" dirty="0" err="1"/>
              <a:t>glycopeptides</a:t>
            </a:r>
            <a:r>
              <a:rPr lang="en-US" dirty="0"/>
              <a:t>.</a:t>
            </a:r>
          </a:p>
        </p:txBody>
      </p:sp>
      <p:sp>
        <p:nvSpPr>
          <p:cNvPr id="4" name="Slide Number Placeholder 3"/>
          <p:cNvSpPr>
            <a:spLocks noGrp="1"/>
          </p:cNvSpPr>
          <p:nvPr>
            <p:ph type="sldNum" sz="quarter" idx="10"/>
          </p:nvPr>
        </p:nvSpPr>
        <p:spPr/>
        <p:txBody>
          <a:bodyPr/>
          <a:lstStyle/>
          <a:p>
            <a:fld id="{BA8ACA8A-A4FF-4059-89F3-CB117213B8EC}" type="slidenum">
              <a:rPr lang="en-US" smtClean="0"/>
              <a:pPr/>
              <a:t>12</a:t>
            </a:fld>
            <a:endParaRPr lang="en-US"/>
          </a:p>
        </p:txBody>
      </p:sp>
    </p:spTree>
    <p:extLst>
      <p:ext uri="{BB962C8B-B14F-4D97-AF65-F5344CB8AC3E}">
        <p14:creationId xmlns:p14="http://schemas.microsoft.com/office/powerpoint/2010/main" val="3445734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Ser</a:t>
            </a:r>
            <a:r>
              <a:rPr lang="en-US" dirty="0"/>
              <a:t>/</a:t>
            </a:r>
            <a:r>
              <a:rPr lang="en-US" dirty="0" err="1"/>
              <a:t>Thr</a:t>
            </a:r>
            <a:r>
              <a:rPr lang="en-US" dirty="0"/>
              <a:t>/Aspartic Acid/Glutamic Acid (-18)</a:t>
            </a:r>
          </a:p>
          <a:p>
            <a:endParaRPr lang="en-US" dirty="0"/>
          </a:p>
          <a:p>
            <a:r>
              <a:rPr lang="en-US" dirty="0"/>
              <a:t>Asparagine/Glutamine/Lys/</a:t>
            </a:r>
            <a:r>
              <a:rPr lang="en-US" dirty="0" err="1"/>
              <a:t>Arg</a:t>
            </a:r>
            <a:r>
              <a:rPr lang="en-US" dirty="0"/>
              <a:t> (-17)</a:t>
            </a:r>
          </a:p>
        </p:txBody>
      </p:sp>
      <p:sp>
        <p:nvSpPr>
          <p:cNvPr id="4" name="Slide Number Placeholder 3"/>
          <p:cNvSpPr>
            <a:spLocks noGrp="1"/>
          </p:cNvSpPr>
          <p:nvPr>
            <p:ph type="sldNum" sz="quarter" idx="10"/>
          </p:nvPr>
        </p:nvSpPr>
        <p:spPr/>
        <p:txBody>
          <a:bodyPr/>
          <a:lstStyle/>
          <a:p>
            <a:fld id="{BA8ACA8A-A4FF-4059-89F3-CB117213B8EC}" type="slidenum">
              <a:rPr lang="en-US" smtClean="0"/>
              <a:pPr/>
              <a:t>13</a:t>
            </a:fld>
            <a:endParaRPr lang="en-US"/>
          </a:p>
        </p:txBody>
      </p:sp>
    </p:spTree>
    <p:extLst>
      <p:ext uri="{BB962C8B-B14F-4D97-AF65-F5344CB8AC3E}">
        <p14:creationId xmlns:p14="http://schemas.microsoft.com/office/powerpoint/2010/main" val="417140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Immonium</a:t>
            </a:r>
            <a:r>
              <a:rPr lang="en-US" b="1" dirty="0"/>
              <a:t> Ions</a:t>
            </a:r>
          </a:p>
          <a:p>
            <a:r>
              <a:rPr lang="en-US" dirty="0"/>
              <a:t>An internal fragment with just a single side chain formed by a combination of </a:t>
            </a:r>
            <a:r>
              <a:rPr lang="en-US" i="1" dirty="0"/>
              <a:t>a</a:t>
            </a:r>
            <a:r>
              <a:rPr lang="en-US" dirty="0"/>
              <a:t> type and </a:t>
            </a:r>
            <a:r>
              <a:rPr lang="en-US" i="1" dirty="0"/>
              <a:t>y</a:t>
            </a:r>
            <a:r>
              <a:rPr lang="en-US" dirty="0"/>
              <a:t> type cleavage is called an </a:t>
            </a:r>
            <a:r>
              <a:rPr lang="en-US" dirty="0" err="1"/>
              <a:t>immonium</a:t>
            </a:r>
            <a:r>
              <a:rPr lang="en-US" dirty="0"/>
              <a:t> ion.</a:t>
            </a:r>
          </a:p>
          <a:p>
            <a:endParaRPr lang="en-US" dirty="0"/>
          </a:p>
        </p:txBody>
      </p:sp>
      <p:sp>
        <p:nvSpPr>
          <p:cNvPr id="4" name="Slide Number Placeholder 3"/>
          <p:cNvSpPr>
            <a:spLocks noGrp="1"/>
          </p:cNvSpPr>
          <p:nvPr>
            <p:ph type="sldNum" sz="quarter" idx="10"/>
          </p:nvPr>
        </p:nvSpPr>
        <p:spPr/>
        <p:txBody>
          <a:bodyPr/>
          <a:lstStyle/>
          <a:p>
            <a:fld id="{BA8ACA8A-A4FF-4059-89F3-CB117213B8EC}" type="slidenum">
              <a:rPr lang="en-US" smtClean="0"/>
              <a:pPr/>
              <a:t>14</a:t>
            </a:fld>
            <a:endParaRPr lang="en-US"/>
          </a:p>
        </p:txBody>
      </p:sp>
    </p:spTree>
    <p:extLst>
      <p:ext uri="{BB962C8B-B14F-4D97-AF65-F5344CB8AC3E}">
        <p14:creationId xmlns:p14="http://schemas.microsoft.com/office/powerpoint/2010/main" val="1062512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dirty="0"/>
              <a:t>2.  If fragment mass tolerance is &gt;= 0.1 Da or &gt;= 100 ppm, then </a:t>
            </a:r>
            <a:r>
              <a:rPr lang="en-US" dirty="0" err="1"/>
              <a:t>Byonic</a:t>
            </a:r>
            <a:r>
              <a:rPr lang="en-US" dirty="0"/>
              <a:t> assumes low-resolution MS2 and treats multiply charged fragments differently than singly charged.  (We gently transition to average isotope.)  For fragment tolerance &lt; 0.1 Da or &lt; 100 ppm, </a:t>
            </a:r>
            <a:r>
              <a:rPr lang="en-US" dirty="0" err="1"/>
              <a:t>Byonic</a:t>
            </a:r>
            <a:r>
              <a:rPr lang="en-US" dirty="0"/>
              <a:t> assumes that fragment ions are isotope resolved</a:t>
            </a:r>
          </a:p>
          <a:p>
            <a:endParaRPr lang="en-US" dirty="0"/>
          </a:p>
          <a:p>
            <a:r>
              <a:rPr lang="en-US" dirty="0"/>
              <a:t>4.  </a:t>
            </a:r>
            <a:r>
              <a:rPr lang="en-US" dirty="0" err="1"/>
              <a:t>Byonic</a:t>
            </a:r>
            <a:r>
              <a:rPr lang="en-US" dirty="0"/>
              <a:t> does something like this to predict fragment charges for high-charge peptides:   All residues except R, H, and K have basicity 0.2, H and K have basicity 1, and R has basicity 2.  b, c, and y ions have extra basicity 1 for their N-termini.  The "natural charge" of a fragment ion is the closest integer to (proportion) * (peptide total charge [-1 for ETD]), where proportion is the fragment's basicity divided by the peptide's total basicity.  </a:t>
            </a:r>
            <a:r>
              <a:rPr lang="en-US" dirty="0" err="1"/>
              <a:t>Byonic</a:t>
            </a:r>
            <a:r>
              <a:rPr lang="en-US" dirty="0"/>
              <a:t> then looks for the fragment at its natural charge +/- 1.  We allow charges up to about 2/3 of (peptide total charge [-1 for ETD]).</a:t>
            </a:r>
          </a:p>
        </p:txBody>
      </p:sp>
      <p:sp>
        <p:nvSpPr>
          <p:cNvPr id="4" name="Slide Number Placeholder 3"/>
          <p:cNvSpPr>
            <a:spLocks noGrp="1"/>
          </p:cNvSpPr>
          <p:nvPr>
            <p:ph type="sldNum" sz="quarter" idx="10"/>
          </p:nvPr>
        </p:nvSpPr>
        <p:spPr/>
        <p:txBody>
          <a:bodyPr/>
          <a:lstStyle/>
          <a:p>
            <a:fld id="{BA8ACA8A-A4FF-4059-89F3-CB117213B8EC}" type="slidenum">
              <a:rPr lang="en-US" smtClean="0"/>
              <a:pPr/>
              <a:t>15</a:t>
            </a:fld>
            <a:endParaRPr lang="en-US"/>
          </a:p>
        </p:txBody>
      </p:sp>
    </p:spTree>
    <p:extLst>
      <p:ext uri="{BB962C8B-B14F-4D97-AF65-F5344CB8AC3E}">
        <p14:creationId xmlns:p14="http://schemas.microsoft.com/office/powerpoint/2010/main" val="2183386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4.  </a:t>
            </a:r>
            <a:r>
              <a:rPr lang="en-US" dirty="0" err="1"/>
              <a:t>Byonic</a:t>
            </a:r>
            <a:r>
              <a:rPr lang="en-US" dirty="0"/>
              <a:t> does something like this to predict fragment charges for high-charge peptides:   All residues except R, H, and K have basicity 0.2, H and K have basicity 1, and R has basicity 2.  b, c, and y ions have extra basicity 1 for their N-termini.  The "natural charge" of a fragment ion is the closest integer to (proportion) * (peptide total charge [-1 for ETD]), where proportion is the fragment's basicity divided by the peptide's total basicity.  </a:t>
            </a:r>
            <a:r>
              <a:rPr lang="en-US" dirty="0" err="1"/>
              <a:t>Byonic</a:t>
            </a:r>
            <a:r>
              <a:rPr lang="en-US" dirty="0"/>
              <a:t> then looks for the fragment at its natural charge +/- 1.  We allow charges up to about 2/3 of (peptide total charge [-1 for ETD]).</a:t>
            </a:r>
          </a:p>
          <a:p>
            <a:endParaRPr lang="en-US" dirty="0"/>
          </a:p>
        </p:txBody>
      </p:sp>
      <p:sp>
        <p:nvSpPr>
          <p:cNvPr id="4" name="Slide Number Placeholder 3"/>
          <p:cNvSpPr>
            <a:spLocks noGrp="1"/>
          </p:cNvSpPr>
          <p:nvPr>
            <p:ph type="sldNum" sz="quarter" idx="10"/>
          </p:nvPr>
        </p:nvSpPr>
        <p:spPr/>
        <p:txBody>
          <a:bodyPr/>
          <a:lstStyle/>
          <a:p>
            <a:fld id="{BA8ACA8A-A4FF-4059-89F3-CB117213B8EC}" type="slidenum">
              <a:rPr lang="en-US" smtClean="0"/>
              <a:pPr/>
              <a:t>16</a:t>
            </a:fld>
            <a:endParaRPr lang="en-US"/>
          </a:p>
        </p:txBody>
      </p:sp>
    </p:spTree>
    <p:extLst>
      <p:ext uri="{BB962C8B-B14F-4D97-AF65-F5344CB8AC3E}">
        <p14:creationId xmlns:p14="http://schemas.microsoft.com/office/powerpoint/2010/main" val="3099544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A8ACA8A-A4FF-4059-89F3-CB117213B8EC}" type="slidenum">
              <a:rPr lang="en-US" smtClean="0"/>
              <a:pPr/>
              <a:t>18</a:t>
            </a:fld>
            <a:endParaRPr lang="en-US"/>
          </a:p>
        </p:txBody>
      </p:sp>
    </p:spTree>
    <p:extLst>
      <p:ext uri="{BB962C8B-B14F-4D97-AF65-F5344CB8AC3E}">
        <p14:creationId xmlns:p14="http://schemas.microsoft.com/office/powerpoint/2010/main" val="2183386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a:t>
            </a:r>
            <a:r>
              <a:rPr lang="en-US" dirty="0" err="1"/>
              <a:t>LogProb</a:t>
            </a:r>
            <a:r>
              <a:rPr lang="en-US" dirty="0"/>
              <a:t>| (which is the same as -log(PEP 2D))  already contains score, delta score, ppm precursor accuracy, protein of origin, etc.  And it's normalized against decoy matches, so it should be reasonably accurate. </a:t>
            </a:r>
            <a:br>
              <a:rPr lang="en-US" dirty="0"/>
            </a:br>
            <a:endParaRPr lang="en-US" dirty="0"/>
          </a:p>
          <a:p>
            <a:r>
              <a:rPr lang="en-US" dirty="0"/>
              <a:t>FDR:</a:t>
            </a:r>
            <a:r>
              <a:rPr lang="en-US" baseline="0" dirty="0"/>
              <a:t>  measures error rate associated with a collection of spectra.</a:t>
            </a:r>
          </a:p>
          <a:p>
            <a:r>
              <a:rPr lang="en-US" baseline="0" dirty="0"/>
              <a:t>PEP:  measures probability of error for one particular spectrum.  Some argue it is a more useful measure.  But it is highly dependent on the assumptions underlying the calculation.</a:t>
            </a:r>
            <a:endParaRPr lang="en-US" dirty="0"/>
          </a:p>
        </p:txBody>
      </p:sp>
      <p:sp>
        <p:nvSpPr>
          <p:cNvPr id="4" name="Slide Number Placeholder 3"/>
          <p:cNvSpPr>
            <a:spLocks noGrp="1"/>
          </p:cNvSpPr>
          <p:nvPr>
            <p:ph type="sldNum" sz="quarter" idx="10"/>
          </p:nvPr>
        </p:nvSpPr>
        <p:spPr/>
        <p:txBody>
          <a:bodyPr/>
          <a:lstStyle/>
          <a:p>
            <a:fld id="{BA8ACA8A-A4FF-4059-89F3-CB117213B8EC}" type="slidenum">
              <a:rPr lang="en-US" smtClean="0"/>
              <a:pPr/>
              <a:t>21</a:t>
            </a:fld>
            <a:endParaRPr lang="en-US"/>
          </a:p>
        </p:txBody>
      </p:sp>
    </p:spTree>
    <p:extLst>
      <p:ext uri="{BB962C8B-B14F-4D97-AF65-F5344CB8AC3E}">
        <p14:creationId xmlns:p14="http://schemas.microsoft.com/office/powerpoint/2010/main" val="2438690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a:t>
            </a:r>
            <a:r>
              <a:rPr lang="en-US" dirty="0" err="1"/>
              <a:t>LogProb</a:t>
            </a:r>
            <a:r>
              <a:rPr lang="en-US" dirty="0"/>
              <a:t>| (which is the same as -log(PEP 2D))  already contains score, delta score, ppm precursor accuracy, protein of origin, etc.  And it's normalized against decoy matches, so it should be reasonably accurate. </a:t>
            </a:r>
            <a:br>
              <a:rPr lang="en-US" dirty="0"/>
            </a:br>
            <a:endParaRPr lang="en-US" dirty="0"/>
          </a:p>
          <a:p>
            <a:r>
              <a:rPr lang="en-US" dirty="0"/>
              <a:t>But let's be clear what it measures --- PEP 2D gives the probability that such a match could come from the probability distribution of the decoys.  It says nothing about misplaced modifications, swapped residues, etc.  And it naturally goes up with peptide length.  It's not unusual for a decoy peptide and a 9-mer to agree on 75% of their fragment peaks, but this just can't happen with a 30-mer.</a:t>
            </a:r>
            <a:br>
              <a:rPr lang="en-US" dirty="0"/>
            </a:br>
            <a:endParaRPr lang="en-US" dirty="0"/>
          </a:p>
          <a:p>
            <a:r>
              <a:rPr lang="en-US" dirty="0"/>
              <a:t>Score also goes up with number of peaks, so very furry spectra (usually from QTOF with bad peak picking) can give noise matches with scores up to 400 or more, but |</a:t>
            </a:r>
            <a:r>
              <a:rPr lang="en-US" dirty="0" err="1"/>
              <a:t>LogProb</a:t>
            </a:r>
            <a:r>
              <a:rPr lang="en-US" dirty="0"/>
              <a:t>| should automatically adjust for number of peaks.</a:t>
            </a:r>
          </a:p>
        </p:txBody>
      </p:sp>
      <p:sp>
        <p:nvSpPr>
          <p:cNvPr id="4" name="Slide Number Placeholder 3"/>
          <p:cNvSpPr>
            <a:spLocks noGrp="1"/>
          </p:cNvSpPr>
          <p:nvPr>
            <p:ph type="sldNum" sz="quarter" idx="10"/>
          </p:nvPr>
        </p:nvSpPr>
        <p:spPr/>
        <p:txBody>
          <a:bodyPr/>
          <a:lstStyle/>
          <a:p>
            <a:fld id="{BA8ACA8A-A4FF-4059-89F3-CB117213B8EC}" type="slidenum">
              <a:rPr lang="en-US" smtClean="0"/>
              <a:pPr/>
              <a:t>22</a:t>
            </a:fld>
            <a:endParaRPr lang="en-US"/>
          </a:p>
        </p:txBody>
      </p:sp>
    </p:spTree>
    <p:extLst>
      <p:ext uri="{BB962C8B-B14F-4D97-AF65-F5344CB8AC3E}">
        <p14:creationId xmlns:p14="http://schemas.microsoft.com/office/powerpoint/2010/main" val="2438690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a:t>
            </a:r>
            <a:r>
              <a:rPr lang="en-US" dirty="0" err="1"/>
              <a:t>LogProb</a:t>
            </a:r>
            <a:r>
              <a:rPr lang="en-US" dirty="0"/>
              <a:t>| (which is the same as -log(PEP 2D))  already contains score, delta score, ppm precursor accuracy, protein of origin, etc.  And it's normalized against decoy matches, so it should be reasonably accurate. </a:t>
            </a:r>
            <a:br>
              <a:rPr lang="en-US" dirty="0"/>
            </a:br>
            <a:endParaRPr lang="en-US" dirty="0"/>
          </a:p>
          <a:p>
            <a:r>
              <a:rPr lang="en-US" dirty="0"/>
              <a:t>But let's be clear what it measures --- PEP 2D gives the probability that such a match could come from the probability distribution of the decoys.  It says nothing about misplaced modifications, swapped residues, etc.  And it naturally goes up with peptide length.  It's not unusual for a decoy peptide and a 9-mer to agree on 75% of their fragment peaks, but this just can't happen with a 30-mer.</a:t>
            </a:r>
            <a:br>
              <a:rPr lang="en-US" dirty="0"/>
            </a:br>
            <a:endParaRPr lang="en-US" dirty="0"/>
          </a:p>
          <a:p>
            <a:r>
              <a:rPr lang="en-US" dirty="0"/>
              <a:t>Score also goes up with number of peaks, so very furry spectra (usually from QTOF with bad peak picking) can give noise matches with scores up to 400 or more, but |</a:t>
            </a:r>
            <a:r>
              <a:rPr lang="en-US" dirty="0" err="1"/>
              <a:t>LogProb</a:t>
            </a:r>
            <a:r>
              <a:rPr lang="en-US" dirty="0"/>
              <a:t>| should automatically adjust for number of peaks.</a:t>
            </a:r>
          </a:p>
        </p:txBody>
      </p:sp>
      <p:sp>
        <p:nvSpPr>
          <p:cNvPr id="4" name="Slide Number Placeholder 3"/>
          <p:cNvSpPr>
            <a:spLocks noGrp="1"/>
          </p:cNvSpPr>
          <p:nvPr>
            <p:ph type="sldNum" sz="quarter" idx="10"/>
          </p:nvPr>
        </p:nvSpPr>
        <p:spPr/>
        <p:txBody>
          <a:bodyPr/>
          <a:lstStyle/>
          <a:p>
            <a:fld id="{BA8ACA8A-A4FF-4059-89F3-CB117213B8EC}" type="slidenum">
              <a:rPr lang="en-US" smtClean="0"/>
              <a:pPr/>
              <a:t>23</a:t>
            </a:fld>
            <a:endParaRPr lang="en-US"/>
          </a:p>
        </p:txBody>
      </p:sp>
    </p:spTree>
    <p:extLst>
      <p:ext uri="{BB962C8B-B14F-4D97-AF65-F5344CB8AC3E}">
        <p14:creationId xmlns:p14="http://schemas.microsoft.com/office/powerpoint/2010/main" val="2438690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a:t>
            </a:r>
            <a:r>
              <a:rPr lang="en-US" dirty="0" err="1"/>
              <a:t>LogProb</a:t>
            </a:r>
            <a:r>
              <a:rPr lang="en-US" dirty="0"/>
              <a:t>| (which is the same as -log(PEP 2D))  already contains score, delta score, ppm precursor accuracy, protein of origin, etc.  And it's normalized against decoy matches, so it should be reasonably accurate. </a:t>
            </a:r>
            <a:br>
              <a:rPr lang="en-US" dirty="0"/>
            </a:br>
            <a:endParaRPr lang="en-US" dirty="0"/>
          </a:p>
          <a:p>
            <a:r>
              <a:rPr lang="en-US" dirty="0"/>
              <a:t>But let's be clear what it measures --- PEP 2D gives the probability that such a match could come from the probability distribution of the decoys.  It says nothing about misplaced modifications, swapped residues, etc.  And it naturally goes up with peptide length.  It's not unusual for a decoy peptide and a 9-mer to agree on 75% of their fragment peaks, but this just can't happen with a 30-mer.</a:t>
            </a:r>
            <a:br>
              <a:rPr lang="en-US" dirty="0"/>
            </a:br>
            <a:endParaRPr lang="en-US" dirty="0"/>
          </a:p>
          <a:p>
            <a:r>
              <a:rPr lang="en-US" dirty="0"/>
              <a:t>Score also goes up with number of peaks, so very furry spectra (usually from QTOF with bad peak picking) can give noise matches with scores up to 400 or more, but |</a:t>
            </a:r>
            <a:r>
              <a:rPr lang="en-US" dirty="0" err="1"/>
              <a:t>LogProb</a:t>
            </a:r>
            <a:r>
              <a:rPr lang="en-US" dirty="0"/>
              <a:t>| should automatically adjust for number of peaks.</a:t>
            </a:r>
          </a:p>
        </p:txBody>
      </p:sp>
      <p:sp>
        <p:nvSpPr>
          <p:cNvPr id="4" name="Slide Number Placeholder 3"/>
          <p:cNvSpPr>
            <a:spLocks noGrp="1"/>
          </p:cNvSpPr>
          <p:nvPr>
            <p:ph type="sldNum" sz="quarter" idx="10"/>
          </p:nvPr>
        </p:nvSpPr>
        <p:spPr/>
        <p:txBody>
          <a:bodyPr/>
          <a:lstStyle/>
          <a:p>
            <a:fld id="{BA8ACA8A-A4FF-4059-89F3-CB117213B8EC}" type="slidenum">
              <a:rPr lang="en-US" smtClean="0"/>
              <a:pPr/>
              <a:t>24</a:t>
            </a:fld>
            <a:endParaRPr lang="en-US"/>
          </a:p>
        </p:txBody>
      </p:sp>
    </p:spTree>
    <p:extLst>
      <p:ext uri="{BB962C8B-B14F-4D97-AF65-F5344CB8AC3E}">
        <p14:creationId xmlns:p14="http://schemas.microsoft.com/office/powerpoint/2010/main" val="2438690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Not intact proteins</a:t>
            </a:r>
          </a:p>
        </p:txBody>
      </p:sp>
      <p:sp>
        <p:nvSpPr>
          <p:cNvPr id="4" name="Slide Number Placeholder 3"/>
          <p:cNvSpPr>
            <a:spLocks noGrp="1"/>
          </p:cNvSpPr>
          <p:nvPr>
            <p:ph type="sldNum" sz="quarter" idx="10"/>
          </p:nvPr>
        </p:nvSpPr>
        <p:spPr/>
        <p:txBody>
          <a:bodyPr/>
          <a:lstStyle/>
          <a:p>
            <a:fld id="{BA8ACA8A-A4FF-4059-89F3-CB117213B8EC}" type="slidenum">
              <a:rPr lang="en-US" smtClean="0"/>
              <a:pPr/>
              <a:t>27</a:t>
            </a:fld>
            <a:endParaRPr lang="en-US"/>
          </a:p>
        </p:txBody>
      </p:sp>
    </p:spTree>
    <p:extLst>
      <p:ext uri="{BB962C8B-B14F-4D97-AF65-F5344CB8AC3E}">
        <p14:creationId xmlns:p14="http://schemas.microsoft.com/office/powerpoint/2010/main" val="682326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Findability, Accessibility, Interoperability, Reusable</a:t>
            </a:r>
          </a:p>
        </p:txBody>
      </p:sp>
      <p:sp>
        <p:nvSpPr>
          <p:cNvPr id="4" name="Slide Number Placeholder 3"/>
          <p:cNvSpPr>
            <a:spLocks noGrp="1"/>
          </p:cNvSpPr>
          <p:nvPr>
            <p:ph type="sldNum" sz="quarter" idx="5"/>
          </p:nvPr>
        </p:nvSpPr>
        <p:spPr/>
        <p:txBody>
          <a:bodyPr/>
          <a:lstStyle/>
          <a:p>
            <a:fld id="{06BFA674-0B3E-4D7C-976A-C69FC6DEA320}" type="slidenum">
              <a:rPr lang="en-US" smtClean="0"/>
              <a:t>57</a:t>
            </a:fld>
            <a:endParaRPr lang="en-US"/>
          </a:p>
        </p:txBody>
      </p:sp>
    </p:spTree>
    <p:extLst>
      <p:ext uri="{BB962C8B-B14F-4D97-AF65-F5344CB8AC3E}">
        <p14:creationId xmlns:p14="http://schemas.microsoft.com/office/powerpoint/2010/main" val="4228430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5E842-27DF-A55B-16EF-6F9B639D1E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D44FBA-CF0F-D90B-547F-1186F2C2A8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1D7C71-2BF7-FF07-A78B-ED096F644C0E}"/>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5" name="Footer Placeholder 4">
            <a:extLst>
              <a:ext uri="{FF2B5EF4-FFF2-40B4-BE49-F238E27FC236}">
                <a16:creationId xmlns:a16="http://schemas.microsoft.com/office/drawing/2014/main" id="{B306A32E-66A7-2CC0-7581-4C3C0D6D52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0B5B4-52EA-D71A-C6C3-11212B04B330}"/>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4152567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C235D-E250-3CF7-6130-1404F04527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B80505-A3A5-76EC-B952-0EC2DFF408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4BA5F-0811-E389-89CC-76FFFF039AAC}"/>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5" name="Footer Placeholder 4">
            <a:extLst>
              <a:ext uri="{FF2B5EF4-FFF2-40B4-BE49-F238E27FC236}">
                <a16:creationId xmlns:a16="http://schemas.microsoft.com/office/drawing/2014/main" id="{85FD8E7B-4DDB-1037-BFE7-BAAD5D4629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B398C-0520-229A-6ED9-B91C563E1D9A}"/>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1042621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6EE9-5A8D-1102-56F2-C798502A3D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D31891-9442-F57B-EE22-CC26D3B3F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E7A8A5-92B3-E22A-EE03-1ABED5BBBF8E}"/>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5" name="Footer Placeholder 4">
            <a:extLst>
              <a:ext uri="{FF2B5EF4-FFF2-40B4-BE49-F238E27FC236}">
                <a16:creationId xmlns:a16="http://schemas.microsoft.com/office/drawing/2014/main" id="{B08A3B57-D59F-F7B8-6859-3CAAAACD7F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65D30-47FE-B42B-6CCA-A2D0476483B0}"/>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3217996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8AD6-BCFB-D880-8F38-35FB49CCFD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96CF2E-5C8E-E424-CD8B-4FF8664E80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2E1715-FFE0-3906-CF6D-D2C30FCDEE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D096FE-B1A6-851D-8299-87963828521A}"/>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6" name="Footer Placeholder 5">
            <a:extLst>
              <a:ext uri="{FF2B5EF4-FFF2-40B4-BE49-F238E27FC236}">
                <a16:creationId xmlns:a16="http://schemas.microsoft.com/office/drawing/2014/main" id="{2582C430-014F-0246-FC65-7E4A32B5E5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EF0C8C-3CB2-BF4E-0EDA-812FF8499A3F}"/>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2263771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B715-F917-DBD3-53C5-3A365DEB07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263F88-2142-E408-FED0-0960098BB2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BEC0DC-AC0B-5D4D-AF20-63CCBD8474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6878F2-C1C9-BC96-618E-26AACF569A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8333AE-04A2-189F-AA1B-BA353AA8FC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2F8137-D3C7-2DF6-2742-35F391DA782D}"/>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8" name="Footer Placeholder 7">
            <a:extLst>
              <a:ext uri="{FF2B5EF4-FFF2-40B4-BE49-F238E27FC236}">
                <a16:creationId xmlns:a16="http://schemas.microsoft.com/office/drawing/2014/main" id="{3BC6F817-11ED-975E-BCB3-24155922C5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1D83D6-6A79-0E1C-B9E9-DA39E1DC1956}"/>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2367365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A9288-D6B6-3B93-4E31-59EC9B6FE3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3EC6EA-ADAA-2578-D14E-8AD7597E4132}"/>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4" name="Footer Placeholder 3">
            <a:extLst>
              <a:ext uri="{FF2B5EF4-FFF2-40B4-BE49-F238E27FC236}">
                <a16:creationId xmlns:a16="http://schemas.microsoft.com/office/drawing/2014/main" id="{B7AE325C-6741-039C-EB6F-99688096BF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8C9EF1-D763-37CD-079D-C841311F8B61}"/>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1577073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7588B6-29C7-02F1-C2CB-3E5A071B3A74}"/>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3" name="Footer Placeholder 2">
            <a:extLst>
              <a:ext uri="{FF2B5EF4-FFF2-40B4-BE49-F238E27FC236}">
                <a16:creationId xmlns:a16="http://schemas.microsoft.com/office/drawing/2014/main" id="{8EF7C5FF-20EB-333F-B201-65099BFAF5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8949CA-017C-D1BA-031B-FF5EACDB7E59}"/>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1615538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D0C9C-BC80-9CDA-7AEE-0B71FE7510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D9028D-FCCA-366A-74FB-DE2D73E411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F2A553-2ED4-E194-3776-78660F866E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C72418-1CC6-9773-E3B0-DF842CA589DF}"/>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6" name="Footer Placeholder 5">
            <a:extLst>
              <a:ext uri="{FF2B5EF4-FFF2-40B4-BE49-F238E27FC236}">
                <a16:creationId xmlns:a16="http://schemas.microsoft.com/office/drawing/2014/main" id="{0387EDB8-F084-B7C1-4D31-FECFA1B8D7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E0DD0-FAB7-7191-28C5-925D695040B0}"/>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324233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7396A-EEE7-4314-E5E4-6B7F1B732A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43C688-F437-3EFA-96FE-F1889F7BA0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C7A27B-3D10-3DB0-84AB-C411F5B94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A3DB87-6E8A-8CA2-09BF-E2F0CCEE58D7}"/>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6" name="Footer Placeholder 5">
            <a:extLst>
              <a:ext uri="{FF2B5EF4-FFF2-40B4-BE49-F238E27FC236}">
                <a16:creationId xmlns:a16="http://schemas.microsoft.com/office/drawing/2014/main" id="{DB6FE285-4515-3AD4-0271-FDD4E226C1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05069D-9C6F-0FE1-AF27-D8D4052706FA}"/>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4176463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CA7C0-2A17-8FBE-F635-3A490C1342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A424BF-DF6F-790F-3430-D0F65DA856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75EAA-83F4-4646-CB82-0DF741938EB9}"/>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5" name="Footer Placeholder 4">
            <a:extLst>
              <a:ext uri="{FF2B5EF4-FFF2-40B4-BE49-F238E27FC236}">
                <a16:creationId xmlns:a16="http://schemas.microsoft.com/office/drawing/2014/main" id="{0B2D2DAE-FC63-2671-2541-350D5480A7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FBCB3-E296-99BC-D86C-BD37F028F77C}"/>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784783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C20062-A6AA-1095-F7B7-F6D8F81CDC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1E2CD7-F1C2-89C2-96BE-B3D1456DC4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B089B2-A2AD-A8DA-D41C-8816AE8AC294}"/>
              </a:ext>
            </a:extLst>
          </p:cNvPr>
          <p:cNvSpPr>
            <a:spLocks noGrp="1"/>
          </p:cNvSpPr>
          <p:nvPr>
            <p:ph type="dt" sz="half" idx="10"/>
          </p:nvPr>
        </p:nvSpPr>
        <p:spPr/>
        <p:txBody>
          <a:bodyPr/>
          <a:lstStyle/>
          <a:p>
            <a:fld id="{53C7D7F7-103C-439F-95BF-6DD843431F4F}" type="datetimeFigureOut">
              <a:rPr lang="en-US" smtClean="0"/>
              <a:t>10/30/2022</a:t>
            </a:fld>
            <a:endParaRPr lang="en-US"/>
          </a:p>
        </p:txBody>
      </p:sp>
      <p:sp>
        <p:nvSpPr>
          <p:cNvPr id="5" name="Footer Placeholder 4">
            <a:extLst>
              <a:ext uri="{FF2B5EF4-FFF2-40B4-BE49-F238E27FC236}">
                <a16:creationId xmlns:a16="http://schemas.microsoft.com/office/drawing/2014/main" id="{164D0270-8370-6A37-1FD7-495533377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2FF9E-A4C2-77BF-4B57-94F4C8170B47}"/>
              </a:ext>
            </a:extLst>
          </p:cNvPr>
          <p:cNvSpPr>
            <a:spLocks noGrp="1"/>
          </p:cNvSpPr>
          <p:nvPr>
            <p:ph type="sldNum" sz="quarter" idx="12"/>
          </p:nvPr>
        </p:nvSpPr>
        <p:spPr/>
        <p:txBody>
          <a:bodyPr/>
          <a:lstStyle/>
          <a:p>
            <a:fld id="{F1833734-3C7D-4A8A-B957-B4B44675182B}" type="slidenum">
              <a:rPr lang="en-US" smtClean="0"/>
              <a:t>‹#›</a:t>
            </a:fld>
            <a:endParaRPr lang="en-US"/>
          </a:p>
        </p:txBody>
      </p:sp>
    </p:spTree>
    <p:extLst>
      <p:ext uri="{BB962C8B-B14F-4D97-AF65-F5344CB8AC3E}">
        <p14:creationId xmlns:p14="http://schemas.microsoft.com/office/powerpoint/2010/main" val="4115789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CB6E8E-FF3E-A6DD-63CE-75EEC01C0E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5FFE97-A3EF-F4C8-3C01-56BEAE7992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3AA56-A379-32F6-B9F0-072705614D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C7D7F7-103C-439F-95BF-6DD843431F4F}" type="datetimeFigureOut">
              <a:rPr lang="en-US" smtClean="0"/>
              <a:t>10/30/2022</a:t>
            </a:fld>
            <a:endParaRPr lang="en-US"/>
          </a:p>
        </p:txBody>
      </p:sp>
      <p:sp>
        <p:nvSpPr>
          <p:cNvPr id="5" name="Footer Placeholder 4">
            <a:extLst>
              <a:ext uri="{FF2B5EF4-FFF2-40B4-BE49-F238E27FC236}">
                <a16:creationId xmlns:a16="http://schemas.microsoft.com/office/drawing/2014/main" id="{8F853613-284B-7FE1-A492-C3D90ECD7A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FA7579-119D-D80A-F402-4D624AB4A8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33734-3C7D-4A8A-B957-B4B44675182B}" type="slidenum">
              <a:rPr lang="en-US" smtClean="0"/>
              <a:t>‹#›</a:t>
            </a:fld>
            <a:endParaRPr lang="en-US"/>
          </a:p>
        </p:txBody>
      </p:sp>
    </p:spTree>
    <p:extLst>
      <p:ext uri="{BB962C8B-B14F-4D97-AF65-F5344CB8AC3E}">
        <p14:creationId xmlns:p14="http://schemas.microsoft.com/office/powerpoint/2010/main" val="1141056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www.crapome.org/"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hyperlink" Target="http://www.proteinmetrics.com/products/byonic/byonic-manual/"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hyperlink" Target="https://ccms-ucsd.github.io/MassIVEDocumentation/" TargetMode="External"/><Relationship Id="rId2" Type="http://schemas.openxmlformats.org/officeDocument/2006/relationships/hyperlink" Target="https://massive.ucsd.edu/ProteoSAFe/static/massive.jsp"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711AF-2B80-00F8-B419-A4398429BF8F}"/>
              </a:ext>
            </a:extLst>
          </p:cNvPr>
          <p:cNvSpPr>
            <a:spLocks noGrp="1"/>
          </p:cNvSpPr>
          <p:nvPr>
            <p:ph type="ctrTitle"/>
          </p:nvPr>
        </p:nvSpPr>
        <p:spPr>
          <a:xfrm>
            <a:off x="1524000" y="1639349"/>
            <a:ext cx="9144000" cy="1789651"/>
          </a:xfrm>
        </p:spPr>
        <p:txBody>
          <a:bodyPr/>
          <a:lstStyle/>
          <a:p>
            <a:r>
              <a:rPr lang="en-US" dirty="0"/>
              <a:t>An Introduction to the </a:t>
            </a:r>
            <a:r>
              <a:rPr lang="en-US" dirty="0" err="1"/>
              <a:t>Byonic</a:t>
            </a:r>
            <a:r>
              <a:rPr lang="en-US" dirty="0"/>
              <a:t> Search Algorithm</a:t>
            </a:r>
          </a:p>
        </p:txBody>
      </p:sp>
      <p:sp>
        <p:nvSpPr>
          <p:cNvPr id="3" name="Subtitle 2">
            <a:extLst>
              <a:ext uri="{FF2B5EF4-FFF2-40B4-BE49-F238E27FC236}">
                <a16:creationId xmlns:a16="http://schemas.microsoft.com/office/drawing/2014/main" id="{0BBC42F7-7C48-CBB9-3995-E900ED37734B}"/>
              </a:ext>
            </a:extLst>
          </p:cNvPr>
          <p:cNvSpPr>
            <a:spLocks noGrp="1"/>
          </p:cNvSpPr>
          <p:nvPr>
            <p:ph type="subTitle" idx="1"/>
          </p:nvPr>
        </p:nvSpPr>
        <p:spPr>
          <a:xfrm>
            <a:off x="1524000" y="4079875"/>
            <a:ext cx="9144000" cy="1655762"/>
          </a:xfrm>
        </p:spPr>
        <p:txBody>
          <a:bodyPr>
            <a:normAutofit/>
          </a:bodyPr>
          <a:lstStyle/>
          <a:p>
            <a:r>
              <a:rPr lang="en-US" sz="2800" dirty="0"/>
              <a:t>Dina Bai</a:t>
            </a:r>
          </a:p>
          <a:p>
            <a:r>
              <a:rPr lang="en-US" sz="2800" dirty="0"/>
              <a:t>November 1, 2022</a:t>
            </a:r>
          </a:p>
        </p:txBody>
      </p:sp>
    </p:spTree>
    <p:extLst>
      <p:ext uri="{BB962C8B-B14F-4D97-AF65-F5344CB8AC3E}">
        <p14:creationId xmlns:p14="http://schemas.microsoft.com/office/powerpoint/2010/main" val="394039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09800" y="1752601"/>
            <a:ext cx="7772400" cy="2246769"/>
          </a:xfrm>
          <a:prstGeom prst="rect">
            <a:avLst/>
          </a:prstGeom>
          <a:noFill/>
        </p:spPr>
        <p:txBody>
          <a:bodyPr wrap="square" rtlCol="0">
            <a:spAutoFit/>
          </a:bodyPr>
          <a:lstStyle/>
          <a:p>
            <a:pPr marL="285750" indent="-285750">
              <a:buFont typeface="Arial" panose="020B0604020202020204" pitchFamily="34" charset="0"/>
              <a:buChar char="•"/>
            </a:pPr>
            <a:r>
              <a:rPr lang="en-US" sz="2800" b="1" dirty="0">
                <a:solidFill>
                  <a:srgbClr val="0070C0"/>
                </a:solidFill>
              </a:rPr>
              <a:t>The </a:t>
            </a:r>
            <a:r>
              <a:rPr lang="en-US" sz="2800" b="1" dirty="0" err="1">
                <a:solidFill>
                  <a:srgbClr val="0070C0"/>
                </a:solidFill>
              </a:rPr>
              <a:t>Byonic</a:t>
            </a:r>
            <a:r>
              <a:rPr lang="en-US" sz="2800" b="1" dirty="0">
                <a:solidFill>
                  <a:srgbClr val="0070C0"/>
                </a:solidFill>
              </a:rPr>
              <a:t> Search Algorithm and Scoring</a:t>
            </a:r>
          </a:p>
          <a:p>
            <a:pPr marL="285750" indent="-285750">
              <a:buFont typeface="Arial" panose="020B0604020202020204" pitchFamily="34" charset="0"/>
              <a:buChar char="•"/>
            </a:pPr>
            <a:endParaRPr lang="en-US" sz="2800" b="1" dirty="0"/>
          </a:p>
          <a:p>
            <a:pPr marL="285750" indent="-285750">
              <a:buFont typeface="Arial" panose="020B0604020202020204" pitchFamily="34" charset="0"/>
              <a:buChar char="•"/>
            </a:pPr>
            <a:r>
              <a:rPr lang="en-US" sz="2800" b="1" dirty="0"/>
              <a:t>Features and Parameters for Searching</a:t>
            </a:r>
          </a:p>
          <a:p>
            <a:pPr marL="285750" indent="-285750">
              <a:buFont typeface="Arial" panose="020B0604020202020204" pitchFamily="34" charset="0"/>
              <a:buChar char="•"/>
            </a:pPr>
            <a:endParaRPr lang="en-US" sz="2800" b="1" dirty="0"/>
          </a:p>
          <a:p>
            <a:pPr marL="285750" indent="-285750">
              <a:buFont typeface="Arial" panose="020B0604020202020204" pitchFamily="34" charset="0"/>
              <a:buChar char="•"/>
            </a:pPr>
            <a:r>
              <a:rPr lang="en-US" sz="2800" b="1" dirty="0"/>
              <a:t>Future Directions for Peptide Identification</a:t>
            </a:r>
          </a:p>
        </p:txBody>
      </p:sp>
      <p:sp>
        <p:nvSpPr>
          <p:cNvPr id="4" name="TextBox 3"/>
          <p:cNvSpPr txBox="1"/>
          <p:nvPr/>
        </p:nvSpPr>
        <p:spPr>
          <a:xfrm>
            <a:off x="2209800" y="730046"/>
            <a:ext cx="4191000" cy="584775"/>
          </a:xfrm>
          <a:prstGeom prst="rect">
            <a:avLst/>
          </a:prstGeom>
          <a:noFill/>
        </p:spPr>
        <p:txBody>
          <a:bodyPr wrap="square" rtlCol="0">
            <a:spAutoFit/>
          </a:bodyPr>
          <a:lstStyle/>
          <a:p>
            <a:r>
              <a:rPr lang="en-US" sz="3200" b="1" dirty="0"/>
              <a:t>Here is the Plan:</a:t>
            </a:r>
          </a:p>
        </p:txBody>
      </p:sp>
    </p:spTree>
    <p:extLst>
      <p:ext uri="{BB962C8B-B14F-4D97-AF65-F5344CB8AC3E}">
        <p14:creationId xmlns:p14="http://schemas.microsoft.com/office/powerpoint/2010/main" val="1550656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C1D2DC72-0C17-C4A0-F1EE-06A37E30F825}"/>
              </a:ext>
            </a:extLst>
          </p:cNvPr>
          <p:cNvPicPr>
            <a:picLocks noChangeAspect="1"/>
          </p:cNvPicPr>
          <p:nvPr/>
        </p:nvPicPr>
        <p:blipFill rotWithShape="1">
          <a:blip r:embed="rId2">
            <a:extLst>
              <a:ext uri="{28A0092B-C50C-407E-A947-70E740481C1C}">
                <a14:useLocalDpi xmlns:a14="http://schemas.microsoft.com/office/drawing/2010/main" val="0"/>
              </a:ext>
            </a:extLst>
          </a:blip>
          <a:srcRect l="370" t="638" r="986"/>
          <a:stretch/>
        </p:blipFill>
        <p:spPr>
          <a:xfrm>
            <a:off x="362154" y="339611"/>
            <a:ext cx="8013291" cy="6178777"/>
          </a:xfrm>
          <a:prstGeom prst="rect">
            <a:avLst/>
          </a:prstGeom>
        </p:spPr>
      </p:pic>
      <p:pic>
        <p:nvPicPr>
          <p:cNvPr id="7" name="Picture 6" descr="Table&#10;&#10;Description automatically generated with low confidence">
            <a:extLst>
              <a:ext uri="{FF2B5EF4-FFF2-40B4-BE49-F238E27FC236}">
                <a16:creationId xmlns:a16="http://schemas.microsoft.com/office/drawing/2014/main" id="{D74C0318-B0BC-3C27-1C40-691A180E9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9482" y="685707"/>
            <a:ext cx="2454318" cy="5223531"/>
          </a:xfrm>
          <a:prstGeom prst="rect">
            <a:avLst/>
          </a:prstGeom>
        </p:spPr>
      </p:pic>
    </p:spTree>
    <p:extLst>
      <p:ext uri="{BB962C8B-B14F-4D97-AF65-F5344CB8AC3E}">
        <p14:creationId xmlns:p14="http://schemas.microsoft.com/office/powerpoint/2010/main" val="3784198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C1D2DC72-0C17-C4A0-F1EE-06A37E30F825}"/>
              </a:ext>
            </a:extLst>
          </p:cNvPr>
          <p:cNvPicPr>
            <a:picLocks noChangeAspect="1"/>
          </p:cNvPicPr>
          <p:nvPr/>
        </p:nvPicPr>
        <p:blipFill rotWithShape="1">
          <a:blip r:embed="rId2">
            <a:extLst>
              <a:ext uri="{28A0092B-C50C-407E-A947-70E740481C1C}">
                <a14:useLocalDpi xmlns:a14="http://schemas.microsoft.com/office/drawing/2010/main" val="0"/>
              </a:ext>
            </a:extLst>
          </a:blip>
          <a:srcRect l="370" t="638" r="986"/>
          <a:stretch/>
        </p:blipFill>
        <p:spPr>
          <a:xfrm>
            <a:off x="345898" y="339611"/>
            <a:ext cx="8013291" cy="6178777"/>
          </a:xfrm>
          <a:prstGeom prst="rect">
            <a:avLst/>
          </a:prstGeom>
        </p:spPr>
      </p:pic>
      <p:sp>
        <p:nvSpPr>
          <p:cNvPr id="2" name="TextBox 1">
            <a:extLst>
              <a:ext uri="{FF2B5EF4-FFF2-40B4-BE49-F238E27FC236}">
                <a16:creationId xmlns:a16="http://schemas.microsoft.com/office/drawing/2014/main" id="{75C740C4-49BB-505D-56EC-865E6C4ABE2F}"/>
              </a:ext>
            </a:extLst>
          </p:cNvPr>
          <p:cNvSpPr txBox="1"/>
          <p:nvPr/>
        </p:nvSpPr>
        <p:spPr>
          <a:xfrm>
            <a:off x="8510212" y="810000"/>
            <a:ext cx="3303639" cy="369332"/>
          </a:xfrm>
          <a:prstGeom prst="rect">
            <a:avLst/>
          </a:prstGeom>
          <a:noFill/>
        </p:spPr>
        <p:txBody>
          <a:bodyPr wrap="square" rtlCol="0">
            <a:spAutoFit/>
          </a:bodyPr>
          <a:lstStyle/>
          <a:p>
            <a:pPr algn="ctr"/>
            <a:r>
              <a:rPr lang="en-US" b="1" dirty="0">
                <a:solidFill>
                  <a:schemeClr val="accent1">
                    <a:lumMod val="75000"/>
                  </a:schemeClr>
                </a:solidFill>
              </a:rPr>
              <a:t>Y[+635]STPVDIWSIGTIFAELATK</a:t>
            </a:r>
          </a:p>
        </p:txBody>
      </p:sp>
      <p:sp>
        <p:nvSpPr>
          <p:cNvPr id="47" name="TextBox 46">
            <a:extLst>
              <a:ext uri="{FF2B5EF4-FFF2-40B4-BE49-F238E27FC236}">
                <a16:creationId xmlns:a16="http://schemas.microsoft.com/office/drawing/2014/main" id="{7E1DBA74-041D-D0F8-C212-34B8191F55BF}"/>
              </a:ext>
            </a:extLst>
          </p:cNvPr>
          <p:cNvSpPr txBox="1"/>
          <p:nvPr/>
        </p:nvSpPr>
        <p:spPr>
          <a:xfrm>
            <a:off x="8918448" y="1179332"/>
            <a:ext cx="2438400" cy="369332"/>
          </a:xfrm>
          <a:prstGeom prst="rect">
            <a:avLst/>
          </a:prstGeom>
          <a:noFill/>
        </p:spPr>
        <p:txBody>
          <a:bodyPr wrap="square" rtlCol="0">
            <a:spAutoFit/>
          </a:bodyPr>
          <a:lstStyle/>
          <a:p>
            <a:pPr algn="ctr"/>
            <a:r>
              <a:rPr lang="en-US" b="1" dirty="0">
                <a:solidFill>
                  <a:schemeClr val="accent1">
                    <a:lumMod val="75000"/>
                  </a:schemeClr>
                </a:solidFill>
              </a:rPr>
              <a:t>Peptide Identification</a:t>
            </a:r>
          </a:p>
        </p:txBody>
      </p:sp>
      <p:sp>
        <p:nvSpPr>
          <p:cNvPr id="48" name="TextBox 47">
            <a:extLst>
              <a:ext uri="{FF2B5EF4-FFF2-40B4-BE49-F238E27FC236}">
                <a16:creationId xmlns:a16="http://schemas.microsoft.com/office/drawing/2014/main" id="{99347052-BD8C-3275-4EA0-53F5BEB484DB}"/>
              </a:ext>
            </a:extLst>
          </p:cNvPr>
          <p:cNvSpPr txBox="1"/>
          <p:nvPr/>
        </p:nvSpPr>
        <p:spPr>
          <a:xfrm>
            <a:off x="8083296" y="3051047"/>
            <a:ext cx="4108704" cy="646331"/>
          </a:xfrm>
          <a:prstGeom prst="rect">
            <a:avLst/>
          </a:prstGeom>
          <a:noFill/>
        </p:spPr>
        <p:txBody>
          <a:bodyPr wrap="square" rtlCol="0">
            <a:spAutoFit/>
          </a:bodyPr>
          <a:lstStyle/>
          <a:p>
            <a:pPr algn="ctr"/>
            <a:r>
              <a:rPr lang="en-US" b="1" dirty="0">
                <a:solidFill>
                  <a:schemeClr val="accent1">
                    <a:lumMod val="75000"/>
                  </a:schemeClr>
                </a:solidFill>
              </a:rPr>
              <a:t>CDK1_HUMAN </a:t>
            </a:r>
          </a:p>
          <a:p>
            <a:pPr algn="ctr"/>
            <a:r>
              <a:rPr lang="en-US" b="1" dirty="0">
                <a:solidFill>
                  <a:schemeClr val="accent1">
                    <a:lumMod val="75000"/>
                  </a:schemeClr>
                </a:solidFill>
              </a:rPr>
              <a:t>Cyclin-Dependent Kinase 1</a:t>
            </a:r>
          </a:p>
        </p:txBody>
      </p:sp>
      <p:sp>
        <p:nvSpPr>
          <p:cNvPr id="49" name="TextBox 48">
            <a:extLst>
              <a:ext uri="{FF2B5EF4-FFF2-40B4-BE49-F238E27FC236}">
                <a16:creationId xmlns:a16="http://schemas.microsoft.com/office/drawing/2014/main" id="{2195BA9A-4B8B-4D8F-43B0-92C2155ACE7D}"/>
              </a:ext>
            </a:extLst>
          </p:cNvPr>
          <p:cNvSpPr txBox="1"/>
          <p:nvPr/>
        </p:nvSpPr>
        <p:spPr>
          <a:xfrm>
            <a:off x="8839200" y="3647430"/>
            <a:ext cx="2596896" cy="369332"/>
          </a:xfrm>
          <a:prstGeom prst="rect">
            <a:avLst/>
          </a:prstGeom>
          <a:noFill/>
        </p:spPr>
        <p:txBody>
          <a:bodyPr wrap="square" rtlCol="0">
            <a:spAutoFit/>
          </a:bodyPr>
          <a:lstStyle/>
          <a:p>
            <a:pPr algn="ctr"/>
            <a:r>
              <a:rPr lang="en-US" b="1" dirty="0">
                <a:solidFill>
                  <a:schemeClr val="accent1">
                    <a:lumMod val="75000"/>
                  </a:schemeClr>
                </a:solidFill>
              </a:rPr>
              <a:t>Protein Identification</a:t>
            </a:r>
          </a:p>
        </p:txBody>
      </p:sp>
      <p:cxnSp>
        <p:nvCxnSpPr>
          <p:cNvPr id="51" name="Straight Arrow Connector 50">
            <a:extLst>
              <a:ext uri="{FF2B5EF4-FFF2-40B4-BE49-F238E27FC236}">
                <a16:creationId xmlns:a16="http://schemas.microsoft.com/office/drawing/2014/main" id="{EA728F5A-6E70-88DB-BDBE-3765CB34569F}"/>
              </a:ext>
            </a:extLst>
          </p:cNvPr>
          <p:cNvCxnSpPr/>
          <p:nvPr/>
        </p:nvCxnSpPr>
        <p:spPr>
          <a:xfrm>
            <a:off x="10137648" y="1609344"/>
            <a:ext cx="0" cy="134112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59588A5-F83B-EA57-8B99-B72AB0014F08}"/>
              </a:ext>
            </a:extLst>
          </p:cNvPr>
          <p:cNvSpPr txBox="1"/>
          <p:nvPr/>
        </p:nvSpPr>
        <p:spPr>
          <a:xfrm>
            <a:off x="10162032" y="1909560"/>
            <a:ext cx="1613868" cy="369332"/>
          </a:xfrm>
          <a:prstGeom prst="rect">
            <a:avLst/>
          </a:prstGeom>
          <a:noFill/>
        </p:spPr>
        <p:txBody>
          <a:bodyPr wrap="square" rtlCol="0">
            <a:spAutoFit/>
          </a:bodyPr>
          <a:lstStyle/>
          <a:p>
            <a:r>
              <a:rPr lang="en-US" b="1" dirty="0">
                <a:solidFill>
                  <a:schemeClr val="accent1">
                    <a:lumMod val="75000"/>
                  </a:schemeClr>
                </a:solidFill>
              </a:rPr>
              <a:t>(By Inference)</a:t>
            </a:r>
          </a:p>
        </p:txBody>
      </p:sp>
    </p:spTree>
    <p:extLst>
      <p:ext uri="{BB962C8B-B14F-4D97-AF65-F5344CB8AC3E}">
        <p14:creationId xmlns:p14="http://schemas.microsoft.com/office/powerpoint/2010/main" val="256781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936146" y="76196"/>
            <a:ext cx="3938750" cy="523220"/>
          </a:xfrm>
          <a:prstGeom prst="rect">
            <a:avLst/>
          </a:prstGeom>
          <a:noFill/>
        </p:spPr>
        <p:txBody>
          <a:bodyPr wrap="square" rtlCol="0">
            <a:spAutoFit/>
          </a:bodyPr>
          <a:lstStyle/>
          <a:p>
            <a:pPr algn="ctr" eaLnBrk="0" fontAlgn="base" hangingPunct="0">
              <a:spcBef>
                <a:spcPct val="0"/>
              </a:spcBef>
              <a:spcAft>
                <a:spcPct val="0"/>
              </a:spcAft>
            </a:pPr>
            <a:r>
              <a:rPr lang="en-US" sz="2800" b="1" dirty="0"/>
              <a:t>Data Analysis</a:t>
            </a:r>
          </a:p>
        </p:txBody>
      </p:sp>
      <p:cxnSp>
        <p:nvCxnSpPr>
          <p:cNvPr id="5" name="Straight Arrow Connector 4">
            <a:extLst>
              <a:ext uri="{FF2B5EF4-FFF2-40B4-BE49-F238E27FC236}">
                <a16:creationId xmlns:a16="http://schemas.microsoft.com/office/drawing/2014/main" id="{BB9C9B93-50E0-4896-ADD8-65763EFE8301}"/>
              </a:ext>
            </a:extLst>
          </p:cNvPr>
          <p:cNvCxnSpPr>
            <a:cxnSpLocks/>
          </p:cNvCxnSpPr>
          <p:nvPr/>
        </p:nvCxnSpPr>
        <p:spPr>
          <a:xfrm flipH="1">
            <a:off x="3869636" y="1796338"/>
            <a:ext cx="1" cy="51128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1E505EE-1AE2-4321-8272-2738743C4C28}"/>
              </a:ext>
            </a:extLst>
          </p:cNvPr>
          <p:cNvCxnSpPr/>
          <p:nvPr/>
        </p:nvCxnSpPr>
        <p:spPr>
          <a:xfrm flipH="1">
            <a:off x="3869636" y="2801202"/>
            <a:ext cx="1" cy="51128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49B2323-DF2A-433F-9CC5-CEDDF39FE303}"/>
              </a:ext>
            </a:extLst>
          </p:cNvPr>
          <p:cNvCxnSpPr/>
          <p:nvPr/>
        </p:nvCxnSpPr>
        <p:spPr>
          <a:xfrm flipH="1">
            <a:off x="3869636" y="4400340"/>
            <a:ext cx="1" cy="51128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F50FDCE-B9A5-4EF8-B568-624AB0C7A901}"/>
              </a:ext>
            </a:extLst>
          </p:cNvPr>
          <p:cNvCxnSpPr/>
          <p:nvPr/>
        </p:nvCxnSpPr>
        <p:spPr>
          <a:xfrm flipH="1">
            <a:off x="7878415" y="2826148"/>
            <a:ext cx="1" cy="51128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965594B-FF33-4106-8FC2-120C04DD6B9C}"/>
              </a:ext>
            </a:extLst>
          </p:cNvPr>
          <p:cNvCxnSpPr/>
          <p:nvPr/>
        </p:nvCxnSpPr>
        <p:spPr>
          <a:xfrm flipH="1">
            <a:off x="7878416" y="1757192"/>
            <a:ext cx="1" cy="51128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3B9D27A-C520-425B-8187-08FD4209E2A4}"/>
              </a:ext>
            </a:extLst>
          </p:cNvPr>
          <p:cNvSpPr txBox="1"/>
          <p:nvPr/>
        </p:nvSpPr>
        <p:spPr>
          <a:xfrm>
            <a:off x="3168467" y="2348706"/>
            <a:ext cx="1402337"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000" dirty="0" err="1"/>
              <a:t>Byonic</a:t>
            </a:r>
            <a:endParaRPr lang="en-US" sz="2000" dirty="0"/>
          </a:p>
        </p:txBody>
      </p:sp>
      <p:sp>
        <p:nvSpPr>
          <p:cNvPr id="7" name="TextBox 6">
            <a:extLst>
              <a:ext uri="{FF2B5EF4-FFF2-40B4-BE49-F238E27FC236}">
                <a16:creationId xmlns:a16="http://schemas.microsoft.com/office/drawing/2014/main" id="{7A03D9CE-0C16-435F-AE0C-59E5A0FF946E}"/>
              </a:ext>
            </a:extLst>
          </p:cNvPr>
          <p:cNvSpPr txBox="1"/>
          <p:nvPr/>
        </p:nvSpPr>
        <p:spPr>
          <a:xfrm>
            <a:off x="2979093" y="3760745"/>
            <a:ext cx="1781083" cy="70788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rgbClr val="0070C0"/>
                </a:solidFill>
              </a:rPr>
              <a:t>(MS1 Peptide Quantification)</a:t>
            </a:r>
          </a:p>
        </p:txBody>
      </p:sp>
      <p:sp>
        <p:nvSpPr>
          <p:cNvPr id="45" name="TextBox 44">
            <a:extLst>
              <a:ext uri="{FF2B5EF4-FFF2-40B4-BE49-F238E27FC236}">
                <a16:creationId xmlns:a16="http://schemas.microsoft.com/office/drawing/2014/main" id="{0D4827BF-2370-44A2-9889-4A88284048B9}"/>
              </a:ext>
            </a:extLst>
          </p:cNvPr>
          <p:cNvSpPr txBox="1"/>
          <p:nvPr/>
        </p:nvSpPr>
        <p:spPr>
          <a:xfrm>
            <a:off x="3051108" y="1215338"/>
            <a:ext cx="1637056"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000" dirty="0"/>
              <a:t>SILAC</a:t>
            </a:r>
          </a:p>
        </p:txBody>
      </p:sp>
      <p:sp>
        <p:nvSpPr>
          <p:cNvPr id="46" name="TextBox 45">
            <a:extLst>
              <a:ext uri="{FF2B5EF4-FFF2-40B4-BE49-F238E27FC236}">
                <a16:creationId xmlns:a16="http://schemas.microsoft.com/office/drawing/2014/main" id="{5C672B80-47AE-409D-AED7-17EBBFC3BF99}"/>
              </a:ext>
            </a:extLst>
          </p:cNvPr>
          <p:cNvSpPr txBox="1"/>
          <p:nvPr/>
        </p:nvSpPr>
        <p:spPr>
          <a:xfrm>
            <a:off x="3228101" y="3353431"/>
            <a:ext cx="1283068"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000" dirty="0"/>
              <a:t>Skyline</a:t>
            </a:r>
          </a:p>
        </p:txBody>
      </p:sp>
      <p:sp>
        <p:nvSpPr>
          <p:cNvPr id="47" name="TextBox 46">
            <a:extLst>
              <a:ext uri="{FF2B5EF4-FFF2-40B4-BE49-F238E27FC236}">
                <a16:creationId xmlns:a16="http://schemas.microsoft.com/office/drawing/2014/main" id="{33CD40C9-3E57-40E6-A90F-522B5F17CDD7}"/>
              </a:ext>
            </a:extLst>
          </p:cNvPr>
          <p:cNvSpPr txBox="1"/>
          <p:nvPr/>
        </p:nvSpPr>
        <p:spPr>
          <a:xfrm>
            <a:off x="3228101" y="4964914"/>
            <a:ext cx="1402335"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000" dirty="0"/>
              <a:t>Filtering</a:t>
            </a:r>
          </a:p>
        </p:txBody>
      </p:sp>
      <p:sp>
        <p:nvSpPr>
          <p:cNvPr id="48" name="TextBox 47">
            <a:extLst>
              <a:ext uri="{FF2B5EF4-FFF2-40B4-BE49-F238E27FC236}">
                <a16:creationId xmlns:a16="http://schemas.microsoft.com/office/drawing/2014/main" id="{0849905F-5137-4289-8B93-35DB3FE31DB6}"/>
              </a:ext>
            </a:extLst>
          </p:cNvPr>
          <p:cNvSpPr txBox="1"/>
          <p:nvPr/>
        </p:nvSpPr>
        <p:spPr>
          <a:xfrm>
            <a:off x="7324424" y="1225964"/>
            <a:ext cx="1100948"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000" dirty="0"/>
              <a:t>TMT</a:t>
            </a:r>
          </a:p>
        </p:txBody>
      </p:sp>
      <p:sp>
        <p:nvSpPr>
          <p:cNvPr id="49" name="TextBox 48">
            <a:extLst>
              <a:ext uri="{FF2B5EF4-FFF2-40B4-BE49-F238E27FC236}">
                <a16:creationId xmlns:a16="http://schemas.microsoft.com/office/drawing/2014/main" id="{2BE11969-2B65-4D44-AFBB-4B9D07F4DDC7}"/>
              </a:ext>
            </a:extLst>
          </p:cNvPr>
          <p:cNvSpPr txBox="1"/>
          <p:nvPr/>
        </p:nvSpPr>
        <p:spPr>
          <a:xfrm>
            <a:off x="7173729" y="2348706"/>
            <a:ext cx="1402337"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000" dirty="0" err="1"/>
              <a:t>Byonic</a:t>
            </a:r>
            <a:endParaRPr lang="en-US" sz="2000" dirty="0"/>
          </a:p>
        </p:txBody>
      </p:sp>
      <p:sp>
        <p:nvSpPr>
          <p:cNvPr id="50" name="TextBox 49">
            <a:extLst>
              <a:ext uri="{FF2B5EF4-FFF2-40B4-BE49-F238E27FC236}">
                <a16:creationId xmlns:a16="http://schemas.microsoft.com/office/drawing/2014/main" id="{997166DA-6567-4CFF-9D15-283FBF87644F}"/>
              </a:ext>
            </a:extLst>
          </p:cNvPr>
          <p:cNvSpPr txBox="1"/>
          <p:nvPr/>
        </p:nvSpPr>
        <p:spPr>
          <a:xfrm>
            <a:off x="7173728" y="3406802"/>
            <a:ext cx="1402337" cy="707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000" dirty="0"/>
              <a:t>Proteome Discoverer</a:t>
            </a:r>
          </a:p>
        </p:txBody>
      </p:sp>
      <p:sp>
        <p:nvSpPr>
          <p:cNvPr id="51" name="TextBox 50">
            <a:extLst>
              <a:ext uri="{FF2B5EF4-FFF2-40B4-BE49-F238E27FC236}">
                <a16:creationId xmlns:a16="http://schemas.microsoft.com/office/drawing/2014/main" id="{695F38F7-E077-4E61-BDA7-F1EA33C611BD}"/>
              </a:ext>
            </a:extLst>
          </p:cNvPr>
          <p:cNvSpPr txBox="1"/>
          <p:nvPr/>
        </p:nvSpPr>
        <p:spPr>
          <a:xfrm>
            <a:off x="4981725" y="2194818"/>
            <a:ext cx="1781083" cy="70788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rgbClr val="0070C0"/>
                </a:solidFill>
              </a:rPr>
              <a:t>(MS2 Peptide Identification)</a:t>
            </a:r>
          </a:p>
        </p:txBody>
      </p:sp>
      <p:cxnSp>
        <p:nvCxnSpPr>
          <p:cNvPr id="52" name="Straight Arrow Connector 51">
            <a:extLst>
              <a:ext uri="{FF2B5EF4-FFF2-40B4-BE49-F238E27FC236}">
                <a16:creationId xmlns:a16="http://schemas.microsoft.com/office/drawing/2014/main" id="{D585F3BE-30FE-4DBF-9B26-A8EBC3A03579}"/>
              </a:ext>
            </a:extLst>
          </p:cNvPr>
          <p:cNvCxnSpPr>
            <a:cxnSpLocks/>
          </p:cNvCxnSpPr>
          <p:nvPr/>
        </p:nvCxnSpPr>
        <p:spPr>
          <a:xfrm>
            <a:off x="4108174" y="5480560"/>
            <a:ext cx="1391478" cy="378522"/>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2793A02C-8AEE-49C3-BEDF-8ABA1852CAFC}"/>
              </a:ext>
            </a:extLst>
          </p:cNvPr>
          <p:cNvCxnSpPr>
            <a:cxnSpLocks/>
          </p:cNvCxnSpPr>
          <p:nvPr/>
        </p:nvCxnSpPr>
        <p:spPr>
          <a:xfrm flipH="1">
            <a:off x="6308035" y="4911629"/>
            <a:ext cx="1383683" cy="947453"/>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E7826ED-40DB-4323-8E76-E2B1EDD4B694}"/>
              </a:ext>
            </a:extLst>
          </p:cNvPr>
          <p:cNvSpPr txBox="1"/>
          <p:nvPr/>
        </p:nvSpPr>
        <p:spPr>
          <a:xfrm>
            <a:off x="5171098" y="5955781"/>
            <a:ext cx="1402335" cy="707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000" dirty="0"/>
              <a:t>Manual Validation</a:t>
            </a:r>
          </a:p>
        </p:txBody>
      </p:sp>
      <p:sp>
        <p:nvSpPr>
          <p:cNvPr id="20" name="TextBox 19">
            <a:extLst>
              <a:ext uri="{FF2B5EF4-FFF2-40B4-BE49-F238E27FC236}">
                <a16:creationId xmlns:a16="http://schemas.microsoft.com/office/drawing/2014/main" id="{D548B1AB-DC8A-4686-9D77-C7FDDD9E155D}"/>
              </a:ext>
            </a:extLst>
          </p:cNvPr>
          <p:cNvSpPr txBox="1"/>
          <p:nvPr/>
        </p:nvSpPr>
        <p:spPr>
          <a:xfrm>
            <a:off x="6984354" y="4109185"/>
            <a:ext cx="1781083" cy="70788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dirty="0">
                <a:solidFill>
                  <a:srgbClr val="0070C0"/>
                </a:solidFill>
              </a:rPr>
              <a:t>(MS2 Peptide Quantification)</a:t>
            </a:r>
          </a:p>
        </p:txBody>
      </p:sp>
    </p:spTree>
    <p:extLst>
      <p:ext uri="{BB962C8B-B14F-4D97-AF65-F5344CB8AC3E}">
        <p14:creationId xmlns:p14="http://schemas.microsoft.com/office/powerpoint/2010/main" val="585619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87776" y="196327"/>
            <a:ext cx="9216447" cy="954107"/>
          </a:xfrm>
          <a:prstGeom prst="rect">
            <a:avLst/>
          </a:prstGeom>
          <a:noFill/>
        </p:spPr>
        <p:txBody>
          <a:bodyPr wrap="square" rtlCol="0">
            <a:spAutoFit/>
          </a:bodyPr>
          <a:lstStyle/>
          <a:p>
            <a:pPr algn="ctr" eaLnBrk="0" fontAlgn="base" hangingPunct="0">
              <a:spcBef>
                <a:spcPct val="0"/>
              </a:spcBef>
              <a:spcAft>
                <a:spcPct val="0"/>
              </a:spcAft>
            </a:pPr>
            <a:r>
              <a:rPr lang="en-US" sz="2800" b="1" dirty="0"/>
              <a:t>Data Analysis</a:t>
            </a:r>
          </a:p>
          <a:p>
            <a:pPr algn="ctr" eaLnBrk="0" fontAlgn="base" hangingPunct="0">
              <a:spcBef>
                <a:spcPct val="0"/>
              </a:spcBef>
              <a:spcAft>
                <a:spcPct val="0"/>
              </a:spcAft>
            </a:pPr>
            <a:r>
              <a:rPr lang="en-US" sz="2800" dirty="0"/>
              <a:t>Peptide Identification:  Database Search Algorithms</a:t>
            </a:r>
          </a:p>
        </p:txBody>
      </p:sp>
      <p:sp>
        <p:nvSpPr>
          <p:cNvPr id="19" name="Text Box 4"/>
          <p:cNvSpPr txBox="1">
            <a:spLocks noChangeArrowheads="1"/>
          </p:cNvSpPr>
          <p:nvPr/>
        </p:nvSpPr>
        <p:spPr bwMode="auto">
          <a:xfrm>
            <a:off x="3116249" y="1822189"/>
            <a:ext cx="1693333" cy="92333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spcBef>
                <a:spcPct val="50000"/>
              </a:spcBef>
            </a:pPr>
            <a:r>
              <a:rPr lang="en-US" altLang="en-US" b="1" dirty="0"/>
              <a:t>Protein sequence library</a:t>
            </a:r>
          </a:p>
        </p:txBody>
      </p:sp>
      <p:sp>
        <p:nvSpPr>
          <p:cNvPr id="20" name="Line 5"/>
          <p:cNvSpPr>
            <a:spLocks noChangeShapeType="1"/>
          </p:cNvSpPr>
          <p:nvPr/>
        </p:nvSpPr>
        <p:spPr bwMode="auto">
          <a:xfrm>
            <a:off x="4934487" y="2290502"/>
            <a:ext cx="1286934" cy="0"/>
          </a:xfrm>
          <a:prstGeom prst="line">
            <a:avLst/>
          </a:prstGeom>
          <a:noFill/>
          <a:ln w="28575">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Text Box 6"/>
          <p:cNvSpPr txBox="1">
            <a:spLocks noChangeArrowheads="1"/>
          </p:cNvSpPr>
          <p:nvPr/>
        </p:nvSpPr>
        <p:spPr bwMode="auto">
          <a:xfrm>
            <a:off x="4756687" y="1579099"/>
            <a:ext cx="16171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b="1" dirty="0">
                <a:solidFill>
                  <a:srgbClr val="0070C0"/>
                </a:solidFill>
              </a:rPr>
              <a:t>Tryptic digest “in silico”</a:t>
            </a:r>
          </a:p>
        </p:txBody>
      </p:sp>
      <p:sp>
        <p:nvSpPr>
          <p:cNvPr id="22" name="Rectangle 7"/>
          <p:cNvSpPr>
            <a:spLocks noChangeArrowheads="1"/>
          </p:cNvSpPr>
          <p:nvPr/>
        </p:nvSpPr>
        <p:spPr bwMode="auto">
          <a:xfrm>
            <a:off x="6322759" y="1703765"/>
            <a:ext cx="1693333" cy="11430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en-US" altLang="en-US" b="1" dirty="0"/>
              <a:t>Precursor</a:t>
            </a:r>
          </a:p>
          <a:p>
            <a:pPr algn="ctr"/>
            <a:r>
              <a:rPr lang="en-US" altLang="en-US" b="1" dirty="0"/>
              <a:t> masses </a:t>
            </a:r>
          </a:p>
          <a:p>
            <a:pPr algn="ctr"/>
            <a:r>
              <a:rPr lang="en-US" altLang="en-US" b="1" dirty="0"/>
              <a:t>of all theoretical</a:t>
            </a:r>
          </a:p>
          <a:p>
            <a:pPr algn="ctr"/>
            <a:r>
              <a:rPr lang="en-US" altLang="en-US" b="1" dirty="0"/>
              <a:t>sequences</a:t>
            </a:r>
          </a:p>
        </p:txBody>
      </p:sp>
      <p:sp>
        <p:nvSpPr>
          <p:cNvPr id="25" name="TextBox 24"/>
          <p:cNvSpPr txBox="1"/>
          <p:nvPr/>
        </p:nvSpPr>
        <p:spPr>
          <a:xfrm>
            <a:off x="6559956" y="5224296"/>
            <a:ext cx="114300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b="1" dirty="0"/>
              <a:t>MS/MS precursor mass</a:t>
            </a:r>
          </a:p>
        </p:txBody>
      </p:sp>
      <p:sp>
        <p:nvSpPr>
          <p:cNvPr id="27" name="TextBox 26"/>
          <p:cNvSpPr txBox="1"/>
          <p:nvPr/>
        </p:nvSpPr>
        <p:spPr>
          <a:xfrm>
            <a:off x="6373821" y="3486012"/>
            <a:ext cx="160020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b="1" dirty="0"/>
              <a:t> List of candidate peptides</a:t>
            </a:r>
          </a:p>
        </p:txBody>
      </p:sp>
      <p:sp>
        <p:nvSpPr>
          <p:cNvPr id="30" name="TextBox 29"/>
          <p:cNvSpPr txBox="1"/>
          <p:nvPr/>
        </p:nvSpPr>
        <p:spPr>
          <a:xfrm>
            <a:off x="3173420" y="5224296"/>
            <a:ext cx="1540934"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b="1" dirty="0"/>
              <a:t>Experimental data (MS/MS spectra)</a:t>
            </a:r>
          </a:p>
        </p:txBody>
      </p:sp>
      <p:sp>
        <p:nvSpPr>
          <p:cNvPr id="31" name="TextBox 30"/>
          <p:cNvSpPr txBox="1"/>
          <p:nvPr/>
        </p:nvSpPr>
        <p:spPr>
          <a:xfrm>
            <a:off x="9453287" y="3209013"/>
            <a:ext cx="2238657" cy="1477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b="1" dirty="0"/>
              <a:t>Score based on comparison of theoretical and observed fragment masses</a:t>
            </a:r>
          </a:p>
        </p:txBody>
      </p:sp>
      <p:sp>
        <p:nvSpPr>
          <p:cNvPr id="32" name="Line 5"/>
          <p:cNvSpPr>
            <a:spLocks noChangeShapeType="1"/>
          </p:cNvSpPr>
          <p:nvPr/>
        </p:nvSpPr>
        <p:spPr bwMode="auto">
          <a:xfrm>
            <a:off x="4923401" y="5685961"/>
            <a:ext cx="1286934" cy="0"/>
          </a:xfrm>
          <a:prstGeom prst="line">
            <a:avLst/>
          </a:prstGeom>
          <a:noFill/>
          <a:ln w="28575">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5"/>
          <p:cNvSpPr>
            <a:spLocks noChangeShapeType="1"/>
          </p:cNvSpPr>
          <p:nvPr/>
        </p:nvSpPr>
        <p:spPr bwMode="auto">
          <a:xfrm flipV="1">
            <a:off x="7113650" y="4521426"/>
            <a:ext cx="0" cy="627275"/>
          </a:xfrm>
          <a:prstGeom prst="line">
            <a:avLst/>
          </a:prstGeom>
          <a:noFill/>
          <a:ln w="28575">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5"/>
          <p:cNvSpPr>
            <a:spLocks noChangeShapeType="1"/>
          </p:cNvSpPr>
          <p:nvPr/>
        </p:nvSpPr>
        <p:spPr bwMode="auto">
          <a:xfrm>
            <a:off x="7131456" y="2915792"/>
            <a:ext cx="0" cy="511780"/>
          </a:xfrm>
          <a:prstGeom prst="line">
            <a:avLst/>
          </a:prstGeom>
          <a:noFill/>
          <a:ln w="28575">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5"/>
          <p:cNvSpPr>
            <a:spLocks noChangeShapeType="1"/>
          </p:cNvSpPr>
          <p:nvPr/>
        </p:nvSpPr>
        <p:spPr bwMode="auto">
          <a:xfrm>
            <a:off x="8067939" y="4013314"/>
            <a:ext cx="1286934" cy="0"/>
          </a:xfrm>
          <a:prstGeom prst="line">
            <a:avLst/>
          </a:prstGeom>
          <a:noFill/>
          <a:ln w="28575">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TextBox 35">
            <a:extLst>
              <a:ext uri="{FF2B5EF4-FFF2-40B4-BE49-F238E27FC236}">
                <a16:creationId xmlns:a16="http://schemas.microsoft.com/office/drawing/2014/main" id="{3CED20C0-5D95-4732-A20A-B90E7DB40D14}"/>
              </a:ext>
            </a:extLst>
          </p:cNvPr>
          <p:cNvSpPr txBox="1"/>
          <p:nvPr/>
        </p:nvSpPr>
        <p:spPr>
          <a:xfrm>
            <a:off x="225444" y="1868356"/>
            <a:ext cx="2888972"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Unicode MS"/>
              </a:rPr>
              <a:t>&gt;sp|Q9UQ88|CD11A_HUMAN Cyclin-dependent kinase 11A OS=Homo sapiens OX=9606 GN=CDK11A PE=1 SV=4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Unicode MS"/>
              </a:rPr>
              <a:t>MGDEKDSWKVKTLDEILQEKKRRKEQEEKAEIKRLKNSDDRDSKRDSLEEGELRDHCMEITIRNSPYRREDSMEDRGEEDDSLAIKPPQQMSRKEKVHHRKDEKRKEKWKHARVKEREHERRKRHREEQDKARREWERQKRREMAREHSRRERDRLEQLERKRERERKMREQQKEQREQKERERRAEERRKEREARREVSAHHRTMREDYSDKVKASHWSRSPPRPPRERFELGDGRKPGEARPAPAQKPAQLKEEKMEERDLLSDLQDISDSERKTSSAESSSAESGSGSEEEEEEEEE…</a:t>
            </a:r>
          </a:p>
        </p:txBody>
      </p:sp>
      <p:pic>
        <p:nvPicPr>
          <p:cNvPr id="6" name="Picture 5">
            <a:extLst>
              <a:ext uri="{FF2B5EF4-FFF2-40B4-BE49-F238E27FC236}">
                <a16:creationId xmlns:a16="http://schemas.microsoft.com/office/drawing/2014/main" id="{29E7666D-0D0A-4350-8B1C-93E4EF119FD2}"/>
              </a:ext>
            </a:extLst>
          </p:cNvPr>
          <p:cNvPicPr>
            <a:picLocks noChangeAspect="1"/>
          </p:cNvPicPr>
          <p:nvPr/>
        </p:nvPicPr>
        <p:blipFill>
          <a:blip r:embed="rId2"/>
          <a:stretch>
            <a:fillRect/>
          </a:stretch>
        </p:blipFill>
        <p:spPr>
          <a:xfrm>
            <a:off x="509726" y="4087152"/>
            <a:ext cx="2458578" cy="2498304"/>
          </a:xfrm>
          <a:prstGeom prst="rect">
            <a:avLst/>
          </a:prstGeom>
        </p:spPr>
      </p:pic>
      <p:sp>
        <p:nvSpPr>
          <p:cNvPr id="7" name="TextBox 6">
            <a:extLst>
              <a:ext uri="{FF2B5EF4-FFF2-40B4-BE49-F238E27FC236}">
                <a16:creationId xmlns:a16="http://schemas.microsoft.com/office/drawing/2014/main" id="{594A6135-6F50-4170-AEC7-DCC27ACC4002}"/>
              </a:ext>
            </a:extLst>
          </p:cNvPr>
          <p:cNvSpPr txBox="1"/>
          <p:nvPr/>
        </p:nvSpPr>
        <p:spPr>
          <a:xfrm>
            <a:off x="5225168" y="2355575"/>
            <a:ext cx="1046922" cy="646331"/>
          </a:xfrm>
          <a:prstGeom prst="rect">
            <a:avLst/>
          </a:prstGeom>
          <a:noFill/>
        </p:spPr>
        <p:txBody>
          <a:bodyPr wrap="square" rtlCol="0">
            <a:spAutoFit/>
          </a:bodyPr>
          <a:lstStyle/>
          <a:p>
            <a:r>
              <a:rPr lang="en-US" sz="900" dirty="0"/>
              <a:t>MGDEK</a:t>
            </a:r>
          </a:p>
          <a:p>
            <a:r>
              <a:rPr lang="en-US" sz="900" dirty="0"/>
              <a:t>DSWK</a:t>
            </a:r>
          </a:p>
          <a:p>
            <a:r>
              <a:rPr lang="en-US" sz="900" dirty="0"/>
              <a:t>VK</a:t>
            </a:r>
          </a:p>
          <a:p>
            <a:r>
              <a:rPr lang="en-US" sz="900" dirty="0"/>
              <a:t>TLDEILQEK</a:t>
            </a:r>
          </a:p>
        </p:txBody>
      </p:sp>
    </p:spTree>
    <p:extLst>
      <p:ext uri="{BB962C8B-B14F-4D97-AF65-F5344CB8AC3E}">
        <p14:creationId xmlns:p14="http://schemas.microsoft.com/office/powerpoint/2010/main" val="788032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err="1"/>
              <a:t>Byonic</a:t>
            </a:r>
            <a:endParaRPr lang="en-US" sz="4000" dirty="0"/>
          </a:p>
        </p:txBody>
      </p:sp>
      <p:sp>
        <p:nvSpPr>
          <p:cNvPr id="3" name="TextBox 2"/>
          <p:cNvSpPr txBox="1"/>
          <p:nvPr/>
        </p:nvSpPr>
        <p:spPr>
          <a:xfrm>
            <a:off x="3238500" y="1753612"/>
            <a:ext cx="5715000" cy="3046988"/>
          </a:xfrm>
          <a:prstGeom prst="rect">
            <a:avLst/>
          </a:prstGeom>
          <a:noFill/>
        </p:spPr>
        <p:txBody>
          <a:bodyPr wrap="square" rtlCol="0">
            <a:spAutoFit/>
          </a:bodyPr>
          <a:lstStyle/>
          <a:p>
            <a:r>
              <a:rPr lang="en-US" sz="2800" b="1" dirty="0"/>
              <a:t>What makes </a:t>
            </a:r>
            <a:r>
              <a:rPr lang="en-US" sz="2800" b="1" dirty="0" err="1"/>
              <a:t>Byonic</a:t>
            </a:r>
            <a:r>
              <a:rPr lang="en-US" sz="2800" b="1" dirty="0"/>
              <a:t> different?</a:t>
            </a:r>
          </a:p>
          <a:p>
            <a:endParaRPr lang="en-US" sz="2800" b="1" dirty="0"/>
          </a:p>
          <a:p>
            <a:pPr marL="342900" indent="-342900">
              <a:buFont typeface="Arial" panose="020B0604020202020204" pitchFamily="34" charset="0"/>
              <a:buChar char="•"/>
            </a:pPr>
            <a:r>
              <a:rPr lang="en-US" sz="2800" b="1" dirty="0"/>
              <a:t>How candidate peptide sequences are chosen from the database</a:t>
            </a:r>
          </a:p>
          <a:p>
            <a:pPr marL="342900" indent="-342900">
              <a:buFont typeface="Arial" panose="020B0604020202020204" pitchFamily="34" charset="0"/>
              <a:buChar char="•"/>
            </a:pPr>
            <a:endParaRPr lang="en-US" sz="2800" b="1" dirty="0"/>
          </a:p>
          <a:p>
            <a:pPr marL="342900" indent="-342900">
              <a:buFont typeface="Arial" panose="020B0604020202020204" pitchFamily="34" charset="0"/>
              <a:buChar char="•"/>
            </a:pPr>
            <a:r>
              <a:rPr lang="en-US" sz="2800" b="1" dirty="0"/>
              <a:t>Criteria used for scoring</a:t>
            </a:r>
          </a:p>
          <a:p>
            <a:pPr marL="342900" indent="-342900">
              <a:buFont typeface="Arial" panose="020B0604020202020204" pitchFamily="34" charset="0"/>
              <a:buChar char="•"/>
            </a:pPr>
            <a:endParaRPr lang="en-US" sz="2400" dirty="0">
              <a:solidFill>
                <a:srgbClr val="FFFF00"/>
              </a:solidFill>
            </a:endParaRPr>
          </a:p>
        </p:txBody>
      </p:sp>
    </p:spTree>
    <p:extLst>
      <p:ext uri="{BB962C8B-B14F-4D97-AF65-F5344CB8AC3E}">
        <p14:creationId xmlns:p14="http://schemas.microsoft.com/office/powerpoint/2010/main" val="2586516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C1D2DC72-0C17-C4A0-F1EE-06A37E30F825}"/>
              </a:ext>
            </a:extLst>
          </p:cNvPr>
          <p:cNvPicPr>
            <a:picLocks noChangeAspect="1"/>
          </p:cNvPicPr>
          <p:nvPr/>
        </p:nvPicPr>
        <p:blipFill rotWithShape="1">
          <a:blip r:embed="rId2">
            <a:extLst>
              <a:ext uri="{28A0092B-C50C-407E-A947-70E740481C1C}">
                <a14:useLocalDpi xmlns:a14="http://schemas.microsoft.com/office/drawing/2010/main" val="0"/>
              </a:ext>
            </a:extLst>
          </a:blip>
          <a:srcRect l="370" t="638" r="986"/>
          <a:stretch/>
        </p:blipFill>
        <p:spPr>
          <a:xfrm>
            <a:off x="362154" y="339611"/>
            <a:ext cx="8013291" cy="6178777"/>
          </a:xfrm>
          <a:prstGeom prst="rect">
            <a:avLst/>
          </a:prstGeom>
        </p:spPr>
      </p:pic>
      <p:grpSp>
        <p:nvGrpSpPr>
          <p:cNvPr id="9" name="Group 8">
            <a:extLst>
              <a:ext uri="{FF2B5EF4-FFF2-40B4-BE49-F238E27FC236}">
                <a16:creationId xmlns:a16="http://schemas.microsoft.com/office/drawing/2014/main" id="{5C5A5870-C070-5B68-E63B-E8A64BD2E69A}"/>
              </a:ext>
            </a:extLst>
          </p:cNvPr>
          <p:cNvGrpSpPr/>
          <p:nvPr/>
        </p:nvGrpSpPr>
        <p:grpSpPr>
          <a:xfrm>
            <a:off x="5583382" y="1877291"/>
            <a:ext cx="810491" cy="180116"/>
            <a:chOff x="5583382" y="1877291"/>
            <a:chExt cx="810491" cy="180116"/>
          </a:xfrm>
        </p:grpSpPr>
        <p:cxnSp>
          <p:nvCxnSpPr>
            <p:cNvPr id="3" name="Straight Connector 2">
              <a:extLst>
                <a:ext uri="{FF2B5EF4-FFF2-40B4-BE49-F238E27FC236}">
                  <a16:creationId xmlns:a16="http://schemas.microsoft.com/office/drawing/2014/main" id="{5D9F0EE8-8607-7914-969B-86727E608F34}"/>
                </a:ext>
              </a:extLst>
            </p:cNvPr>
            <p:cNvCxnSpPr/>
            <p:nvPr/>
          </p:nvCxnSpPr>
          <p:spPr>
            <a:xfrm>
              <a:off x="5583382" y="1877291"/>
              <a:ext cx="810491"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6" name="Straight Connector 5">
              <a:extLst>
                <a:ext uri="{FF2B5EF4-FFF2-40B4-BE49-F238E27FC236}">
                  <a16:creationId xmlns:a16="http://schemas.microsoft.com/office/drawing/2014/main" id="{920DF955-1EE2-96A8-0E12-7B1F36B3F815}"/>
                </a:ext>
              </a:extLst>
            </p:cNvPr>
            <p:cNvCxnSpPr/>
            <p:nvPr/>
          </p:nvCxnSpPr>
          <p:spPr>
            <a:xfrm>
              <a:off x="5583382" y="1877292"/>
              <a:ext cx="0" cy="166254"/>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Straight Connector 7">
              <a:extLst>
                <a:ext uri="{FF2B5EF4-FFF2-40B4-BE49-F238E27FC236}">
                  <a16:creationId xmlns:a16="http://schemas.microsoft.com/office/drawing/2014/main" id="{BC7DB380-692F-D328-4B72-BACDC90BACD4}"/>
                </a:ext>
              </a:extLst>
            </p:cNvPr>
            <p:cNvCxnSpPr/>
            <p:nvPr/>
          </p:nvCxnSpPr>
          <p:spPr>
            <a:xfrm>
              <a:off x="6393872" y="1891153"/>
              <a:ext cx="0" cy="166254"/>
            </a:xfrm>
            <a:prstGeom prst="line">
              <a:avLst/>
            </a:prstGeom>
          </p:spPr>
          <p:style>
            <a:lnRef idx="3">
              <a:schemeClr val="accent1"/>
            </a:lnRef>
            <a:fillRef idx="0">
              <a:schemeClr val="accent1"/>
            </a:fillRef>
            <a:effectRef idx="2">
              <a:schemeClr val="accent1"/>
            </a:effectRef>
            <a:fontRef idx="minor">
              <a:schemeClr val="tx1"/>
            </a:fontRef>
          </p:style>
        </p:cxnSp>
      </p:grpSp>
      <p:sp>
        <p:nvSpPr>
          <p:cNvPr id="10" name="TextBox 9">
            <a:extLst>
              <a:ext uri="{FF2B5EF4-FFF2-40B4-BE49-F238E27FC236}">
                <a16:creationId xmlns:a16="http://schemas.microsoft.com/office/drawing/2014/main" id="{466D300A-F323-2F89-D03B-4B81DA8A83BB}"/>
              </a:ext>
            </a:extLst>
          </p:cNvPr>
          <p:cNvSpPr txBox="1"/>
          <p:nvPr/>
        </p:nvSpPr>
        <p:spPr>
          <a:xfrm>
            <a:off x="5631874" y="1494804"/>
            <a:ext cx="928251" cy="307777"/>
          </a:xfrm>
          <a:prstGeom prst="rect">
            <a:avLst/>
          </a:prstGeom>
          <a:noFill/>
        </p:spPr>
        <p:txBody>
          <a:bodyPr wrap="square" rtlCol="0">
            <a:spAutoFit/>
          </a:bodyPr>
          <a:lstStyle/>
          <a:p>
            <a:r>
              <a:rPr lang="en-US" sz="1400" dirty="0">
                <a:solidFill>
                  <a:schemeClr val="accent1"/>
                </a:solidFill>
              </a:rPr>
              <a:t>W (186)</a:t>
            </a:r>
          </a:p>
        </p:txBody>
      </p:sp>
      <p:grpSp>
        <p:nvGrpSpPr>
          <p:cNvPr id="11" name="Group 10">
            <a:extLst>
              <a:ext uri="{FF2B5EF4-FFF2-40B4-BE49-F238E27FC236}">
                <a16:creationId xmlns:a16="http://schemas.microsoft.com/office/drawing/2014/main" id="{E14849CA-625A-84A0-6D63-A492FF36BED3}"/>
              </a:ext>
            </a:extLst>
          </p:cNvPr>
          <p:cNvGrpSpPr/>
          <p:nvPr/>
        </p:nvGrpSpPr>
        <p:grpSpPr>
          <a:xfrm>
            <a:off x="6927273" y="4959929"/>
            <a:ext cx="540327" cy="242454"/>
            <a:chOff x="5583382" y="1877291"/>
            <a:chExt cx="810491" cy="180116"/>
          </a:xfrm>
        </p:grpSpPr>
        <p:cxnSp>
          <p:nvCxnSpPr>
            <p:cNvPr id="12" name="Straight Connector 11">
              <a:extLst>
                <a:ext uri="{FF2B5EF4-FFF2-40B4-BE49-F238E27FC236}">
                  <a16:creationId xmlns:a16="http://schemas.microsoft.com/office/drawing/2014/main" id="{DA447C36-99E4-2D94-2CBA-C5C8FA15CBC7}"/>
                </a:ext>
              </a:extLst>
            </p:cNvPr>
            <p:cNvCxnSpPr/>
            <p:nvPr/>
          </p:nvCxnSpPr>
          <p:spPr>
            <a:xfrm>
              <a:off x="5583382" y="1877291"/>
              <a:ext cx="810491"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30C4F3B6-035F-4CF1-427D-15DFE4FA47B6}"/>
                </a:ext>
              </a:extLst>
            </p:cNvPr>
            <p:cNvCxnSpPr/>
            <p:nvPr/>
          </p:nvCxnSpPr>
          <p:spPr>
            <a:xfrm>
              <a:off x="5583382" y="1877292"/>
              <a:ext cx="0" cy="166254"/>
            </a:xfrm>
            <a:prstGeom prst="line">
              <a:avLst/>
            </a:prstGeom>
          </p:spPr>
          <p:style>
            <a:lnRef idx="3">
              <a:schemeClr val="accent1"/>
            </a:lnRef>
            <a:fillRef idx="0">
              <a:schemeClr val="accent1"/>
            </a:fillRef>
            <a:effectRef idx="2">
              <a:schemeClr val="accent1"/>
            </a:effectRef>
            <a:fontRef idx="minor">
              <a:schemeClr val="tx1"/>
            </a:fontRef>
          </p:style>
        </p:cxnSp>
        <p:cxnSp>
          <p:nvCxnSpPr>
            <p:cNvPr id="14" name="Straight Connector 13">
              <a:extLst>
                <a:ext uri="{FF2B5EF4-FFF2-40B4-BE49-F238E27FC236}">
                  <a16:creationId xmlns:a16="http://schemas.microsoft.com/office/drawing/2014/main" id="{0585C104-DB65-4DD1-4F33-62E31893A409}"/>
                </a:ext>
              </a:extLst>
            </p:cNvPr>
            <p:cNvCxnSpPr/>
            <p:nvPr/>
          </p:nvCxnSpPr>
          <p:spPr>
            <a:xfrm>
              <a:off x="6393872" y="1891153"/>
              <a:ext cx="0" cy="166254"/>
            </a:xfrm>
            <a:prstGeom prst="line">
              <a:avLst/>
            </a:prstGeom>
          </p:spPr>
          <p:style>
            <a:lnRef idx="3">
              <a:schemeClr val="accent1"/>
            </a:lnRef>
            <a:fillRef idx="0">
              <a:schemeClr val="accent1"/>
            </a:fillRef>
            <a:effectRef idx="2">
              <a:schemeClr val="accent1"/>
            </a:effectRef>
            <a:fontRef idx="minor">
              <a:schemeClr val="tx1"/>
            </a:fontRef>
          </p:style>
        </p:cxnSp>
      </p:grpSp>
      <p:sp>
        <p:nvSpPr>
          <p:cNvPr id="15" name="TextBox 14">
            <a:extLst>
              <a:ext uri="{FF2B5EF4-FFF2-40B4-BE49-F238E27FC236}">
                <a16:creationId xmlns:a16="http://schemas.microsoft.com/office/drawing/2014/main" id="{AAE82B29-6B6B-EA28-5D01-4876D46E1DC9}"/>
              </a:ext>
            </a:extLst>
          </p:cNvPr>
          <p:cNvSpPr txBox="1"/>
          <p:nvPr/>
        </p:nvSpPr>
        <p:spPr>
          <a:xfrm>
            <a:off x="6837220" y="4625080"/>
            <a:ext cx="928251" cy="307777"/>
          </a:xfrm>
          <a:prstGeom prst="rect">
            <a:avLst/>
          </a:prstGeom>
          <a:noFill/>
        </p:spPr>
        <p:txBody>
          <a:bodyPr wrap="square" rtlCol="0">
            <a:spAutoFit/>
          </a:bodyPr>
          <a:lstStyle/>
          <a:p>
            <a:r>
              <a:rPr lang="en-US" sz="1400" dirty="0">
                <a:solidFill>
                  <a:schemeClr val="accent1"/>
                </a:solidFill>
              </a:rPr>
              <a:t>D (115)</a:t>
            </a:r>
          </a:p>
        </p:txBody>
      </p:sp>
      <p:grpSp>
        <p:nvGrpSpPr>
          <p:cNvPr id="24" name="Group 23">
            <a:extLst>
              <a:ext uri="{FF2B5EF4-FFF2-40B4-BE49-F238E27FC236}">
                <a16:creationId xmlns:a16="http://schemas.microsoft.com/office/drawing/2014/main" id="{D665A1AE-90AD-30BD-A5BF-BB953DD8DF0F}"/>
              </a:ext>
            </a:extLst>
          </p:cNvPr>
          <p:cNvGrpSpPr/>
          <p:nvPr/>
        </p:nvGrpSpPr>
        <p:grpSpPr>
          <a:xfrm>
            <a:off x="5174673" y="1877291"/>
            <a:ext cx="302557" cy="1849582"/>
            <a:chOff x="5112327" y="1877291"/>
            <a:chExt cx="364903" cy="1849582"/>
          </a:xfrm>
        </p:grpSpPr>
        <p:cxnSp>
          <p:nvCxnSpPr>
            <p:cNvPr id="17" name="Straight Connector 16">
              <a:extLst>
                <a:ext uri="{FF2B5EF4-FFF2-40B4-BE49-F238E27FC236}">
                  <a16:creationId xmlns:a16="http://schemas.microsoft.com/office/drawing/2014/main" id="{6B8B5AE1-D4CD-4BFA-61A3-88C3539FAA3C}"/>
                </a:ext>
              </a:extLst>
            </p:cNvPr>
            <p:cNvCxnSpPr>
              <a:cxnSpLocks/>
            </p:cNvCxnSpPr>
            <p:nvPr/>
          </p:nvCxnSpPr>
          <p:spPr>
            <a:xfrm>
              <a:off x="5112327" y="1877291"/>
              <a:ext cx="364903"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8" name="Straight Connector 17">
              <a:extLst>
                <a:ext uri="{FF2B5EF4-FFF2-40B4-BE49-F238E27FC236}">
                  <a16:creationId xmlns:a16="http://schemas.microsoft.com/office/drawing/2014/main" id="{30AC0FA9-D127-A01B-B5AC-9503CFC8CD88}"/>
                </a:ext>
              </a:extLst>
            </p:cNvPr>
            <p:cNvCxnSpPr>
              <a:cxnSpLocks/>
            </p:cNvCxnSpPr>
            <p:nvPr/>
          </p:nvCxnSpPr>
          <p:spPr>
            <a:xfrm>
              <a:off x="5112327" y="1877292"/>
              <a:ext cx="0" cy="1849581"/>
            </a:xfrm>
            <a:prstGeom prst="line">
              <a:avLst/>
            </a:prstGeom>
          </p:spPr>
          <p:style>
            <a:lnRef idx="3">
              <a:schemeClr val="accent1"/>
            </a:lnRef>
            <a:fillRef idx="0">
              <a:schemeClr val="accent1"/>
            </a:fillRef>
            <a:effectRef idx="2">
              <a:schemeClr val="accent1"/>
            </a:effectRef>
            <a:fontRef idx="minor">
              <a:schemeClr val="tx1"/>
            </a:fontRef>
          </p:style>
        </p:cxnSp>
        <p:cxnSp>
          <p:nvCxnSpPr>
            <p:cNvPr id="19" name="Straight Connector 18">
              <a:extLst>
                <a:ext uri="{FF2B5EF4-FFF2-40B4-BE49-F238E27FC236}">
                  <a16:creationId xmlns:a16="http://schemas.microsoft.com/office/drawing/2014/main" id="{69DD1FEC-491D-A46C-A3E1-172CEAA2BC93}"/>
                </a:ext>
              </a:extLst>
            </p:cNvPr>
            <p:cNvCxnSpPr>
              <a:cxnSpLocks/>
            </p:cNvCxnSpPr>
            <p:nvPr/>
          </p:nvCxnSpPr>
          <p:spPr>
            <a:xfrm>
              <a:off x="5477230" y="1891153"/>
              <a:ext cx="0" cy="166254"/>
            </a:xfrm>
            <a:prstGeom prst="line">
              <a:avLst/>
            </a:prstGeom>
          </p:spPr>
          <p:style>
            <a:lnRef idx="3">
              <a:schemeClr val="accent1"/>
            </a:lnRef>
            <a:fillRef idx="0">
              <a:schemeClr val="accent1"/>
            </a:fillRef>
            <a:effectRef idx="2">
              <a:schemeClr val="accent1"/>
            </a:effectRef>
            <a:fontRef idx="minor">
              <a:schemeClr val="tx1"/>
            </a:fontRef>
          </p:style>
        </p:cxnSp>
      </p:grpSp>
      <p:sp>
        <p:nvSpPr>
          <p:cNvPr id="20" name="TextBox 19">
            <a:extLst>
              <a:ext uri="{FF2B5EF4-FFF2-40B4-BE49-F238E27FC236}">
                <a16:creationId xmlns:a16="http://schemas.microsoft.com/office/drawing/2014/main" id="{AC2CF1D5-5186-AC25-F636-DB40AB1DD376}"/>
              </a:ext>
            </a:extLst>
          </p:cNvPr>
          <p:cNvSpPr txBox="1"/>
          <p:nvPr/>
        </p:nvSpPr>
        <p:spPr>
          <a:xfrm>
            <a:off x="5013104" y="1508665"/>
            <a:ext cx="928251" cy="307777"/>
          </a:xfrm>
          <a:prstGeom prst="rect">
            <a:avLst/>
          </a:prstGeom>
          <a:noFill/>
        </p:spPr>
        <p:txBody>
          <a:bodyPr wrap="square" rtlCol="0">
            <a:spAutoFit/>
          </a:bodyPr>
          <a:lstStyle/>
          <a:p>
            <a:r>
              <a:rPr lang="en-US" sz="1400" dirty="0">
                <a:solidFill>
                  <a:schemeClr val="accent1"/>
                </a:solidFill>
              </a:rPr>
              <a:t>S (87)</a:t>
            </a:r>
          </a:p>
        </p:txBody>
      </p:sp>
      <p:sp>
        <p:nvSpPr>
          <p:cNvPr id="26" name="TextBox 25">
            <a:extLst>
              <a:ext uri="{FF2B5EF4-FFF2-40B4-BE49-F238E27FC236}">
                <a16:creationId xmlns:a16="http://schemas.microsoft.com/office/drawing/2014/main" id="{6FAF4E6C-F44E-5C62-0651-AE3F73558E19}"/>
              </a:ext>
            </a:extLst>
          </p:cNvPr>
          <p:cNvSpPr txBox="1"/>
          <p:nvPr/>
        </p:nvSpPr>
        <p:spPr>
          <a:xfrm>
            <a:off x="8742218" y="872836"/>
            <a:ext cx="3200400" cy="1200329"/>
          </a:xfrm>
          <a:prstGeom prst="rect">
            <a:avLst/>
          </a:prstGeom>
          <a:noFill/>
        </p:spPr>
        <p:txBody>
          <a:bodyPr wrap="square" rtlCol="0">
            <a:spAutoFit/>
          </a:bodyPr>
          <a:lstStyle/>
          <a:p>
            <a:r>
              <a:rPr lang="en-US" sz="2400" dirty="0" err="1"/>
              <a:t>Byonic</a:t>
            </a:r>
            <a:r>
              <a:rPr lang="en-US" sz="2400" dirty="0"/>
              <a:t> takes advantage of clues found in the </a:t>
            </a:r>
            <a:r>
              <a:rPr lang="en-US" sz="2400" dirty="0" err="1"/>
              <a:t>ms</a:t>
            </a:r>
            <a:r>
              <a:rPr lang="en-US" sz="2400" dirty="0"/>
              <a:t>/</a:t>
            </a:r>
            <a:r>
              <a:rPr lang="en-US" sz="2400" dirty="0" err="1"/>
              <a:t>ms</a:t>
            </a:r>
            <a:r>
              <a:rPr lang="en-US" sz="2400" dirty="0"/>
              <a:t> spectrum.</a:t>
            </a:r>
          </a:p>
        </p:txBody>
      </p:sp>
    </p:spTree>
    <p:extLst>
      <p:ext uri="{BB962C8B-B14F-4D97-AF65-F5344CB8AC3E}">
        <p14:creationId xmlns:p14="http://schemas.microsoft.com/office/powerpoint/2010/main" val="3264610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96297" y="584384"/>
            <a:ext cx="8357059" cy="1138773"/>
          </a:xfrm>
          <a:prstGeom prst="rect">
            <a:avLst/>
          </a:prstGeom>
          <a:noFill/>
        </p:spPr>
        <p:txBody>
          <a:bodyPr wrap="square" rtlCol="0">
            <a:spAutoFit/>
          </a:bodyPr>
          <a:lstStyle/>
          <a:p>
            <a:pPr marL="800100" lvl="1" indent="-342900">
              <a:buFont typeface="Arial" panose="020B0604020202020204" pitchFamily="34" charset="0"/>
              <a:buChar char="•"/>
            </a:pPr>
            <a:r>
              <a:rPr lang="en-US" sz="2000" dirty="0"/>
              <a:t>How candidate peptide sequences are chosen from the database</a:t>
            </a:r>
          </a:p>
          <a:p>
            <a:pPr marL="800100" lvl="1" indent="-342900">
              <a:buFont typeface="Arial" panose="020B0604020202020204" pitchFamily="34" charset="0"/>
              <a:buChar char="•"/>
            </a:pPr>
            <a:r>
              <a:rPr lang="en-US" sz="2000" dirty="0"/>
              <a:t>Criteria used for scoring</a:t>
            </a:r>
          </a:p>
          <a:p>
            <a:pPr algn="ctr" eaLnBrk="0" fontAlgn="base" hangingPunct="0">
              <a:spcBef>
                <a:spcPct val="0"/>
              </a:spcBef>
              <a:spcAft>
                <a:spcPct val="0"/>
              </a:spcAft>
            </a:pPr>
            <a:endParaRPr lang="en-US" sz="2800" dirty="0"/>
          </a:p>
        </p:txBody>
      </p:sp>
      <p:grpSp>
        <p:nvGrpSpPr>
          <p:cNvPr id="5" name="Group 4">
            <a:extLst>
              <a:ext uri="{FF2B5EF4-FFF2-40B4-BE49-F238E27FC236}">
                <a16:creationId xmlns:a16="http://schemas.microsoft.com/office/drawing/2014/main" id="{04526094-DE76-591A-38B3-3E4B146F9C90}"/>
              </a:ext>
            </a:extLst>
          </p:cNvPr>
          <p:cNvGrpSpPr/>
          <p:nvPr/>
        </p:nvGrpSpPr>
        <p:grpSpPr>
          <a:xfrm>
            <a:off x="95891" y="1543649"/>
            <a:ext cx="11544522" cy="5190530"/>
            <a:chOff x="95891" y="963546"/>
            <a:chExt cx="11544522" cy="5190530"/>
          </a:xfrm>
        </p:grpSpPr>
        <p:sp>
          <p:nvSpPr>
            <p:cNvPr id="16" name="TextBox 15">
              <a:extLst>
                <a:ext uri="{FF2B5EF4-FFF2-40B4-BE49-F238E27FC236}">
                  <a16:creationId xmlns:a16="http://schemas.microsoft.com/office/drawing/2014/main" id="{095D6721-52D7-4C68-B40D-A530F341EC0B}"/>
                </a:ext>
              </a:extLst>
            </p:cNvPr>
            <p:cNvSpPr txBox="1"/>
            <p:nvPr/>
          </p:nvSpPr>
          <p:spPr>
            <a:xfrm>
              <a:off x="95891" y="4089357"/>
              <a:ext cx="2888972"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Unicode MS"/>
                </a:rPr>
                <a:t>&gt;sp|Q9UQ88|CD11A_HUMAN Cyclin-dependent kinase 11A OS=Homo sapiens OX=9606 GN=CDK11A PE=1 SV=4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Arial Unicode MS"/>
                </a:rPr>
                <a:t>MGDEKDSWKVKTLDEILQEKKRRKEQEEKAEIKRLKNSDDRDSKRDSLEEGELRDHCMEITIRNSPYRREDSMEDRGEEDDSLAIKPPQQMSRKEKVHHRKDEKRKEKWKHARVKEREHERRKRHREEQDKARREWERQKRREMAREHSRRERDRLEQLERKRERERKMREQQKEQREQKERERRAEERRKEREARREVSAHHRTMREDYSDKVKASHWSRSPPRPPRERFELGDGRKPGEARPAPAQKPAQLKEEKMEERDLLSDLQDISDSERKTSSAESSSAESGSGSEEEEEEEEE…</a:t>
              </a:r>
            </a:p>
          </p:txBody>
        </p:sp>
        <p:sp>
          <p:nvSpPr>
            <p:cNvPr id="3" name="TextBox 2"/>
            <p:cNvSpPr txBox="1"/>
            <p:nvPr/>
          </p:nvSpPr>
          <p:spPr>
            <a:xfrm>
              <a:off x="3007160" y="1459169"/>
              <a:ext cx="1524000" cy="92333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b="1" dirty="0"/>
                <a:t>Experimental Data (MS/MS spectra)</a:t>
              </a:r>
            </a:p>
          </p:txBody>
        </p:sp>
        <p:sp>
          <p:nvSpPr>
            <p:cNvPr id="10" name="TextBox 9"/>
            <p:cNvSpPr txBox="1"/>
            <p:nvPr/>
          </p:nvSpPr>
          <p:spPr>
            <a:xfrm>
              <a:off x="7189694" y="1388268"/>
              <a:ext cx="152400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b="1" dirty="0"/>
                <a:t>List of “lookup peaks”</a:t>
              </a:r>
            </a:p>
          </p:txBody>
        </p:sp>
        <p:sp>
          <p:nvSpPr>
            <p:cNvPr id="18" name="TextBox 17"/>
            <p:cNvSpPr txBox="1"/>
            <p:nvPr/>
          </p:nvSpPr>
          <p:spPr>
            <a:xfrm>
              <a:off x="3070660" y="4155482"/>
              <a:ext cx="152400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b="1" dirty="0"/>
                <a:t>Protein Sequence Library</a:t>
              </a:r>
            </a:p>
          </p:txBody>
        </p:sp>
        <p:cxnSp>
          <p:nvCxnSpPr>
            <p:cNvPr id="20" name="Straight Arrow Connector 19"/>
            <p:cNvCxnSpPr/>
            <p:nvPr/>
          </p:nvCxnSpPr>
          <p:spPr bwMode="auto">
            <a:xfrm>
              <a:off x="4806328" y="1895068"/>
              <a:ext cx="2154767" cy="0"/>
            </a:xfrm>
            <a:prstGeom prst="straightConnector1">
              <a:avLst/>
            </a:prstGeom>
            <a:solidFill>
              <a:schemeClr val="accent1"/>
            </a:solidFill>
            <a:ln w="38100" cap="flat" cmpd="sng" algn="ctr">
              <a:solidFill>
                <a:srgbClr val="0070C0"/>
              </a:solidFill>
              <a:prstDash val="solid"/>
              <a:round/>
              <a:headEnd type="none"/>
              <a:tailEnd type="triangle"/>
            </a:ln>
            <a:effectLst/>
          </p:spPr>
        </p:cxnSp>
        <p:sp>
          <p:nvSpPr>
            <p:cNvPr id="21" name="TextBox 20"/>
            <p:cNvSpPr txBox="1"/>
            <p:nvPr/>
          </p:nvSpPr>
          <p:spPr>
            <a:xfrm>
              <a:off x="4946027" y="2024588"/>
              <a:ext cx="1828800" cy="923330"/>
            </a:xfrm>
            <a:prstGeom prst="rect">
              <a:avLst/>
            </a:prstGeom>
            <a:noFill/>
          </p:spPr>
          <p:txBody>
            <a:bodyPr wrap="square" rtlCol="0">
              <a:spAutoFit/>
            </a:bodyPr>
            <a:lstStyle/>
            <a:p>
              <a:pPr algn="ctr"/>
              <a:r>
                <a:rPr lang="en-US" b="1" dirty="0">
                  <a:solidFill>
                    <a:srgbClr val="0070C0"/>
                  </a:solidFill>
                </a:rPr>
                <a:t>Account for isotopes and losses.</a:t>
              </a:r>
            </a:p>
          </p:txBody>
        </p:sp>
        <p:sp>
          <p:nvSpPr>
            <p:cNvPr id="22" name="TextBox 21"/>
            <p:cNvSpPr txBox="1"/>
            <p:nvPr/>
          </p:nvSpPr>
          <p:spPr>
            <a:xfrm>
              <a:off x="9004300" y="963546"/>
              <a:ext cx="1752600" cy="2308324"/>
            </a:xfrm>
            <a:prstGeom prst="rect">
              <a:avLst/>
            </a:prstGeom>
            <a:noFill/>
          </p:spPr>
          <p:txBody>
            <a:bodyPr wrap="square" rtlCol="0">
              <a:spAutoFit/>
            </a:bodyPr>
            <a:lstStyle/>
            <a:p>
              <a:r>
                <a:rPr lang="en-US" b="1" dirty="0">
                  <a:solidFill>
                    <a:srgbClr val="0070C0"/>
                  </a:solidFill>
                </a:rPr>
                <a:t>Potential fragments are found by looking for residue differences and are sorted by intensity.</a:t>
              </a:r>
            </a:p>
          </p:txBody>
        </p:sp>
        <p:cxnSp>
          <p:nvCxnSpPr>
            <p:cNvPr id="23" name="Straight Arrow Connector 22"/>
            <p:cNvCxnSpPr/>
            <p:nvPr/>
          </p:nvCxnSpPr>
          <p:spPr bwMode="auto">
            <a:xfrm>
              <a:off x="4806327" y="4542042"/>
              <a:ext cx="1240367" cy="0"/>
            </a:xfrm>
            <a:prstGeom prst="straightConnector1">
              <a:avLst/>
            </a:prstGeom>
            <a:solidFill>
              <a:schemeClr val="accent1"/>
            </a:solidFill>
            <a:ln w="38100" cap="flat" cmpd="sng" algn="ctr">
              <a:solidFill>
                <a:srgbClr val="0070C0"/>
              </a:solidFill>
              <a:prstDash val="solid"/>
              <a:round/>
              <a:headEnd type="none"/>
              <a:tailEnd type="triangle"/>
            </a:ln>
            <a:effectLst/>
          </p:spPr>
        </p:cxnSp>
        <p:sp>
          <p:nvSpPr>
            <p:cNvPr id="29" name="Text Box 4"/>
            <p:cNvSpPr txBox="1">
              <a:spLocks noChangeArrowheads="1"/>
            </p:cNvSpPr>
            <p:nvPr/>
          </p:nvSpPr>
          <p:spPr bwMode="auto">
            <a:xfrm>
              <a:off x="6157540" y="4028790"/>
              <a:ext cx="1769668" cy="1200329"/>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spcBef>
                  <a:spcPct val="50000"/>
                </a:spcBef>
              </a:pPr>
              <a:r>
                <a:rPr lang="en-US" altLang="en-US" b="1" dirty="0"/>
                <a:t>MS/MS precursor mass and contains lookup peaks </a:t>
              </a:r>
            </a:p>
          </p:txBody>
        </p:sp>
        <p:sp>
          <p:nvSpPr>
            <p:cNvPr id="33" name="Text Box 6"/>
            <p:cNvSpPr txBox="1">
              <a:spLocks noChangeArrowheads="1"/>
            </p:cNvSpPr>
            <p:nvPr/>
          </p:nvSpPr>
          <p:spPr bwMode="auto">
            <a:xfrm>
              <a:off x="4708041" y="3766192"/>
              <a:ext cx="13637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b="1" dirty="0">
                  <a:solidFill>
                    <a:srgbClr val="0070C0"/>
                  </a:solidFill>
                </a:rPr>
                <a:t>Digest “in silico”</a:t>
              </a:r>
            </a:p>
          </p:txBody>
        </p:sp>
        <p:cxnSp>
          <p:nvCxnSpPr>
            <p:cNvPr id="36" name="Straight Arrow Connector 35"/>
            <p:cNvCxnSpPr/>
            <p:nvPr/>
          </p:nvCxnSpPr>
          <p:spPr bwMode="auto">
            <a:xfrm>
              <a:off x="7989794" y="4532423"/>
              <a:ext cx="1240367" cy="0"/>
            </a:xfrm>
            <a:prstGeom prst="straightConnector1">
              <a:avLst/>
            </a:prstGeom>
            <a:solidFill>
              <a:schemeClr val="accent1"/>
            </a:solidFill>
            <a:ln w="38100" cap="flat" cmpd="sng" algn="ctr">
              <a:solidFill>
                <a:srgbClr val="0070C0"/>
              </a:solidFill>
              <a:prstDash val="solid"/>
              <a:round/>
              <a:headEnd type="none"/>
              <a:tailEnd type="triangle"/>
            </a:ln>
            <a:effectLst/>
          </p:spPr>
        </p:cxnSp>
        <p:sp>
          <p:nvSpPr>
            <p:cNvPr id="37" name="TextBox 36"/>
            <p:cNvSpPr txBox="1"/>
            <p:nvPr/>
          </p:nvSpPr>
          <p:spPr>
            <a:xfrm>
              <a:off x="6046693" y="5230746"/>
              <a:ext cx="2438401" cy="923330"/>
            </a:xfrm>
            <a:prstGeom prst="rect">
              <a:avLst/>
            </a:prstGeom>
            <a:noFill/>
          </p:spPr>
          <p:txBody>
            <a:bodyPr wrap="square" rtlCol="0">
              <a:spAutoFit/>
            </a:bodyPr>
            <a:lstStyle/>
            <a:p>
              <a:r>
                <a:rPr lang="en-US" b="1" dirty="0">
                  <a:solidFill>
                    <a:srgbClr val="0070C0"/>
                  </a:solidFill>
                </a:rPr>
                <a:t>Number of possible candidates chosen from database is reduced.</a:t>
              </a:r>
            </a:p>
          </p:txBody>
        </p:sp>
        <p:cxnSp>
          <p:nvCxnSpPr>
            <p:cNvPr id="30" name="Straight Arrow Connector 29"/>
            <p:cNvCxnSpPr/>
            <p:nvPr/>
          </p:nvCxnSpPr>
          <p:spPr bwMode="auto">
            <a:xfrm flipH="1">
              <a:off x="7037292" y="2529879"/>
              <a:ext cx="669218" cy="1366549"/>
            </a:xfrm>
            <a:prstGeom prst="straightConnector1">
              <a:avLst/>
            </a:prstGeom>
            <a:solidFill>
              <a:schemeClr val="accent1"/>
            </a:solidFill>
            <a:ln w="38100" cap="flat" cmpd="sng" algn="ctr">
              <a:solidFill>
                <a:srgbClr val="0070C0"/>
              </a:solidFill>
              <a:prstDash val="solid"/>
              <a:round/>
              <a:headEnd type="none"/>
              <a:tailEnd type="triangle"/>
            </a:ln>
            <a:effectLst/>
          </p:spPr>
        </p:cxnSp>
        <p:sp>
          <p:nvSpPr>
            <p:cNvPr id="27" name="TextBox 26">
              <a:extLst>
                <a:ext uri="{FF2B5EF4-FFF2-40B4-BE49-F238E27FC236}">
                  <a16:creationId xmlns:a16="http://schemas.microsoft.com/office/drawing/2014/main" id="{95FE49F7-379B-47CD-9E9F-472FC579A411}"/>
                </a:ext>
              </a:extLst>
            </p:cNvPr>
            <p:cNvSpPr txBox="1"/>
            <p:nvPr/>
          </p:nvSpPr>
          <p:spPr>
            <a:xfrm>
              <a:off x="9401756" y="3878483"/>
              <a:ext cx="2238657" cy="17543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b="1" dirty="0"/>
                <a:t>Score based on comparison of theoretical and observed fragment masses, and other MS based rules.</a:t>
              </a:r>
            </a:p>
          </p:txBody>
        </p:sp>
        <p:pic>
          <p:nvPicPr>
            <p:cNvPr id="17" name="Picture 16">
              <a:extLst>
                <a:ext uri="{FF2B5EF4-FFF2-40B4-BE49-F238E27FC236}">
                  <a16:creationId xmlns:a16="http://schemas.microsoft.com/office/drawing/2014/main" id="{83412069-5035-4559-A88A-1249894DCE0B}"/>
                </a:ext>
              </a:extLst>
            </p:cNvPr>
            <p:cNvPicPr>
              <a:picLocks noChangeAspect="1"/>
            </p:cNvPicPr>
            <p:nvPr/>
          </p:nvPicPr>
          <p:blipFill>
            <a:blip r:embed="rId2"/>
            <a:stretch>
              <a:fillRect/>
            </a:stretch>
          </p:blipFill>
          <p:spPr>
            <a:xfrm>
              <a:off x="366551" y="963546"/>
              <a:ext cx="2458578" cy="2498304"/>
            </a:xfrm>
            <a:prstGeom prst="rect">
              <a:avLst/>
            </a:prstGeom>
          </p:spPr>
        </p:pic>
        <p:sp>
          <p:nvSpPr>
            <p:cNvPr id="19" name="TextBox 18">
              <a:extLst>
                <a:ext uri="{FF2B5EF4-FFF2-40B4-BE49-F238E27FC236}">
                  <a16:creationId xmlns:a16="http://schemas.microsoft.com/office/drawing/2014/main" id="{CF3E752D-2338-4942-B24A-0B23AA32C5F2}"/>
                </a:ext>
              </a:extLst>
            </p:cNvPr>
            <p:cNvSpPr txBox="1"/>
            <p:nvPr/>
          </p:nvSpPr>
          <p:spPr>
            <a:xfrm>
              <a:off x="5049078" y="4632120"/>
              <a:ext cx="1046922" cy="646331"/>
            </a:xfrm>
            <a:prstGeom prst="rect">
              <a:avLst/>
            </a:prstGeom>
            <a:noFill/>
          </p:spPr>
          <p:txBody>
            <a:bodyPr wrap="square" rtlCol="0">
              <a:spAutoFit/>
            </a:bodyPr>
            <a:lstStyle/>
            <a:p>
              <a:r>
                <a:rPr lang="en-US" sz="900" dirty="0"/>
                <a:t>MGDEK</a:t>
              </a:r>
            </a:p>
            <a:p>
              <a:r>
                <a:rPr lang="en-US" sz="900" dirty="0"/>
                <a:t>DSWK</a:t>
              </a:r>
            </a:p>
            <a:p>
              <a:r>
                <a:rPr lang="en-US" sz="900" dirty="0"/>
                <a:t>VK</a:t>
              </a:r>
            </a:p>
            <a:p>
              <a:r>
                <a:rPr lang="en-US" sz="900" dirty="0"/>
                <a:t>TLDEILQEK</a:t>
              </a:r>
            </a:p>
          </p:txBody>
        </p:sp>
      </p:grpSp>
      <p:sp>
        <p:nvSpPr>
          <p:cNvPr id="6" name="TextBox 5">
            <a:extLst>
              <a:ext uri="{FF2B5EF4-FFF2-40B4-BE49-F238E27FC236}">
                <a16:creationId xmlns:a16="http://schemas.microsoft.com/office/drawing/2014/main" id="{6C43178D-8C08-96AF-7488-1C11B9D17FFF}"/>
              </a:ext>
            </a:extLst>
          </p:cNvPr>
          <p:cNvSpPr txBox="1"/>
          <p:nvPr/>
        </p:nvSpPr>
        <p:spPr>
          <a:xfrm>
            <a:off x="2921785" y="134934"/>
            <a:ext cx="5301508" cy="800219"/>
          </a:xfrm>
          <a:prstGeom prst="rect">
            <a:avLst/>
          </a:prstGeom>
          <a:noFill/>
        </p:spPr>
        <p:txBody>
          <a:bodyPr wrap="square" rtlCol="0">
            <a:spAutoFit/>
          </a:bodyPr>
          <a:lstStyle/>
          <a:p>
            <a:pPr algn="ctr"/>
            <a:r>
              <a:rPr lang="en-US" sz="2800" b="1" dirty="0"/>
              <a:t>What Makes </a:t>
            </a:r>
            <a:r>
              <a:rPr lang="en-US" sz="2800" b="1" dirty="0" err="1"/>
              <a:t>Byonic</a:t>
            </a:r>
            <a:r>
              <a:rPr lang="en-US" sz="2800" b="1" dirty="0"/>
              <a:t> Different?  </a:t>
            </a:r>
          </a:p>
          <a:p>
            <a:pPr algn="ctr"/>
            <a:endParaRPr lang="en-US" dirty="0"/>
          </a:p>
        </p:txBody>
      </p:sp>
    </p:spTree>
    <p:extLst>
      <p:ext uri="{BB962C8B-B14F-4D97-AF65-F5344CB8AC3E}">
        <p14:creationId xmlns:p14="http://schemas.microsoft.com/office/powerpoint/2010/main" val="1385405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Scoring</a:t>
            </a:r>
          </a:p>
        </p:txBody>
      </p:sp>
      <p:sp>
        <p:nvSpPr>
          <p:cNvPr id="4" name="TextBox 3"/>
          <p:cNvSpPr txBox="1"/>
          <p:nvPr/>
        </p:nvSpPr>
        <p:spPr>
          <a:xfrm>
            <a:off x="2628900" y="1524000"/>
            <a:ext cx="6934200" cy="3785652"/>
          </a:xfrm>
          <a:prstGeom prst="rect">
            <a:avLst/>
          </a:prstGeom>
          <a:noFill/>
        </p:spPr>
        <p:txBody>
          <a:bodyPr wrap="square" rtlCol="0">
            <a:spAutoFit/>
          </a:bodyPr>
          <a:lstStyle/>
          <a:p>
            <a:pPr marL="285750" indent="-285750">
              <a:buFont typeface="Arial" panose="020B0604020202020204" pitchFamily="34" charset="0"/>
              <a:buChar char="•"/>
            </a:pPr>
            <a:r>
              <a:rPr lang="en-US" sz="2800" b="1" dirty="0" err="1"/>
              <a:t>Byonic</a:t>
            </a:r>
            <a:r>
              <a:rPr lang="en-US" sz="2800" b="1" dirty="0"/>
              <a:t> Score:  </a:t>
            </a:r>
            <a:r>
              <a:rPr lang="en-US" sz="2400" b="1" dirty="0"/>
              <a:t>An absolute score based on characteristics of the peptide spectral match.  Database size does not change this score.</a:t>
            </a:r>
          </a:p>
          <a:p>
            <a:pPr marL="742950" lvl="1" indent="-285750">
              <a:buFont typeface="Arial" panose="020B0604020202020204" pitchFamily="34" charset="0"/>
              <a:buChar char="•"/>
            </a:pPr>
            <a:r>
              <a:rPr lang="en-US" sz="2400" b="1" dirty="0"/>
              <a:t>Range from 0 to over 1000</a:t>
            </a:r>
          </a:p>
          <a:p>
            <a:pPr marL="742950" lvl="1" indent="-285750">
              <a:buFont typeface="Arial" panose="020B0604020202020204" pitchFamily="34" charset="0"/>
              <a:buChar char="•"/>
            </a:pPr>
            <a:r>
              <a:rPr lang="en-US" sz="2400" b="1" dirty="0"/>
              <a:t>Higher scores are better</a:t>
            </a:r>
          </a:p>
          <a:p>
            <a:r>
              <a:rPr lang="en-US" b="1" dirty="0"/>
              <a:t>	</a:t>
            </a:r>
          </a:p>
          <a:p>
            <a:endParaRPr lang="en-US" b="1" dirty="0"/>
          </a:p>
          <a:p>
            <a:pPr marL="285750" indent="-285750">
              <a:buFont typeface="Arial" panose="020B0604020202020204" pitchFamily="34" charset="0"/>
              <a:buChar char="•"/>
            </a:pPr>
            <a:r>
              <a:rPr lang="en-US" sz="2800" b="1" dirty="0"/>
              <a:t>|Log Prob|: </a:t>
            </a:r>
            <a:r>
              <a:rPr lang="en-US" sz="2400" b="1" dirty="0"/>
              <a:t>A probability-based measure of confidence in the </a:t>
            </a:r>
            <a:r>
              <a:rPr lang="en-US" sz="2400" b="1" dirty="0" err="1"/>
              <a:t>Byonic</a:t>
            </a:r>
            <a:r>
              <a:rPr lang="en-US" sz="2400" b="1" dirty="0"/>
              <a:t> Score. </a:t>
            </a:r>
            <a:endParaRPr lang="en-US" sz="2800" b="1" dirty="0"/>
          </a:p>
          <a:p>
            <a:pPr lvl="1"/>
            <a:r>
              <a:rPr lang="en-US" sz="2800" b="1" dirty="0">
                <a:solidFill>
                  <a:srgbClr val="FFFF00"/>
                </a:solidFill>
              </a:rPr>
              <a:t>	</a:t>
            </a:r>
          </a:p>
        </p:txBody>
      </p:sp>
    </p:spTree>
    <p:extLst>
      <p:ext uri="{BB962C8B-B14F-4D97-AF65-F5344CB8AC3E}">
        <p14:creationId xmlns:p14="http://schemas.microsoft.com/office/powerpoint/2010/main" val="3789037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3565" y="179067"/>
            <a:ext cx="3708945" cy="707886"/>
          </a:xfrm>
          <a:prstGeom prst="rect">
            <a:avLst/>
          </a:prstGeom>
          <a:noFill/>
        </p:spPr>
        <p:txBody>
          <a:bodyPr wrap="square" rtlCol="0">
            <a:spAutoFit/>
          </a:bodyPr>
          <a:lstStyle/>
          <a:p>
            <a:pPr algn="ctr" eaLnBrk="0" fontAlgn="base" hangingPunct="0">
              <a:spcBef>
                <a:spcPct val="0"/>
              </a:spcBef>
              <a:spcAft>
                <a:spcPct val="0"/>
              </a:spcAft>
            </a:pPr>
            <a:r>
              <a:rPr lang="en-US" sz="4000" dirty="0" err="1"/>
              <a:t>Byonic</a:t>
            </a:r>
            <a:r>
              <a:rPr lang="en-US" sz="4000" dirty="0"/>
              <a:t> Score</a:t>
            </a:r>
          </a:p>
        </p:txBody>
      </p:sp>
      <p:sp>
        <p:nvSpPr>
          <p:cNvPr id="3" name="TextBox 2"/>
          <p:cNvSpPr txBox="1"/>
          <p:nvPr/>
        </p:nvSpPr>
        <p:spPr>
          <a:xfrm>
            <a:off x="1783610" y="913086"/>
            <a:ext cx="8624780" cy="1015663"/>
          </a:xfrm>
          <a:prstGeom prst="rect">
            <a:avLst/>
          </a:prstGeom>
          <a:noFill/>
        </p:spPr>
        <p:txBody>
          <a:bodyPr wrap="square" rtlCol="0">
            <a:spAutoFit/>
          </a:bodyPr>
          <a:lstStyle/>
          <a:p>
            <a:pPr marL="342900" indent="-342900">
              <a:buFont typeface="Arial" panose="020B0604020202020204" pitchFamily="34" charset="0"/>
              <a:buChar char="•"/>
            </a:pPr>
            <a:r>
              <a:rPr lang="en-US" sz="2000" b="1" dirty="0"/>
              <a:t>An absolute score based on characteristics of the peptide spectral match  </a:t>
            </a:r>
          </a:p>
          <a:p>
            <a:pPr marL="342900" indent="-342900">
              <a:buFont typeface="Arial" panose="020B0604020202020204" pitchFamily="34" charset="0"/>
              <a:buChar char="•"/>
            </a:pPr>
            <a:r>
              <a:rPr lang="en-US" sz="2000" b="1" dirty="0"/>
              <a:t>Database size does not change this score </a:t>
            </a:r>
          </a:p>
          <a:p>
            <a:pPr marL="342900" indent="-342900">
              <a:buFont typeface="Arial" panose="020B0604020202020204" pitchFamily="34" charset="0"/>
              <a:buChar char="•"/>
            </a:pPr>
            <a:r>
              <a:rPr lang="en-US" sz="2000" b="1" dirty="0"/>
              <a:t>Score is calculated as a sum of weighted benefits and penalties</a:t>
            </a:r>
          </a:p>
        </p:txBody>
      </p:sp>
      <p:graphicFrame>
        <p:nvGraphicFramePr>
          <p:cNvPr id="6" name="Table 5"/>
          <p:cNvGraphicFramePr>
            <a:graphicFrameLocks noGrp="1"/>
          </p:cNvGraphicFramePr>
          <p:nvPr/>
        </p:nvGraphicFramePr>
        <p:xfrm>
          <a:off x="1899038" y="2209800"/>
          <a:ext cx="2372802" cy="4114800"/>
        </p:xfrm>
        <a:graphic>
          <a:graphicData uri="http://schemas.openxmlformats.org/drawingml/2006/table">
            <a:tbl>
              <a:tblPr firstRow="1" bandRow="1">
                <a:tableStyleId>{93296810-A885-4BE3-A3E7-6D5BEEA58F35}</a:tableStyleId>
              </a:tblPr>
              <a:tblGrid>
                <a:gridCol w="2372802">
                  <a:extLst>
                    <a:ext uri="{9D8B030D-6E8A-4147-A177-3AD203B41FA5}">
                      <a16:colId xmlns:a16="http://schemas.microsoft.com/office/drawing/2014/main" val="20000"/>
                    </a:ext>
                  </a:extLst>
                </a:gridCol>
              </a:tblGrid>
              <a:tr h="685800">
                <a:tc>
                  <a:txBody>
                    <a:bodyPr/>
                    <a:lstStyle/>
                    <a:p>
                      <a:r>
                        <a:rPr lang="en-US" dirty="0"/>
                        <a:t>Benefits</a:t>
                      </a:r>
                      <a:endParaRPr lang="en-US" dirty="0">
                        <a:solidFill>
                          <a:schemeClr val="accent2"/>
                        </a:solidFill>
                      </a:endParaRPr>
                    </a:p>
                  </a:txBody>
                  <a:tcPr/>
                </a:tc>
                <a:extLst>
                  <a:ext uri="{0D108BD9-81ED-4DB2-BD59-A6C34878D82A}">
                    <a16:rowId xmlns:a16="http://schemas.microsoft.com/office/drawing/2014/main" val="10000"/>
                  </a:ext>
                </a:extLst>
              </a:tr>
              <a:tr h="685800">
                <a:tc>
                  <a:txBody>
                    <a:bodyPr/>
                    <a:lstStyle/>
                    <a:p>
                      <a:r>
                        <a:rPr lang="en-US" dirty="0">
                          <a:solidFill>
                            <a:schemeClr val="tx1"/>
                          </a:solidFill>
                        </a:rPr>
                        <a:t>Matched</a:t>
                      </a:r>
                      <a:r>
                        <a:rPr lang="en-US" baseline="0" dirty="0">
                          <a:solidFill>
                            <a:schemeClr val="tx1"/>
                          </a:solidFill>
                        </a:rPr>
                        <a:t> Fragment Mass</a:t>
                      </a:r>
                      <a:endParaRPr lang="en-US" dirty="0">
                        <a:solidFill>
                          <a:schemeClr val="tx1"/>
                        </a:solidFill>
                      </a:endParaRPr>
                    </a:p>
                  </a:txBody>
                  <a:tcPr/>
                </a:tc>
                <a:extLst>
                  <a:ext uri="{0D108BD9-81ED-4DB2-BD59-A6C34878D82A}">
                    <a16:rowId xmlns:a16="http://schemas.microsoft.com/office/drawing/2014/main" val="10001"/>
                  </a:ext>
                </a:extLst>
              </a:tr>
              <a:tr h="685800">
                <a:tc>
                  <a:txBody>
                    <a:bodyPr/>
                    <a:lstStyle/>
                    <a:p>
                      <a:r>
                        <a:rPr lang="en-US" dirty="0"/>
                        <a:t>Matched Peak Intensity</a:t>
                      </a:r>
                      <a:endParaRPr lang="en-US" dirty="0">
                        <a:solidFill>
                          <a:srgbClr val="FFFF00"/>
                        </a:solidFill>
                      </a:endParaRPr>
                    </a:p>
                  </a:txBody>
                  <a:tcPr/>
                </a:tc>
                <a:extLst>
                  <a:ext uri="{0D108BD9-81ED-4DB2-BD59-A6C34878D82A}">
                    <a16:rowId xmlns:a16="http://schemas.microsoft.com/office/drawing/2014/main" val="10002"/>
                  </a:ext>
                </a:extLst>
              </a:tr>
              <a:tr h="685800">
                <a:tc>
                  <a:txBody>
                    <a:bodyPr/>
                    <a:lstStyle/>
                    <a:p>
                      <a:r>
                        <a:rPr lang="en-US" dirty="0"/>
                        <a:t>Matched</a:t>
                      </a:r>
                      <a:r>
                        <a:rPr lang="en-US" baseline="0" dirty="0"/>
                        <a:t> Peak Mass Accuracy</a:t>
                      </a:r>
                      <a:endParaRPr lang="en-US" dirty="0">
                        <a:solidFill>
                          <a:srgbClr val="FFFF00"/>
                        </a:solidFill>
                      </a:endParaRPr>
                    </a:p>
                  </a:txBody>
                  <a:tcPr/>
                </a:tc>
                <a:extLst>
                  <a:ext uri="{0D108BD9-81ED-4DB2-BD59-A6C34878D82A}">
                    <a16:rowId xmlns:a16="http://schemas.microsoft.com/office/drawing/2014/main" val="10003"/>
                  </a:ext>
                </a:extLst>
              </a:tr>
              <a:tr h="685800">
                <a:tc>
                  <a:txBody>
                    <a:bodyPr/>
                    <a:lstStyle/>
                    <a:p>
                      <a:r>
                        <a:rPr lang="en-US" dirty="0"/>
                        <a:t>Other</a:t>
                      </a:r>
                      <a:r>
                        <a:rPr lang="en-US" baseline="0" dirty="0"/>
                        <a:t> Expected Peaks and Intensities</a:t>
                      </a:r>
                      <a:endParaRPr lang="en-US" dirty="0">
                        <a:solidFill>
                          <a:srgbClr val="FFFF00"/>
                        </a:solidFill>
                      </a:endParaRPr>
                    </a:p>
                  </a:txBody>
                  <a:tcPr/>
                </a:tc>
                <a:extLst>
                  <a:ext uri="{0D108BD9-81ED-4DB2-BD59-A6C34878D82A}">
                    <a16:rowId xmlns:a16="http://schemas.microsoft.com/office/drawing/2014/main" val="10004"/>
                  </a:ext>
                </a:extLst>
              </a:tr>
              <a:tr h="685800">
                <a:tc>
                  <a:txBody>
                    <a:bodyPr/>
                    <a:lstStyle/>
                    <a:p>
                      <a:r>
                        <a:rPr lang="en-US" dirty="0"/>
                        <a:t>Total</a:t>
                      </a:r>
                      <a:r>
                        <a:rPr lang="en-US" baseline="0" dirty="0"/>
                        <a:t> Intensity of Matched Peaks</a:t>
                      </a:r>
                      <a:endParaRPr lang="en-US" dirty="0">
                        <a:solidFill>
                          <a:srgbClr val="FFFF00"/>
                        </a:solidFill>
                      </a:endParaRPr>
                    </a:p>
                  </a:txBody>
                  <a:tcPr/>
                </a:tc>
                <a:extLst>
                  <a:ext uri="{0D108BD9-81ED-4DB2-BD59-A6C34878D82A}">
                    <a16:rowId xmlns:a16="http://schemas.microsoft.com/office/drawing/2014/main" val="10005"/>
                  </a:ext>
                </a:extLst>
              </a:tr>
            </a:tbl>
          </a:graphicData>
        </a:graphic>
      </p:graphicFrame>
      <p:sp>
        <p:nvSpPr>
          <p:cNvPr id="8" name="Minus 7"/>
          <p:cNvSpPr/>
          <p:nvPr/>
        </p:nvSpPr>
        <p:spPr bwMode="auto">
          <a:xfrm>
            <a:off x="4413638" y="3467100"/>
            <a:ext cx="914400" cy="914400"/>
          </a:xfrm>
          <a:prstGeom prst="mathMinus">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graphicFrame>
        <p:nvGraphicFramePr>
          <p:cNvPr id="9" name="Table 8"/>
          <p:cNvGraphicFramePr>
            <a:graphicFrameLocks noGrp="1"/>
          </p:cNvGraphicFramePr>
          <p:nvPr/>
        </p:nvGraphicFramePr>
        <p:xfrm>
          <a:off x="5471161" y="2662768"/>
          <a:ext cx="2362200" cy="2523067"/>
        </p:xfrm>
        <a:graphic>
          <a:graphicData uri="http://schemas.openxmlformats.org/drawingml/2006/table">
            <a:tbl>
              <a:tblPr firstRow="1" bandRow="1">
                <a:tableStyleId>{93296810-A885-4BE3-A3E7-6D5BEEA58F35}</a:tableStyleId>
              </a:tblPr>
              <a:tblGrid>
                <a:gridCol w="2362200">
                  <a:extLst>
                    <a:ext uri="{9D8B030D-6E8A-4147-A177-3AD203B41FA5}">
                      <a16:colId xmlns:a16="http://schemas.microsoft.com/office/drawing/2014/main" val="20000"/>
                    </a:ext>
                  </a:extLst>
                </a:gridCol>
              </a:tblGrid>
              <a:tr h="685800">
                <a:tc>
                  <a:txBody>
                    <a:bodyPr/>
                    <a:lstStyle/>
                    <a:p>
                      <a:r>
                        <a:rPr lang="en-US" dirty="0">
                          <a:solidFill>
                            <a:schemeClr val="bg1"/>
                          </a:solidFill>
                        </a:rPr>
                        <a:t>Penalties</a:t>
                      </a:r>
                    </a:p>
                  </a:txBody>
                  <a:tcPr/>
                </a:tc>
                <a:extLst>
                  <a:ext uri="{0D108BD9-81ED-4DB2-BD59-A6C34878D82A}">
                    <a16:rowId xmlns:a16="http://schemas.microsoft.com/office/drawing/2014/main" val="10000"/>
                  </a:ext>
                </a:extLst>
              </a:tr>
              <a:tr h="905933">
                <a:tc>
                  <a:txBody>
                    <a:bodyPr/>
                    <a:lstStyle/>
                    <a:p>
                      <a:r>
                        <a:rPr lang="en-US" dirty="0"/>
                        <a:t>Every</a:t>
                      </a:r>
                      <a:r>
                        <a:rPr lang="en-US" baseline="0" dirty="0"/>
                        <a:t> Expected Peak Not Matched</a:t>
                      </a:r>
                      <a:endParaRPr lang="en-US" dirty="0"/>
                    </a:p>
                  </a:txBody>
                  <a:tcPr/>
                </a:tc>
                <a:extLst>
                  <a:ext uri="{0D108BD9-81ED-4DB2-BD59-A6C34878D82A}">
                    <a16:rowId xmlns:a16="http://schemas.microsoft.com/office/drawing/2014/main" val="10001"/>
                  </a:ext>
                </a:extLst>
              </a:tr>
              <a:tr h="931334">
                <a:tc>
                  <a:txBody>
                    <a:bodyPr/>
                    <a:lstStyle/>
                    <a:p>
                      <a:r>
                        <a:rPr lang="en-US" baseline="0" dirty="0"/>
                        <a:t>Non-specific termini (“small penalty”)</a:t>
                      </a:r>
                      <a:endParaRPr lang="en-US" dirty="0"/>
                    </a:p>
                  </a:txBody>
                  <a:tcPr/>
                </a:tc>
                <a:extLst>
                  <a:ext uri="{0D108BD9-81ED-4DB2-BD59-A6C34878D82A}">
                    <a16:rowId xmlns:a16="http://schemas.microsoft.com/office/drawing/2014/main" val="10002"/>
                  </a:ext>
                </a:extLst>
              </a:tr>
            </a:tbl>
          </a:graphicData>
        </a:graphic>
      </p:graphicFrame>
      <p:sp>
        <p:nvSpPr>
          <p:cNvPr id="10" name="Equal 9"/>
          <p:cNvSpPr/>
          <p:nvPr/>
        </p:nvSpPr>
        <p:spPr bwMode="auto">
          <a:xfrm>
            <a:off x="8071238" y="3467100"/>
            <a:ext cx="914400" cy="914400"/>
          </a:xfrm>
          <a:prstGeom prst="mathEqual">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sp>
        <p:nvSpPr>
          <p:cNvPr id="11" name="TextBox 10"/>
          <p:cNvSpPr txBox="1"/>
          <p:nvPr/>
        </p:nvSpPr>
        <p:spPr>
          <a:xfrm>
            <a:off x="9208938" y="3447248"/>
            <a:ext cx="1459063" cy="954107"/>
          </a:xfrm>
          <a:prstGeom prst="rect">
            <a:avLst/>
          </a:prstGeom>
          <a:noFill/>
        </p:spPr>
        <p:txBody>
          <a:bodyPr wrap="square" rtlCol="0">
            <a:spAutoFit/>
          </a:bodyPr>
          <a:lstStyle/>
          <a:p>
            <a:r>
              <a:rPr lang="en-US" sz="2800" b="1" dirty="0" err="1">
                <a:solidFill>
                  <a:schemeClr val="accent6">
                    <a:lumMod val="75000"/>
                  </a:schemeClr>
                </a:solidFill>
              </a:rPr>
              <a:t>Byonic</a:t>
            </a:r>
            <a:r>
              <a:rPr lang="en-US" sz="2800" b="1" dirty="0">
                <a:solidFill>
                  <a:schemeClr val="accent6">
                    <a:lumMod val="75000"/>
                  </a:schemeClr>
                </a:solidFill>
              </a:rPr>
              <a:t> Score</a:t>
            </a:r>
          </a:p>
        </p:txBody>
      </p:sp>
      <p:sp>
        <p:nvSpPr>
          <p:cNvPr id="12" name="TextBox 11"/>
          <p:cNvSpPr txBox="1"/>
          <p:nvPr/>
        </p:nvSpPr>
        <p:spPr>
          <a:xfrm>
            <a:off x="5867400" y="6172200"/>
            <a:ext cx="4572000" cy="400110"/>
          </a:xfrm>
          <a:prstGeom prst="rect">
            <a:avLst/>
          </a:prstGeom>
          <a:noFill/>
        </p:spPr>
        <p:txBody>
          <a:bodyPr wrap="square" rtlCol="0">
            <a:spAutoFit/>
          </a:bodyPr>
          <a:lstStyle/>
          <a:p>
            <a:r>
              <a:rPr lang="en-US" sz="2000" b="1" dirty="0"/>
              <a:t>Scores will be higher for longer peptides</a:t>
            </a:r>
          </a:p>
        </p:txBody>
      </p:sp>
    </p:spTree>
    <p:extLst>
      <p:ext uri="{BB962C8B-B14F-4D97-AF65-F5344CB8AC3E}">
        <p14:creationId xmlns:p14="http://schemas.microsoft.com/office/powerpoint/2010/main" val="3454878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ETD Scoring</a:t>
            </a:r>
          </a:p>
        </p:txBody>
      </p:sp>
      <p:sp>
        <p:nvSpPr>
          <p:cNvPr id="3" name="TextBox 2"/>
          <p:cNvSpPr txBox="1"/>
          <p:nvPr/>
        </p:nvSpPr>
        <p:spPr>
          <a:xfrm>
            <a:off x="2133600" y="1466277"/>
            <a:ext cx="7924800" cy="3949799"/>
          </a:xfrm>
          <a:prstGeom prst="rect">
            <a:avLst/>
          </a:prstGeom>
          <a:noFill/>
        </p:spPr>
        <p:txBody>
          <a:bodyPr wrap="square" rtlCol="0" anchor="ctr">
            <a:spAutoFit/>
          </a:bodyPr>
          <a:lstStyle/>
          <a:p>
            <a:pPr marL="285750" indent="-285750">
              <a:buFont typeface="Arial" panose="020B0604020202020204" pitchFamily="34" charset="0"/>
              <a:buChar char="•"/>
            </a:pPr>
            <a:r>
              <a:rPr lang="en-US" sz="2400" b="1" dirty="0"/>
              <a:t>c-, z</a:t>
            </a:r>
            <a:r>
              <a:rPr lang="en-US" sz="4000" b="1" baseline="30000" dirty="0"/>
              <a:t>.</a:t>
            </a:r>
            <a:r>
              <a:rPr lang="en-US" sz="2400" b="1" dirty="0"/>
              <a:t>- and y-ions (future release will look for a</a:t>
            </a:r>
            <a:r>
              <a:rPr lang="en-US" sz="4000" b="1" baseline="30000" dirty="0"/>
              <a:t>.</a:t>
            </a:r>
            <a:r>
              <a:rPr lang="en-US" sz="2400" b="1" dirty="0"/>
              <a:t>-ions because of our request)</a:t>
            </a:r>
          </a:p>
          <a:p>
            <a:pPr marL="285750" indent="-285750">
              <a:buFont typeface="Arial" panose="020B0604020202020204" pitchFamily="34" charset="0"/>
              <a:buChar char="•"/>
            </a:pPr>
            <a:r>
              <a:rPr lang="en-US" sz="2400" b="1" dirty="0"/>
              <a:t>Ions expected from fragments of </a:t>
            </a:r>
            <a:r>
              <a:rPr lang="en-US" sz="2400" b="1" dirty="0" err="1"/>
              <a:t>ETnoD</a:t>
            </a:r>
            <a:r>
              <a:rPr lang="en-US" sz="2400" b="1" dirty="0"/>
              <a:t>, resulting in ions one higher than expected</a:t>
            </a:r>
          </a:p>
          <a:p>
            <a:pPr marL="285750" indent="-285750">
              <a:buFont typeface="Arial" panose="020B0604020202020204" pitchFamily="34" charset="0"/>
              <a:buChar char="•"/>
            </a:pPr>
            <a:r>
              <a:rPr lang="en-US" sz="2400" b="1" dirty="0"/>
              <a:t>Do not expect to see c and z</a:t>
            </a:r>
            <a:r>
              <a:rPr lang="en-US" sz="4000" b="1" baseline="30000" dirty="0"/>
              <a:t>.</a:t>
            </a:r>
            <a:r>
              <a:rPr lang="en-US" sz="2400" b="1" dirty="0"/>
              <a:t> fragments for proline</a:t>
            </a:r>
          </a:p>
          <a:p>
            <a:pPr marL="285750" indent="-285750">
              <a:buFont typeface="Arial" panose="020B0604020202020204" pitchFamily="34" charset="0"/>
              <a:buChar char="•"/>
            </a:pPr>
            <a:r>
              <a:rPr lang="en-US" sz="2400" b="1" dirty="0"/>
              <a:t>Has rules for basicity (predicts very low intensity for z</a:t>
            </a:r>
            <a:r>
              <a:rPr lang="en-US" sz="4000" b="1" baseline="30000" dirty="0"/>
              <a:t>.</a:t>
            </a:r>
            <a:r>
              <a:rPr lang="en-US" sz="2400" b="1" dirty="0"/>
              <a:t>-ions that do not contain basic residues)</a:t>
            </a:r>
          </a:p>
          <a:p>
            <a:pPr marL="285750" indent="-285750">
              <a:buFont typeface="Arial" panose="020B0604020202020204" pitchFamily="34" charset="0"/>
              <a:buChar char="•"/>
            </a:pPr>
            <a:r>
              <a:rPr lang="en-US" sz="2400" b="1" dirty="0"/>
              <a:t>Looks for side chain loss from z</a:t>
            </a:r>
            <a:r>
              <a:rPr lang="en-US" sz="4000" b="1" baseline="30000" dirty="0"/>
              <a:t>.</a:t>
            </a:r>
            <a:r>
              <a:rPr lang="en-US" sz="2400" b="1" dirty="0"/>
              <a:t>-ions when cysteine is first fragment residue</a:t>
            </a:r>
          </a:p>
          <a:p>
            <a:endParaRPr lang="en-US" sz="2400" b="1" dirty="0">
              <a:solidFill>
                <a:srgbClr val="FFFF00"/>
              </a:solidFill>
            </a:endParaRPr>
          </a:p>
        </p:txBody>
      </p:sp>
    </p:spTree>
    <p:extLst>
      <p:ext uri="{BB962C8B-B14F-4D97-AF65-F5344CB8AC3E}">
        <p14:creationId xmlns:p14="http://schemas.microsoft.com/office/powerpoint/2010/main" val="3112043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030135" y="255660"/>
            <a:ext cx="4131733" cy="707886"/>
          </a:xfrm>
          <a:prstGeom prst="rect">
            <a:avLst/>
          </a:prstGeom>
          <a:noFill/>
        </p:spPr>
        <p:txBody>
          <a:bodyPr wrap="square" rtlCol="0">
            <a:spAutoFit/>
          </a:bodyPr>
          <a:lstStyle/>
          <a:p>
            <a:pPr algn="ctr" eaLnBrk="0" fontAlgn="base" hangingPunct="0">
              <a:spcBef>
                <a:spcPct val="0"/>
              </a:spcBef>
              <a:spcAft>
                <a:spcPct val="0"/>
              </a:spcAft>
            </a:pPr>
            <a:r>
              <a:rPr lang="en-US" sz="4000" dirty="0"/>
              <a:t>CID Scoring</a:t>
            </a:r>
          </a:p>
        </p:txBody>
      </p:sp>
      <p:sp>
        <p:nvSpPr>
          <p:cNvPr id="3" name="TextBox 2"/>
          <p:cNvSpPr txBox="1"/>
          <p:nvPr/>
        </p:nvSpPr>
        <p:spPr>
          <a:xfrm>
            <a:off x="2925233" y="1295400"/>
            <a:ext cx="6341534" cy="4154984"/>
          </a:xfrm>
          <a:prstGeom prst="rect">
            <a:avLst/>
          </a:prstGeom>
          <a:noFill/>
        </p:spPr>
        <p:txBody>
          <a:bodyPr wrap="square" rtlCol="0">
            <a:spAutoFit/>
          </a:bodyPr>
          <a:lstStyle/>
          <a:p>
            <a:pPr marL="342900" indent="-342900">
              <a:buFont typeface="Arial" panose="020B0604020202020204" pitchFamily="34" charset="0"/>
              <a:buChar char="•"/>
            </a:pPr>
            <a:r>
              <a:rPr lang="en-US" sz="2400" b="1" dirty="0"/>
              <a:t>b- and y-ions</a:t>
            </a:r>
          </a:p>
          <a:p>
            <a:pPr marL="342900" indent="-342900">
              <a:buFont typeface="Arial" panose="020B0604020202020204" pitchFamily="34" charset="0"/>
              <a:buChar char="•"/>
            </a:pPr>
            <a:r>
              <a:rPr lang="en-US" sz="2400" b="1" dirty="0"/>
              <a:t>a-ions (a2 – a6)</a:t>
            </a:r>
          </a:p>
          <a:p>
            <a:pPr marL="342900" indent="-342900">
              <a:buFont typeface="Arial" panose="020B0604020202020204" pitchFamily="34" charset="0"/>
              <a:buChar char="•"/>
            </a:pPr>
            <a:r>
              <a:rPr lang="en-US" sz="2400" b="1" dirty="0"/>
              <a:t>Neutral losses </a:t>
            </a:r>
          </a:p>
          <a:p>
            <a:pPr marL="800100" lvl="1" indent="-342900">
              <a:buFont typeface="Arial" panose="020B0604020202020204" pitchFamily="34" charset="0"/>
              <a:buChar char="•"/>
            </a:pPr>
            <a:r>
              <a:rPr lang="en-US" sz="2400" b="1" dirty="0"/>
              <a:t>Water losses from b-ions containing S/T/D/E (-18)</a:t>
            </a:r>
          </a:p>
          <a:p>
            <a:pPr marL="800100" lvl="1" indent="-342900">
              <a:buFont typeface="Arial" panose="020B0604020202020204" pitchFamily="34" charset="0"/>
              <a:buChar char="•"/>
            </a:pPr>
            <a:r>
              <a:rPr lang="en-US" sz="2400" b="1" dirty="0"/>
              <a:t>Ammonia losses from b-ions containing N/Q/K/R (-17)</a:t>
            </a:r>
          </a:p>
          <a:p>
            <a:pPr marL="800100" lvl="1" indent="-342900">
              <a:buFont typeface="Arial" panose="020B0604020202020204" pitchFamily="34" charset="0"/>
              <a:buChar char="•"/>
            </a:pPr>
            <a:r>
              <a:rPr lang="en-US" sz="2400" b="1" dirty="0"/>
              <a:t>Phosphate loss if phosphorylation is being considered (-98)</a:t>
            </a:r>
          </a:p>
          <a:p>
            <a:pPr marL="342900" indent="-342900">
              <a:buFont typeface="Arial" panose="020B0604020202020204" pitchFamily="34" charset="0"/>
              <a:buChar char="•"/>
            </a:pPr>
            <a:r>
              <a:rPr lang="en-US" sz="2400" b="1" dirty="0"/>
              <a:t>Adjusts intensity for proline</a:t>
            </a:r>
          </a:p>
          <a:p>
            <a:pPr marL="342900" indent="-342900">
              <a:buFont typeface="Arial" panose="020B0604020202020204" pitchFamily="34" charset="0"/>
              <a:buChar char="•"/>
            </a:pPr>
            <a:endParaRPr lang="en-US" sz="2400" b="1" dirty="0">
              <a:solidFill>
                <a:srgbClr val="FFFF00"/>
              </a:solidFill>
            </a:endParaRPr>
          </a:p>
        </p:txBody>
      </p:sp>
    </p:spTree>
    <p:extLst>
      <p:ext uri="{BB962C8B-B14F-4D97-AF65-F5344CB8AC3E}">
        <p14:creationId xmlns:p14="http://schemas.microsoft.com/office/powerpoint/2010/main" val="2131106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HCD Scoring</a:t>
            </a:r>
          </a:p>
        </p:txBody>
      </p:sp>
      <p:sp>
        <p:nvSpPr>
          <p:cNvPr id="3" name="TextBox 2"/>
          <p:cNvSpPr txBox="1"/>
          <p:nvPr/>
        </p:nvSpPr>
        <p:spPr>
          <a:xfrm>
            <a:off x="2925233" y="1190686"/>
            <a:ext cx="6341534" cy="4893647"/>
          </a:xfrm>
          <a:prstGeom prst="rect">
            <a:avLst/>
          </a:prstGeom>
          <a:noFill/>
        </p:spPr>
        <p:txBody>
          <a:bodyPr wrap="square" rtlCol="0">
            <a:spAutoFit/>
          </a:bodyPr>
          <a:lstStyle/>
          <a:p>
            <a:pPr marL="342900" indent="-342900">
              <a:buFont typeface="Arial" panose="020B0604020202020204" pitchFamily="34" charset="0"/>
              <a:buChar char="•"/>
            </a:pPr>
            <a:r>
              <a:rPr lang="en-US" sz="2400" b="1" dirty="0"/>
              <a:t>b- and y-ions</a:t>
            </a:r>
          </a:p>
          <a:p>
            <a:pPr marL="342900" indent="-342900">
              <a:buFont typeface="Arial" panose="020B0604020202020204" pitchFamily="34" charset="0"/>
              <a:buChar char="•"/>
            </a:pPr>
            <a:r>
              <a:rPr lang="en-US" sz="2400" b="1" dirty="0"/>
              <a:t>Expected a-ions  (formed from b-ions – CO)</a:t>
            </a:r>
          </a:p>
          <a:p>
            <a:pPr marL="342900" indent="-342900">
              <a:buFont typeface="Arial" panose="020B0604020202020204" pitchFamily="34" charset="0"/>
              <a:buChar char="•"/>
            </a:pPr>
            <a:r>
              <a:rPr lang="en-US" sz="2400" b="1" dirty="0" err="1"/>
              <a:t>Immonium</a:t>
            </a:r>
            <a:r>
              <a:rPr lang="en-US" sz="2400" b="1" dirty="0"/>
              <a:t> ions</a:t>
            </a:r>
          </a:p>
          <a:p>
            <a:pPr marL="342900" indent="-342900">
              <a:buFont typeface="Arial" panose="020B0604020202020204" pitchFamily="34" charset="0"/>
              <a:buChar char="•"/>
            </a:pPr>
            <a:r>
              <a:rPr lang="en-US" sz="2400" b="1" dirty="0"/>
              <a:t>Neutral losses </a:t>
            </a:r>
          </a:p>
          <a:p>
            <a:pPr marL="800100" lvl="1" indent="-342900">
              <a:buFont typeface="Arial" panose="020B0604020202020204" pitchFamily="34" charset="0"/>
              <a:buChar char="•"/>
            </a:pPr>
            <a:r>
              <a:rPr lang="en-US" sz="2400" b="1" dirty="0"/>
              <a:t>Water losses from b-ions containing S/T/D/E (-18)</a:t>
            </a:r>
          </a:p>
          <a:p>
            <a:pPr marL="800100" lvl="1" indent="-342900">
              <a:buFont typeface="Arial" panose="020B0604020202020204" pitchFamily="34" charset="0"/>
              <a:buChar char="•"/>
            </a:pPr>
            <a:r>
              <a:rPr lang="en-US" sz="2400" b="1" dirty="0"/>
              <a:t>Ammonia losses from b-ions containing N/Q/K/R (-17)</a:t>
            </a:r>
          </a:p>
          <a:p>
            <a:pPr marL="800100" lvl="1" indent="-342900">
              <a:buFont typeface="Arial" panose="020B0604020202020204" pitchFamily="34" charset="0"/>
              <a:buChar char="•"/>
            </a:pPr>
            <a:r>
              <a:rPr lang="en-US" sz="2400" b="1" dirty="0"/>
              <a:t>Phosphate loss if </a:t>
            </a:r>
            <a:r>
              <a:rPr lang="en-US" sz="2400" b="1" dirty="0" err="1"/>
              <a:t>phosphorylation</a:t>
            </a:r>
            <a:r>
              <a:rPr lang="en-US" sz="2400" b="1" dirty="0"/>
              <a:t> is being considered (-98)</a:t>
            </a:r>
          </a:p>
          <a:p>
            <a:pPr marL="342900" indent="-342900">
              <a:buFont typeface="Arial" panose="020B0604020202020204" pitchFamily="34" charset="0"/>
              <a:buChar char="•"/>
            </a:pPr>
            <a:r>
              <a:rPr lang="en-US" sz="2400" b="1" dirty="0"/>
              <a:t>Adjusts intensity for proline </a:t>
            </a:r>
          </a:p>
          <a:p>
            <a:pPr marL="342900" indent="-342900">
              <a:buFont typeface="Arial" panose="020B0604020202020204" pitchFamily="34" charset="0"/>
              <a:buChar char="•"/>
            </a:pPr>
            <a:r>
              <a:rPr lang="en-US" sz="2400" b="1" dirty="0"/>
              <a:t>Custom peaks entered by the user</a:t>
            </a:r>
          </a:p>
          <a:p>
            <a:pPr marL="342900" indent="-342900">
              <a:buFont typeface="Arial" panose="020B0604020202020204" pitchFamily="34" charset="0"/>
              <a:buChar char="•"/>
            </a:pPr>
            <a:endParaRPr lang="en-US" sz="2400" b="1" dirty="0">
              <a:solidFill>
                <a:srgbClr val="FFFF00"/>
              </a:solidFill>
            </a:endParaRPr>
          </a:p>
        </p:txBody>
      </p:sp>
    </p:spTree>
    <p:extLst>
      <p:ext uri="{BB962C8B-B14F-4D97-AF65-F5344CB8AC3E}">
        <p14:creationId xmlns:p14="http://schemas.microsoft.com/office/powerpoint/2010/main" val="4019926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HCD Scoring</a:t>
            </a:r>
          </a:p>
        </p:txBody>
      </p:sp>
      <p:sp>
        <p:nvSpPr>
          <p:cNvPr id="4" name="TextBox 3"/>
          <p:cNvSpPr txBox="1"/>
          <p:nvPr/>
        </p:nvSpPr>
        <p:spPr>
          <a:xfrm>
            <a:off x="2618488" y="1386067"/>
            <a:ext cx="6955024" cy="461665"/>
          </a:xfrm>
          <a:prstGeom prst="rect">
            <a:avLst/>
          </a:prstGeom>
          <a:noFill/>
        </p:spPr>
        <p:txBody>
          <a:bodyPr wrap="square" rtlCol="0">
            <a:spAutoFit/>
          </a:bodyPr>
          <a:lstStyle/>
          <a:p>
            <a:r>
              <a:rPr lang="en-US" sz="2400" b="1" dirty="0"/>
              <a:t>What fragment charge states are included in scoring?</a:t>
            </a:r>
          </a:p>
        </p:txBody>
      </p:sp>
      <p:graphicFrame>
        <p:nvGraphicFramePr>
          <p:cNvPr id="6" name="Table 5"/>
          <p:cNvGraphicFramePr>
            <a:graphicFrameLocks noGrp="1"/>
          </p:cNvGraphicFramePr>
          <p:nvPr>
            <p:extLst>
              <p:ext uri="{D42A27DB-BD31-4B8C-83A1-F6EECF244321}">
                <p14:modId xmlns:p14="http://schemas.microsoft.com/office/powerpoint/2010/main" val="1257160521"/>
              </p:ext>
            </p:extLst>
          </p:nvPr>
        </p:nvGraphicFramePr>
        <p:xfrm>
          <a:off x="2565929" y="2113936"/>
          <a:ext cx="7060142" cy="3107500"/>
        </p:xfrm>
        <a:graphic>
          <a:graphicData uri="http://schemas.openxmlformats.org/drawingml/2006/table">
            <a:tbl>
              <a:tblPr firstRow="1" bandRow="1">
                <a:tableStyleId>{93296810-A885-4BE3-A3E7-6D5BEEA58F35}</a:tableStyleId>
              </a:tblPr>
              <a:tblGrid>
                <a:gridCol w="2314799">
                  <a:extLst>
                    <a:ext uri="{9D8B030D-6E8A-4147-A177-3AD203B41FA5}">
                      <a16:colId xmlns:a16="http://schemas.microsoft.com/office/drawing/2014/main" val="20000"/>
                    </a:ext>
                  </a:extLst>
                </a:gridCol>
                <a:gridCol w="1851841">
                  <a:extLst>
                    <a:ext uri="{9D8B030D-6E8A-4147-A177-3AD203B41FA5}">
                      <a16:colId xmlns:a16="http://schemas.microsoft.com/office/drawing/2014/main" val="20001"/>
                    </a:ext>
                  </a:extLst>
                </a:gridCol>
                <a:gridCol w="2893502">
                  <a:extLst>
                    <a:ext uri="{9D8B030D-6E8A-4147-A177-3AD203B41FA5}">
                      <a16:colId xmlns:a16="http://schemas.microsoft.com/office/drawing/2014/main" val="20002"/>
                    </a:ext>
                  </a:extLst>
                </a:gridCol>
              </a:tblGrid>
              <a:tr h="342216">
                <a:tc>
                  <a:txBody>
                    <a:bodyPr/>
                    <a:lstStyle/>
                    <a:p>
                      <a:pPr algn="ctr"/>
                      <a:r>
                        <a:rPr lang="en-US" dirty="0">
                          <a:solidFill>
                            <a:schemeClr val="bg1"/>
                          </a:solidFill>
                        </a:rPr>
                        <a:t>Fragment Mass Tolerance</a:t>
                      </a:r>
                    </a:p>
                  </a:txBody>
                  <a:tcPr/>
                </a:tc>
                <a:tc>
                  <a:txBody>
                    <a:bodyPr/>
                    <a:lstStyle/>
                    <a:p>
                      <a:endParaRPr lang="en-US" dirty="0">
                        <a:solidFill>
                          <a:schemeClr val="accent2"/>
                        </a:solidFill>
                      </a:endParaRPr>
                    </a:p>
                  </a:txBody>
                  <a:tcPr/>
                </a:tc>
                <a:tc>
                  <a:txBody>
                    <a:bodyPr/>
                    <a:lstStyle/>
                    <a:p>
                      <a:endParaRPr lang="en-US" dirty="0">
                        <a:solidFill>
                          <a:schemeClr val="accent2"/>
                        </a:solidFill>
                      </a:endParaRPr>
                    </a:p>
                  </a:txBody>
                  <a:tcPr/>
                </a:tc>
                <a:extLst>
                  <a:ext uri="{0D108BD9-81ED-4DB2-BD59-A6C34878D82A}">
                    <a16:rowId xmlns:a16="http://schemas.microsoft.com/office/drawing/2014/main" val="10000"/>
                  </a:ext>
                </a:extLst>
              </a:tr>
              <a:tr h="730060">
                <a:tc>
                  <a:txBody>
                    <a:bodyPr/>
                    <a:lstStyle/>
                    <a:p>
                      <a:r>
                        <a:rPr lang="en-US" b="1" dirty="0"/>
                        <a:t>&gt;= .1 Da or 100 ppm</a:t>
                      </a:r>
                    </a:p>
                  </a:txBody>
                  <a:tcPr/>
                </a:tc>
                <a:tc>
                  <a:txBody>
                    <a:bodyPr/>
                    <a:lstStyle/>
                    <a:p>
                      <a:r>
                        <a:rPr lang="en-US" b="1" dirty="0">
                          <a:solidFill>
                            <a:schemeClr val="tx1"/>
                          </a:solidFill>
                        </a:rPr>
                        <a:t>Low</a:t>
                      </a:r>
                      <a:r>
                        <a:rPr lang="en-US" b="1" baseline="0" dirty="0">
                          <a:solidFill>
                            <a:schemeClr val="tx1"/>
                          </a:solidFill>
                        </a:rPr>
                        <a:t> Resolution</a:t>
                      </a:r>
                      <a:endParaRPr lang="en-US" b="1" dirty="0">
                        <a:solidFill>
                          <a:srgbClr val="FFFF00"/>
                        </a:solidFill>
                      </a:endParaRPr>
                    </a:p>
                  </a:txBody>
                  <a:tcPr/>
                </a:tc>
                <a:tc>
                  <a:txBody>
                    <a:bodyPr/>
                    <a:lstStyle/>
                    <a:p>
                      <a:r>
                        <a:rPr lang="en-US" b="1" dirty="0">
                          <a:solidFill>
                            <a:schemeClr val="tx1"/>
                          </a:solidFill>
                        </a:rPr>
                        <a:t>+1,</a:t>
                      </a:r>
                      <a:r>
                        <a:rPr lang="en-US" b="1" baseline="0" dirty="0">
                          <a:solidFill>
                            <a:schemeClr val="tx1"/>
                          </a:solidFill>
                        </a:rPr>
                        <a:t> +2, +3</a:t>
                      </a:r>
                      <a:endParaRPr lang="en-US" b="1" dirty="0">
                        <a:solidFill>
                          <a:srgbClr val="FFFF00"/>
                        </a:solidFill>
                      </a:endParaRPr>
                    </a:p>
                  </a:txBody>
                  <a:tcPr/>
                </a:tc>
                <a:extLst>
                  <a:ext uri="{0D108BD9-81ED-4DB2-BD59-A6C34878D82A}">
                    <a16:rowId xmlns:a16="http://schemas.microsoft.com/office/drawing/2014/main" val="10001"/>
                  </a:ext>
                </a:extLst>
              </a:tr>
              <a:tr h="866946">
                <a:tc>
                  <a:txBody>
                    <a:bodyPr/>
                    <a:lstStyle/>
                    <a:p>
                      <a:r>
                        <a:rPr lang="en-US" b="1" dirty="0">
                          <a:solidFill>
                            <a:schemeClr val="tx1"/>
                          </a:solidFill>
                        </a:rPr>
                        <a:t>&lt;</a:t>
                      </a:r>
                      <a:r>
                        <a:rPr lang="en-US" b="1" baseline="0" dirty="0">
                          <a:solidFill>
                            <a:schemeClr val="tx1"/>
                          </a:solidFill>
                        </a:rPr>
                        <a:t> .1 Da or 100 ppm</a:t>
                      </a:r>
                      <a:endParaRPr lang="en-US" b="1" dirty="0">
                        <a:solidFill>
                          <a:schemeClr val="tx1"/>
                        </a:solidFill>
                      </a:endParaRPr>
                    </a:p>
                  </a:txBody>
                  <a:tcPr/>
                </a:tc>
                <a:tc>
                  <a:txBody>
                    <a:bodyPr/>
                    <a:lstStyle/>
                    <a:p>
                      <a:r>
                        <a:rPr lang="en-US" b="1" dirty="0">
                          <a:solidFill>
                            <a:schemeClr val="tx1"/>
                          </a:solidFill>
                        </a:rPr>
                        <a:t>High</a:t>
                      </a:r>
                      <a:r>
                        <a:rPr lang="en-US" b="1" baseline="0" dirty="0">
                          <a:solidFill>
                            <a:schemeClr val="tx1"/>
                          </a:solidFill>
                        </a:rPr>
                        <a:t> Resolution</a:t>
                      </a:r>
                      <a:endParaRPr lang="en-US" b="1" dirty="0">
                        <a:solidFill>
                          <a:srgbClr val="FFFF00"/>
                        </a:solidFill>
                      </a:endParaRPr>
                    </a:p>
                  </a:txBody>
                  <a:tcPr/>
                </a:tc>
                <a:tc>
                  <a:txBody>
                    <a:bodyPr/>
                    <a:lstStyle/>
                    <a:p>
                      <a:r>
                        <a:rPr lang="en-US" b="1" dirty="0">
                          <a:solidFill>
                            <a:schemeClr val="tx1"/>
                          </a:solidFill>
                        </a:rPr>
                        <a:t>Predicts “natural” fragment charge state based on precursor charge and basicity of peptide and fragment.  Looks for natural</a:t>
                      </a:r>
                      <a:r>
                        <a:rPr lang="en-US" b="1" baseline="0" dirty="0">
                          <a:solidFill>
                            <a:schemeClr val="tx1"/>
                          </a:solidFill>
                        </a:rPr>
                        <a:t> charge +/-1.</a:t>
                      </a:r>
                      <a:endParaRPr lang="en-US" b="1" dirty="0">
                        <a:solidFill>
                          <a:schemeClr val="tx1"/>
                        </a:solidFill>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85399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6500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Charge State Determination</a:t>
            </a:r>
          </a:p>
        </p:txBody>
      </p:sp>
      <p:sp>
        <p:nvSpPr>
          <p:cNvPr id="3" name="TextBox 2"/>
          <p:cNvSpPr txBox="1"/>
          <p:nvPr/>
        </p:nvSpPr>
        <p:spPr>
          <a:xfrm>
            <a:off x="2362200" y="1600201"/>
            <a:ext cx="7620000" cy="3693319"/>
          </a:xfrm>
          <a:prstGeom prst="rect">
            <a:avLst/>
          </a:prstGeom>
          <a:noFill/>
        </p:spPr>
        <p:txBody>
          <a:bodyPr wrap="square" rtlCol="0">
            <a:spAutoFit/>
          </a:bodyPr>
          <a:lstStyle/>
          <a:p>
            <a:r>
              <a:rPr lang="en-US" b="1" dirty="0"/>
              <a:t>Calculate a summed basicity score for a peptide based on these rules: </a:t>
            </a:r>
          </a:p>
          <a:p>
            <a:r>
              <a:rPr lang="en-US" b="1" dirty="0"/>
              <a:t>	R = 2</a:t>
            </a:r>
          </a:p>
          <a:p>
            <a:r>
              <a:rPr lang="en-US" b="1" dirty="0"/>
              <a:t>	K/H = 1</a:t>
            </a:r>
          </a:p>
          <a:p>
            <a:r>
              <a:rPr lang="en-US" b="1" dirty="0"/>
              <a:t>	All other residues = .2</a:t>
            </a:r>
          </a:p>
          <a:p>
            <a:r>
              <a:rPr lang="en-US" b="1" dirty="0"/>
              <a:t>	N-termini of b-, c- and y-ions = 1</a:t>
            </a:r>
          </a:p>
          <a:p>
            <a:endParaRPr lang="en-US" b="1" dirty="0"/>
          </a:p>
          <a:p>
            <a:r>
              <a:rPr lang="en-US" b="1" dirty="0"/>
              <a:t>Natural Charge:</a:t>
            </a:r>
          </a:p>
          <a:p>
            <a:r>
              <a:rPr lang="en-US" b="1" dirty="0"/>
              <a:t>	CAD = (fragment basicity/peptide basicity) * peptide charge </a:t>
            </a:r>
          </a:p>
          <a:p>
            <a:r>
              <a:rPr lang="en-US" b="1" dirty="0"/>
              <a:t>	ETD  = (fragment basicity/peptide basicity) * peptide charge - 1</a:t>
            </a:r>
          </a:p>
          <a:p>
            <a:endParaRPr lang="en-US" b="1" dirty="0"/>
          </a:p>
          <a:p>
            <a:endParaRPr lang="en-US" dirty="0">
              <a:solidFill>
                <a:srgbClr val="FFFF00"/>
              </a:solidFill>
            </a:endParaRPr>
          </a:p>
          <a:p>
            <a:endParaRPr lang="en-US" dirty="0">
              <a:solidFill>
                <a:srgbClr val="FFFF00"/>
              </a:solidFill>
            </a:endParaRPr>
          </a:p>
          <a:p>
            <a:endParaRPr lang="en-US" dirty="0">
              <a:solidFill>
                <a:srgbClr val="FFFF00"/>
              </a:solidFill>
            </a:endParaRPr>
          </a:p>
        </p:txBody>
      </p:sp>
    </p:spTree>
    <p:extLst>
      <p:ext uri="{BB962C8B-B14F-4D97-AF65-F5344CB8AC3E}">
        <p14:creationId xmlns:p14="http://schemas.microsoft.com/office/powerpoint/2010/main" val="293129106"/>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14500" y="304800"/>
            <a:ext cx="8763000" cy="707886"/>
          </a:xfrm>
          <a:prstGeom prst="rect">
            <a:avLst/>
          </a:prstGeom>
          <a:noFill/>
        </p:spPr>
        <p:txBody>
          <a:bodyPr wrap="square" rtlCol="0">
            <a:spAutoFit/>
          </a:bodyPr>
          <a:lstStyle/>
          <a:p>
            <a:pPr algn="ctr" eaLnBrk="0" fontAlgn="base" hangingPunct="0">
              <a:spcBef>
                <a:spcPct val="0"/>
              </a:spcBef>
              <a:spcAft>
                <a:spcPct val="0"/>
              </a:spcAft>
            </a:pPr>
            <a:r>
              <a:rPr lang="en-US" sz="4000" dirty="0"/>
              <a:t>What is Likely a Good </a:t>
            </a:r>
            <a:r>
              <a:rPr lang="en-US" sz="4000" dirty="0" err="1"/>
              <a:t>Byonic</a:t>
            </a:r>
            <a:r>
              <a:rPr lang="en-US" sz="4000" dirty="0"/>
              <a:t> Score?</a:t>
            </a:r>
          </a:p>
        </p:txBody>
      </p:sp>
      <p:sp>
        <p:nvSpPr>
          <p:cNvPr id="4" name="TextBox 3"/>
          <p:cNvSpPr txBox="1"/>
          <p:nvPr/>
        </p:nvSpPr>
        <p:spPr>
          <a:xfrm>
            <a:off x="1943100" y="2090172"/>
            <a:ext cx="8305800" cy="1938992"/>
          </a:xfrm>
          <a:prstGeom prst="rect">
            <a:avLst/>
          </a:prstGeom>
          <a:noFill/>
          <a:ln w="19050">
            <a:solidFill>
              <a:srgbClr val="92D050"/>
            </a:solidFill>
          </a:ln>
        </p:spPr>
        <p:txBody>
          <a:bodyPr wrap="square" rtlCol="0">
            <a:spAutoFit/>
          </a:bodyPr>
          <a:lstStyle/>
          <a:p>
            <a:r>
              <a:rPr lang="en-US" sz="2400" b="1" dirty="0"/>
              <a:t>In</a:t>
            </a:r>
            <a:r>
              <a:rPr lang="en-US" sz="2400" b="1" dirty="0">
                <a:solidFill>
                  <a:schemeClr val="bg1"/>
                </a:solidFill>
              </a:rPr>
              <a:t> </a:t>
            </a:r>
            <a:r>
              <a:rPr lang="en-US" sz="2400" b="1" dirty="0"/>
              <a:t>general: </a:t>
            </a:r>
          </a:p>
          <a:p>
            <a:endParaRPr lang="en-US" sz="2400" b="1" dirty="0"/>
          </a:p>
          <a:p>
            <a:r>
              <a:rPr lang="en-US" sz="2400" b="1" dirty="0"/>
              <a:t>Good Score &gt;= 300</a:t>
            </a:r>
          </a:p>
          <a:p>
            <a:r>
              <a:rPr lang="en-US" sz="2400" b="1" dirty="0"/>
              <a:t>Very Good Score &gt;= 400</a:t>
            </a:r>
          </a:p>
          <a:p>
            <a:r>
              <a:rPr lang="en-US" sz="2400" b="1" dirty="0"/>
              <a:t>“Almost Sure to be Correct” &gt;= 500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3868" y="255661"/>
            <a:ext cx="7044267" cy="1323439"/>
          </a:xfrm>
          <a:prstGeom prst="rect">
            <a:avLst/>
          </a:prstGeom>
          <a:noFill/>
        </p:spPr>
        <p:txBody>
          <a:bodyPr wrap="square" rtlCol="0">
            <a:spAutoFit/>
          </a:bodyPr>
          <a:lstStyle/>
          <a:p>
            <a:pPr algn="ctr" eaLnBrk="0" fontAlgn="base" hangingPunct="0">
              <a:spcBef>
                <a:spcPct val="0"/>
              </a:spcBef>
              <a:spcAft>
                <a:spcPct val="0"/>
              </a:spcAft>
            </a:pPr>
            <a:r>
              <a:rPr lang="en-US" sz="4000" dirty="0"/>
              <a:t>Other Peptide Scores Derived From </a:t>
            </a:r>
            <a:r>
              <a:rPr lang="en-US" sz="4000" dirty="0" err="1"/>
              <a:t>Byonic</a:t>
            </a:r>
            <a:r>
              <a:rPr lang="en-US" sz="4000" dirty="0"/>
              <a:t> Score</a:t>
            </a:r>
          </a:p>
        </p:txBody>
      </p:sp>
      <p:sp>
        <p:nvSpPr>
          <p:cNvPr id="3" name="TextBox 2"/>
          <p:cNvSpPr txBox="1"/>
          <p:nvPr/>
        </p:nvSpPr>
        <p:spPr>
          <a:xfrm>
            <a:off x="2925233" y="1676401"/>
            <a:ext cx="6341534" cy="830997"/>
          </a:xfrm>
          <a:prstGeom prst="rect">
            <a:avLst/>
          </a:prstGeom>
          <a:noFill/>
        </p:spPr>
        <p:txBody>
          <a:bodyPr wrap="square" rtlCol="0">
            <a:spAutoFit/>
          </a:bodyPr>
          <a:lstStyle/>
          <a:p>
            <a:endParaRPr lang="en-US" sz="2400" b="1" dirty="0">
              <a:solidFill>
                <a:srgbClr val="FFFF00"/>
              </a:solidFill>
            </a:endParaRPr>
          </a:p>
          <a:p>
            <a:pPr marL="342900" indent="-342900">
              <a:buFont typeface="Arial" panose="020B0604020202020204" pitchFamily="34" charset="0"/>
              <a:buChar char="•"/>
            </a:pPr>
            <a:endParaRPr lang="en-US" sz="2400" b="1" dirty="0">
              <a:solidFill>
                <a:srgbClr val="FFFF00"/>
              </a:solidFill>
            </a:endParaRPr>
          </a:p>
        </p:txBody>
      </p:sp>
      <p:sp>
        <p:nvSpPr>
          <p:cNvPr id="7" name="TextBox 6"/>
          <p:cNvSpPr txBox="1"/>
          <p:nvPr/>
        </p:nvSpPr>
        <p:spPr>
          <a:xfrm>
            <a:off x="1844842" y="1981200"/>
            <a:ext cx="8534400" cy="1938992"/>
          </a:xfrm>
          <a:prstGeom prst="rect">
            <a:avLst/>
          </a:prstGeom>
          <a:noFill/>
        </p:spPr>
        <p:txBody>
          <a:bodyPr wrap="square" rtlCol="0">
            <a:spAutoFit/>
          </a:bodyPr>
          <a:lstStyle/>
          <a:p>
            <a:pPr>
              <a:buFont typeface="Arial" pitchFamily="34" charset="0"/>
              <a:buChar char="•"/>
            </a:pPr>
            <a:r>
              <a:rPr lang="en-US" sz="2400" dirty="0"/>
              <a:t> </a:t>
            </a:r>
            <a:r>
              <a:rPr lang="en-US" sz="2400" b="1" dirty="0"/>
              <a:t>Delta Score = Highest scoring match - next highest scoring match with a different sequence.</a:t>
            </a:r>
          </a:p>
          <a:p>
            <a:pPr>
              <a:buFont typeface="Arial" pitchFamily="34" charset="0"/>
              <a:buChar char="•"/>
            </a:pPr>
            <a:endParaRPr lang="en-US" sz="2400" b="1" dirty="0"/>
          </a:p>
          <a:p>
            <a:pPr>
              <a:buFont typeface="Arial" pitchFamily="34" charset="0"/>
              <a:buChar char="•"/>
            </a:pPr>
            <a:r>
              <a:rPr lang="en-US" sz="2400" b="1" dirty="0"/>
              <a:t> Delta Mod = Highest scoring match – next highest scoring match with any difference at all, including modifications. </a:t>
            </a:r>
          </a:p>
        </p:txBody>
      </p:sp>
      <p:sp>
        <p:nvSpPr>
          <p:cNvPr id="8" name="TextBox 7"/>
          <p:cNvSpPr txBox="1"/>
          <p:nvPr/>
        </p:nvSpPr>
        <p:spPr>
          <a:xfrm>
            <a:off x="3894221" y="4316261"/>
            <a:ext cx="4877820" cy="461665"/>
          </a:xfrm>
          <a:prstGeom prst="rect">
            <a:avLst/>
          </a:prstGeom>
          <a:noFill/>
        </p:spPr>
        <p:txBody>
          <a:bodyPr wrap="square" rtlCol="0">
            <a:spAutoFit/>
          </a:bodyPr>
          <a:lstStyle/>
          <a:p>
            <a:r>
              <a:rPr lang="en-US" sz="2400" b="1" dirty="0"/>
              <a:t>Next best guesses are not reported.</a:t>
            </a:r>
          </a:p>
        </p:txBody>
      </p:sp>
      <p:sp>
        <p:nvSpPr>
          <p:cNvPr id="4" name="TextBox 3">
            <a:extLst>
              <a:ext uri="{FF2B5EF4-FFF2-40B4-BE49-F238E27FC236}">
                <a16:creationId xmlns:a16="http://schemas.microsoft.com/office/drawing/2014/main" id="{55B9F950-2C20-9884-1F20-1CBF0EDBA96A}"/>
              </a:ext>
            </a:extLst>
          </p:cNvPr>
          <p:cNvSpPr txBox="1"/>
          <p:nvPr/>
        </p:nvSpPr>
        <p:spPr>
          <a:xfrm>
            <a:off x="1844842" y="5352917"/>
            <a:ext cx="8305800" cy="461665"/>
          </a:xfrm>
          <a:prstGeom prst="rect">
            <a:avLst/>
          </a:prstGeom>
          <a:noFill/>
          <a:ln w="19050">
            <a:solidFill>
              <a:srgbClr val="92D050"/>
            </a:solidFill>
          </a:ln>
        </p:spPr>
        <p:txBody>
          <a:bodyPr wrap="square" rtlCol="0">
            <a:spAutoFit/>
          </a:bodyPr>
          <a:lstStyle/>
          <a:p>
            <a:r>
              <a:rPr lang="en-US" sz="2400" b="1" dirty="0" err="1"/>
              <a:t>DeltaMod</a:t>
            </a:r>
            <a:r>
              <a:rPr lang="en-US" sz="2400" b="1" dirty="0"/>
              <a:t> &gt; 20 indicates good placement of modifications.</a:t>
            </a:r>
          </a:p>
        </p:txBody>
      </p:sp>
    </p:spTree>
    <p:extLst>
      <p:ext uri="{BB962C8B-B14F-4D97-AF65-F5344CB8AC3E}">
        <p14:creationId xmlns:p14="http://schemas.microsoft.com/office/powerpoint/2010/main" val="581699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2201" y="30480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Peptide Scoring</a:t>
            </a:r>
          </a:p>
        </p:txBody>
      </p:sp>
      <p:sp>
        <p:nvSpPr>
          <p:cNvPr id="3" name="TextBox 2"/>
          <p:cNvSpPr txBox="1"/>
          <p:nvPr/>
        </p:nvSpPr>
        <p:spPr>
          <a:xfrm>
            <a:off x="2345267" y="1140912"/>
            <a:ext cx="7501466" cy="523220"/>
          </a:xfrm>
          <a:prstGeom prst="rect">
            <a:avLst/>
          </a:prstGeom>
          <a:noFill/>
        </p:spPr>
        <p:txBody>
          <a:bodyPr wrap="square" rtlCol="0">
            <a:spAutoFit/>
          </a:bodyPr>
          <a:lstStyle/>
          <a:p>
            <a:r>
              <a:rPr lang="en-US" sz="2800" b="1" dirty="0"/>
              <a:t>|Log Prob|:  </a:t>
            </a:r>
            <a:r>
              <a:rPr lang="en-US" sz="2400" b="1" dirty="0"/>
              <a:t>A probability-based confidence measure</a:t>
            </a:r>
          </a:p>
        </p:txBody>
      </p:sp>
      <p:sp>
        <p:nvSpPr>
          <p:cNvPr id="4" name="TextBox 3"/>
          <p:cNvSpPr txBox="1"/>
          <p:nvPr/>
        </p:nvSpPr>
        <p:spPr>
          <a:xfrm>
            <a:off x="2175935" y="1830402"/>
            <a:ext cx="7840133" cy="830997"/>
          </a:xfrm>
          <a:prstGeom prst="rect">
            <a:avLst/>
          </a:prstGeom>
          <a:noFill/>
        </p:spPr>
        <p:txBody>
          <a:bodyPr wrap="square" rtlCol="0">
            <a:spAutoFit/>
          </a:bodyPr>
          <a:lstStyle/>
          <a:p>
            <a:r>
              <a:rPr lang="en-US" sz="2400" b="1" dirty="0"/>
              <a:t>A detour into the world of Decoy Databases and Posterior Error Probability (PEP)</a:t>
            </a:r>
          </a:p>
        </p:txBody>
      </p:sp>
      <p:sp>
        <p:nvSpPr>
          <p:cNvPr id="5" name="Rectangle 3"/>
          <p:cNvSpPr>
            <a:spLocks noChangeArrowheads="1"/>
          </p:cNvSpPr>
          <p:nvPr/>
        </p:nvSpPr>
        <p:spPr bwMode="auto">
          <a:xfrm>
            <a:off x="1828799" y="3352800"/>
            <a:ext cx="8534400" cy="2438400"/>
          </a:xfrm>
          <a:prstGeom prst="rect">
            <a:avLst/>
          </a:prstGeom>
          <a:noFill/>
          <a:ln w="28575">
            <a:solidFill>
              <a:srgbClr val="92D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400" b="1" dirty="0"/>
              <a:t>Decoy Database:  A database of false proteins</a:t>
            </a:r>
          </a:p>
          <a:p>
            <a:endParaRPr lang="en-US" sz="2400" b="1" dirty="0"/>
          </a:p>
          <a:p>
            <a:r>
              <a:rPr lang="en-US" altLang="en-US" sz="2400" b="1" dirty="0"/>
              <a:t>In theory, you should not get any good scoring hits when you are </a:t>
            </a:r>
          </a:p>
          <a:p>
            <a:r>
              <a:rPr lang="en-US" altLang="en-US" sz="2400" b="1" dirty="0"/>
              <a:t>searching against a database that contains no real proteins! </a:t>
            </a:r>
          </a:p>
          <a:p>
            <a:r>
              <a:rPr lang="en-US" altLang="en-US" sz="2400" b="1" dirty="0"/>
              <a:t>So all hits found when searching against a decoy database </a:t>
            </a:r>
          </a:p>
          <a:p>
            <a:r>
              <a:rPr lang="en-US" altLang="en-US" sz="2400" b="1" dirty="0"/>
              <a:t>are false positives.</a:t>
            </a:r>
          </a:p>
        </p:txBody>
      </p:sp>
    </p:spTree>
    <p:extLst>
      <p:ext uri="{BB962C8B-B14F-4D97-AF65-F5344CB8AC3E}">
        <p14:creationId xmlns:p14="http://schemas.microsoft.com/office/powerpoint/2010/main" val="567944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2404534" y="381000"/>
            <a:ext cx="460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t>Reversed Database</a:t>
            </a:r>
          </a:p>
        </p:txBody>
      </p:sp>
      <p:grpSp>
        <p:nvGrpSpPr>
          <p:cNvPr id="18440" name="Group 8"/>
          <p:cNvGrpSpPr>
            <a:grpSpLocks/>
          </p:cNvGrpSpPr>
          <p:nvPr/>
        </p:nvGrpSpPr>
        <p:grpSpPr bwMode="auto">
          <a:xfrm>
            <a:off x="2404535" y="3581400"/>
            <a:ext cx="7179733" cy="2514600"/>
            <a:chOff x="624" y="2256"/>
            <a:chExt cx="5088" cy="1584"/>
          </a:xfrm>
        </p:grpSpPr>
        <p:sp>
          <p:nvSpPr>
            <p:cNvPr id="18435" name="Rectangle 3"/>
            <p:cNvSpPr>
              <a:spLocks noChangeArrowheads="1"/>
            </p:cNvSpPr>
            <p:nvPr/>
          </p:nvSpPr>
          <p:spPr bwMode="auto">
            <a:xfrm>
              <a:off x="624" y="2256"/>
              <a:ext cx="5088" cy="1584"/>
            </a:xfrm>
            <a:prstGeom prst="rect">
              <a:avLst/>
            </a:prstGeom>
            <a:noFill/>
            <a:ln w="28575">
              <a:solidFill>
                <a:srgbClr val="92D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solidFill>
                  <a:srgbClr val="FFFF00"/>
                </a:solidFill>
                <a:latin typeface="Courier New" pitchFamily="49" charset="0"/>
              </a:endParaRPr>
            </a:p>
          </p:txBody>
        </p:sp>
        <p:sp>
          <p:nvSpPr>
            <p:cNvPr id="18436" name="Text Box 4"/>
            <p:cNvSpPr txBox="1">
              <a:spLocks noChangeArrowheads="1"/>
            </p:cNvSpPr>
            <p:nvPr/>
          </p:nvSpPr>
          <p:spPr bwMode="auto">
            <a:xfrm>
              <a:off x="672" y="2352"/>
              <a:ext cx="4992" cy="1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dirty="0"/>
                <a:t>&gt;gi|17981865--REVERSED|ref|NP_536855.1| cytochrome b [Homo sapiens]</a:t>
              </a:r>
            </a:p>
            <a:p>
              <a:pPr>
                <a:spcBef>
                  <a:spcPct val="50000"/>
                </a:spcBef>
              </a:pPr>
              <a:r>
                <a:rPr lang="en-US" altLang="en-US" sz="1600" b="1" dirty="0"/>
                <a:t>KLMKNEILSITPMLILITTFYLVSAVQGIITFPYSVPQGGIWTLILLDAALLWYLSQSLPRFMMSQQKSMHLIPIMALILISLLLALVGGLKNPVSRLITYAFLFYWEPKIHPPTNLPNALTYNDPDGLLDPSFLTLTMLSLLFLLLGLADKITYYPHFTIKDSHSTIGLPNNSGTEHLFLLHLAALAAIIFPLIFHFTFFRTLTPSDVSYGGWIWQVLDTGIYPIASLLNTIVTAGWFSMQGWPLVYGMFATAMTALLLIIGINWTESYLFSGYYLGRGIHLFLCIFFMSAGNAHLYRIIWGYNVDRTIHAISSFATSADPSYHMALFLGTTIQLILCAGLLSGFNWWASINSPTPLDIFSHNILKMLPNIKRMPTM</a:t>
              </a:r>
            </a:p>
          </p:txBody>
        </p:sp>
      </p:grpSp>
      <p:grpSp>
        <p:nvGrpSpPr>
          <p:cNvPr id="18439" name="Group 7"/>
          <p:cNvGrpSpPr>
            <a:grpSpLocks/>
          </p:cNvGrpSpPr>
          <p:nvPr/>
        </p:nvGrpSpPr>
        <p:grpSpPr bwMode="auto">
          <a:xfrm>
            <a:off x="2404535" y="914400"/>
            <a:ext cx="7179733" cy="2514600"/>
            <a:chOff x="624" y="576"/>
            <a:chExt cx="5088" cy="1584"/>
          </a:xfrm>
        </p:grpSpPr>
        <p:sp>
          <p:nvSpPr>
            <p:cNvPr id="18437" name="Rectangle 5"/>
            <p:cNvSpPr>
              <a:spLocks noChangeArrowheads="1"/>
            </p:cNvSpPr>
            <p:nvPr/>
          </p:nvSpPr>
          <p:spPr bwMode="auto">
            <a:xfrm>
              <a:off x="624" y="576"/>
              <a:ext cx="5088" cy="1584"/>
            </a:xfrm>
            <a:prstGeom prst="rect">
              <a:avLst/>
            </a:prstGeom>
            <a:noFill/>
            <a:ln w="28575">
              <a:solidFill>
                <a:srgbClr val="92D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8" name="Text Box 6"/>
            <p:cNvSpPr txBox="1">
              <a:spLocks noChangeArrowheads="1"/>
            </p:cNvSpPr>
            <p:nvPr/>
          </p:nvSpPr>
          <p:spPr bwMode="auto">
            <a:xfrm>
              <a:off x="672" y="672"/>
              <a:ext cx="4992" cy="1221"/>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dirty="0"/>
                <a:t>&gt;gi|17981865|ref|NP_536855.1| cytochrome b [Homo sapiens]</a:t>
              </a:r>
            </a:p>
            <a:p>
              <a:pPr>
                <a:spcBef>
                  <a:spcPct val="50000"/>
                </a:spcBef>
              </a:pPr>
              <a:r>
                <a:rPr lang="en-US" altLang="en-US" sz="1600" b="1" dirty="0"/>
                <a:t>MTPMRKINPLMKLINHSFIDLPTPSNISAWWNFGSLLGACLILQITTGLFLAMHYSPDASTAFSSIAHITRDVNYGWIIRYLHANGASMFFICLFLHIGRGLYYGSFLYSETWNIGIILLLATMATAFMGYVLPWGQMSFWGATVITNLLSAIPYIGTDLVQWIWGGYSVDSPTLTRFFTFHFILPFIIAALAALHLLFLHETGSNNPLGITSHSDKITFHPYYTIKDALGLLLFLLSLMTLTLFSPDLLGDPDNYTLANPLNTPPHIKPEWYFLFAYTILRSVPNKLGGVLALLLSILILAMIPILHMSKQQSMMFRPLSQSLYWLLAADLLILTWIGGQPVSYPFTIIGQVASVLYFTTILILMPTISLIENKMLK</a:t>
              </a:r>
            </a:p>
          </p:txBody>
        </p:sp>
      </p:grpSp>
    </p:spTree>
    <p:extLst>
      <p:ext uri="{BB962C8B-B14F-4D97-AF65-F5344CB8AC3E}">
        <p14:creationId xmlns:p14="http://schemas.microsoft.com/office/powerpoint/2010/main" val="741766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62201" y="30480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Peptide Scoring</a:t>
            </a:r>
          </a:p>
        </p:txBody>
      </p:sp>
      <p:sp>
        <p:nvSpPr>
          <p:cNvPr id="5" name="TextBox 4"/>
          <p:cNvSpPr txBox="1"/>
          <p:nvPr/>
        </p:nvSpPr>
        <p:spPr>
          <a:xfrm>
            <a:off x="2345268" y="990600"/>
            <a:ext cx="7501467" cy="523220"/>
          </a:xfrm>
          <a:prstGeom prst="rect">
            <a:avLst/>
          </a:prstGeom>
          <a:noFill/>
        </p:spPr>
        <p:txBody>
          <a:bodyPr wrap="square" rtlCol="0">
            <a:spAutoFit/>
          </a:bodyPr>
          <a:lstStyle/>
          <a:p>
            <a:pPr algn="ctr"/>
            <a:r>
              <a:rPr lang="en-US" sz="2800" b="1" dirty="0"/>
              <a:t>|Log Prob|:  </a:t>
            </a:r>
            <a:r>
              <a:rPr lang="en-US" sz="2400" b="1" dirty="0"/>
              <a:t>A probability-based confidence measure</a:t>
            </a:r>
          </a:p>
        </p:txBody>
      </p:sp>
      <p:sp>
        <p:nvSpPr>
          <p:cNvPr id="2" name="TextBox 1"/>
          <p:cNvSpPr txBox="1"/>
          <p:nvPr/>
        </p:nvSpPr>
        <p:spPr>
          <a:xfrm>
            <a:off x="3162300" y="1513820"/>
            <a:ext cx="6819900" cy="707886"/>
          </a:xfrm>
          <a:prstGeom prst="rect">
            <a:avLst/>
          </a:prstGeom>
          <a:noFill/>
        </p:spPr>
        <p:txBody>
          <a:bodyPr wrap="square" rtlCol="0">
            <a:spAutoFit/>
          </a:bodyPr>
          <a:lstStyle/>
          <a:p>
            <a:pPr marL="342900" indent="-342900">
              <a:buFont typeface="Arial" panose="020B0604020202020204" pitchFamily="34" charset="0"/>
              <a:buChar char="•"/>
            </a:pPr>
            <a:r>
              <a:rPr lang="en-US" sz="2000" b="1" dirty="0"/>
              <a:t>Calculated after scoring is complete for all spectra.</a:t>
            </a:r>
          </a:p>
          <a:p>
            <a:pPr marL="342900" indent="-342900">
              <a:buFont typeface="Arial" panose="020B0604020202020204" pitchFamily="34" charset="0"/>
              <a:buChar char="•"/>
            </a:pPr>
            <a:r>
              <a:rPr lang="en-US" sz="2000" b="1" dirty="0"/>
              <a:t>Based on Posterior Error Probability (PEP)</a:t>
            </a:r>
          </a:p>
        </p:txBody>
      </p:sp>
      <p:sp>
        <p:nvSpPr>
          <p:cNvPr id="7" name="TextBox 6"/>
          <p:cNvSpPr txBox="1"/>
          <p:nvPr/>
        </p:nvSpPr>
        <p:spPr>
          <a:xfrm>
            <a:off x="7467600" y="2472272"/>
            <a:ext cx="2895600" cy="3477875"/>
          </a:xfrm>
          <a:prstGeom prst="rect">
            <a:avLst/>
          </a:prstGeom>
          <a:noFill/>
        </p:spPr>
        <p:txBody>
          <a:bodyPr wrap="square" rtlCol="0">
            <a:spAutoFit/>
          </a:bodyPr>
          <a:lstStyle/>
          <a:p>
            <a:r>
              <a:rPr lang="en-US" sz="2000" b="1" dirty="0"/>
              <a:t>PEP is the probability that the observed match is due to random chance – it is not correct.</a:t>
            </a:r>
          </a:p>
          <a:p>
            <a:endParaRPr lang="en-US" sz="2000" b="1" dirty="0"/>
          </a:p>
          <a:p>
            <a:r>
              <a:rPr lang="en-US" sz="2000" b="1" dirty="0"/>
              <a:t>PEP = b/(</a:t>
            </a:r>
            <a:r>
              <a:rPr lang="en-US" sz="2000" b="1" dirty="0" err="1"/>
              <a:t>b+a</a:t>
            </a:r>
            <a:r>
              <a:rPr lang="en-US" sz="2000" b="1" dirty="0"/>
              <a:t>)</a:t>
            </a:r>
          </a:p>
          <a:p>
            <a:r>
              <a:rPr lang="en-US" sz="2000" b="1" dirty="0"/>
              <a:t> </a:t>
            </a:r>
          </a:p>
          <a:p>
            <a:r>
              <a:rPr lang="en-US" sz="2000" b="1" dirty="0"/>
              <a:t>If:  a = 99, b = 1</a:t>
            </a:r>
          </a:p>
          <a:p>
            <a:endParaRPr lang="en-US" sz="2000" b="1" dirty="0"/>
          </a:p>
          <a:p>
            <a:r>
              <a:rPr lang="en-US" sz="2000" b="1" dirty="0"/>
              <a:t>1% chance that this hit occurs by random chance</a:t>
            </a: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44722"/>
          <a:stretch/>
        </p:blipFill>
        <p:spPr>
          <a:xfrm>
            <a:off x="2334584" y="2590801"/>
            <a:ext cx="4752016" cy="3363319"/>
          </a:xfrm>
          <a:prstGeom prst="rect">
            <a:avLst/>
          </a:prstGeom>
          <a:solidFill>
            <a:schemeClr val="bg1"/>
          </a:solidFill>
        </p:spPr>
      </p:pic>
    </p:spTree>
    <p:extLst>
      <p:ext uri="{BB962C8B-B14F-4D97-AF65-F5344CB8AC3E}">
        <p14:creationId xmlns:p14="http://schemas.microsoft.com/office/powerpoint/2010/main" val="995992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62201" y="30480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Peptide Scoring</a:t>
            </a:r>
          </a:p>
        </p:txBody>
      </p:sp>
      <p:sp>
        <p:nvSpPr>
          <p:cNvPr id="5" name="TextBox 4"/>
          <p:cNvSpPr txBox="1"/>
          <p:nvPr/>
        </p:nvSpPr>
        <p:spPr>
          <a:xfrm>
            <a:off x="2438402" y="990600"/>
            <a:ext cx="7315199" cy="523220"/>
          </a:xfrm>
          <a:prstGeom prst="rect">
            <a:avLst/>
          </a:prstGeom>
          <a:noFill/>
        </p:spPr>
        <p:txBody>
          <a:bodyPr wrap="square" rtlCol="0">
            <a:spAutoFit/>
          </a:bodyPr>
          <a:lstStyle/>
          <a:p>
            <a:pPr algn="ctr"/>
            <a:r>
              <a:rPr lang="en-US" sz="2800" b="1" dirty="0"/>
              <a:t>|Log Prob|:  </a:t>
            </a:r>
            <a:r>
              <a:rPr lang="en-US" sz="2400" b="1" dirty="0"/>
              <a:t>A probability-based confidence measure</a:t>
            </a:r>
          </a:p>
        </p:txBody>
      </p:sp>
      <p:sp>
        <p:nvSpPr>
          <p:cNvPr id="2" name="TextBox 1"/>
          <p:cNvSpPr txBox="1"/>
          <p:nvPr/>
        </p:nvSpPr>
        <p:spPr>
          <a:xfrm>
            <a:off x="3162300" y="1513820"/>
            <a:ext cx="6819900" cy="707886"/>
          </a:xfrm>
          <a:prstGeom prst="rect">
            <a:avLst/>
          </a:prstGeom>
          <a:noFill/>
        </p:spPr>
        <p:txBody>
          <a:bodyPr wrap="square" rtlCol="0">
            <a:spAutoFit/>
          </a:bodyPr>
          <a:lstStyle/>
          <a:p>
            <a:pPr marL="342900" indent="-342900">
              <a:buFont typeface="Arial" panose="020B0604020202020204" pitchFamily="34" charset="0"/>
              <a:buChar char="•"/>
            </a:pPr>
            <a:r>
              <a:rPr lang="en-US" sz="2000" b="1" dirty="0"/>
              <a:t>Calculated after scoring is complete for all spectra.</a:t>
            </a:r>
          </a:p>
          <a:p>
            <a:pPr marL="342900" indent="-342900">
              <a:buFont typeface="Arial" panose="020B0604020202020204" pitchFamily="34" charset="0"/>
              <a:buChar char="•"/>
            </a:pPr>
            <a:r>
              <a:rPr lang="en-US" sz="2000" b="1" dirty="0"/>
              <a:t>Based on Posterior Error Probability (PEP)</a:t>
            </a:r>
          </a:p>
        </p:txBody>
      </p:sp>
      <p:sp>
        <p:nvSpPr>
          <p:cNvPr id="7" name="TextBox 6"/>
          <p:cNvSpPr txBox="1"/>
          <p:nvPr/>
        </p:nvSpPr>
        <p:spPr>
          <a:xfrm>
            <a:off x="7467600" y="2743201"/>
            <a:ext cx="2974258" cy="2246769"/>
          </a:xfrm>
          <a:prstGeom prst="rect">
            <a:avLst/>
          </a:prstGeom>
          <a:noFill/>
        </p:spPr>
        <p:txBody>
          <a:bodyPr wrap="square" rtlCol="0">
            <a:spAutoFit/>
          </a:bodyPr>
          <a:lstStyle/>
          <a:p>
            <a:r>
              <a:rPr lang="en-US" sz="2000" b="1" dirty="0"/>
              <a:t>The distribution of false  hits is derived from the decoy database.</a:t>
            </a:r>
          </a:p>
          <a:p>
            <a:endParaRPr lang="en-US" sz="2000" b="1" dirty="0"/>
          </a:p>
          <a:p>
            <a:r>
              <a:rPr lang="en-US" sz="2000" b="1" dirty="0"/>
              <a:t>But how to estimate the distribution of true hits to the original database?</a:t>
            </a:r>
            <a:r>
              <a:rPr lang="en-US" sz="2000" b="1" dirty="0">
                <a:solidFill>
                  <a:schemeClr val="bg1"/>
                </a:solidFill>
              </a:rPr>
              <a:t>?</a:t>
            </a:r>
          </a:p>
        </p:txBody>
      </p:sp>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44722"/>
          <a:stretch/>
        </p:blipFill>
        <p:spPr>
          <a:xfrm>
            <a:off x="2334584" y="2590801"/>
            <a:ext cx="4752016" cy="3363319"/>
          </a:xfrm>
          <a:prstGeom prst="rect">
            <a:avLst/>
          </a:prstGeom>
          <a:solidFill>
            <a:schemeClr val="bg1"/>
          </a:solidFill>
        </p:spPr>
      </p:pic>
    </p:spTree>
    <p:extLst>
      <p:ext uri="{BB962C8B-B14F-4D97-AF65-F5344CB8AC3E}">
        <p14:creationId xmlns:p14="http://schemas.microsoft.com/office/powerpoint/2010/main" val="4115055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25233" y="1676401"/>
            <a:ext cx="6341534" cy="830997"/>
          </a:xfrm>
          <a:prstGeom prst="rect">
            <a:avLst/>
          </a:prstGeom>
          <a:noFill/>
        </p:spPr>
        <p:txBody>
          <a:bodyPr wrap="square" rtlCol="0">
            <a:spAutoFit/>
          </a:bodyPr>
          <a:lstStyle/>
          <a:p>
            <a:endParaRPr lang="en-US" sz="2400" b="1" dirty="0">
              <a:solidFill>
                <a:srgbClr val="FFFF00"/>
              </a:solidFill>
            </a:endParaRPr>
          </a:p>
          <a:p>
            <a:pPr marL="342900" indent="-342900">
              <a:buFont typeface="Arial" panose="020B0604020202020204" pitchFamily="34" charset="0"/>
              <a:buChar char="•"/>
            </a:pPr>
            <a:endParaRPr lang="en-US" sz="2400" b="1" dirty="0">
              <a:solidFill>
                <a:srgbClr val="FFFF00"/>
              </a:solidFill>
            </a:endParaRPr>
          </a:p>
        </p:txBody>
      </p:sp>
      <p:sp>
        <p:nvSpPr>
          <p:cNvPr id="4" name="TextBox 3"/>
          <p:cNvSpPr txBox="1"/>
          <p:nvPr/>
        </p:nvSpPr>
        <p:spPr>
          <a:xfrm>
            <a:off x="2362201" y="30480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Peptide Scoring</a:t>
            </a:r>
          </a:p>
        </p:txBody>
      </p:sp>
      <p:sp>
        <p:nvSpPr>
          <p:cNvPr id="5" name="TextBox 4"/>
          <p:cNvSpPr txBox="1"/>
          <p:nvPr/>
        </p:nvSpPr>
        <p:spPr>
          <a:xfrm>
            <a:off x="2415118" y="990600"/>
            <a:ext cx="7361767" cy="523220"/>
          </a:xfrm>
          <a:prstGeom prst="rect">
            <a:avLst/>
          </a:prstGeom>
          <a:noFill/>
        </p:spPr>
        <p:txBody>
          <a:bodyPr wrap="square" rtlCol="0">
            <a:spAutoFit/>
          </a:bodyPr>
          <a:lstStyle/>
          <a:p>
            <a:pPr algn="ctr"/>
            <a:r>
              <a:rPr lang="en-US" sz="2800" b="1" dirty="0"/>
              <a:t>|Log Prob|:  </a:t>
            </a:r>
            <a:r>
              <a:rPr lang="en-US" sz="2400" b="1" dirty="0"/>
              <a:t>A probability-based confidence measure</a:t>
            </a:r>
          </a:p>
        </p:txBody>
      </p:sp>
      <p:sp>
        <p:nvSpPr>
          <p:cNvPr id="13" name="TextBox 12"/>
          <p:cNvSpPr txBox="1"/>
          <p:nvPr/>
        </p:nvSpPr>
        <p:spPr>
          <a:xfrm>
            <a:off x="1676400" y="1524001"/>
            <a:ext cx="8686800" cy="4524315"/>
          </a:xfrm>
          <a:prstGeom prst="rect">
            <a:avLst/>
          </a:prstGeom>
          <a:noFill/>
        </p:spPr>
        <p:txBody>
          <a:bodyPr wrap="square" rtlCol="0">
            <a:spAutoFit/>
          </a:bodyPr>
          <a:lstStyle/>
          <a:p>
            <a:endParaRPr lang="en-US" sz="2400" b="1" dirty="0">
              <a:solidFill>
                <a:srgbClr val="FFFF00"/>
              </a:solidFill>
            </a:endParaRPr>
          </a:p>
          <a:p>
            <a:pPr>
              <a:buFont typeface="Arial" pitchFamily="34" charset="0"/>
              <a:buChar char="•"/>
            </a:pPr>
            <a:r>
              <a:rPr lang="en-US" sz="2400" b="1" dirty="0"/>
              <a:t> Base the original distribution of hits on the top scoring </a:t>
            </a:r>
            <a:r>
              <a:rPr lang="en-US" sz="2400" b="1" u="sng" dirty="0"/>
              <a:t>proteins</a:t>
            </a:r>
            <a:r>
              <a:rPr lang="en-US" sz="2400" b="1" dirty="0"/>
              <a:t>.</a:t>
            </a:r>
          </a:p>
          <a:p>
            <a:pPr>
              <a:buFont typeface="Arial" pitchFamily="34" charset="0"/>
              <a:buChar char="•"/>
            </a:pPr>
            <a:endParaRPr lang="en-US" sz="2400" b="1" dirty="0">
              <a:solidFill>
                <a:srgbClr val="FFFF00"/>
              </a:solidFill>
            </a:endParaRPr>
          </a:p>
          <a:p>
            <a:pPr>
              <a:buFont typeface="Arial" pitchFamily="34" charset="0"/>
              <a:buChar char="•"/>
            </a:pPr>
            <a:r>
              <a:rPr lang="en-US" sz="2400" b="1" dirty="0"/>
              <a:t> Use these criteria to help refine the distribution:  </a:t>
            </a:r>
          </a:p>
          <a:p>
            <a:pPr lvl="1">
              <a:buFont typeface="Arial" pitchFamily="34" charset="0"/>
              <a:buChar char="•"/>
            </a:pPr>
            <a:r>
              <a:rPr lang="en-US" sz="2400" b="1" dirty="0"/>
              <a:t> </a:t>
            </a:r>
            <a:r>
              <a:rPr lang="en-US" sz="2400" b="1" dirty="0" err="1"/>
              <a:t>Byonic</a:t>
            </a:r>
            <a:r>
              <a:rPr lang="en-US" sz="2400" b="1" dirty="0"/>
              <a:t> Score</a:t>
            </a:r>
          </a:p>
          <a:p>
            <a:pPr lvl="1">
              <a:buFont typeface="Arial" pitchFamily="34" charset="0"/>
              <a:buChar char="•"/>
            </a:pPr>
            <a:r>
              <a:rPr lang="en-US" sz="2400" b="1" dirty="0"/>
              <a:t> Delta Score</a:t>
            </a:r>
          </a:p>
          <a:p>
            <a:pPr lvl="1">
              <a:buFont typeface="Arial" pitchFamily="34" charset="0"/>
              <a:buChar char="•"/>
            </a:pPr>
            <a:r>
              <a:rPr lang="en-US" sz="2400" b="1" dirty="0"/>
              <a:t> ppm precursor accuracy</a:t>
            </a:r>
          </a:p>
          <a:p>
            <a:pPr lvl="1">
              <a:buFont typeface="Arial" pitchFamily="34" charset="0"/>
              <a:buChar char="•"/>
            </a:pPr>
            <a:r>
              <a:rPr lang="en-US" sz="2400" b="1" dirty="0"/>
              <a:t> digestion specificity (if specified)</a:t>
            </a:r>
          </a:p>
          <a:p>
            <a:pPr lvl="1">
              <a:buFont typeface="Arial" pitchFamily="34" charset="0"/>
              <a:buChar char="•"/>
            </a:pPr>
            <a:r>
              <a:rPr lang="en-US" sz="2400" b="1" dirty="0"/>
              <a:t> “other proprietary variables”</a:t>
            </a:r>
          </a:p>
          <a:p>
            <a:endParaRPr lang="en-US" sz="2400" b="1" dirty="0">
              <a:solidFill>
                <a:srgbClr val="FFFF00"/>
              </a:solidFill>
            </a:endParaRPr>
          </a:p>
          <a:p>
            <a:pPr lvl="1">
              <a:buFont typeface="Arial" pitchFamily="34" charset="0"/>
              <a:buChar char="•"/>
            </a:pPr>
            <a:endParaRPr lang="en-US" sz="2400" b="1" dirty="0">
              <a:solidFill>
                <a:srgbClr val="FFFF00"/>
              </a:solidFill>
            </a:endParaRPr>
          </a:p>
          <a:p>
            <a:endParaRPr lang="en-US" sz="2400" b="1" dirty="0">
              <a:solidFill>
                <a:srgbClr val="FFFF00"/>
              </a:solidFill>
            </a:endParaRPr>
          </a:p>
        </p:txBody>
      </p:sp>
    </p:spTree>
    <p:extLst>
      <p:ext uri="{BB962C8B-B14F-4D97-AF65-F5344CB8AC3E}">
        <p14:creationId xmlns:p14="http://schemas.microsoft.com/office/powerpoint/2010/main" val="1045415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25233" y="1676401"/>
            <a:ext cx="6341534" cy="830997"/>
          </a:xfrm>
          <a:prstGeom prst="rect">
            <a:avLst/>
          </a:prstGeom>
          <a:noFill/>
        </p:spPr>
        <p:txBody>
          <a:bodyPr wrap="square" rtlCol="0">
            <a:spAutoFit/>
          </a:bodyPr>
          <a:lstStyle/>
          <a:p>
            <a:endParaRPr lang="en-US" sz="2400" b="1" dirty="0">
              <a:solidFill>
                <a:srgbClr val="FFFF00"/>
              </a:solidFill>
            </a:endParaRPr>
          </a:p>
          <a:p>
            <a:pPr marL="342900" indent="-342900">
              <a:buFont typeface="Arial" panose="020B0604020202020204" pitchFamily="34" charset="0"/>
              <a:buChar char="•"/>
            </a:pPr>
            <a:endParaRPr lang="en-US" sz="2400" b="1" dirty="0">
              <a:solidFill>
                <a:srgbClr val="FFFF00"/>
              </a:solidFill>
            </a:endParaRPr>
          </a:p>
        </p:txBody>
      </p:sp>
      <p:sp>
        <p:nvSpPr>
          <p:cNvPr id="4" name="TextBox 3"/>
          <p:cNvSpPr txBox="1"/>
          <p:nvPr/>
        </p:nvSpPr>
        <p:spPr>
          <a:xfrm>
            <a:off x="2573867" y="30480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Peptide Scoring</a:t>
            </a:r>
          </a:p>
        </p:txBody>
      </p:sp>
      <p:sp>
        <p:nvSpPr>
          <p:cNvPr id="5" name="TextBox 4"/>
          <p:cNvSpPr txBox="1"/>
          <p:nvPr/>
        </p:nvSpPr>
        <p:spPr>
          <a:xfrm>
            <a:off x="2415117" y="990600"/>
            <a:ext cx="7361766" cy="523220"/>
          </a:xfrm>
          <a:prstGeom prst="rect">
            <a:avLst/>
          </a:prstGeom>
          <a:noFill/>
        </p:spPr>
        <p:txBody>
          <a:bodyPr wrap="square" rtlCol="0">
            <a:spAutoFit/>
          </a:bodyPr>
          <a:lstStyle/>
          <a:p>
            <a:pPr algn="ctr"/>
            <a:r>
              <a:rPr lang="en-US" sz="2800" b="1" dirty="0"/>
              <a:t>|Log Prob|:  </a:t>
            </a:r>
            <a:r>
              <a:rPr lang="en-US" sz="2400" b="1" dirty="0"/>
              <a:t>A probability-based confidence measure</a:t>
            </a:r>
          </a:p>
        </p:txBody>
      </p:sp>
      <p:sp>
        <p:nvSpPr>
          <p:cNvPr id="6" name="TextBox 5"/>
          <p:cNvSpPr txBox="1"/>
          <p:nvPr/>
        </p:nvSpPr>
        <p:spPr>
          <a:xfrm>
            <a:off x="2247900" y="1676400"/>
            <a:ext cx="7696200" cy="4154984"/>
          </a:xfrm>
          <a:prstGeom prst="rect">
            <a:avLst/>
          </a:prstGeom>
          <a:noFill/>
        </p:spPr>
        <p:txBody>
          <a:bodyPr wrap="square" rtlCol="0">
            <a:spAutoFit/>
          </a:bodyPr>
          <a:lstStyle/>
          <a:p>
            <a:r>
              <a:rPr lang="en-US" sz="2400" b="1" dirty="0"/>
              <a:t>So, in the end…    What is |Log </a:t>
            </a:r>
            <a:r>
              <a:rPr lang="en-US" sz="2400" b="1" dirty="0" err="1"/>
              <a:t>Prob</a:t>
            </a:r>
            <a:r>
              <a:rPr lang="en-US" sz="2400" b="1" dirty="0"/>
              <a:t>|?</a:t>
            </a:r>
          </a:p>
          <a:p>
            <a:endParaRPr lang="en-US" sz="2400" b="1" dirty="0"/>
          </a:p>
          <a:p>
            <a:r>
              <a:rPr lang="en-US" sz="3200" b="1" dirty="0">
                <a:solidFill>
                  <a:srgbClr val="0070C0"/>
                </a:solidFill>
              </a:rPr>
              <a:t>How confident is the algorithm that the hit is not a false positive match?</a:t>
            </a:r>
          </a:p>
          <a:p>
            <a:pPr lvl="1"/>
            <a:endParaRPr lang="en-US" sz="2400" b="1" dirty="0"/>
          </a:p>
          <a:p>
            <a:pPr lvl="1"/>
            <a:endParaRPr lang="en-US" sz="2400" b="1" dirty="0"/>
          </a:p>
          <a:p>
            <a:pPr marL="342900" indent="-342900">
              <a:buFont typeface="Arial" panose="020B0604020202020204" pitchFamily="34" charset="0"/>
              <a:buChar char="•"/>
            </a:pPr>
            <a:r>
              <a:rPr lang="en-US" sz="2400" b="1" dirty="0"/>
              <a:t>Higher scores are better</a:t>
            </a:r>
          </a:p>
          <a:p>
            <a:pPr lvl="1"/>
            <a:endParaRPr lang="en-US" sz="2400" b="1" dirty="0"/>
          </a:p>
          <a:p>
            <a:pPr>
              <a:buFont typeface="Arial" pitchFamily="34" charset="0"/>
              <a:buChar char="•"/>
            </a:pPr>
            <a:r>
              <a:rPr lang="en-US" sz="2400" b="1" dirty="0"/>
              <a:t>   Does not address misplaced modifications</a:t>
            </a:r>
          </a:p>
          <a:p>
            <a:endParaRPr lang="en-US" sz="3200" b="1" dirty="0">
              <a:solidFill>
                <a:schemeClr val="bg1"/>
              </a:solidFill>
            </a:endParaRPr>
          </a:p>
        </p:txBody>
      </p:sp>
    </p:spTree>
    <p:extLst>
      <p:ext uri="{BB962C8B-B14F-4D97-AF65-F5344CB8AC3E}">
        <p14:creationId xmlns:p14="http://schemas.microsoft.com/office/powerpoint/2010/main" val="2576611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1714500" y="304800"/>
            <a:ext cx="8763000" cy="707886"/>
          </a:xfrm>
          <a:prstGeom prst="rect">
            <a:avLst/>
          </a:prstGeom>
          <a:noFill/>
        </p:spPr>
        <p:txBody>
          <a:bodyPr wrap="square" rtlCol="0">
            <a:spAutoFit/>
          </a:bodyPr>
          <a:lstStyle/>
          <a:p>
            <a:pPr algn="ctr" eaLnBrk="0" fontAlgn="base" hangingPunct="0">
              <a:spcBef>
                <a:spcPct val="0"/>
              </a:spcBef>
              <a:spcAft>
                <a:spcPct val="0"/>
              </a:spcAft>
            </a:pPr>
            <a:r>
              <a:rPr lang="en-US" sz="4000" dirty="0"/>
              <a:t>How do we interpret |Log </a:t>
            </a:r>
            <a:r>
              <a:rPr lang="en-US" sz="4000" dirty="0" err="1"/>
              <a:t>Prob</a:t>
            </a:r>
            <a:r>
              <a:rPr lang="en-US" sz="4000" dirty="0"/>
              <a:t>|?</a:t>
            </a:r>
          </a:p>
        </p:txBody>
      </p:sp>
      <p:sp>
        <p:nvSpPr>
          <p:cNvPr id="4" name="TextBox 3"/>
          <p:cNvSpPr txBox="1"/>
          <p:nvPr/>
        </p:nvSpPr>
        <p:spPr>
          <a:xfrm>
            <a:off x="2133600" y="2644170"/>
            <a:ext cx="7924800" cy="1569660"/>
          </a:xfrm>
          <a:prstGeom prst="rect">
            <a:avLst/>
          </a:prstGeom>
          <a:noFill/>
          <a:ln w="19050">
            <a:solidFill>
              <a:srgbClr val="92D050"/>
            </a:solidFill>
          </a:ln>
        </p:spPr>
        <p:txBody>
          <a:bodyPr wrap="square" rtlCol="0">
            <a:spAutoFit/>
          </a:bodyPr>
          <a:lstStyle/>
          <a:p>
            <a:r>
              <a:rPr lang="en-US" sz="2400" b="1" dirty="0"/>
              <a:t>In general:</a:t>
            </a:r>
          </a:p>
          <a:p>
            <a:endParaRPr lang="en-US" sz="2400" b="1" dirty="0"/>
          </a:p>
          <a:p>
            <a:r>
              <a:rPr lang="en-US" sz="2400" b="1" dirty="0"/>
              <a:t>|Log </a:t>
            </a:r>
            <a:r>
              <a:rPr lang="en-US" sz="2400" b="1" dirty="0" err="1"/>
              <a:t>Prob</a:t>
            </a:r>
            <a:r>
              <a:rPr lang="en-US" sz="2400" b="1" dirty="0"/>
              <a:t>| = 3.0 means that this hit should happen by chance on only 1/1000 spectra. </a:t>
            </a:r>
          </a:p>
        </p:txBody>
      </p:sp>
      <p:sp>
        <p:nvSpPr>
          <p:cNvPr id="6" name="TextBox 5"/>
          <p:cNvSpPr txBox="1"/>
          <p:nvPr/>
        </p:nvSpPr>
        <p:spPr>
          <a:xfrm>
            <a:off x="2209800" y="1447800"/>
            <a:ext cx="7772400" cy="523220"/>
          </a:xfrm>
          <a:prstGeom prst="rect">
            <a:avLst/>
          </a:prstGeom>
          <a:noFill/>
        </p:spPr>
        <p:txBody>
          <a:bodyPr wrap="square" rtlCol="0">
            <a:spAutoFit/>
          </a:bodyPr>
          <a:lstStyle/>
          <a:p>
            <a:r>
              <a:rPr lang="en-US" sz="2800" dirty="0"/>
              <a:t>Take this value with “a certain degree of skepticism”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56223" y="390226"/>
            <a:ext cx="7679553" cy="1261884"/>
          </a:xfrm>
          <a:prstGeom prst="rect">
            <a:avLst/>
          </a:prstGeom>
          <a:noFill/>
        </p:spPr>
        <p:txBody>
          <a:bodyPr wrap="square" rtlCol="0">
            <a:spAutoFit/>
          </a:bodyPr>
          <a:lstStyle/>
          <a:p>
            <a:pPr algn="ctr" eaLnBrk="0" fontAlgn="base" hangingPunct="0">
              <a:spcBef>
                <a:spcPct val="0"/>
              </a:spcBef>
              <a:spcAft>
                <a:spcPct val="0"/>
              </a:spcAft>
            </a:pPr>
            <a:r>
              <a:rPr lang="en-US" sz="4000" dirty="0"/>
              <a:t>Data Analysis</a:t>
            </a:r>
          </a:p>
          <a:p>
            <a:pPr algn="ctr" eaLnBrk="0" fontAlgn="base" hangingPunct="0">
              <a:spcBef>
                <a:spcPct val="0"/>
              </a:spcBef>
              <a:spcAft>
                <a:spcPct val="0"/>
              </a:spcAft>
            </a:pPr>
            <a:r>
              <a:rPr lang="en-US" sz="3600" dirty="0"/>
              <a:t>Current </a:t>
            </a:r>
            <a:r>
              <a:rPr lang="en-US" sz="3600" dirty="0" err="1"/>
              <a:t>Byonic</a:t>
            </a:r>
            <a:r>
              <a:rPr lang="en-US" sz="3600" dirty="0"/>
              <a:t> Filtering Criteria</a:t>
            </a:r>
          </a:p>
        </p:txBody>
      </p:sp>
      <p:sp>
        <p:nvSpPr>
          <p:cNvPr id="3" name="TextBox 2">
            <a:extLst>
              <a:ext uri="{FF2B5EF4-FFF2-40B4-BE49-F238E27FC236}">
                <a16:creationId xmlns:a16="http://schemas.microsoft.com/office/drawing/2014/main" id="{5C326F4B-2BCB-4221-8556-11CB5941C882}"/>
              </a:ext>
            </a:extLst>
          </p:cNvPr>
          <p:cNvSpPr txBox="1"/>
          <p:nvPr/>
        </p:nvSpPr>
        <p:spPr>
          <a:xfrm>
            <a:off x="3905419" y="2243842"/>
            <a:ext cx="6083247" cy="3416320"/>
          </a:xfrm>
          <a:prstGeom prst="rect">
            <a:avLst/>
          </a:prstGeom>
          <a:noFill/>
        </p:spPr>
        <p:txBody>
          <a:bodyPr wrap="square" rtlCol="0">
            <a:spAutoFit/>
          </a:bodyPr>
          <a:lstStyle/>
          <a:p>
            <a:r>
              <a:rPr lang="en-US" sz="2400" dirty="0"/>
              <a:t>Our usual filters:</a:t>
            </a:r>
          </a:p>
          <a:p>
            <a:pPr marL="342900" indent="-342900">
              <a:buFont typeface="Wingdings" panose="05000000000000000000" pitchFamily="2" charset="2"/>
              <a:buChar char="ü"/>
            </a:pPr>
            <a:r>
              <a:rPr lang="en-US" sz="2400" dirty="0" err="1"/>
              <a:t>Byonic</a:t>
            </a:r>
            <a:r>
              <a:rPr lang="en-US" sz="2400" dirty="0"/>
              <a:t> Score &gt;= 300</a:t>
            </a:r>
          </a:p>
          <a:p>
            <a:pPr marL="342900" indent="-342900">
              <a:buFont typeface="Wingdings" panose="05000000000000000000" pitchFamily="2" charset="2"/>
              <a:buChar char="ü"/>
            </a:pPr>
            <a:r>
              <a:rPr lang="en-US" sz="2400" dirty="0"/>
              <a:t>Precursor Mass Tolerance &lt;= |5| ppm</a:t>
            </a:r>
          </a:p>
          <a:p>
            <a:pPr marL="342900" indent="-342900">
              <a:buFont typeface="Wingdings" panose="05000000000000000000" pitchFamily="2" charset="2"/>
              <a:buChar char="ü"/>
            </a:pPr>
            <a:r>
              <a:rPr lang="en-US" sz="2400" dirty="0"/>
              <a:t>Minimum Peptide Length &gt;= 6</a:t>
            </a:r>
          </a:p>
          <a:p>
            <a:endParaRPr lang="en-US" sz="2400" dirty="0">
              <a:highlight>
                <a:srgbClr val="FFFF00"/>
              </a:highlight>
            </a:endParaRPr>
          </a:p>
          <a:p>
            <a:r>
              <a:rPr lang="en-US" sz="2400" dirty="0"/>
              <a:t>Additionally, in the </a:t>
            </a:r>
            <a:r>
              <a:rPr lang="en-US" sz="2400" dirty="0" err="1"/>
              <a:t>HsuperSearch</a:t>
            </a:r>
            <a:r>
              <a:rPr lang="en-US" sz="2400" dirty="0"/>
              <a:t> repository:</a:t>
            </a:r>
          </a:p>
          <a:p>
            <a:pPr marL="342900" indent="-342900">
              <a:buFont typeface="Wingdings" panose="05000000000000000000" pitchFamily="2" charset="2"/>
              <a:buChar char="ü"/>
            </a:pPr>
            <a:r>
              <a:rPr lang="en-US" sz="2400" dirty="0"/>
              <a:t>Delta &gt;= 25</a:t>
            </a:r>
          </a:p>
          <a:p>
            <a:pPr marL="342900" indent="-342900">
              <a:buFont typeface="Wingdings" panose="05000000000000000000" pitchFamily="2" charset="2"/>
              <a:buChar char="ü"/>
            </a:pPr>
            <a:r>
              <a:rPr lang="en-US" sz="2400" dirty="0" err="1"/>
              <a:t>DeltaMod</a:t>
            </a:r>
            <a:r>
              <a:rPr lang="en-US" sz="2400" dirty="0"/>
              <a:t> &gt;=20</a:t>
            </a:r>
          </a:p>
          <a:p>
            <a:pPr marL="342900" indent="-342900">
              <a:buFont typeface="Wingdings" panose="05000000000000000000" pitchFamily="2" charset="2"/>
              <a:buChar char="ü"/>
            </a:pPr>
            <a:r>
              <a:rPr lang="en-US" sz="2400" dirty="0" err="1"/>
              <a:t>LogProb</a:t>
            </a:r>
            <a:r>
              <a:rPr lang="en-US" sz="2400" dirty="0"/>
              <a:t> &gt;= 3.00</a:t>
            </a:r>
          </a:p>
        </p:txBody>
      </p:sp>
    </p:spTree>
    <p:extLst>
      <p:ext uri="{BB962C8B-B14F-4D97-AF65-F5344CB8AC3E}">
        <p14:creationId xmlns:p14="http://schemas.microsoft.com/office/powerpoint/2010/main" val="3485278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09800" y="1752601"/>
            <a:ext cx="7772400" cy="2246769"/>
          </a:xfrm>
          <a:prstGeom prst="rect">
            <a:avLst/>
          </a:prstGeom>
          <a:noFill/>
        </p:spPr>
        <p:txBody>
          <a:bodyPr wrap="square" rtlCol="0">
            <a:spAutoFit/>
          </a:bodyPr>
          <a:lstStyle/>
          <a:p>
            <a:pPr marL="285750" indent="-285750">
              <a:buFont typeface="Arial" panose="020B0604020202020204" pitchFamily="34" charset="0"/>
              <a:buChar char="•"/>
            </a:pPr>
            <a:r>
              <a:rPr lang="en-US" sz="2800" b="1" dirty="0"/>
              <a:t>The </a:t>
            </a:r>
            <a:r>
              <a:rPr lang="en-US" sz="2800" b="1" dirty="0" err="1"/>
              <a:t>Byonic</a:t>
            </a:r>
            <a:r>
              <a:rPr lang="en-US" sz="2800" b="1" dirty="0"/>
              <a:t> Search Algorithm and Scoring</a:t>
            </a:r>
          </a:p>
          <a:p>
            <a:pPr marL="285750" indent="-285750">
              <a:buFont typeface="Arial" panose="020B0604020202020204" pitchFamily="34" charset="0"/>
              <a:buChar char="•"/>
            </a:pPr>
            <a:endParaRPr lang="en-US" sz="2800" b="1" dirty="0"/>
          </a:p>
          <a:p>
            <a:pPr marL="285750" indent="-285750">
              <a:buFont typeface="Arial" panose="020B0604020202020204" pitchFamily="34" charset="0"/>
              <a:buChar char="•"/>
            </a:pPr>
            <a:r>
              <a:rPr lang="en-US" sz="2800" b="1" dirty="0">
                <a:solidFill>
                  <a:srgbClr val="0070C0"/>
                </a:solidFill>
              </a:rPr>
              <a:t>Features and Parameters for Searching</a:t>
            </a:r>
          </a:p>
          <a:p>
            <a:pPr marL="285750" indent="-285750">
              <a:buFont typeface="Arial" panose="020B0604020202020204" pitchFamily="34" charset="0"/>
              <a:buChar char="•"/>
            </a:pPr>
            <a:endParaRPr lang="en-US" sz="2800" b="1" dirty="0"/>
          </a:p>
          <a:p>
            <a:pPr marL="285750" indent="-285750">
              <a:buFont typeface="Arial" panose="020B0604020202020204" pitchFamily="34" charset="0"/>
              <a:buChar char="•"/>
            </a:pPr>
            <a:r>
              <a:rPr lang="en-US" sz="2800" b="1" dirty="0"/>
              <a:t>Future Directions for Peptide Identification</a:t>
            </a:r>
          </a:p>
        </p:txBody>
      </p:sp>
      <p:sp>
        <p:nvSpPr>
          <p:cNvPr id="4" name="TextBox 3"/>
          <p:cNvSpPr txBox="1"/>
          <p:nvPr/>
        </p:nvSpPr>
        <p:spPr>
          <a:xfrm>
            <a:off x="2209800" y="730046"/>
            <a:ext cx="4191000" cy="584775"/>
          </a:xfrm>
          <a:prstGeom prst="rect">
            <a:avLst/>
          </a:prstGeom>
          <a:noFill/>
        </p:spPr>
        <p:txBody>
          <a:bodyPr wrap="square" rtlCol="0">
            <a:spAutoFit/>
          </a:bodyPr>
          <a:lstStyle/>
          <a:p>
            <a:r>
              <a:rPr lang="en-US" sz="3200" b="1" dirty="0"/>
              <a:t>Remember the Plan:</a:t>
            </a:r>
          </a:p>
        </p:txBody>
      </p:sp>
    </p:spTree>
    <p:extLst>
      <p:ext uri="{BB962C8B-B14F-4D97-AF65-F5344CB8AC3E}">
        <p14:creationId xmlns:p14="http://schemas.microsoft.com/office/powerpoint/2010/main" val="221233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 text, application, email&#10;&#10;Description automatically generated">
            <a:extLst>
              <a:ext uri="{FF2B5EF4-FFF2-40B4-BE49-F238E27FC236}">
                <a16:creationId xmlns:a16="http://schemas.microsoft.com/office/drawing/2014/main" id="{C52FDA45-1E32-647E-4D4A-9D57A9AA5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636" y="155245"/>
            <a:ext cx="9666728" cy="6426632"/>
          </a:xfrm>
          <a:prstGeom prst="rect">
            <a:avLst/>
          </a:prstGeom>
        </p:spPr>
      </p:pic>
      <p:sp>
        <p:nvSpPr>
          <p:cNvPr id="4" name="Oval 3">
            <a:extLst>
              <a:ext uri="{FF2B5EF4-FFF2-40B4-BE49-F238E27FC236}">
                <a16:creationId xmlns:a16="http://schemas.microsoft.com/office/drawing/2014/main" id="{7D37F668-6AF3-6157-B1BE-9D32D90DDE41}"/>
              </a:ext>
            </a:extLst>
          </p:cNvPr>
          <p:cNvSpPr/>
          <p:nvPr/>
        </p:nvSpPr>
        <p:spPr bwMode="auto">
          <a:xfrm>
            <a:off x="3598214" y="1280860"/>
            <a:ext cx="1143000" cy="457200"/>
          </a:xfrm>
          <a:prstGeom prst="ellipse">
            <a:avLst/>
          </a:prstGeom>
          <a:noFill/>
          <a:ln w="603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sp>
        <p:nvSpPr>
          <p:cNvPr id="5" name="TextBox 4">
            <a:extLst>
              <a:ext uri="{FF2B5EF4-FFF2-40B4-BE49-F238E27FC236}">
                <a16:creationId xmlns:a16="http://schemas.microsoft.com/office/drawing/2014/main" id="{16E80EE6-B0AD-AD4C-58ED-D1B5F488E99E}"/>
              </a:ext>
            </a:extLst>
          </p:cNvPr>
          <p:cNvSpPr txBox="1"/>
          <p:nvPr/>
        </p:nvSpPr>
        <p:spPr>
          <a:xfrm>
            <a:off x="2615182" y="1913199"/>
            <a:ext cx="9239027" cy="2246769"/>
          </a:xfrm>
          <a:prstGeom prst="rect">
            <a:avLst/>
          </a:prstGeom>
          <a:solidFill>
            <a:schemeClr val="accent6"/>
          </a:solidFill>
        </p:spPr>
        <p:txBody>
          <a:bodyPr wrap="square" rtlCol="0">
            <a:spAutoFit/>
          </a:bodyPr>
          <a:lstStyle/>
          <a:p>
            <a:r>
              <a:rPr lang="en-US" sz="2400" b="1" dirty="0">
                <a:solidFill>
                  <a:schemeClr val="bg1"/>
                </a:solidFill>
              </a:rPr>
              <a:t>Reversed entries are simple reversals of each peptide:</a:t>
            </a:r>
          </a:p>
          <a:p>
            <a:endParaRPr lang="en-US" sz="2400" b="1" dirty="0">
              <a:solidFill>
                <a:schemeClr val="bg1"/>
              </a:solidFill>
            </a:endParaRPr>
          </a:p>
          <a:p>
            <a:r>
              <a:rPr lang="en-US" b="1" dirty="0">
                <a:solidFill>
                  <a:schemeClr val="bg1"/>
                </a:solidFill>
              </a:rPr>
              <a:t>&gt;sp|P03086|AGNO_POVJC Agnoprotein OS=JC polyomavirus OX=10632 PE=1SV=1</a:t>
            </a:r>
          </a:p>
          <a:p>
            <a:r>
              <a:rPr lang="en-US" b="1" dirty="0">
                <a:solidFill>
                  <a:schemeClr val="bg1"/>
                </a:solidFill>
              </a:rPr>
              <a:t>MVLRQLSRKASVKVSKTWSGTKKAQRILIFLLEFLLDFCTGEDSVDGKKRQRHSGLTEQTYSALPEPKAT</a:t>
            </a:r>
          </a:p>
          <a:p>
            <a:endParaRPr lang="en-US" sz="2000" b="1" dirty="0">
              <a:solidFill>
                <a:schemeClr val="bg1"/>
              </a:solidFill>
            </a:endParaRPr>
          </a:p>
          <a:p>
            <a:r>
              <a:rPr lang="en-US" b="1" dirty="0">
                <a:solidFill>
                  <a:schemeClr val="bg1"/>
                </a:solidFill>
              </a:rPr>
              <a:t>&gt;sp|P03086 REVERSE|AGNO_POVJC Agnoprotein OS=JC polyomavirus OX=10632 PE=1SV=1</a:t>
            </a:r>
          </a:p>
          <a:p>
            <a:r>
              <a:rPr lang="en-US" b="1" dirty="0">
                <a:solidFill>
                  <a:schemeClr val="bg1"/>
                </a:solidFill>
              </a:rPr>
              <a:t>TAKPEPLASYTQETLGSHRQRKKGDVSDEGTCFDLLFELLFILIRQARKKTGSWTKSVKVSAKRSLQRLVM</a:t>
            </a:r>
          </a:p>
        </p:txBody>
      </p:sp>
    </p:spTree>
    <p:extLst>
      <p:ext uri="{BB962C8B-B14F-4D97-AF65-F5344CB8AC3E}">
        <p14:creationId xmlns:p14="http://schemas.microsoft.com/office/powerpoint/2010/main" val="2181438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text, application, email&#10;&#10;Description automatically generated">
            <a:extLst>
              <a:ext uri="{FF2B5EF4-FFF2-40B4-BE49-F238E27FC236}">
                <a16:creationId xmlns:a16="http://schemas.microsoft.com/office/drawing/2014/main" id="{EB822A77-30E6-5FCA-E5AA-70FAD929B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636" y="155245"/>
            <a:ext cx="9666728" cy="6426632"/>
          </a:xfrm>
          <a:prstGeom prst="rect">
            <a:avLst/>
          </a:prstGeom>
        </p:spPr>
      </p:pic>
      <p:sp>
        <p:nvSpPr>
          <p:cNvPr id="3" name="Oval 2">
            <a:extLst>
              <a:ext uri="{FF2B5EF4-FFF2-40B4-BE49-F238E27FC236}">
                <a16:creationId xmlns:a16="http://schemas.microsoft.com/office/drawing/2014/main" id="{589B78C2-C437-FE5A-63A5-C4F1B02A8770}"/>
              </a:ext>
            </a:extLst>
          </p:cNvPr>
          <p:cNvSpPr/>
          <p:nvPr/>
        </p:nvSpPr>
        <p:spPr bwMode="auto">
          <a:xfrm>
            <a:off x="4428011" y="1241192"/>
            <a:ext cx="2057400" cy="533400"/>
          </a:xfrm>
          <a:prstGeom prst="ellipse">
            <a:avLst/>
          </a:prstGeom>
          <a:noFill/>
          <a:ln w="635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sp>
        <p:nvSpPr>
          <p:cNvPr id="4" name="TextBox 3">
            <a:extLst>
              <a:ext uri="{FF2B5EF4-FFF2-40B4-BE49-F238E27FC236}">
                <a16:creationId xmlns:a16="http://schemas.microsoft.com/office/drawing/2014/main" id="{E934E0B4-68FF-45E4-9C29-42FCFC517356}"/>
              </a:ext>
            </a:extLst>
          </p:cNvPr>
          <p:cNvSpPr txBox="1"/>
          <p:nvPr/>
        </p:nvSpPr>
        <p:spPr>
          <a:xfrm>
            <a:off x="3625268" y="1956479"/>
            <a:ext cx="8099850" cy="1569660"/>
          </a:xfrm>
          <a:prstGeom prst="rect">
            <a:avLst/>
          </a:prstGeom>
          <a:solidFill>
            <a:schemeClr val="accent6"/>
          </a:solidFill>
        </p:spPr>
        <p:txBody>
          <a:bodyPr wrap="square" rtlCol="0">
            <a:spAutoFit/>
          </a:bodyPr>
          <a:lstStyle/>
          <a:p>
            <a:r>
              <a:rPr lang="en-US" b="1" dirty="0">
                <a:solidFill>
                  <a:schemeClr val="bg1"/>
                </a:solidFill>
              </a:rPr>
              <a:t>Modified version of the </a:t>
            </a:r>
            <a:r>
              <a:rPr lang="en-US" b="1" dirty="0" err="1">
                <a:solidFill>
                  <a:schemeClr val="bg1"/>
                </a:solidFill>
              </a:rPr>
              <a:t>cRAP</a:t>
            </a:r>
            <a:r>
              <a:rPr lang="en-US" b="1" dirty="0">
                <a:solidFill>
                  <a:schemeClr val="bg1"/>
                </a:solidFill>
              </a:rPr>
              <a:t> database</a:t>
            </a:r>
          </a:p>
          <a:p>
            <a:endParaRPr lang="en-US" sz="2400" b="1" dirty="0">
              <a:solidFill>
                <a:schemeClr val="bg1"/>
              </a:solidFill>
            </a:endParaRPr>
          </a:p>
          <a:p>
            <a:r>
              <a:rPr lang="en-US" b="1" dirty="0" err="1">
                <a:solidFill>
                  <a:schemeClr val="bg1"/>
                </a:solidFill>
              </a:rPr>
              <a:t>cRAP</a:t>
            </a:r>
            <a:r>
              <a:rPr lang="en-US" b="1" dirty="0">
                <a:solidFill>
                  <a:schemeClr val="bg1"/>
                </a:solidFill>
              </a:rPr>
              <a:t> is the Contaminant Repository for Affinity Purification (</a:t>
            </a:r>
            <a:r>
              <a:rPr lang="en-US" b="1" dirty="0">
                <a:solidFill>
                  <a:schemeClr val="bg1"/>
                </a:solidFill>
                <a:hlinkClick r:id="rId3"/>
              </a:rPr>
              <a:t>www.crapome.org</a:t>
            </a:r>
            <a:r>
              <a:rPr lang="en-US" b="1" dirty="0">
                <a:solidFill>
                  <a:schemeClr val="bg1"/>
                </a:solidFill>
              </a:rPr>
              <a:t>)</a:t>
            </a:r>
          </a:p>
          <a:p>
            <a:endParaRPr lang="en-US" b="1" dirty="0">
              <a:solidFill>
                <a:schemeClr val="bg1"/>
              </a:solidFill>
            </a:endParaRPr>
          </a:p>
          <a:p>
            <a:r>
              <a:rPr lang="en-US" b="1" dirty="0">
                <a:solidFill>
                  <a:schemeClr val="bg1"/>
                </a:solidFill>
              </a:rPr>
              <a:t>Can be user modified.  Add your own entries or edit/delete existing entries.</a:t>
            </a:r>
          </a:p>
        </p:txBody>
      </p:sp>
    </p:spTree>
    <p:extLst>
      <p:ext uri="{BB962C8B-B14F-4D97-AF65-F5344CB8AC3E}">
        <p14:creationId xmlns:p14="http://schemas.microsoft.com/office/powerpoint/2010/main" val="24328155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text, application, email&#10;&#10;Description automatically generated">
            <a:extLst>
              <a:ext uri="{FF2B5EF4-FFF2-40B4-BE49-F238E27FC236}">
                <a16:creationId xmlns:a16="http://schemas.microsoft.com/office/drawing/2014/main" id="{EB822A77-30E6-5FCA-E5AA-70FAD929B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636" y="155448"/>
            <a:ext cx="9666728" cy="6426632"/>
          </a:xfrm>
          <a:prstGeom prst="rect">
            <a:avLst/>
          </a:prstGeom>
        </p:spPr>
      </p:pic>
      <p:sp>
        <p:nvSpPr>
          <p:cNvPr id="3" name="Rectangle 2">
            <a:extLst>
              <a:ext uri="{FF2B5EF4-FFF2-40B4-BE49-F238E27FC236}">
                <a16:creationId xmlns:a16="http://schemas.microsoft.com/office/drawing/2014/main" id="{875C03E4-FCAF-5B22-8C2B-632F7C4A64DD}"/>
              </a:ext>
            </a:extLst>
          </p:cNvPr>
          <p:cNvSpPr/>
          <p:nvPr/>
        </p:nvSpPr>
        <p:spPr>
          <a:xfrm>
            <a:off x="5539722" y="1768510"/>
            <a:ext cx="5252207" cy="286603"/>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21DD9246-8C99-7854-1B52-CB75DFE0E01B}"/>
              </a:ext>
            </a:extLst>
          </p:cNvPr>
          <p:cNvSpPr txBox="1"/>
          <p:nvPr/>
        </p:nvSpPr>
        <p:spPr>
          <a:xfrm>
            <a:off x="5692780" y="2168232"/>
            <a:ext cx="5671906" cy="1200329"/>
          </a:xfrm>
          <a:prstGeom prst="rect">
            <a:avLst/>
          </a:prstGeom>
          <a:solidFill>
            <a:schemeClr val="accent6"/>
          </a:solidFill>
        </p:spPr>
        <p:txBody>
          <a:bodyPr wrap="square" rtlCol="0">
            <a:spAutoFit/>
          </a:bodyPr>
          <a:lstStyle/>
          <a:p>
            <a:r>
              <a:rPr lang="en-US" b="1" dirty="0">
                <a:solidFill>
                  <a:schemeClr val="bg1"/>
                </a:solidFill>
              </a:rPr>
              <a:t>[spec] = raw file name  (We usually include this)</a:t>
            </a:r>
          </a:p>
          <a:p>
            <a:r>
              <a:rPr lang="en-US" b="1" dirty="0">
                <a:solidFill>
                  <a:schemeClr val="bg1"/>
                </a:solidFill>
              </a:rPr>
              <a:t>[</a:t>
            </a:r>
            <a:r>
              <a:rPr lang="en-US" b="1" dirty="0" err="1">
                <a:solidFill>
                  <a:schemeClr val="bg1"/>
                </a:solidFill>
              </a:rPr>
              <a:t>fasta</a:t>
            </a:r>
            <a:r>
              <a:rPr lang="en-US" b="1" dirty="0">
                <a:solidFill>
                  <a:schemeClr val="bg1"/>
                </a:solidFill>
              </a:rPr>
              <a:t>] = name of the database </a:t>
            </a:r>
            <a:r>
              <a:rPr lang="en-US" b="1" dirty="0" err="1">
                <a:solidFill>
                  <a:schemeClr val="bg1"/>
                </a:solidFill>
              </a:rPr>
              <a:t>fasta</a:t>
            </a:r>
            <a:r>
              <a:rPr lang="en-US" b="1" dirty="0">
                <a:solidFill>
                  <a:schemeClr val="bg1"/>
                </a:solidFill>
              </a:rPr>
              <a:t> file</a:t>
            </a:r>
          </a:p>
          <a:p>
            <a:r>
              <a:rPr lang="en-US" b="1" dirty="0">
                <a:solidFill>
                  <a:schemeClr val="bg1"/>
                </a:solidFill>
              </a:rPr>
              <a:t>[date] = date of the search</a:t>
            </a:r>
          </a:p>
          <a:p>
            <a:r>
              <a:rPr lang="en-US" b="1" dirty="0">
                <a:solidFill>
                  <a:schemeClr val="bg1"/>
                </a:solidFill>
              </a:rPr>
              <a:t>[time] = time of the search</a:t>
            </a:r>
          </a:p>
        </p:txBody>
      </p:sp>
    </p:spTree>
    <p:extLst>
      <p:ext uri="{BB962C8B-B14F-4D97-AF65-F5344CB8AC3E}">
        <p14:creationId xmlns:p14="http://schemas.microsoft.com/office/powerpoint/2010/main" val="3849057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text, application, email&#10;&#10;Description automatically generated">
            <a:extLst>
              <a:ext uri="{FF2B5EF4-FFF2-40B4-BE49-F238E27FC236}">
                <a16:creationId xmlns:a16="http://schemas.microsoft.com/office/drawing/2014/main" id="{EB822A77-30E6-5FCA-E5AA-70FAD929B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636" y="155245"/>
            <a:ext cx="9666728" cy="6426632"/>
          </a:xfrm>
          <a:prstGeom prst="rect">
            <a:avLst/>
          </a:prstGeom>
        </p:spPr>
      </p:pic>
      <p:sp>
        <p:nvSpPr>
          <p:cNvPr id="3" name="Rectangle 2">
            <a:extLst>
              <a:ext uri="{FF2B5EF4-FFF2-40B4-BE49-F238E27FC236}">
                <a16:creationId xmlns:a16="http://schemas.microsoft.com/office/drawing/2014/main" id="{875C03E4-FCAF-5B22-8C2B-632F7C4A64DD}"/>
              </a:ext>
            </a:extLst>
          </p:cNvPr>
          <p:cNvSpPr/>
          <p:nvPr/>
        </p:nvSpPr>
        <p:spPr>
          <a:xfrm>
            <a:off x="1560576" y="2606219"/>
            <a:ext cx="4011168" cy="1465909"/>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21DD9246-8C99-7854-1B52-CB75DFE0E01B}"/>
              </a:ext>
            </a:extLst>
          </p:cNvPr>
          <p:cNvSpPr txBox="1"/>
          <p:nvPr/>
        </p:nvSpPr>
        <p:spPr>
          <a:xfrm>
            <a:off x="5692780" y="2828835"/>
            <a:ext cx="4572000" cy="1200329"/>
          </a:xfrm>
          <a:prstGeom prst="rect">
            <a:avLst/>
          </a:prstGeom>
          <a:solidFill>
            <a:schemeClr val="accent6"/>
          </a:solidFill>
        </p:spPr>
        <p:txBody>
          <a:bodyPr wrap="square" rtlCol="0">
            <a:spAutoFit/>
          </a:bodyPr>
          <a:lstStyle/>
          <a:p>
            <a:r>
              <a:rPr lang="en-US" b="1" dirty="0">
                <a:solidFill>
                  <a:schemeClr val="bg1"/>
                </a:solidFill>
              </a:rPr>
              <a:t>Parameters that determine the </a:t>
            </a:r>
            <a:r>
              <a:rPr lang="en-US" b="1" i="1" dirty="0">
                <a:solidFill>
                  <a:schemeClr val="bg1"/>
                </a:solidFill>
              </a:rPr>
              <a:t>in silico </a:t>
            </a:r>
            <a:r>
              <a:rPr lang="en-US" b="1" dirty="0">
                <a:solidFill>
                  <a:schemeClr val="bg1"/>
                </a:solidFill>
              </a:rPr>
              <a:t>digestion of the database, and by extension the list of all potential peptides in the search space.</a:t>
            </a:r>
          </a:p>
        </p:txBody>
      </p:sp>
    </p:spTree>
    <p:extLst>
      <p:ext uri="{BB962C8B-B14F-4D97-AF65-F5344CB8AC3E}">
        <p14:creationId xmlns:p14="http://schemas.microsoft.com/office/powerpoint/2010/main" val="4129012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text, application, email&#10;&#10;Description automatically generated">
            <a:extLst>
              <a:ext uri="{FF2B5EF4-FFF2-40B4-BE49-F238E27FC236}">
                <a16:creationId xmlns:a16="http://schemas.microsoft.com/office/drawing/2014/main" id="{EB822A77-30E6-5FCA-E5AA-70FAD929B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636" y="155245"/>
            <a:ext cx="9666728" cy="6426632"/>
          </a:xfrm>
          <a:prstGeom prst="rect">
            <a:avLst/>
          </a:prstGeom>
        </p:spPr>
      </p:pic>
      <p:sp>
        <p:nvSpPr>
          <p:cNvPr id="3" name="Oval 2">
            <a:extLst>
              <a:ext uri="{FF2B5EF4-FFF2-40B4-BE49-F238E27FC236}">
                <a16:creationId xmlns:a16="http://schemas.microsoft.com/office/drawing/2014/main" id="{7ACD624C-A322-C318-BFBC-2453DA8E397B}"/>
              </a:ext>
            </a:extLst>
          </p:cNvPr>
          <p:cNvSpPr/>
          <p:nvPr/>
        </p:nvSpPr>
        <p:spPr bwMode="auto">
          <a:xfrm>
            <a:off x="1731264" y="2718197"/>
            <a:ext cx="3847733" cy="720523"/>
          </a:xfrm>
          <a:prstGeom prst="ellipse">
            <a:avLst/>
          </a:prstGeom>
          <a:noFill/>
          <a:ln w="635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sp>
        <p:nvSpPr>
          <p:cNvPr id="4" name="TextBox 3">
            <a:extLst>
              <a:ext uri="{FF2B5EF4-FFF2-40B4-BE49-F238E27FC236}">
                <a16:creationId xmlns:a16="http://schemas.microsoft.com/office/drawing/2014/main" id="{816DD9D1-B560-D524-7D70-DC059DDBE20C}"/>
              </a:ext>
            </a:extLst>
          </p:cNvPr>
          <p:cNvSpPr txBox="1"/>
          <p:nvPr/>
        </p:nvSpPr>
        <p:spPr>
          <a:xfrm>
            <a:off x="5765932" y="2274837"/>
            <a:ext cx="4572000" cy="2308324"/>
          </a:xfrm>
          <a:prstGeom prst="rect">
            <a:avLst/>
          </a:prstGeom>
          <a:solidFill>
            <a:schemeClr val="accent6"/>
          </a:solidFill>
        </p:spPr>
        <p:txBody>
          <a:bodyPr wrap="square" rtlCol="0">
            <a:spAutoFit/>
          </a:bodyPr>
          <a:lstStyle/>
          <a:p>
            <a:r>
              <a:rPr lang="en-US" b="1" dirty="0">
                <a:solidFill>
                  <a:schemeClr val="bg1"/>
                </a:solidFill>
              </a:rPr>
              <a:t>C-terminal:  Cleaves on c-term side of cleavage sites</a:t>
            </a:r>
          </a:p>
          <a:p>
            <a:endParaRPr lang="en-US" b="1" dirty="0">
              <a:solidFill>
                <a:schemeClr val="bg1"/>
              </a:solidFill>
            </a:endParaRPr>
          </a:p>
          <a:p>
            <a:r>
              <a:rPr lang="en-US" b="1" dirty="0">
                <a:solidFill>
                  <a:schemeClr val="bg1"/>
                </a:solidFill>
              </a:rPr>
              <a:t>N-terminal:  Cleaves on n-term side of cleavage sites</a:t>
            </a:r>
          </a:p>
          <a:p>
            <a:endParaRPr lang="en-US" b="1" dirty="0">
              <a:solidFill>
                <a:schemeClr val="bg1"/>
              </a:solidFill>
            </a:endParaRPr>
          </a:p>
          <a:p>
            <a:r>
              <a:rPr lang="en-US" b="1" dirty="0" err="1">
                <a:solidFill>
                  <a:schemeClr val="bg1"/>
                </a:solidFill>
              </a:rPr>
              <a:t>C-terminal;N-terminal</a:t>
            </a:r>
            <a:r>
              <a:rPr lang="en-US" b="1" dirty="0">
                <a:solidFill>
                  <a:schemeClr val="bg1"/>
                </a:solidFill>
              </a:rPr>
              <a:t>: Allows for both, with residues separated with a semicolon</a:t>
            </a:r>
          </a:p>
        </p:txBody>
      </p:sp>
    </p:spTree>
    <p:extLst>
      <p:ext uri="{BB962C8B-B14F-4D97-AF65-F5344CB8AC3E}">
        <p14:creationId xmlns:p14="http://schemas.microsoft.com/office/powerpoint/2010/main" val="1309522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text, application, email&#10;&#10;Description automatically generated">
            <a:extLst>
              <a:ext uri="{FF2B5EF4-FFF2-40B4-BE49-F238E27FC236}">
                <a16:creationId xmlns:a16="http://schemas.microsoft.com/office/drawing/2014/main" id="{EB822A77-30E6-5FCA-E5AA-70FAD929B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636" y="155245"/>
            <a:ext cx="9666728" cy="6426632"/>
          </a:xfrm>
          <a:prstGeom prst="rect">
            <a:avLst/>
          </a:prstGeom>
        </p:spPr>
      </p:pic>
      <p:sp>
        <p:nvSpPr>
          <p:cNvPr id="3" name="Oval 2">
            <a:extLst>
              <a:ext uri="{FF2B5EF4-FFF2-40B4-BE49-F238E27FC236}">
                <a16:creationId xmlns:a16="http://schemas.microsoft.com/office/drawing/2014/main" id="{605B1A49-647E-5E41-419B-17F0B0B7ECB7}"/>
              </a:ext>
            </a:extLst>
          </p:cNvPr>
          <p:cNvSpPr/>
          <p:nvPr/>
        </p:nvSpPr>
        <p:spPr bwMode="auto">
          <a:xfrm>
            <a:off x="1578450" y="3164159"/>
            <a:ext cx="4017678" cy="529681"/>
          </a:xfrm>
          <a:prstGeom prst="ellipse">
            <a:avLst/>
          </a:prstGeom>
          <a:noFill/>
          <a:ln w="635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sp>
        <p:nvSpPr>
          <p:cNvPr id="4" name="TextBox 3">
            <a:extLst>
              <a:ext uri="{FF2B5EF4-FFF2-40B4-BE49-F238E27FC236}">
                <a16:creationId xmlns:a16="http://schemas.microsoft.com/office/drawing/2014/main" id="{78A7D9CC-3377-5755-B4A5-5E4D532C6907}"/>
              </a:ext>
            </a:extLst>
          </p:cNvPr>
          <p:cNvSpPr txBox="1"/>
          <p:nvPr/>
        </p:nvSpPr>
        <p:spPr>
          <a:xfrm>
            <a:off x="5846955" y="1847179"/>
            <a:ext cx="4572000" cy="3693319"/>
          </a:xfrm>
          <a:prstGeom prst="rect">
            <a:avLst/>
          </a:prstGeom>
          <a:solidFill>
            <a:schemeClr val="accent6"/>
          </a:solidFill>
        </p:spPr>
        <p:txBody>
          <a:bodyPr wrap="square" rtlCol="0">
            <a:spAutoFit/>
          </a:bodyPr>
          <a:lstStyle/>
          <a:p>
            <a:r>
              <a:rPr lang="en-US" b="1" dirty="0">
                <a:solidFill>
                  <a:schemeClr val="bg1"/>
                </a:solidFill>
              </a:rPr>
              <a:t>Fully specific:  Follows the rules for cleavage sites and sides</a:t>
            </a:r>
          </a:p>
          <a:p>
            <a:endParaRPr lang="en-US" b="1" dirty="0">
              <a:solidFill>
                <a:schemeClr val="bg1"/>
              </a:solidFill>
            </a:endParaRPr>
          </a:p>
          <a:p>
            <a:r>
              <a:rPr lang="en-US" b="1" dirty="0">
                <a:solidFill>
                  <a:schemeClr val="bg1"/>
                </a:solidFill>
              </a:rPr>
              <a:t>Semi specific:  Follows the rules for either n- or c-term side</a:t>
            </a:r>
          </a:p>
          <a:p>
            <a:endParaRPr lang="en-US" b="1" dirty="0">
              <a:solidFill>
                <a:schemeClr val="bg1"/>
              </a:solidFill>
            </a:endParaRPr>
          </a:p>
          <a:p>
            <a:r>
              <a:rPr lang="en-US" b="1" dirty="0">
                <a:solidFill>
                  <a:schemeClr val="bg1"/>
                </a:solidFill>
              </a:rPr>
              <a:t>Non specific:  No-enzyme search, but…</a:t>
            </a:r>
          </a:p>
          <a:p>
            <a:r>
              <a:rPr lang="en-US" b="1" dirty="0">
                <a:solidFill>
                  <a:schemeClr val="bg1"/>
                </a:solidFill>
              </a:rPr>
              <a:t>     Cleavage sites empty does typical </a:t>
            </a:r>
          </a:p>
          <a:p>
            <a:r>
              <a:rPr lang="en-US" b="1" dirty="0">
                <a:solidFill>
                  <a:schemeClr val="bg1"/>
                </a:solidFill>
              </a:rPr>
              <a:t>     no-enzyme search</a:t>
            </a:r>
          </a:p>
          <a:p>
            <a:endParaRPr lang="en-US" b="1" dirty="0">
              <a:solidFill>
                <a:schemeClr val="bg1"/>
              </a:solidFill>
            </a:endParaRPr>
          </a:p>
          <a:p>
            <a:r>
              <a:rPr lang="en-US" b="1" dirty="0">
                <a:solidFill>
                  <a:schemeClr val="bg1"/>
                </a:solidFill>
              </a:rPr>
              <a:t>     Cleavage sites specified gives bonus</a:t>
            </a:r>
          </a:p>
          <a:p>
            <a:r>
              <a:rPr lang="en-US" b="1" dirty="0">
                <a:solidFill>
                  <a:schemeClr val="bg1"/>
                </a:solidFill>
              </a:rPr>
              <a:t>     points to scores where the cleavage rules</a:t>
            </a:r>
          </a:p>
          <a:p>
            <a:r>
              <a:rPr lang="en-US" b="1" dirty="0">
                <a:solidFill>
                  <a:schemeClr val="bg1"/>
                </a:solidFill>
              </a:rPr>
              <a:t>     are met.</a:t>
            </a:r>
          </a:p>
        </p:txBody>
      </p:sp>
    </p:spTree>
    <p:extLst>
      <p:ext uri="{BB962C8B-B14F-4D97-AF65-F5344CB8AC3E}">
        <p14:creationId xmlns:p14="http://schemas.microsoft.com/office/powerpoint/2010/main" val="1832271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text, application, email&#10;&#10;Description automatically generated">
            <a:extLst>
              <a:ext uri="{FF2B5EF4-FFF2-40B4-BE49-F238E27FC236}">
                <a16:creationId xmlns:a16="http://schemas.microsoft.com/office/drawing/2014/main" id="{EB822A77-30E6-5FCA-E5AA-70FAD929B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636" y="155245"/>
            <a:ext cx="9666728" cy="6426632"/>
          </a:xfrm>
          <a:prstGeom prst="rect">
            <a:avLst/>
          </a:prstGeom>
        </p:spPr>
      </p:pic>
      <p:sp>
        <p:nvSpPr>
          <p:cNvPr id="3" name="Oval 2">
            <a:extLst>
              <a:ext uri="{FF2B5EF4-FFF2-40B4-BE49-F238E27FC236}">
                <a16:creationId xmlns:a16="http://schemas.microsoft.com/office/drawing/2014/main" id="{2C5B0CED-0E51-4706-678A-CEB1BCF7FC79}"/>
              </a:ext>
            </a:extLst>
          </p:cNvPr>
          <p:cNvSpPr/>
          <p:nvPr/>
        </p:nvSpPr>
        <p:spPr bwMode="auto">
          <a:xfrm>
            <a:off x="1682685" y="3395472"/>
            <a:ext cx="4182785" cy="529681"/>
          </a:xfrm>
          <a:prstGeom prst="ellipse">
            <a:avLst/>
          </a:prstGeom>
          <a:noFill/>
          <a:ln w="635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sp>
        <p:nvSpPr>
          <p:cNvPr id="4" name="TextBox 3">
            <a:extLst>
              <a:ext uri="{FF2B5EF4-FFF2-40B4-BE49-F238E27FC236}">
                <a16:creationId xmlns:a16="http://schemas.microsoft.com/office/drawing/2014/main" id="{55DB8724-F248-61F9-2E13-CAF87587684E}"/>
              </a:ext>
            </a:extLst>
          </p:cNvPr>
          <p:cNvSpPr txBox="1"/>
          <p:nvPr/>
        </p:nvSpPr>
        <p:spPr>
          <a:xfrm>
            <a:off x="5865471" y="2570071"/>
            <a:ext cx="4267200" cy="2585323"/>
          </a:xfrm>
          <a:prstGeom prst="rect">
            <a:avLst/>
          </a:prstGeom>
          <a:solidFill>
            <a:schemeClr val="accent6"/>
          </a:solidFill>
        </p:spPr>
        <p:txBody>
          <a:bodyPr wrap="square" rtlCol="0">
            <a:spAutoFit/>
          </a:bodyPr>
          <a:lstStyle/>
          <a:p>
            <a:r>
              <a:rPr lang="en-US" b="1" dirty="0">
                <a:solidFill>
                  <a:schemeClr val="bg1"/>
                </a:solidFill>
              </a:rPr>
              <a:t>R.HSGLTEK.T</a:t>
            </a:r>
          </a:p>
          <a:p>
            <a:r>
              <a:rPr lang="en-US" b="1" dirty="0">
                <a:solidFill>
                  <a:schemeClr val="bg1"/>
                </a:solidFill>
              </a:rPr>
              <a:t>T.YSALPEPK.S</a:t>
            </a:r>
          </a:p>
          <a:p>
            <a:r>
              <a:rPr lang="en-US" b="1" dirty="0">
                <a:solidFill>
                  <a:schemeClr val="bg1"/>
                </a:solidFill>
              </a:rPr>
              <a:t>R.HSGLTEKTYSALPEPK.S</a:t>
            </a:r>
          </a:p>
          <a:p>
            <a:endParaRPr lang="en-US" b="1" dirty="0">
              <a:solidFill>
                <a:schemeClr val="bg1"/>
              </a:solidFill>
            </a:endParaRPr>
          </a:p>
          <a:p>
            <a:r>
              <a:rPr lang="en-US" b="1" dirty="0">
                <a:solidFill>
                  <a:schemeClr val="bg1"/>
                </a:solidFill>
              </a:rPr>
              <a:t>For tryptic digests, 2-3 missed cleavages is usually enough.</a:t>
            </a:r>
          </a:p>
          <a:p>
            <a:endParaRPr lang="en-US" b="1" dirty="0">
              <a:solidFill>
                <a:schemeClr val="bg1"/>
              </a:solidFill>
            </a:endParaRPr>
          </a:p>
          <a:p>
            <a:r>
              <a:rPr lang="en-US" b="1" dirty="0">
                <a:solidFill>
                  <a:schemeClr val="bg1"/>
                </a:solidFill>
              </a:rPr>
              <a:t>No Limit!  But high values will make the search longer and more complex.</a:t>
            </a:r>
          </a:p>
        </p:txBody>
      </p:sp>
    </p:spTree>
    <p:extLst>
      <p:ext uri="{BB962C8B-B14F-4D97-AF65-F5344CB8AC3E}">
        <p14:creationId xmlns:p14="http://schemas.microsoft.com/office/powerpoint/2010/main" val="4217118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aphical user interface, text, application, email&#10;&#10;Description automatically generated">
            <a:extLst>
              <a:ext uri="{FF2B5EF4-FFF2-40B4-BE49-F238E27FC236}">
                <a16:creationId xmlns:a16="http://schemas.microsoft.com/office/drawing/2014/main" id="{EB822A77-30E6-5FCA-E5AA-70FAD929B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636" y="155245"/>
            <a:ext cx="9666728" cy="6426632"/>
          </a:xfrm>
          <a:prstGeom prst="rect">
            <a:avLst/>
          </a:prstGeom>
        </p:spPr>
      </p:pic>
      <p:sp>
        <p:nvSpPr>
          <p:cNvPr id="3" name="TextBox 2">
            <a:extLst>
              <a:ext uri="{FF2B5EF4-FFF2-40B4-BE49-F238E27FC236}">
                <a16:creationId xmlns:a16="http://schemas.microsoft.com/office/drawing/2014/main" id="{CC5E7BD0-2C2F-A35F-E4E3-7478CF2FFA5E}"/>
              </a:ext>
            </a:extLst>
          </p:cNvPr>
          <p:cNvSpPr txBox="1"/>
          <p:nvPr/>
        </p:nvSpPr>
        <p:spPr>
          <a:xfrm>
            <a:off x="2462784" y="2828835"/>
            <a:ext cx="4594635" cy="923330"/>
          </a:xfrm>
          <a:prstGeom prst="rect">
            <a:avLst/>
          </a:prstGeom>
          <a:solidFill>
            <a:schemeClr val="accent6"/>
          </a:solidFill>
        </p:spPr>
        <p:txBody>
          <a:bodyPr wrap="square" rtlCol="0">
            <a:spAutoFit/>
          </a:bodyPr>
          <a:lstStyle/>
          <a:p>
            <a:r>
              <a:rPr lang="en-US" b="1" dirty="0">
                <a:solidFill>
                  <a:schemeClr val="bg1"/>
                </a:solidFill>
              </a:rPr>
              <a:t>Parameters that determine which of the </a:t>
            </a:r>
            <a:r>
              <a:rPr lang="en-US" b="1" i="1" dirty="0">
                <a:solidFill>
                  <a:schemeClr val="bg1"/>
                </a:solidFill>
              </a:rPr>
              <a:t>in silico</a:t>
            </a:r>
            <a:r>
              <a:rPr lang="en-US" b="1" dirty="0">
                <a:solidFill>
                  <a:schemeClr val="bg1"/>
                </a:solidFill>
              </a:rPr>
              <a:t> digested peptides will be considered as candidates for a match to an MS2 spectrum.</a:t>
            </a:r>
          </a:p>
        </p:txBody>
      </p:sp>
      <p:sp>
        <p:nvSpPr>
          <p:cNvPr id="4" name="Rectangle 3">
            <a:extLst>
              <a:ext uri="{FF2B5EF4-FFF2-40B4-BE49-F238E27FC236}">
                <a16:creationId xmlns:a16="http://schemas.microsoft.com/office/drawing/2014/main" id="{BAC0F34A-EDBB-D181-068E-83C63E5B9F5C}"/>
              </a:ext>
            </a:extLst>
          </p:cNvPr>
          <p:cNvSpPr/>
          <p:nvPr/>
        </p:nvSpPr>
        <p:spPr>
          <a:xfrm>
            <a:off x="7168896" y="2764715"/>
            <a:ext cx="3401568" cy="986521"/>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00730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4" name="Oval 3">
            <a:extLst>
              <a:ext uri="{FF2B5EF4-FFF2-40B4-BE49-F238E27FC236}">
                <a16:creationId xmlns:a16="http://schemas.microsoft.com/office/drawing/2014/main" id="{0BD6F4C4-A2F1-2FE1-9815-909071C337CA}"/>
              </a:ext>
            </a:extLst>
          </p:cNvPr>
          <p:cNvSpPr/>
          <p:nvPr/>
        </p:nvSpPr>
        <p:spPr bwMode="auto">
          <a:xfrm>
            <a:off x="3100492" y="2316480"/>
            <a:ext cx="959443" cy="402676"/>
          </a:xfrm>
          <a:prstGeom prst="ellipse">
            <a:avLst/>
          </a:prstGeom>
          <a:noFill/>
          <a:ln w="635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sp>
        <p:nvSpPr>
          <p:cNvPr id="5" name="Rectangle 4">
            <a:extLst>
              <a:ext uri="{FF2B5EF4-FFF2-40B4-BE49-F238E27FC236}">
                <a16:creationId xmlns:a16="http://schemas.microsoft.com/office/drawing/2014/main" id="{A0C6A73B-C05B-1289-F30C-96159B3C02AD}"/>
              </a:ext>
            </a:extLst>
          </p:cNvPr>
          <p:cNvSpPr/>
          <p:nvPr/>
        </p:nvSpPr>
        <p:spPr>
          <a:xfrm>
            <a:off x="1558204" y="3277839"/>
            <a:ext cx="3720932"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5368204" y="3277839"/>
            <a:ext cx="6726259" cy="923330"/>
          </a:xfrm>
          <a:prstGeom prst="rect">
            <a:avLst/>
          </a:prstGeom>
          <a:solidFill>
            <a:schemeClr val="accent6"/>
          </a:solidFill>
        </p:spPr>
        <p:txBody>
          <a:bodyPr wrap="square" rtlCol="0">
            <a:spAutoFit/>
          </a:bodyPr>
          <a:lstStyle/>
          <a:p>
            <a:r>
              <a:rPr lang="en-US" b="1" dirty="0">
                <a:solidFill>
                  <a:schemeClr val="bg1"/>
                </a:solidFill>
              </a:rPr>
              <a:t>Modifications considered for each peptide candidate.</a:t>
            </a:r>
          </a:p>
          <a:p>
            <a:endParaRPr lang="en-US" b="1" dirty="0">
              <a:solidFill>
                <a:schemeClr val="bg1"/>
              </a:solidFill>
            </a:endParaRPr>
          </a:p>
          <a:p>
            <a:r>
              <a:rPr lang="en-US" b="1" dirty="0">
                <a:solidFill>
                  <a:schemeClr val="bg1"/>
                </a:solidFill>
              </a:rPr>
              <a:t>More modifications = more potential peptides = higher search times. </a:t>
            </a:r>
          </a:p>
        </p:txBody>
      </p:sp>
    </p:spTree>
    <p:extLst>
      <p:ext uri="{BB962C8B-B14F-4D97-AF65-F5344CB8AC3E}">
        <p14:creationId xmlns:p14="http://schemas.microsoft.com/office/powerpoint/2010/main" val="3439819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Rectangle 4">
            <a:extLst>
              <a:ext uri="{FF2B5EF4-FFF2-40B4-BE49-F238E27FC236}">
                <a16:creationId xmlns:a16="http://schemas.microsoft.com/office/drawing/2014/main" id="{A0C6A73B-C05B-1289-F30C-96159B3C02AD}"/>
              </a:ext>
            </a:extLst>
          </p:cNvPr>
          <p:cNvSpPr/>
          <p:nvPr/>
        </p:nvSpPr>
        <p:spPr>
          <a:xfrm>
            <a:off x="1558204" y="3277839"/>
            <a:ext cx="3623396"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5319436" y="2086969"/>
            <a:ext cx="6275156" cy="3139321"/>
          </a:xfrm>
          <a:prstGeom prst="rect">
            <a:avLst/>
          </a:prstGeom>
          <a:solidFill>
            <a:schemeClr val="accent6"/>
          </a:solidFill>
        </p:spPr>
        <p:txBody>
          <a:bodyPr wrap="square" rtlCol="0">
            <a:spAutoFit/>
          </a:bodyPr>
          <a:lstStyle/>
          <a:p>
            <a:r>
              <a:rPr lang="en-US" b="1" dirty="0">
                <a:solidFill>
                  <a:schemeClr val="bg1"/>
                </a:solidFill>
              </a:rPr>
              <a:t>Types of modifications:</a:t>
            </a:r>
          </a:p>
          <a:p>
            <a:endParaRPr lang="en-US" b="1" dirty="0">
              <a:solidFill>
                <a:schemeClr val="bg1"/>
              </a:solidFill>
            </a:endParaRPr>
          </a:p>
          <a:p>
            <a:r>
              <a:rPr lang="en-US" b="1" dirty="0">
                <a:solidFill>
                  <a:schemeClr val="bg1"/>
                </a:solidFill>
              </a:rPr>
              <a:t>Fixed:  Assumed to occur on all specified residues</a:t>
            </a:r>
          </a:p>
          <a:p>
            <a:endParaRPr lang="en-US" b="1" dirty="0">
              <a:solidFill>
                <a:schemeClr val="bg1"/>
              </a:solidFill>
            </a:endParaRPr>
          </a:p>
          <a:p>
            <a:r>
              <a:rPr lang="en-US" b="1" dirty="0">
                <a:solidFill>
                  <a:schemeClr val="bg1"/>
                </a:solidFill>
              </a:rPr>
              <a:t>Variable (Common or Rare):  Optionally applied to specified residues</a:t>
            </a:r>
          </a:p>
          <a:p>
            <a:endParaRPr lang="en-US" b="1" dirty="0">
              <a:solidFill>
                <a:schemeClr val="bg1"/>
              </a:solidFill>
            </a:endParaRPr>
          </a:p>
          <a:p>
            <a:r>
              <a:rPr lang="en-US" b="1" dirty="0">
                <a:solidFill>
                  <a:schemeClr val="bg1"/>
                </a:solidFill>
              </a:rPr>
              <a:t>All search algorithms allow fixed and variable modifications.</a:t>
            </a:r>
          </a:p>
          <a:p>
            <a:endParaRPr lang="en-US" b="1" dirty="0">
              <a:solidFill>
                <a:schemeClr val="bg1"/>
              </a:solidFill>
            </a:endParaRPr>
          </a:p>
          <a:p>
            <a:r>
              <a:rPr lang="en-US" b="1" dirty="0">
                <a:solidFill>
                  <a:schemeClr val="bg1"/>
                </a:solidFill>
              </a:rPr>
              <a:t>Choose from a list of all </a:t>
            </a:r>
            <a:r>
              <a:rPr lang="en-US" b="1" dirty="0" err="1">
                <a:solidFill>
                  <a:schemeClr val="bg1"/>
                </a:solidFill>
              </a:rPr>
              <a:t>Unimod</a:t>
            </a:r>
            <a:r>
              <a:rPr lang="en-US" b="1" dirty="0">
                <a:solidFill>
                  <a:schemeClr val="bg1"/>
                </a:solidFill>
              </a:rPr>
              <a:t> modifications or add customized modifications.  (</a:t>
            </a:r>
            <a:r>
              <a:rPr lang="en-US" b="1" dirty="0" err="1">
                <a:solidFill>
                  <a:schemeClr val="bg1"/>
                </a:solidFill>
              </a:rPr>
              <a:t>SuTEx</a:t>
            </a:r>
            <a:r>
              <a:rPr lang="en-US" b="1" dirty="0">
                <a:solidFill>
                  <a:schemeClr val="bg1"/>
                </a:solidFill>
              </a:rPr>
              <a:t> is a custom modification.)</a:t>
            </a:r>
          </a:p>
        </p:txBody>
      </p:sp>
    </p:spTree>
    <p:extLst>
      <p:ext uri="{BB962C8B-B14F-4D97-AF65-F5344CB8AC3E}">
        <p14:creationId xmlns:p14="http://schemas.microsoft.com/office/powerpoint/2010/main" val="4291530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Rectangle 4">
            <a:extLst>
              <a:ext uri="{FF2B5EF4-FFF2-40B4-BE49-F238E27FC236}">
                <a16:creationId xmlns:a16="http://schemas.microsoft.com/office/drawing/2014/main" id="{A0C6A73B-C05B-1289-F30C-96159B3C02AD}"/>
              </a:ext>
            </a:extLst>
          </p:cNvPr>
          <p:cNvSpPr/>
          <p:nvPr/>
        </p:nvSpPr>
        <p:spPr>
          <a:xfrm>
            <a:off x="1558204" y="3277839"/>
            <a:ext cx="3720932"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5368204" y="3251646"/>
            <a:ext cx="5994739" cy="923330"/>
          </a:xfrm>
          <a:prstGeom prst="rect">
            <a:avLst/>
          </a:prstGeom>
          <a:solidFill>
            <a:schemeClr val="accent6"/>
          </a:solidFill>
        </p:spPr>
        <p:txBody>
          <a:bodyPr wrap="square" rtlCol="0">
            <a:spAutoFit/>
          </a:bodyPr>
          <a:lstStyle/>
          <a:p>
            <a:r>
              <a:rPr lang="en-US" b="1" dirty="0">
                <a:solidFill>
                  <a:schemeClr val="bg1"/>
                </a:solidFill>
              </a:rPr>
              <a:t>Custom Peaks:</a:t>
            </a:r>
          </a:p>
          <a:p>
            <a:endParaRPr lang="en-US" b="1" dirty="0">
              <a:solidFill>
                <a:schemeClr val="bg1"/>
              </a:solidFill>
            </a:endParaRPr>
          </a:p>
          <a:p>
            <a:r>
              <a:rPr lang="en-US" b="1" dirty="0">
                <a:solidFill>
                  <a:schemeClr val="bg1"/>
                </a:solidFill>
              </a:rPr>
              <a:t>Uses signature ions to boost confidence and increase score.</a:t>
            </a:r>
          </a:p>
        </p:txBody>
      </p:sp>
    </p:spTree>
    <p:extLst>
      <p:ext uri="{BB962C8B-B14F-4D97-AF65-F5344CB8AC3E}">
        <p14:creationId xmlns:p14="http://schemas.microsoft.com/office/powerpoint/2010/main" val="11496311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Rectangle 4">
            <a:extLst>
              <a:ext uri="{FF2B5EF4-FFF2-40B4-BE49-F238E27FC236}">
                <a16:creationId xmlns:a16="http://schemas.microsoft.com/office/drawing/2014/main" id="{A0C6A73B-C05B-1289-F30C-96159B3C02AD}"/>
              </a:ext>
            </a:extLst>
          </p:cNvPr>
          <p:cNvSpPr/>
          <p:nvPr/>
        </p:nvSpPr>
        <p:spPr>
          <a:xfrm>
            <a:off x="1558204" y="3277839"/>
            <a:ext cx="3720932"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5368204" y="3251646"/>
            <a:ext cx="6726259" cy="2308324"/>
          </a:xfrm>
          <a:prstGeom prst="rect">
            <a:avLst/>
          </a:prstGeom>
          <a:solidFill>
            <a:schemeClr val="accent6"/>
          </a:solidFill>
        </p:spPr>
        <p:txBody>
          <a:bodyPr wrap="square" rtlCol="0">
            <a:spAutoFit/>
          </a:bodyPr>
          <a:lstStyle/>
          <a:p>
            <a:r>
              <a:rPr lang="en-US" b="1" dirty="0">
                <a:solidFill>
                  <a:schemeClr val="bg1"/>
                </a:solidFill>
              </a:rPr>
              <a:t>Common and Rare Modifications:</a:t>
            </a:r>
          </a:p>
          <a:p>
            <a:endParaRPr lang="en-US" b="1" dirty="0">
              <a:solidFill>
                <a:schemeClr val="bg1"/>
              </a:solidFill>
            </a:endParaRPr>
          </a:p>
          <a:p>
            <a:r>
              <a:rPr lang="en-US" b="1" dirty="0">
                <a:solidFill>
                  <a:schemeClr val="bg1"/>
                </a:solidFill>
              </a:rPr>
              <a:t>Variable modifications increase search space exponentially.  </a:t>
            </a:r>
          </a:p>
          <a:p>
            <a:endParaRPr lang="en-US" b="1" dirty="0">
              <a:solidFill>
                <a:schemeClr val="bg1"/>
              </a:solidFill>
            </a:endParaRPr>
          </a:p>
          <a:p>
            <a:r>
              <a:rPr lang="en-US" b="1" dirty="0">
                <a:solidFill>
                  <a:schemeClr val="bg1"/>
                </a:solidFill>
              </a:rPr>
              <a:t>Think about this…</a:t>
            </a:r>
          </a:p>
          <a:p>
            <a:endParaRPr lang="en-US" b="1" dirty="0">
              <a:solidFill>
                <a:schemeClr val="bg1"/>
              </a:solidFill>
            </a:endParaRPr>
          </a:p>
          <a:p>
            <a:r>
              <a:rPr lang="en-US" b="1" dirty="0">
                <a:solidFill>
                  <a:srgbClr val="FF0000"/>
                </a:solidFill>
              </a:rPr>
              <a:t>M</a:t>
            </a:r>
            <a:r>
              <a:rPr lang="en-US" b="1" dirty="0">
                <a:solidFill>
                  <a:schemeClr val="bg1"/>
                </a:solidFill>
              </a:rPr>
              <a:t>X</a:t>
            </a:r>
            <a:r>
              <a:rPr lang="en-US" b="1" dirty="0">
                <a:solidFill>
                  <a:srgbClr val="FF0000"/>
                </a:solidFill>
              </a:rPr>
              <a:t>Y</a:t>
            </a:r>
            <a:r>
              <a:rPr lang="en-US" b="1" dirty="0">
                <a:solidFill>
                  <a:schemeClr val="bg1"/>
                </a:solidFill>
              </a:rPr>
              <a:t>XX</a:t>
            </a:r>
            <a:r>
              <a:rPr lang="en-US" b="1" dirty="0">
                <a:solidFill>
                  <a:srgbClr val="FF0000"/>
                </a:solidFill>
              </a:rPr>
              <a:t>Y</a:t>
            </a:r>
            <a:r>
              <a:rPr lang="en-US" b="1" dirty="0">
                <a:solidFill>
                  <a:schemeClr val="bg1"/>
                </a:solidFill>
              </a:rPr>
              <a:t>X</a:t>
            </a:r>
            <a:r>
              <a:rPr lang="en-US" b="1" dirty="0">
                <a:solidFill>
                  <a:srgbClr val="FF0000"/>
                </a:solidFill>
              </a:rPr>
              <a:t>M</a:t>
            </a:r>
            <a:r>
              <a:rPr lang="en-US" b="1" dirty="0">
                <a:solidFill>
                  <a:schemeClr val="bg1"/>
                </a:solidFill>
              </a:rPr>
              <a:t>X</a:t>
            </a:r>
            <a:r>
              <a:rPr lang="en-US" b="1" dirty="0">
                <a:solidFill>
                  <a:srgbClr val="FF0000"/>
                </a:solidFill>
              </a:rPr>
              <a:t>K</a:t>
            </a:r>
            <a:r>
              <a:rPr lang="en-US" b="1" dirty="0">
                <a:solidFill>
                  <a:schemeClr val="bg1"/>
                </a:solidFill>
              </a:rPr>
              <a:t> = 2</a:t>
            </a:r>
            <a:r>
              <a:rPr lang="en-US" b="1" baseline="30000" dirty="0">
                <a:solidFill>
                  <a:schemeClr val="bg1"/>
                </a:solidFill>
              </a:rPr>
              <a:t>5 </a:t>
            </a:r>
            <a:r>
              <a:rPr lang="en-US" b="1" dirty="0">
                <a:solidFill>
                  <a:schemeClr val="bg1"/>
                </a:solidFill>
              </a:rPr>
              <a:t>+ 2</a:t>
            </a:r>
            <a:r>
              <a:rPr lang="en-US" b="1" baseline="30000" dirty="0">
                <a:solidFill>
                  <a:schemeClr val="bg1"/>
                </a:solidFill>
              </a:rPr>
              <a:t>4 </a:t>
            </a:r>
            <a:r>
              <a:rPr lang="en-US" b="1" dirty="0">
                <a:solidFill>
                  <a:schemeClr val="bg1"/>
                </a:solidFill>
              </a:rPr>
              <a:t>or 48 possible combinations of modifications.</a:t>
            </a:r>
          </a:p>
          <a:p>
            <a:endParaRPr lang="en-US" b="1" dirty="0">
              <a:solidFill>
                <a:schemeClr val="bg1"/>
              </a:solidFill>
            </a:endParaRPr>
          </a:p>
        </p:txBody>
      </p:sp>
    </p:spTree>
    <p:extLst>
      <p:ext uri="{BB962C8B-B14F-4D97-AF65-F5344CB8AC3E}">
        <p14:creationId xmlns:p14="http://schemas.microsoft.com/office/powerpoint/2010/main" val="4138474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Rectangle 4">
            <a:extLst>
              <a:ext uri="{FF2B5EF4-FFF2-40B4-BE49-F238E27FC236}">
                <a16:creationId xmlns:a16="http://schemas.microsoft.com/office/drawing/2014/main" id="{A0C6A73B-C05B-1289-F30C-96159B3C02AD}"/>
              </a:ext>
            </a:extLst>
          </p:cNvPr>
          <p:cNvSpPr/>
          <p:nvPr/>
        </p:nvSpPr>
        <p:spPr>
          <a:xfrm>
            <a:off x="1558204" y="3277839"/>
            <a:ext cx="3720932"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5329090" y="3227153"/>
            <a:ext cx="6726259" cy="2031325"/>
          </a:xfrm>
          <a:prstGeom prst="rect">
            <a:avLst/>
          </a:prstGeom>
          <a:solidFill>
            <a:schemeClr val="accent6"/>
          </a:solidFill>
        </p:spPr>
        <p:txBody>
          <a:bodyPr wrap="square" rtlCol="0">
            <a:spAutoFit/>
          </a:bodyPr>
          <a:lstStyle/>
          <a:p>
            <a:r>
              <a:rPr lang="en-US" b="1" dirty="0">
                <a:solidFill>
                  <a:schemeClr val="bg1"/>
                </a:solidFill>
              </a:rPr>
              <a:t>How does </a:t>
            </a:r>
            <a:r>
              <a:rPr lang="en-US" b="1" dirty="0" err="1">
                <a:solidFill>
                  <a:schemeClr val="bg1"/>
                </a:solidFill>
              </a:rPr>
              <a:t>Byonic</a:t>
            </a:r>
            <a:r>
              <a:rPr lang="en-US" b="1" dirty="0">
                <a:solidFill>
                  <a:schemeClr val="bg1"/>
                </a:solidFill>
              </a:rPr>
              <a:t> attempt to solve this problem?</a:t>
            </a:r>
          </a:p>
          <a:p>
            <a:endParaRPr lang="en-US" b="1" dirty="0">
              <a:solidFill>
                <a:schemeClr val="bg1"/>
              </a:solidFill>
            </a:endParaRPr>
          </a:p>
          <a:p>
            <a:r>
              <a:rPr lang="en-US" b="1" dirty="0">
                <a:solidFill>
                  <a:schemeClr val="bg1"/>
                </a:solidFill>
              </a:rPr>
              <a:t>First, we can limit the number of times a variable modification can appear in a peptide.</a:t>
            </a:r>
          </a:p>
          <a:p>
            <a:endParaRPr lang="en-US" b="1" dirty="0">
              <a:solidFill>
                <a:schemeClr val="bg1"/>
              </a:solidFill>
            </a:endParaRPr>
          </a:p>
          <a:p>
            <a:r>
              <a:rPr lang="en-US" b="1" dirty="0">
                <a:solidFill>
                  <a:schemeClr val="bg1"/>
                </a:solidFill>
              </a:rPr>
              <a:t>Allowing only one M(ox) per peptide reduces the search space:</a:t>
            </a:r>
          </a:p>
          <a:p>
            <a:r>
              <a:rPr lang="en-US" b="1" dirty="0">
                <a:solidFill>
                  <a:srgbClr val="FF0000"/>
                </a:solidFill>
              </a:rPr>
              <a:t>M</a:t>
            </a:r>
            <a:r>
              <a:rPr lang="en-US" b="1" dirty="0">
                <a:solidFill>
                  <a:schemeClr val="bg1"/>
                </a:solidFill>
              </a:rPr>
              <a:t>X</a:t>
            </a:r>
            <a:r>
              <a:rPr lang="en-US" b="1" dirty="0">
                <a:solidFill>
                  <a:srgbClr val="FF0000"/>
                </a:solidFill>
              </a:rPr>
              <a:t>Y</a:t>
            </a:r>
            <a:r>
              <a:rPr lang="en-US" b="1" dirty="0">
                <a:solidFill>
                  <a:schemeClr val="bg1"/>
                </a:solidFill>
              </a:rPr>
              <a:t>XX</a:t>
            </a:r>
            <a:r>
              <a:rPr lang="en-US" b="1" dirty="0">
                <a:solidFill>
                  <a:srgbClr val="FF0000"/>
                </a:solidFill>
              </a:rPr>
              <a:t>Y</a:t>
            </a:r>
            <a:r>
              <a:rPr lang="en-US" b="1" dirty="0">
                <a:solidFill>
                  <a:schemeClr val="bg1"/>
                </a:solidFill>
              </a:rPr>
              <a:t>X</a:t>
            </a:r>
            <a:r>
              <a:rPr lang="en-US" b="1" dirty="0">
                <a:solidFill>
                  <a:srgbClr val="FF0000"/>
                </a:solidFill>
              </a:rPr>
              <a:t>M</a:t>
            </a:r>
            <a:r>
              <a:rPr lang="en-US" b="1" dirty="0">
                <a:solidFill>
                  <a:schemeClr val="bg1"/>
                </a:solidFill>
              </a:rPr>
              <a:t>X</a:t>
            </a:r>
            <a:r>
              <a:rPr lang="en-US" b="1" dirty="0">
                <a:solidFill>
                  <a:srgbClr val="FF0000"/>
                </a:solidFill>
              </a:rPr>
              <a:t>K</a:t>
            </a:r>
            <a:r>
              <a:rPr lang="en-US" b="1" dirty="0">
                <a:solidFill>
                  <a:schemeClr val="bg1"/>
                </a:solidFill>
              </a:rPr>
              <a:t> = 40 combinations of modifications</a:t>
            </a:r>
            <a:r>
              <a:rPr lang="en-US" b="1" baseline="30000" dirty="0">
                <a:solidFill>
                  <a:schemeClr val="bg1"/>
                </a:solidFill>
              </a:rPr>
              <a:t> </a:t>
            </a:r>
            <a:endParaRPr lang="en-US" b="1" dirty="0">
              <a:solidFill>
                <a:schemeClr val="bg1"/>
              </a:solidFill>
            </a:endParaRPr>
          </a:p>
        </p:txBody>
      </p:sp>
      <p:sp>
        <p:nvSpPr>
          <p:cNvPr id="4" name="Oval 3">
            <a:extLst>
              <a:ext uri="{FF2B5EF4-FFF2-40B4-BE49-F238E27FC236}">
                <a16:creationId xmlns:a16="http://schemas.microsoft.com/office/drawing/2014/main" id="{48B2B76F-B390-5E5F-E624-6B9228308EBF}"/>
              </a:ext>
            </a:extLst>
          </p:cNvPr>
          <p:cNvSpPr/>
          <p:nvPr/>
        </p:nvSpPr>
        <p:spPr>
          <a:xfrm>
            <a:off x="3351614" y="3322320"/>
            <a:ext cx="184066" cy="296226"/>
          </a:xfrm>
          <a:prstGeom prst="ellipse">
            <a:avLst/>
          </a:prstGeom>
          <a:solidFill>
            <a:schemeClr val="bg1">
              <a:alpha val="0"/>
            </a:schemeClr>
          </a:solid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04718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Rectangle 4">
            <a:extLst>
              <a:ext uri="{FF2B5EF4-FFF2-40B4-BE49-F238E27FC236}">
                <a16:creationId xmlns:a16="http://schemas.microsoft.com/office/drawing/2014/main" id="{A0C6A73B-C05B-1289-F30C-96159B3C02AD}"/>
              </a:ext>
            </a:extLst>
          </p:cNvPr>
          <p:cNvSpPr/>
          <p:nvPr/>
        </p:nvSpPr>
        <p:spPr>
          <a:xfrm>
            <a:off x="1558204" y="3277839"/>
            <a:ext cx="3720932"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5368205" y="3613487"/>
            <a:ext cx="6726259" cy="2862322"/>
          </a:xfrm>
          <a:prstGeom prst="rect">
            <a:avLst/>
          </a:prstGeom>
          <a:solidFill>
            <a:schemeClr val="accent6"/>
          </a:solidFill>
        </p:spPr>
        <p:txBody>
          <a:bodyPr wrap="square" rtlCol="0">
            <a:spAutoFit/>
          </a:bodyPr>
          <a:lstStyle/>
          <a:p>
            <a:r>
              <a:rPr lang="en-US" b="1" dirty="0">
                <a:solidFill>
                  <a:schemeClr val="bg1"/>
                </a:solidFill>
              </a:rPr>
              <a:t>We can gain more control over the search space by utilizing common and rare modification types.</a:t>
            </a:r>
          </a:p>
          <a:p>
            <a:endParaRPr lang="en-US" b="1" dirty="0">
              <a:solidFill>
                <a:schemeClr val="bg1"/>
              </a:solidFill>
            </a:endParaRPr>
          </a:p>
          <a:p>
            <a:r>
              <a:rPr lang="en-US" b="1" dirty="0">
                <a:solidFill>
                  <a:schemeClr val="bg1"/>
                </a:solidFill>
              </a:rPr>
              <a:t>Modifications can be divided into two bins:  Common and Rare.</a:t>
            </a:r>
          </a:p>
          <a:p>
            <a:r>
              <a:rPr lang="en-US" b="1" dirty="0">
                <a:solidFill>
                  <a:srgbClr val="FF0000"/>
                </a:solidFill>
              </a:rPr>
              <a:t>M</a:t>
            </a:r>
            <a:r>
              <a:rPr lang="en-US" b="1" dirty="0">
                <a:solidFill>
                  <a:schemeClr val="bg1"/>
                </a:solidFill>
              </a:rPr>
              <a:t>X</a:t>
            </a:r>
            <a:r>
              <a:rPr lang="en-US" b="1" dirty="0">
                <a:solidFill>
                  <a:srgbClr val="FF0000"/>
                </a:solidFill>
              </a:rPr>
              <a:t>Y</a:t>
            </a:r>
            <a:r>
              <a:rPr lang="en-US" b="1" dirty="0">
                <a:solidFill>
                  <a:schemeClr val="bg1"/>
                </a:solidFill>
              </a:rPr>
              <a:t>XX</a:t>
            </a:r>
            <a:r>
              <a:rPr lang="en-US" b="1" dirty="0">
                <a:solidFill>
                  <a:srgbClr val="FF0000"/>
                </a:solidFill>
              </a:rPr>
              <a:t>Y</a:t>
            </a:r>
            <a:r>
              <a:rPr lang="en-US" b="1" dirty="0">
                <a:solidFill>
                  <a:schemeClr val="bg1"/>
                </a:solidFill>
              </a:rPr>
              <a:t>X</a:t>
            </a:r>
            <a:r>
              <a:rPr lang="en-US" b="1" dirty="0">
                <a:solidFill>
                  <a:srgbClr val="FF0000"/>
                </a:solidFill>
              </a:rPr>
              <a:t>M</a:t>
            </a:r>
            <a:r>
              <a:rPr lang="en-US" b="1" dirty="0">
                <a:solidFill>
                  <a:schemeClr val="bg1"/>
                </a:solidFill>
              </a:rPr>
              <a:t>X</a:t>
            </a:r>
            <a:r>
              <a:rPr lang="en-US" b="1" dirty="0">
                <a:solidFill>
                  <a:srgbClr val="FF0000"/>
                </a:solidFill>
              </a:rPr>
              <a:t>K</a:t>
            </a:r>
          </a:p>
          <a:p>
            <a:endParaRPr lang="en-US" b="1" dirty="0">
              <a:solidFill>
                <a:srgbClr val="FF0000"/>
              </a:solidFill>
            </a:endParaRPr>
          </a:p>
          <a:p>
            <a:r>
              <a:rPr lang="en-US" b="1" dirty="0">
                <a:solidFill>
                  <a:schemeClr val="bg1"/>
                </a:solidFill>
              </a:rPr>
              <a:t>Current specification allows for 3 common variable modifications/peptide, in multiple combinations like:</a:t>
            </a:r>
          </a:p>
          <a:p>
            <a:r>
              <a:rPr lang="en-US" b="1" dirty="0">
                <a:solidFill>
                  <a:schemeClr val="bg1"/>
                </a:solidFill>
              </a:rPr>
              <a:t>2 </a:t>
            </a:r>
            <a:r>
              <a:rPr lang="en-US" b="1" dirty="0" err="1">
                <a:solidFill>
                  <a:schemeClr val="bg1"/>
                </a:solidFill>
              </a:rPr>
              <a:t>SuTEx</a:t>
            </a:r>
            <a:r>
              <a:rPr lang="en-US" b="1" dirty="0">
                <a:solidFill>
                  <a:schemeClr val="bg1"/>
                </a:solidFill>
              </a:rPr>
              <a:t> Y or K, 1 M(ox)</a:t>
            </a:r>
          </a:p>
          <a:p>
            <a:r>
              <a:rPr lang="en-US" b="1" dirty="0">
                <a:solidFill>
                  <a:schemeClr val="bg1"/>
                </a:solidFill>
              </a:rPr>
              <a:t>2 M(ox), 1 </a:t>
            </a:r>
            <a:r>
              <a:rPr lang="en-US" b="1" dirty="0" err="1">
                <a:solidFill>
                  <a:schemeClr val="bg1"/>
                </a:solidFill>
              </a:rPr>
              <a:t>SuTEx</a:t>
            </a:r>
            <a:r>
              <a:rPr lang="en-US" b="1" dirty="0">
                <a:solidFill>
                  <a:schemeClr val="bg1"/>
                </a:solidFill>
              </a:rPr>
              <a:t> Y or K</a:t>
            </a:r>
          </a:p>
        </p:txBody>
      </p:sp>
      <p:cxnSp>
        <p:nvCxnSpPr>
          <p:cNvPr id="10" name="Straight Arrow Connector 9">
            <a:extLst>
              <a:ext uri="{FF2B5EF4-FFF2-40B4-BE49-F238E27FC236}">
                <a16:creationId xmlns:a16="http://schemas.microsoft.com/office/drawing/2014/main" id="{93D8A88B-0D95-EDBB-2733-7D35C72075B7}"/>
              </a:ext>
            </a:extLst>
          </p:cNvPr>
          <p:cNvCxnSpPr/>
          <p:nvPr/>
        </p:nvCxnSpPr>
        <p:spPr>
          <a:xfrm flipV="1">
            <a:off x="6400800" y="3060192"/>
            <a:ext cx="0" cy="36880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C5FFB36-279C-A27C-E05D-164FEF9215F2}"/>
              </a:ext>
            </a:extLst>
          </p:cNvPr>
          <p:cNvCxnSpPr/>
          <p:nvPr/>
        </p:nvCxnSpPr>
        <p:spPr>
          <a:xfrm flipV="1">
            <a:off x="7882128" y="3060192"/>
            <a:ext cx="0" cy="36880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957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Rectangle 4">
            <a:extLst>
              <a:ext uri="{FF2B5EF4-FFF2-40B4-BE49-F238E27FC236}">
                <a16:creationId xmlns:a16="http://schemas.microsoft.com/office/drawing/2014/main" id="{A0C6A73B-C05B-1289-F30C-96159B3C02AD}"/>
              </a:ext>
            </a:extLst>
          </p:cNvPr>
          <p:cNvSpPr/>
          <p:nvPr/>
        </p:nvSpPr>
        <p:spPr>
          <a:xfrm>
            <a:off x="1558204" y="3277839"/>
            <a:ext cx="3720932"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5368205" y="3613487"/>
            <a:ext cx="6726259" cy="3416320"/>
          </a:xfrm>
          <a:prstGeom prst="rect">
            <a:avLst/>
          </a:prstGeom>
          <a:solidFill>
            <a:schemeClr val="accent6"/>
          </a:solidFill>
        </p:spPr>
        <p:txBody>
          <a:bodyPr wrap="square" rtlCol="0">
            <a:spAutoFit/>
          </a:bodyPr>
          <a:lstStyle/>
          <a:p>
            <a:r>
              <a:rPr lang="en-US" b="1" dirty="0">
                <a:solidFill>
                  <a:schemeClr val="bg1"/>
                </a:solidFill>
              </a:rPr>
              <a:t>We can gain more control over the search space by utilizing common and rare modification types.</a:t>
            </a:r>
          </a:p>
          <a:p>
            <a:endParaRPr lang="en-US" b="1" dirty="0">
              <a:solidFill>
                <a:schemeClr val="bg1"/>
              </a:solidFill>
            </a:endParaRPr>
          </a:p>
          <a:p>
            <a:r>
              <a:rPr lang="en-US" b="1" dirty="0">
                <a:solidFill>
                  <a:schemeClr val="bg1"/>
                </a:solidFill>
              </a:rPr>
              <a:t>Variable modifications can be divided into two bins:  Common and Rare.</a:t>
            </a:r>
          </a:p>
          <a:p>
            <a:r>
              <a:rPr lang="en-US" b="1" dirty="0">
                <a:solidFill>
                  <a:srgbClr val="FF0000"/>
                </a:solidFill>
              </a:rPr>
              <a:t>M</a:t>
            </a:r>
            <a:r>
              <a:rPr lang="en-US" b="1" dirty="0">
                <a:solidFill>
                  <a:schemeClr val="bg1"/>
                </a:solidFill>
              </a:rPr>
              <a:t>X</a:t>
            </a:r>
            <a:r>
              <a:rPr lang="en-US" b="1" dirty="0">
                <a:solidFill>
                  <a:srgbClr val="FF0000"/>
                </a:solidFill>
              </a:rPr>
              <a:t>Y</a:t>
            </a:r>
            <a:r>
              <a:rPr lang="en-US" b="1" dirty="0">
                <a:solidFill>
                  <a:schemeClr val="bg1"/>
                </a:solidFill>
              </a:rPr>
              <a:t>XX</a:t>
            </a:r>
            <a:r>
              <a:rPr lang="en-US" b="1" dirty="0">
                <a:solidFill>
                  <a:srgbClr val="FF0000"/>
                </a:solidFill>
              </a:rPr>
              <a:t>Y</a:t>
            </a:r>
            <a:r>
              <a:rPr lang="en-US" b="1" dirty="0">
                <a:solidFill>
                  <a:schemeClr val="bg1"/>
                </a:solidFill>
              </a:rPr>
              <a:t>X</a:t>
            </a:r>
            <a:r>
              <a:rPr lang="en-US" b="1" dirty="0">
                <a:solidFill>
                  <a:srgbClr val="FF0000"/>
                </a:solidFill>
              </a:rPr>
              <a:t>M</a:t>
            </a:r>
            <a:r>
              <a:rPr lang="en-US" b="1" dirty="0">
                <a:solidFill>
                  <a:schemeClr val="bg1"/>
                </a:solidFill>
              </a:rPr>
              <a:t>X</a:t>
            </a:r>
            <a:r>
              <a:rPr lang="en-US" b="1" dirty="0">
                <a:solidFill>
                  <a:srgbClr val="FF0000"/>
                </a:solidFill>
              </a:rPr>
              <a:t>K</a:t>
            </a:r>
          </a:p>
          <a:p>
            <a:endParaRPr lang="en-US" b="1" dirty="0">
              <a:solidFill>
                <a:srgbClr val="FF0000"/>
              </a:solidFill>
            </a:endParaRPr>
          </a:p>
          <a:p>
            <a:r>
              <a:rPr lang="en-US" b="1" dirty="0">
                <a:solidFill>
                  <a:schemeClr val="bg1"/>
                </a:solidFill>
              </a:rPr>
              <a:t>But if we change M(ox) to the rare bin, we allow combinations like this:</a:t>
            </a:r>
          </a:p>
          <a:p>
            <a:r>
              <a:rPr lang="en-US" b="1" dirty="0">
                <a:solidFill>
                  <a:schemeClr val="bg1"/>
                </a:solidFill>
              </a:rPr>
              <a:t>2 13C(6)15N(2) K, 1 </a:t>
            </a:r>
            <a:r>
              <a:rPr lang="en-US" b="1" dirty="0" err="1">
                <a:solidFill>
                  <a:schemeClr val="bg1"/>
                </a:solidFill>
              </a:rPr>
              <a:t>SuTex</a:t>
            </a:r>
            <a:r>
              <a:rPr lang="en-US" b="1" dirty="0">
                <a:solidFill>
                  <a:schemeClr val="bg1"/>
                </a:solidFill>
              </a:rPr>
              <a:t>, 1 M(ox)</a:t>
            </a:r>
          </a:p>
          <a:p>
            <a:endParaRPr lang="en-US" b="1" dirty="0">
              <a:solidFill>
                <a:srgbClr val="FF0000"/>
              </a:solidFill>
            </a:endParaRPr>
          </a:p>
          <a:p>
            <a:r>
              <a:rPr lang="en-US" b="1" dirty="0">
                <a:solidFill>
                  <a:schemeClr val="bg1"/>
                </a:solidFill>
              </a:rPr>
              <a:t>(3 common mods and one rare mod)</a:t>
            </a:r>
          </a:p>
        </p:txBody>
      </p:sp>
      <p:cxnSp>
        <p:nvCxnSpPr>
          <p:cNvPr id="10" name="Straight Arrow Connector 9">
            <a:extLst>
              <a:ext uri="{FF2B5EF4-FFF2-40B4-BE49-F238E27FC236}">
                <a16:creationId xmlns:a16="http://schemas.microsoft.com/office/drawing/2014/main" id="{93D8A88B-0D95-EDBB-2733-7D35C72075B7}"/>
              </a:ext>
            </a:extLst>
          </p:cNvPr>
          <p:cNvCxnSpPr/>
          <p:nvPr/>
        </p:nvCxnSpPr>
        <p:spPr>
          <a:xfrm flipV="1">
            <a:off x="6400800" y="3060192"/>
            <a:ext cx="0" cy="36880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C5FFB36-279C-A27C-E05D-164FEF9215F2}"/>
              </a:ext>
            </a:extLst>
          </p:cNvPr>
          <p:cNvCxnSpPr/>
          <p:nvPr/>
        </p:nvCxnSpPr>
        <p:spPr>
          <a:xfrm flipV="1">
            <a:off x="7882128" y="3060192"/>
            <a:ext cx="0" cy="36880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35437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Rectangle 4">
            <a:extLst>
              <a:ext uri="{FF2B5EF4-FFF2-40B4-BE49-F238E27FC236}">
                <a16:creationId xmlns:a16="http://schemas.microsoft.com/office/drawing/2014/main" id="{A0C6A73B-C05B-1289-F30C-96159B3C02AD}"/>
              </a:ext>
            </a:extLst>
          </p:cNvPr>
          <p:cNvSpPr/>
          <p:nvPr/>
        </p:nvSpPr>
        <p:spPr>
          <a:xfrm>
            <a:off x="1558204" y="3277839"/>
            <a:ext cx="3720932"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5368205" y="3251646"/>
            <a:ext cx="5265592" cy="2308324"/>
          </a:xfrm>
          <a:prstGeom prst="rect">
            <a:avLst/>
          </a:prstGeom>
          <a:solidFill>
            <a:schemeClr val="accent6"/>
          </a:solidFill>
        </p:spPr>
        <p:txBody>
          <a:bodyPr wrap="square" rtlCol="0">
            <a:spAutoFit/>
          </a:bodyPr>
          <a:lstStyle/>
          <a:p>
            <a:r>
              <a:rPr lang="en-US" b="1" dirty="0">
                <a:solidFill>
                  <a:schemeClr val="bg1"/>
                </a:solidFill>
              </a:rPr>
              <a:t>Inverted Modifications:</a:t>
            </a:r>
          </a:p>
          <a:p>
            <a:endParaRPr lang="en-US" b="1" dirty="0">
              <a:solidFill>
                <a:schemeClr val="bg1"/>
              </a:solidFill>
            </a:endParaRPr>
          </a:p>
          <a:p>
            <a:r>
              <a:rPr lang="en-US" b="1" dirty="0" err="1">
                <a:solidFill>
                  <a:schemeClr val="bg1"/>
                </a:solidFill>
              </a:rPr>
              <a:t>Byonic</a:t>
            </a:r>
            <a:r>
              <a:rPr lang="en-US" b="1" dirty="0">
                <a:solidFill>
                  <a:schemeClr val="bg1"/>
                </a:solidFill>
              </a:rPr>
              <a:t> also allows inverted modifications:</a:t>
            </a:r>
          </a:p>
          <a:p>
            <a:endParaRPr lang="en-US" b="1" dirty="0">
              <a:solidFill>
                <a:schemeClr val="bg1"/>
              </a:solidFill>
            </a:endParaRPr>
          </a:p>
          <a:p>
            <a:r>
              <a:rPr lang="en-US" b="1" dirty="0">
                <a:solidFill>
                  <a:schemeClr val="bg1"/>
                </a:solidFill>
              </a:rPr>
              <a:t>Carbamidomethyl / -57.021464 @ C | rare1</a:t>
            </a:r>
          </a:p>
          <a:p>
            <a:endParaRPr lang="en-US" b="1" dirty="0">
              <a:solidFill>
                <a:schemeClr val="bg1"/>
              </a:solidFill>
            </a:endParaRPr>
          </a:p>
          <a:p>
            <a:r>
              <a:rPr lang="en-US" b="1" dirty="0">
                <a:solidFill>
                  <a:schemeClr val="bg1"/>
                </a:solidFill>
              </a:rPr>
              <a:t>Would allow for a rare </a:t>
            </a:r>
            <a:r>
              <a:rPr lang="en-US" b="1" dirty="0" err="1">
                <a:solidFill>
                  <a:schemeClr val="bg1"/>
                </a:solidFill>
              </a:rPr>
              <a:t>Cys</a:t>
            </a:r>
            <a:r>
              <a:rPr lang="en-US" b="1" dirty="0">
                <a:solidFill>
                  <a:schemeClr val="bg1"/>
                </a:solidFill>
              </a:rPr>
              <a:t> that was not modified.</a:t>
            </a:r>
          </a:p>
          <a:p>
            <a:endParaRPr lang="en-US" b="1" dirty="0">
              <a:solidFill>
                <a:schemeClr val="bg1"/>
              </a:solidFill>
            </a:endParaRPr>
          </a:p>
        </p:txBody>
      </p:sp>
    </p:spTree>
    <p:extLst>
      <p:ext uri="{BB962C8B-B14F-4D97-AF65-F5344CB8AC3E}">
        <p14:creationId xmlns:p14="http://schemas.microsoft.com/office/powerpoint/2010/main" val="9249919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Rectangle 4">
            <a:extLst>
              <a:ext uri="{FF2B5EF4-FFF2-40B4-BE49-F238E27FC236}">
                <a16:creationId xmlns:a16="http://schemas.microsoft.com/office/drawing/2014/main" id="{A0C6A73B-C05B-1289-F30C-96159B3C02AD}"/>
              </a:ext>
            </a:extLst>
          </p:cNvPr>
          <p:cNvSpPr/>
          <p:nvPr/>
        </p:nvSpPr>
        <p:spPr>
          <a:xfrm>
            <a:off x="1558204" y="3277839"/>
            <a:ext cx="3623396" cy="964977"/>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4817345-457E-71BA-096A-D57D803BEF44}"/>
              </a:ext>
            </a:extLst>
          </p:cNvPr>
          <p:cNvSpPr txBox="1"/>
          <p:nvPr/>
        </p:nvSpPr>
        <p:spPr>
          <a:xfrm>
            <a:off x="3600364" y="4364736"/>
            <a:ext cx="7330202" cy="1754326"/>
          </a:xfrm>
          <a:prstGeom prst="rect">
            <a:avLst/>
          </a:prstGeom>
          <a:solidFill>
            <a:schemeClr val="accent6"/>
          </a:solidFill>
        </p:spPr>
        <p:txBody>
          <a:bodyPr wrap="square" rtlCol="0">
            <a:spAutoFit/>
          </a:bodyPr>
          <a:lstStyle/>
          <a:p>
            <a:r>
              <a:rPr lang="en-US" b="1" dirty="0">
                <a:solidFill>
                  <a:schemeClr val="bg1"/>
                </a:solidFill>
              </a:rPr>
              <a:t>Protein Specific Modifications: </a:t>
            </a:r>
          </a:p>
          <a:p>
            <a:endParaRPr lang="en-US" b="1" dirty="0">
              <a:solidFill>
                <a:schemeClr val="bg1"/>
              </a:solidFill>
            </a:endParaRPr>
          </a:p>
          <a:p>
            <a:r>
              <a:rPr lang="en-US" b="1" dirty="0">
                <a:solidFill>
                  <a:schemeClr val="bg1"/>
                </a:solidFill>
              </a:rPr>
              <a:t>By default, modifications are applied to every possible peptide from all proteins, but </a:t>
            </a:r>
            <a:r>
              <a:rPr lang="en-US" b="1" dirty="0" err="1">
                <a:solidFill>
                  <a:schemeClr val="bg1"/>
                </a:solidFill>
              </a:rPr>
              <a:t>Byonic</a:t>
            </a:r>
            <a:r>
              <a:rPr lang="en-US" b="1" dirty="0">
                <a:solidFill>
                  <a:schemeClr val="bg1"/>
                </a:solidFill>
              </a:rPr>
              <a:t> allows protein-specific modifications.  An example:</a:t>
            </a:r>
          </a:p>
          <a:p>
            <a:endParaRPr lang="en-US" b="1" dirty="0">
              <a:solidFill>
                <a:schemeClr val="bg1"/>
              </a:solidFill>
            </a:endParaRPr>
          </a:p>
          <a:p>
            <a:r>
              <a:rPr lang="en-US" b="1" dirty="0">
                <a:solidFill>
                  <a:schemeClr val="bg1"/>
                </a:solidFill>
              </a:rPr>
              <a:t>Oxidation / +15.994915 @ P | common3 | </a:t>
            </a:r>
            <a:r>
              <a:rPr lang="en-US" b="1" dirty="0" err="1">
                <a:solidFill>
                  <a:schemeClr val="bg1"/>
                </a:solidFill>
              </a:rPr>
              <a:t>ProteinLabel</a:t>
            </a:r>
            <a:r>
              <a:rPr lang="en-US" b="1" dirty="0">
                <a:solidFill>
                  <a:schemeClr val="bg1"/>
                </a:solidFill>
              </a:rPr>
              <a:t>[</a:t>
            </a:r>
            <a:r>
              <a:rPr lang="en-US" b="1" dirty="0" err="1">
                <a:solidFill>
                  <a:schemeClr val="bg1"/>
                </a:solidFill>
              </a:rPr>
              <a:t>icase</a:t>
            </a:r>
            <a:r>
              <a:rPr lang="en-US" b="1" dirty="0">
                <a:solidFill>
                  <a:schemeClr val="bg1"/>
                </a:solidFill>
              </a:rPr>
              <a:t>]{collagen}</a:t>
            </a:r>
          </a:p>
        </p:txBody>
      </p:sp>
    </p:spTree>
    <p:extLst>
      <p:ext uri="{BB962C8B-B14F-4D97-AF65-F5344CB8AC3E}">
        <p14:creationId xmlns:p14="http://schemas.microsoft.com/office/powerpoint/2010/main" val="35106279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FC524C32-C38F-6A93-60D9-A775E4D4A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6" name="TextBox 5">
            <a:extLst>
              <a:ext uri="{FF2B5EF4-FFF2-40B4-BE49-F238E27FC236}">
                <a16:creationId xmlns:a16="http://schemas.microsoft.com/office/drawing/2014/main" id="{44817345-457E-71BA-096A-D57D803BEF44}"/>
              </a:ext>
            </a:extLst>
          </p:cNvPr>
          <p:cNvSpPr txBox="1"/>
          <p:nvPr/>
        </p:nvSpPr>
        <p:spPr>
          <a:xfrm>
            <a:off x="2896514" y="2619471"/>
            <a:ext cx="5265592" cy="2031325"/>
          </a:xfrm>
          <a:prstGeom prst="rect">
            <a:avLst/>
          </a:prstGeom>
          <a:solidFill>
            <a:schemeClr val="accent6"/>
          </a:solidFill>
        </p:spPr>
        <p:txBody>
          <a:bodyPr wrap="square" rtlCol="0">
            <a:spAutoFit/>
          </a:bodyPr>
          <a:lstStyle/>
          <a:p>
            <a:r>
              <a:rPr lang="en-US" b="1" dirty="0">
                <a:solidFill>
                  <a:schemeClr val="bg1"/>
                </a:solidFill>
              </a:rPr>
              <a:t>Search for unexpected modifications or mutations by looking for mass shifts in fragments.</a:t>
            </a:r>
          </a:p>
          <a:p>
            <a:endParaRPr lang="en-US" b="1" dirty="0">
              <a:solidFill>
                <a:schemeClr val="bg1"/>
              </a:solidFill>
            </a:endParaRPr>
          </a:p>
          <a:p>
            <a:r>
              <a:rPr lang="en-US" b="1" dirty="0">
                <a:solidFill>
                  <a:schemeClr val="bg1"/>
                </a:solidFill>
              </a:rPr>
              <a:t>A </a:t>
            </a:r>
            <a:r>
              <a:rPr lang="en-US" b="1" u="sng" dirty="0">
                <a:solidFill>
                  <a:schemeClr val="bg1"/>
                </a:solidFill>
              </a:rPr>
              <a:t>very slow</a:t>
            </a:r>
            <a:r>
              <a:rPr lang="en-US" b="1" dirty="0">
                <a:solidFill>
                  <a:schemeClr val="bg1"/>
                </a:solidFill>
              </a:rPr>
              <a:t> search!  Try to restrict the size of the protein database and the number of spectra being searched.</a:t>
            </a:r>
          </a:p>
          <a:p>
            <a:endParaRPr lang="en-US" b="1" dirty="0">
              <a:solidFill>
                <a:schemeClr val="bg1"/>
              </a:solidFill>
            </a:endParaRPr>
          </a:p>
        </p:txBody>
      </p:sp>
      <p:sp>
        <p:nvSpPr>
          <p:cNvPr id="2" name="Rectangle 1">
            <a:extLst>
              <a:ext uri="{FF2B5EF4-FFF2-40B4-BE49-F238E27FC236}">
                <a16:creationId xmlns:a16="http://schemas.microsoft.com/office/drawing/2014/main" id="{606AFD8B-D752-3330-92AD-9E126BC90D56}"/>
              </a:ext>
            </a:extLst>
          </p:cNvPr>
          <p:cNvSpPr/>
          <p:nvPr/>
        </p:nvSpPr>
        <p:spPr>
          <a:xfrm>
            <a:off x="8339328" y="2619471"/>
            <a:ext cx="2414016" cy="1781841"/>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64699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2" name="Oval 1">
            <a:extLst>
              <a:ext uri="{FF2B5EF4-FFF2-40B4-BE49-F238E27FC236}">
                <a16:creationId xmlns:a16="http://schemas.microsoft.com/office/drawing/2014/main" id="{8CAEAF0F-348D-8F15-70E7-700DD765E477}"/>
              </a:ext>
            </a:extLst>
          </p:cNvPr>
          <p:cNvSpPr/>
          <p:nvPr/>
        </p:nvSpPr>
        <p:spPr bwMode="auto">
          <a:xfrm>
            <a:off x="5912518" y="2306648"/>
            <a:ext cx="959443" cy="402676"/>
          </a:xfrm>
          <a:prstGeom prst="ellipse">
            <a:avLst/>
          </a:prstGeom>
          <a:noFill/>
          <a:ln w="63500"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New Roman" pitchFamily="18" charset="0"/>
            </a:endParaRPr>
          </a:p>
        </p:txBody>
      </p:sp>
      <p:sp>
        <p:nvSpPr>
          <p:cNvPr id="4" name="TextBox 3">
            <a:extLst>
              <a:ext uri="{FF2B5EF4-FFF2-40B4-BE49-F238E27FC236}">
                <a16:creationId xmlns:a16="http://schemas.microsoft.com/office/drawing/2014/main" id="{E32189D6-DBC0-1DE7-815D-96E51069EBAF}"/>
              </a:ext>
            </a:extLst>
          </p:cNvPr>
          <p:cNvSpPr txBox="1"/>
          <p:nvPr/>
        </p:nvSpPr>
        <p:spPr>
          <a:xfrm>
            <a:off x="3650226" y="2966259"/>
            <a:ext cx="4267200" cy="1754326"/>
          </a:xfrm>
          <a:prstGeom prst="rect">
            <a:avLst/>
          </a:prstGeom>
          <a:solidFill>
            <a:schemeClr val="accent6"/>
          </a:solidFill>
        </p:spPr>
        <p:txBody>
          <a:bodyPr wrap="square" rtlCol="0">
            <a:spAutoFit/>
          </a:bodyPr>
          <a:lstStyle/>
          <a:p>
            <a:r>
              <a:rPr lang="en-US" b="1" dirty="0">
                <a:solidFill>
                  <a:schemeClr val="bg1"/>
                </a:solidFill>
              </a:rPr>
              <a:t>If left blank, </a:t>
            </a:r>
            <a:r>
              <a:rPr lang="en-US" b="1" dirty="0" err="1">
                <a:solidFill>
                  <a:schemeClr val="bg1"/>
                </a:solidFill>
              </a:rPr>
              <a:t>Byonic</a:t>
            </a:r>
            <a:r>
              <a:rPr lang="en-US" b="1" dirty="0">
                <a:solidFill>
                  <a:schemeClr val="bg1"/>
                </a:solidFill>
              </a:rPr>
              <a:t> will attempt assignment of these charge states:</a:t>
            </a:r>
          </a:p>
          <a:p>
            <a:r>
              <a:rPr lang="en-US" b="1" dirty="0">
                <a:solidFill>
                  <a:schemeClr val="bg1"/>
                </a:solidFill>
              </a:rPr>
              <a:t>HCD:  +1, +2, +3</a:t>
            </a:r>
          </a:p>
          <a:p>
            <a:endParaRPr lang="en-US" b="1" dirty="0">
              <a:solidFill>
                <a:schemeClr val="bg1"/>
              </a:solidFill>
            </a:endParaRPr>
          </a:p>
          <a:p>
            <a:r>
              <a:rPr lang="en-US" b="1" dirty="0">
                <a:solidFill>
                  <a:schemeClr val="bg1"/>
                </a:solidFill>
              </a:rPr>
              <a:t>Or you can customize the charge range</a:t>
            </a:r>
          </a:p>
          <a:p>
            <a:r>
              <a:rPr lang="en-US" b="1" dirty="0">
                <a:solidFill>
                  <a:schemeClr val="bg1"/>
                </a:solidFill>
              </a:rPr>
              <a:t>(You shouldn’t have unassigned spectra).</a:t>
            </a:r>
          </a:p>
        </p:txBody>
      </p:sp>
      <p:sp>
        <p:nvSpPr>
          <p:cNvPr id="5" name="Rectangle 4">
            <a:extLst>
              <a:ext uri="{FF2B5EF4-FFF2-40B4-BE49-F238E27FC236}">
                <a16:creationId xmlns:a16="http://schemas.microsoft.com/office/drawing/2014/main" id="{3C69CE1F-84D2-6CB0-BB26-0CD4E7E52026}"/>
              </a:ext>
            </a:extLst>
          </p:cNvPr>
          <p:cNvSpPr/>
          <p:nvPr/>
        </p:nvSpPr>
        <p:spPr>
          <a:xfrm>
            <a:off x="1592825" y="2966259"/>
            <a:ext cx="1987675" cy="362499"/>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9472708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5" name="TextBox 4">
            <a:extLst>
              <a:ext uri="{FF2B5EF4-FFF2-40B4-BE49-F238E27FC236}">
                <a16:creationId xmlns:a16="http://schemas.microsoft.com/office/drawing/2014/main" id="{18233DF8-AD91-9D4C-E893-8D2BA54654A3}"/>
              </a:ext>
            </a:extLst>
          </p:cNvPr>
          <p:cNvSpPr txBox="1"/>
          <p:nvPr/>
        </p:nvSpPr>
        <p:spPr>
          <a:xfrm>
            <a:off x="3920613" y="838200"/>
            <a:ext cx="5571566" cy="5355312"/>
          </a:xfrm>
          <a:prstGeom prst="rect">
            <a:avLst/>
          </a:prstGeom>
          <a:solidFill>
            <a:schemeClr val="accent6"/>
          </a:solidFill>
        </p:spPr>
        <p:txBody>
          <a:bodyPr wrap="square" rtlCol="0">
            <a:spAutoFit/>
          </a:bodyPr>
          <a:lstStyle/>
          <a:p>
            <a:r>
              <a:rPr lang="en-US" b="1" dirty="0">
                <a:solidFill>
                  <a:schemeClr val="bg1"/>
                </a:solidFill>
              </a:rPr>
              <a:t>Check whether assigned precursor is an isotope without having a wide precursor tolerance</a:t>
            </a:r>
          </a:p>
          <a:p>
            <a:endParaRPr lang="en-US" b="1" dirty="0">
              <a:solidFill>
                <a:schemeClr val="bg1"/>
              </a:solidFill>
            </a:endParaRPr>
          </a:p>
          <a:p>
            <a:r>
              <a:rPr lang="en-US" b="1" dirty="0">
                <a:solidFill>
                  <a:schemeClr val="bg1"/>
                </a:solidFill>
              </a:rPr>
              <a:t>No Error:  Assume assigned precursor mass is </a:t>
            </a:r>
            <a:r>
              <a:rPr lang="en-US" b="1" dirty="0" err="1">
                <a:solidFill>
                  <a:schemeClr val="bg1"/>
                </a:solidFill>
              </a:rPr>
              <a:t>monisotopic</a:t>
            </a:r>
            <a:r>
              <a:rPr lang="en-US" b="1" dirty="0">
                <a:solidFill>
                  <a:schemeClr val="bg1"/>
                </a:solidFill>
              </a:rPr>
              <a:t>.</a:t>
            </a:r>
          </a:p>
          <a:p>
            <a:endParaRPr lang="en-US" b="1" dirty="0">
              <a:solidFill>
                <a:schemeClr val="bg1"/>
              </a:solidFill>
            </a:endParaRPr>
          </a:p>
          <a:p>
            <a:r>
              <a:rPr lang="en-US" b="1" dirty="0">
                <a:solidFill>
                  <a:schemeClr val="bg1"/>
                </a:solidFill>
              </a:rPr>
              <a:t>Too High Narrow:</a:t>
            </a:r>
          </a:p>
          <a:p>
            <a:r>
              <a:rPr lang="en-US" b="1" dirty="0">
                <a:solidFill>
                  <a:schemeClr val="bg1"/>
                </a:solidFill>
              </a:rPr>
              <a:t>     0 – 1000 Da = No error check</a:t>
            </a:r>
          </a:p>
          <a:p>
            <a:r>
              <a:rPr lang="en-US" b="1" dirty="0">
                <a:solidFill>
                  <a:schemeClr val="bg1"/>
                </a:solidFill>
              </a:rPr>
              <a:t>     1000 – 2500 Da = +1 error check</a:t>
            </a:r>
          </a:p>
          <a:p>
            <a:r>
              <a:rPr lang="en-US" b="1" dirty="0">
                <a:solidFill>
                  <a:schemeClr val="bg1"/>
                </a:solidFill>
              </a:rPr>
              <a:t>      &gt; 2500 Da = +2 error check</a:t>
            </a:r>
          </a:p>
          <a:p>
            <a:endParaRPr lang="en-US" b="1" dirty="0">
              <a:solidFill>
                <a:schemeClr val="bg1"/>
              </a:solidFill>
            </a:endParaRPr>
          </a:p>
          <a:p>
            <a:r>
              <a:rPr lang="en-US" b="1" dirty="0">
                <a:solidFill>
                  <a:schemeClr val="bg1"/>
                </a:solidFill>
              </a:rPr>
              <a:t>Too High Wide:  </a:t>
            </a:r>
          </a:p>
          <a:p>
            <a:r>
              <a:rPr lang="en-US" b="1" dirty="0">
                <a:solidFill>
                  <a:schemeClr val="bg1"/>
                </a:solidFill>
              </a:rPr>
              <a:t>     +precursor mass/1000 (rounded to low integer)</a:t>
            </a:r>
          </a:p>
          <a:p>
            <a:endParaRPr lang="en-US" b="1" dirty="0">
              <a:solidFill>
                <a:schemeClr val="bg1"/>
              </a:solidFill>
            </a:endParaRPr>
          </a:p>
          <a:p>
            <a:r>
              <a:rPr lang="en-US" b="1" dirty="0">
                <a:solidFill>
                  <a:schemeClr val="bg1"/>
                </a:solidFill>
              </a:rPr>
              <a:t>Too High or Low Narrow:</a:t>
            </a:r>
          </a:p>
          <a:p>
            <a:r>
              <a:rPr lang="en-US" b="1" dirty="0">
                <a:solidFill>
                  <a:schemeClr val="bg1"/>
                </a:solidFill>
              </a:rPr>
              <a:t>     +/- precursor mass/4000</a:t>
            </a:r>
          </a:p>
          <a:p>
            <a:endParaRPr lang="en-US" b="1" dirty="0">
              <a:solidFill>
                <a:schemeClr val="bg1"/>
              </a:solidFill>
            </a:endParaRPr>
          </a:p>
          <a:p>
            <a:r>
              <a:rPr lang="en-US" b="1" dirty="0">
                <a:solidFill>
                  <a:schemeClr val="bg1"/>
                </a:solidFill>
              </a:rPr>
              <a:t>Too High or Low Wide:</a:t>
            </a:r>
          </a:p>
          <a:p>
            <a:r>
              <a:rPr lang="en-US" b="1" dirty="0">
                <a:solidFill>
                  <a:schemeClr val="bg1"/>
                </a:solidFill>
              </a:rPr>
              <a:t>    =/- precursor mass/2000</a:t>
            </a:r>
          </a:p>
        </p:txBody>
      </p:sp>
      <p:sp>
        <p:nvSpPr>
          <p:cNvPr id="6" name="Rectangle 5">
            <a:extLst>
              <a:ext uri="{FF2B5EF4-FFF2-40B4-BE49-F238E27FC236}">
                <a16:creationId xmlns:a16="http://schemas.microsoft.com/office/drawing/2014/main" id="{F703512D-E0F4-DD3A-52BA-8009E7B63654}"/>
              </a:ext>
            </a:extLst>
          </p:cNvPr>
          <p:cNvSpPr/>
          <p:nvPr/>
        </p:nvSpPr>
        <p:spPr>
          <a:xfrm>
            <a:off x="1808579" y="3153357"/>
            <a:ext cx="1987675" cy="362499"/>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796995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graphicFrame>
        <p:nvGraphicFramePr>
          <p:cNvPr id="2" name="Table 1">
            <a:extLst>
              <a:ext uri="{FF2B5EF4-FFF2-40B4-BE49-F238E27FC236}">
                <a16:creationId xmlns:a16="http://schemas.microsoft.com/office/drawing/2014/main" id="{DB1B227E-FDE5-346A-7EB6-3A70162F39E8}"/>
              </a:ext>
            </a:extLst>
          </p:cNvPr>
          <p:cNvGraphicFramePr>
            <a:graphicFrameLocks noGrp="1"/>
          </p:cNvGraphicFramePr>
          <p:nvPr>
            <p:extLst>
              <p:ext uri="{D42A27DB-BD31-4B8C-83A1-F6EECF244321}">
                <p14:modId xmlns:p14="http://schemas.microsoft.com/office/powerpoint/2010/main" val="1182287913"/>
              </p:ext>
            </p:extLst>
          </p:nvPr>
        </p:nvGraphicFramePr>
        <p:xfrm>
          <a:off x="3831662" y="1892142"/>
          <a:ext cx="5700712" cy="4280058"/>
        </p:xfrm>
        <a:graphic>
          <a:graphicData uri="http://schemas.openxmlformats.org/drawingml/2006/table">
            <a:tbl>
              <a:tblPr firstRow="1" bandRow="1">
                <a:tableStyleId>{5C22544A-7EE6-4342-B048-85BDC9FD1C3A}</a:tableStyleId>
              </a:tblPr>
              <a:tblGrid>
                <a:gridCol w="2850356">
                  <a:extLst>
                    <a:ext uri="{9D8B030D-6E8A-4147-A177-3AD203B41FA5}">
                      <a16:colId xmlns:a16="http://schemas.microsoft.com/office/drawing/2014/main" val="20000"/>
                    </a:ext>
                  </a:extLst>
                </a:gridCol>
                <a:gridCol w="2850356">
                  <a:extLst>
                    <a:ext uri="{9D8B030D-6E8A-4147-A177-3AD203B41FA5}">
                      <a16:colId xmlns:a16="http://schemas.microsoft.com/office/drawing/2014/main" val="20001"/>
                    </a:ext>
                  </a:extLst>
                </a:gridCol>
              </a:tblGrid>
              <a:tr h="417131">
                <a:tc>
                  <a:txBody>
                    <a:bodyPr/>
                    <a:lstStyle/>
                    <a:p>
                      <a:r>
                        <a:rPr lang="en-US" dirty="0"/>
                        <a:t>Originally Assigned</a:t>
                      </a:r>
                    </a:p>
                  </a:txBody>
                  <a:tcPr>
                    <a:solidFill>
                      <a:schemeClr val="accent6"/>
                    </a:solidFill>
                  </a:tcPr>
                </a:tc>
                <a:tc>
                  <a:txBody>
                    <a:bodyPr/>
                    <a:lstStyle/>
                    <a:p>
                      <a:r>
                        <a:rPr lang="en-US" dirty="0"/>
                        <a:t>Compute from MS1</a:t>
                      </a:r>
                    </a:p>
                  </a:txBody>
                  <a:tcPr>
                    <a:solidFill>
                      <a:schemeClr val="accent6"/>
                    </a:solidFill>
                  </a:tcPr>
                </a:tc>
                <a:extLst>
                  <a:ext uri="{0D108BD9-81ED-4DB2-BD59-A6C34878D82A}">
                    <a16:rowId xmlns:a16="http://schemas.microsoft.com/office/drawing/2014/main" val="10000"/>
                  </a:ext>
                </a:extLst>
              </a:tr>
              <a:tr h="1645666">
                <a:tc>
                  <a:txBody>
                    <a:bodyPr/>
                    <a:lstStyle/>
                    <a:p>
                      <a:r>
                        <a:rPr lang="en-US" b="1" dirty="0">
                          <a:solidFill>
                            <a:schemeClr val="bg1"/>
                          </a:solidFill>
                        </a:rPr>
                        <a:t>Assume</a:t>
                      </a:r>
                      <a:r>
                        <a:rPr lang="en-US" b="1" baseline="0" dirty="0">
                          <a:solidFill>
                            <a:schemeClr val="bg1"/>
                          </a:solidFill>
                        </a:rPr>
                        <a:t> </a:t>
                      </a:r>
                      <a:r>
                        <a:rPr lang="en-US" b="1" baseline="0" dirty="0" err="1">
                          <a:solidFill>
                            <a:schemeClr val="bg1"/>
                          </a:solidFill>
                        </a:rPr>
                        <a:t>Thermo</a:t>
                      </a:r>
                      <a:r>
                        <a:rPr lang="en-US" b="1" baseline="0" dirty="0">
                          <a:solidFill>
                            <a:schemeClr val="bg1"/>
                          </a:solidFill>
                        </a:rPr>
                        <a:t> made correct precursor and charge assignment</a:t>
                      </a:r>
                      <a:endParaRPr lang="en-US" b="1" dirty="0">
                        <a:solidFill>
                          <a:schemeClr val="bg1"/>
                        </a:solidFill>
                      </a:endParaRPr>
                    </a:p>
                  </a:txBody>
                  <a:tcPr>
                    <a:solidFill>
                      <a:schemeClr val="accent6"/>
                    </a:solidFill>
                  </a:tcPr>
                </a:tc>
                <a:tc>
                  <a:txBody>
                    <a:bodyPr/>
                    <a:lstStyle/>
                    <a:p>
                      <a:r>
                        <a:rPr lang="en-US" b="1" dirty="0">
                          <a:solidFill>
                            <a:schemeClr val="bg1"/>
                          </a:solidFill>
                        </a:rPr>
                        <a:t>Allow</a:t>
                      </a:r>
                      <a:r>
                        <a:rPr lang="en-US" b="1" baseline="0" dirty="0">
                          <a:solidFill>
                            <a:schemeClr val="bg1"/>
                          </a:solidFill>
                        </a:rPr>
                        <a:t> </a:t>
                      </a:r>
                      <a:r>
                        <a:rPr lang="en-US" b="1" baseline="0" dirty="0" err="1">
                          <a:solidFill>
                            <a:schemeClr val="bg1"/>
                          </a:solidFill>
                        </a:rPr>
                        <a:t>Byonic</a:t>
                      </a:r>
                      <a:r>
                        <a:rPr lang="en-US" b="1" baseline="0" dirty="0">
                          <a:solidFill>
                            <a:schemeClr val="bg1"/>
                          </a:solidFill>
                        </a:rPr>
                        <a:t> to go back to the MS1 and recalculate the precursor and charge using its own algorithm</a:t>
                      </a:r>
                      <a:endParaRPr lang="en-US" b="1" dirty="0">
                        <a:solidFill>
                          <a:schemeClr val="bg1"/>
                        </a:solidFill>
                      </a:endParaRPr>
                    </a:p>
                  </a:txBody>
                  <a:tcPr>
                    <a:solidFill>
                      <a:schemeClr val="accent6"/>
                    </a:solidFill>
                  </a:tcPr>
                </a:tc>
                <a:extLst>
                  <a:ext uri="{0D108BD9-81ED-4DB2-BD59-A6C34878D82A}">
                    <a16:rowId xmlns:a16="http://schemas.microsoft.com/office/drawing/2014/main" val="10001"/>
                  </a:ext>
                </a:extLst>
              </a:tr>
              <a:tr h="1028541">
                <a:tc>
                  <a:txBody>
                    <a:bodyPr/>
                    <a:lstStyle/>
                    <a:p>
                      <a:r>
                        <a:rPr lang="en-US" b="1" dirty="0">
                          <a:solidFill>
                            <a:schemeClr val="bg1"/>
                          </a:solidFill>
                        </a:rPr>
                        <a:t>Good</a:t>
                      </a:r>
                      <a:r>
                        <a:rPr lang="en-US" b="1" baseline="0" dirty="0">
                          <a:solidFill>
                            <a:schemeClr val="bg1"/>
                          </a:solidFill>
                        </a:rPr>
                        <a:t> for smaller and lower charge precursors</a:t>
                      </a:r>
                      <a:endParaRPr lang="en-US" b="1" dirty="0">
                        <a:solidFill>
                          <a:schemeClr val="bg1"/>
                        </a:solidFill>
                      </a:endParaRPr>
                    </a:p>
                  </a:txBody>
                  <a:tcPr>
                    <a:solidFill>
                      <a:schemeClr val="accent6"/>
                    </a:solidFill>
                  </a:tcPr>
                </a:tc>
                <a:tc>
                  <a:txBody>
                    <a:bodyPr/>
                    <a:lstStyle/>
                    <a:p>
                      <a:r>
                        <a:rPr lang="en-US" b="1" dirty="0">
                          <a:solidFill>
                            <a:schemeClr val="bg1"/>
                          </a:solidFill>
                        </a:rPr>
                        <a:t>Good for longer and higher charge precursors and for mixed spectra</a:t>
                      </a:r>
                    </a:p>
                  </a:txBody>
                  <a:tcPr>
                    <a:solidFill>
                      <a:schemeClr val="accent6"/>
                    </a:solidFill>
                  </a:tcPr>
                </a:tc>
                <a:extLst>
                  <a:ext uri="{0D108BD9-81ED-4DB2-BD59-A6C34878D82A}">
                    <a16:rowId xmlns:a16="http://schemas.microsoft.com/office/drawing/2014/main" val="10002"/>
                  </a:ext>
                </a:extLst>
              </a:tr>
              <a:tr h="1028541">
                <a:tc>
                  <a:txBody>
                    <a:bodyPr/>
                    <a:lstStyle/>
                    <a:p>
                      <a:r>
                        <a:rPr lang="en-US" b="1" dirty="0">
                          <a:solidFill>
                            <a:schemeClr val="bg1"/>
                          </a:solidFill>
                        </a:rPr>
                        <a:t>Search</a:t>
                      </a:r>
                      <a:r>
                        <a:rPr lang="en-US" b="1" baseline="0" dirty="0">
                          <a:solidFill>
                            <a:schemeClr val="bg1"/>
                          </a:solidFill>
                        </a:rPr>
                        <a:t> for the one precursor assigned (Maximum # box will be greyed out)</a:t>
                      </a:r>
                      <a:endParaRPr lang="en-US" b="1" dirty="0">
                        <a:solidFill>
                          <a:schemeClr val="bg1"/>
                        </a:solidFill>
                      </a:endParaRPr>
                    </a:p>
                  </a:txBody>
                  <a:tcPr>
                    <a:solidFill>
                      <a:schemeClr val="accent6"/>
                    </a:solidFill>
                  </a:tcPr>
                </a:tc>
                <a:tc>
                  <a:txBody>
                    <a:bodyPr/>
                    <a:lstStyle/>
                    <a:p>
                      <a:r>
                        <a:rPr lang="en-US" b="1" dirty="0">
                          <a:solidFill>
                            <a:schemeClr val="bg1"/>
                          </a:solidFill>
                        </a:rPr>
                        <a:t>Can</a:t>
                      </a:r>
                      <a:r>
                        <a:rPr lang="en-US" b="1" baseline="0" dirty="0">
                          <a:solidFill>
                            <a:schemeClr val="bg1"/>
                          </a:solidFill>
                        </a:rPr>
                        <a:t> find multiple precursors</a:t>
                      </a:r>
                      <a:endParaRPr lang="en-US" b="1" dirty="0">
                        <a:solidFill>
                          <a:schemeClr val="bg1"/>
                        </a:solidFill>
                      </a:endParaRPr>
                    </a:p>
                  </a:txBody>
                  <a:tcPr>
                    <a:solidFill>
                      <a:schemeClr val="accent6"/>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2902289D-EF0F-382A-661B-A5FA716014EE}"/>
              </a:ext>
            </a:extLst>
          </p:cNvPr>
          <p:cNvSpPr/>
          <p:nvPr/>
        </p:nvSpPr>
        <p:spPr>
          <a:xfrm>
            <a:off x="1641430" y="3850921"/>
            <a:ext cx="2045667" cy="544098"/>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20720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897968" y="420470"/>
            <a:ext cx="2226733" cy="646331"/>
          </a:xfrm>
          <a:prstGeom prst="rect">
            <a:avLst/>
          </a:prstGeom>
          <a:noFill/>
        </p:spPr>
        <p:txBody>
          <a:bodyPr wrap="square" rtlCol="0">
            <a:spAutoFit/>
          </a:bodyPr>
          <a:lstStyle/>
          <a:p>
            <a:r>
              <a:rPr lang="en-US" sz="3600" b="1" dirty="0" err="1"/>
              <a:t>Averagine</a:t>
            </a:r>
            <a:endParaRPr lang="en-US" sz="3600" b="1" dirty="0"/>
          </a:p>
        </p:txBody>
      </p:sp>
      <p:sp>
        <p:nvSpPr>
          <p:cNvPr id="3" name="TextBox 2"/>
          <p:cNvSpPr txBox="1"/>
          <p:nvPr/>
        </p:nvSpPr>
        <p:spPr>
          <a:xfrm>
            <a:off x="2675468" y="1447801"/>
            <a:ext cx="6841067" cy="4062651"/>
          </a:xfrm>
          <a:prstGeom prst="rect">
            <a:avLst/>
          </a:prstGeom>
          <a:noFill/>
        </p:spPr>
        <p:txBody>
          <a:bodyPr wrap="square" rtlCol="0">
            <a:spAutoFit/>
          </a:bodyPr>
          <a:lstStyle/>
          <a:p>
            <a:pPr>
              <a:buFont typeface="Wingdings" pitchFamily="2" charset="2"/>
              <a:buChar char="Ø"/>
            </a:pPr>
            <a:r>
              <a:rPr lang="en-US" sz="2400" b="1" dirty="0"/>
              <a:t>  </a:t>
            </a:r>
            <a:r>
              <a:rPr lang="en-US" sz="2400" b="1" dirty="0" err="1"/>
              <a:t>Averagine</a:t>
            </a:r>
            <a:r>
              <a:rPr lang="en-US" sz="2400" b="1" dirty="0"/>
              <a:t> is a “made up” amino acid that is assumed to consist of the average components of all amino acids:  C</a:t>
            </a:r>
            <a:r>
              <a:rPr lang="en-US" sz="2400" b="1" baseline="-25000" dirty="0"/>
              <a:t>4.9384</a:t>
            </a:r>
            <a:r>
              <a:rPr lang="pt-BR" sz="2400" b="1" dirty="0"/>
              <a:t>H </a:t>
            </a:r>
            <a:r>
              <a:rPr lang="pt-BR" sz="2400" b="1" baseline="-25000" dirty="0"/>
              <a:t>7.7583</a:t>
            </a:r>
            <a:r>
              <a:rPr lang="pt-BR" sz="2400" b="1" dirty="0"/>
              <a:t>N</a:t>
            </a:r>
            <a:r>
              <a:rPr lang="pt-BR" sz="2400" b="1" baseline="-25000" dirty="0"/>
              <a:t>1.3577</a:t>
            </a:r>
            <a:r>
              <a:rPr lang="pt-BR" sz="2400" b="1" dirty="0"/>
              <a:t>O</a:t>
            </a:r>
            <a:r>
              <a:rPr lang="pt-BR" sz="2400" b="1" baseline="-25000" dirty="0"/>
              <a:t>1.4773</a:t>
            </a:r>
            <a:r>
              <a:rPr lang="pt-BR" sz="2400" b="1" dirty="0"/>
              <a:t>S</a:t>
            </a:r>
            <a:r>
              <a:rPr lang="pt-BR" sz="2400" b="1" baseline="-25000" dirty="0"/>
              <a:t>0.0417</a:t>
            </a:r>
            <a:endParaRPr lang="en-US" sz="2400" b="1" baseline="-25000" dirty="0"/>
          </a:p>
          <a:p>
            <a:endParaRPr lang="en-US" sz="2400" b="1" dirty="0"/>
          </a:p>
          <a:p>
            <a:pPr>
              <a:buFont typeface="Wingdings" pitchFamily="2" charset="2"/>
              <a:buChar char="Ø"/>
            </a:pPr>
            <a:r>
              <a:rPr lang="en-US" sz="2400" b="1" dirty="0"/>
              <a:t>  Given any mass value, we can divide by the mass of an </a:t>
            </a:r>
            <a:r>
              <a:rPr lang="en-US" sz="2400" b="1" dirty="0" err="1"/>
              <a:t>averagine</a:t>
            </a:r>
            <a:r>
              <a:rPr lang="en-US" sz="2400" b="1" dirty="0"/>
              <a:t> to determine how many </a:t>
            </a:r>
            <a:r>
              <a:rPr lang="en-US" sz="2400" b="1" dirty="0" err="1"/>
              <a:t>averagine</a:t>
            </a:r>
            <a:r>
              <a:rPr lang="en-US" sz="2400" b="1" dirty="0"/>
              <a:t> residues make up the mass.</a:t>
            </a:r>
          </a:p>
          <a:p>
            <a:pPr>
              <a:buFont typeface="Wingdings" pitchFamily="2" charset="2"/>
              <a:buChar char="Ø"/>
            </a:pPr>
            <a:endParaRPr lang="en-US" sz="2400" b="1" dirty="0"/>
          </a:p>
          <a:p>
            <a:pPr>
              <a:buFont typeface="Wingdings" pitchFamily="2" charset="2"/>
              <a:buChar char="Ø"/>
            </a:pPr>
            <a:r>
              <a:rPr lang="en-US" sz="2400" b="1" dirty="0"/>
              <a:t>  So </a:t>
            </a:r>
            <a:r>
              <a:rPr lang="en-US" sz="2400" b="1" dirty="0" err="1"/>
              <a:t>averagine</a:t>
            </a:r>
            <a:r>
              <a:rPr lang="en-US" sz="2400" b="1" dirty="0"/>
              <a:t> is used to take a best guess at the elemental composition of a mass.</a:t>
            </a:r>
          </a:p>
          <a:p>
            <a:endParaRPr lang="en-US" dirty="0"/>
          </a:p>
        </p:txBody>
      </p:sp>
    </p:spTree>
    <p:extLst>
      <p:ext uri="{BB962C8B-B14F-4D97-AF65-F5344CB8AC3E}">
        <p14:creationId xmlns:p14="http://schemas.microsoft.com/office/powerpoint/2010/main" val="276959022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866902" y="381001"/>
            <a:ext cx="8458199" cy="1569660"/>
          </a:xfrm>
          <a:prstGeom prst="rect">
            <a:avLst/>
          </a:prstGeom>
          <a:noFill/>
        </p:spPr>
        <p:txBody>
          <a:bodyPr wrap="square" rtlCol="0">
            <a:spAutoFit/>
          </a:bodyPr>
          <a:lstStyle/>
          <a:p>
            <a:pPr algn="ctr"/>
            <a:r>
              <a:rPr lang="en-US" sz="3200" dirty="0" err="1"/>
              <a:t>Averagine</a:t>
            </a:r>
            <a:r>
              <a:rPr lang="en-US" sz="3200" dirty="0"/>
              <a:t> can be used to determine </a:t>
            </a:r>
          </a:p>
          <a:p>
            <a:pPr algn="ctr"/>
            <a:r>
              <a:rPr lang="en-US" sz="3200" dirty="0"/>
              <a:t>the </a:t>
            </a:r>
            <a:r>
              <a:rPr lang="en-US" sz="3200" b="1" baseline="30000" dirty="0"/>
              <a:t>12</a:t>
            </a:r>
            <a:r>
              <a:rPr lang="en-US" sz="3200" dirty="0"/>
              <a:t>C mass </a:t>
            </a:r>
          </a:p>
          <a:p>
            <a:pPr algn="ctr"/>
            <a:r>
              <a:rPr lang="en-US" sz="3200" dirty="0"/>
              <a:t>(this is how Thrash does it)</a:t>
            </a:r>
          </a:p>
        </p:txBody>
      </p:sp>
      <p:sp>
        <p:nvSpPr>
          <p:cNvPr id="5" name="TextBox 4"/>
          <p:cNvSpPr txBox="1"/>
          <p:nvPr/>
        </p:nvSpPr>
        <p:spPr>
          <a:xfrm>
            <a:off x="2980268" y="2362200"/>
            <a:ext cx="6231467" cy="3785652"/>
          </a:xfrm>
          <a:prstGeom prst="rect">
            <a:avLst/>
          </a:prstGeom>
          <a:noFill/>
        </p:spPr>
        <p:txBody>
          <a:bodyPr wrap="square" rtlCol="0">
            <a:spAutoFit/>
          </a:bodyPr>
          <a:lstStyle/>
          <a:p>
            <a:pPr>
              <a:buFont typeface="Wingdings" pitchFamily="2" charset="2"/>
              <a:buChar char="Ø"/>
            </a:pPr>
            <a:r>
              <a:rPr lang="en-US" sz="2000" b="1" dirty="0"/>
              <a:t>  A theoretical isotopic envelope is calculated based on the </a:t>
            </a:r>
            <a:r>
              <a:rPr lang="en-US" sz="2000" b="1" dirty="0" err="1"/>
              <a:t>averagine</a:t>
            </a:r>
            <a:r>
              <a:rPr lang="en-US" sz="2000" b="1" dirty="0"/>
              <a:t> mass and its composition.</a:t>
            </a:r>
          </a:p>
          <a:p>
            <a:pPr>
              <a:buFont typeface="Wingdings" pitchFamily="2" charset="2"/>
              <a:buChar char="Ø"/>
            </a:pPr>
            <a:endParaRPr lang="en-US" sz="2000" b="1" dirty="0"/>
          </a:p>
          <a:p>
            <a:pPr>
              <a:buFont typeface="Wingdings" pitchFamily="2" charset="2"/>
              <a:buChar char="Ø"/>
            </a:pPr>
            <a:r>
              <a:rPr lang="en-US" sz="2000" b="1" dirty="0"/>
              <a:t>  This is compared to the actual isotopic envelope in the spectrum.  If it “fits” – at a 90% or greater confidence value – the </a:t>
            </a:r>
            <a:r>
              <a:rPr lang="en-US" sz="2000" b="1" baseline="30000" dirty="0"/>
              <a:t>12</a:t>
            </a:r>
            <a:r>
              <a:rPr lang="en-US" sz="2000" b="1" dirty="0"/>
              <a:t>C mass is assumed to be the </a:t>
            </a:r>
            <a:r>
              <a:rPr lang="en-US" sz="2000" b="1" baseline="30000" dirty="0"/>
              <a:t>12</a:t>
            </a:r>
            <a:r>
              <a:rPr lang="en-US" sz="2000" b="1" dirty="0"/>
              <a:t>C mass of the theoretical distribution.</a:t>
            </a:r>
          </a:p>
          <a:p>
            <a:pPr>
              <a:buFont typeface="Wingdings" pitchFamily="2" charset="2"/>
              <a:buChar char="Ø"/>
            </a:pPr>
            <a:endParaRPr lang="en-US" sz="2000" b="1" dirty="0"/>
          </a:p>
          <a:p>
            <a:pPr>
              <a:buFont typeface="Wingdings" pitchFamily="2" charset="2"/>
              <a:buChar char="Ø"/>
            </a:pPr>
            <a:r>
              <a:rPr lang="en-US" sz="2000" b="1" dirty="0"/>
              <a:t>  The newly determined </a:t>
            </a:r>
            <a:r>
              <a:rPr lang="en-US" sz="2000" b="1" baseline="30000" dirty="0"/>
              <a:t>12</a:t>
            </a:r>
            <a:r>
              <a:rPr lang="en-US" sz="2000" b="1" dirty="0"/>
              <a:t>C is saved, and the isotopic envelope is removed from the spectrum.  Anything left over is re-processed, so if there is an overlapping envelope , its mass can also be determined.</a:t>
            </a:r>
          </a:p>
        </p:txBody>
      </p:sp>
    </p:spTree>
    <p:extLst>
      <p:ext uri="{BB962C8B-B14F-4D97-AF65-F5344CB8AC3E}">
        <p14:creationId xmlns:p14="http://schemas.microsoft.com/office/powerpoint/2010/main" val="240592400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2" name="TextBox 1">
            <a:extLst>
              <a:ext uri="{FF2B5EF4-FFF2-40B4-BE49-F238E27FC236}">
                <a16:creationId xmlns:a16="http://schemas.microsoft.com/office/drawing/2014/main" id="{F4A6C999-9E09-8D90-EF71-19C228BF374B}"/>
              </a:ext>
            </a:extLst>
          </p:cNvPr>
          <p:cNvSpPr txBox="1"/>
          <p:nvPr/>
        </p:nvSpPr>
        <p:spPr>
          <a:xfrm>
            <a:off x="3886199" y="4066369"/>
            <a:ext cx="4419600" cy="923330"/>
          </a:xfrm>
          <a:prstGeom prst="rect">
            <a:avLst/>
          </a:prstGeom>
          <a:solidFill>
            <a:schemeClr val="accent6"/>
          </a:solidFill>
        </p:spPr>
        <p:txBody>
          <a:bodyPr wrap="square" rtlCol="0">
            <a:spAutoFit/>
          </a:bodyPr>
          <a:lstStyle/>
          <a:p>
            <a:r>
              <a:rPr lang="en-US" b="1" dirty="0">
                <a:solidFill>
                  <a:schemeClr val="bg1"/>
                </a:solidFill>
              </a:rPr>
              <a:t>For Waters and AB </a:t>
            </a:r>
            <a:r>
              <a:rPr lang="en-US" b="1" dirty="0" err="1">
                <a:solidFill>
                  <a:schemeClr val="bg1"/>
                </a:solidFill>
              </a:rPr>
              <a:t>Sciex</a:t>
            </a:r>
            <a:r>
              <a:rPr lang="en-US" b="1" dirty="0">
                <a:solidFill>
                  <a:schemeClr val="bg1"/>
                </a:solidFill>
              </a:rPr>
              <a:t> instruments only! </a:t>
            </a:r>
          </a:p>
          <a:p>
            <a:endParaRPr lang="en-US" b="1" dirty="0">
              <a:solidFill>
                <a:schemeClr val="bg1"/>
              </a:solidFill>
            </a:endParaRPr>
          </a:p>
          <a:p>
            <a:r>
              <a:rPr lang="en-US" b="1" dirty="0">
                <a:solidFill>
                  <a:schemeClr val="bg1"/>
                </a:solidFill>
              </a:rPr>
              <a:t>In other words, ignore this!</a:t>
            </a:r>
          </a:p>
        </p:txBody>
      </p:sp>
      <p:sp>
        <p:nvSpPr>
          <p:cNvPr id="5" name="Rectangle 4">
            <a:extLst>
              <a:ext uri="{FF2B5EF4-FFF2-40B4-BE49-F238E27FC236}">
                <a16:creationId xmlns:a16="http://schemas.microsoft.com/office/drawing/2014/main" id="{7827E237-0F4B-9212-A2B3-025196993263}"/>
              </a:ext>
            </a:extLst>
          </p:cNvPr>
          <p:cNvSpPr/>
          <p:nvPr/>
        </p:nvSpPr>
        <p:spPr>
          <a:xfrm>
            <a:off x="2416278" y="4366083"/>
            <a:ext cx="1369142" cy="323903"/>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405892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2" name="TextBox 1">
            <a:extLst>
              <a:ext uri="{FF2B5EF4-FFF2-40B4-BE49-F238E27FC236}">
                <a16:creationId xmlns:a16="http://schemas.microsoft.com/office/drawing/2014/main" id="{BBBF2BAF-DAF0-4425-8D43-4B452BDD978F}"/>
              </a:ext>
            </a:extLst>
          </p:cNvPr>
          <p:cNvSpPr txBox="1"/>
          <p:nvPr/>
        </p:nvSpPr>
        <p:spPr>
          <a:xfrm>
            <a:off x="849216" y="2293536"/>
            <a:ext cx="4419600" cy="3416320"/>
          </a:xfrm>
          <a:prstGeom prst="rect">
            <a:avLst/>
          </a:prstGeom>
          <a:solidFill>
            <a:schemeClr val="accent6"/>
          </a:solidFill>
        </p:spPr>
        <p:txBody>
          <a:bodyPr wrap="square" rtlCol="0">
            <a:spAutoFit/>
          </a:bodyPr>
          <a:lstStyle/>
          <a:p>
            <a:r>
              <a:rPr lang="en-US" b="1" dirty="0">
                <a:solidFill>
                  <a:schemeClr val="bg1"/>
                </a:solidFill>
              </a:rPr>
              <a:t>Which Peptide Spectral Matches (PSMs) will be included in the results?</a:t>
            </a:r>
          </a:p>
          <a:p>
            <a:endParaRPr lang="en-US" b="1" dirty="0">
              <a:solidFill>
                <a:schemeClr val="bg1"/>
              </a:solidFill>
            </a:endParaRPr>
          </a:p>
          <a:p>
            <a:r>
              <a:rPr lang="en-US" b="1" dirty="0">
                <a:solidFill>
                  <a:schemeClr val="bg1"/>
                </a:solidFill>
              </a:rPr>
              <a:t>Automatic score cut will filter results after protein ranking, based on a 1% FDR.</a:t>
            </a:r>
          </a:p>
          <a:p>
            <a:endParaRPr lang="en-US" b="1" dirty="0">
              <a:solidFill>
                <a:schemeClr val="bg1"/>
              </a:solidFill>
            </a:endParaRPr>
          </a:p>
          <a:p>
            <a:r>
              <a:rPr lang="en-US" b="1" dirty="0">
                <a:solidFill>
                  <a:schemeClr val="bg1"/>
                </a:solidFill>
              </a:rPr>
              <a:t>Manual score cut will filter results before protein ranking given the score you provide.</a:t>
            </a:r>
          </a:p>
          <a:p>
            <a:endParaRPr lang="en-US" b="1" dirty="0">
              <a:solidFill>
                <a:schemeClr val="bg1"/>
              </a:solidFill>
            </a:endParaRPr>
          </a:p>
          <a:p>
            <a:r>
              <a:rPr lang="en-US" b="1" dirty="0">
                <a:solidFill>
                  <a:schemeClr val="bg1"/>
                </a:solidFill>
              </a:rPr>
              <a:t>If you do not check the box and do not provide a manual score cutoff, all results will be included.</a:t>
            </a:r>
          </a:p>
        </p:txBody>
      </p:sp>
      <p:sp>
        <p:nvSpPr>
          <p:cNvPr id="4" name="Rectangle 3">
            <a:extLst>
              <a:ext uri="{FF2B5EF4-FFF2-40B4-BE49-F238E27FC236}">
                <a16:creationId xmlns:a16="http://schemas.microsoft.com/office/drawing/2014/main" id="{1EE798DE-1902-D8AC-3C61-91D692C574B4}"/>
              </a:ext>
            </a:extLst>
          </p:cNvPr>
          <p:cNvSpPr/>
          <p:nvPr/>
        </p:nvSpPr>
        <p:spPr>
          <a:xfrm>
            <a:off x="5344041" y="2642716"/>
            <a:ext cx="1810385" cy="786284"/>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680328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2" name="TextBox 1">
            <a:extLst>
              <a:ext uri="{FF2B5EF4-FFF2-40B4-BE49-F238E27FC236}">
                <a16:creationId xmlns:a16="http://schemas.microsoft.com/office/drawing/2014/main" id="{4B76B522-5CB0-EC4C-D44C-5C6C3E30D2B5}"/>
              </a:ext>
            </a:extLst>
          </p:cNvPr>
          <p:cNvSpPr txBox="1"/>
          <p:nvPr/>
        </p:nvSpPr>
        <p:spPr>
          <a:xfrm>
            <a:off x="3481884" y="2625130"/>
            <a:ext cx="4419600" cy="1754326"/>
          </a:xfrm>
          <a:prstGeom prst="rect">
            <a:avLst/>
          </a:prstGeom>
          <a:solidFill>
            <a:schemeClr val="accent6"/>
          </a:solidFill>
        </p:spPr>
        <p:txBody>
          <a:bodyPr wrap="square" rtlCol="0">
            <a:spAutoFit/>
          </a:bodyPr>
          <a:lstStyle/>
          <a:p>
            <a:r>
              <a:rPr lang="en-US" b="1" dirty="0">
                <a:solidFill>
                  <a:schemeClr val="bg1"/>
                </a:solidFill>
              </a:rPr>
              <a:t>Which proteins are included in the output?</a:t>
            </a:r>
          </a:p>
          <a:p>
            <a:endParaRPr lang="en-US" b="1" dirty="0">
              <a:solidFill>
                <a:schemeClr val="bg1"/>
              </a:solidFill>
            </a:endParaRPr>
          </a:p>
          <a:p>
            <a:r>
              <a:rPr lang="en-US" b="1" dirty="0">
                <a:solidFill>
                  <a:schemeClr val="bg1"/>
                </a:solidFill>
              </a:rPr>
              <a:t>3 options:</a:t>
            </a:r>
          </a:p>
          <a:p>
            <a:pPr marL="285750" indent="-285750">
              <a:buFont typeface="Arial" panose="020B0604020202020204" pitchFamily="34" charset="0"/>
              <a:buChar char="•"/>
            </a:pPr>
            <a:r>
              <a:rPr lang="en-US" b="1" dirty="0">
                <a:solidFill>
                  <a:schemeClr val="bg1"/>
                </a:solidFill>
              </a:rPr>
              <a:t>Cutoff at 1% False Discovery Rate</a:t>
            </a:r>
          </a:p>
          <a:p>
            <a:pPr marL="285750" indent="-285750">
              <a:buFont typeface="Arial" panose="020B0604020202020204" pitchFamily="34" charset="0"/>
              <a:buChar char="•"/>
            </a:pPr>
            <a:r>
              <a:rPr lang="en-US" b="1" dirty="0">
                <a:solidFill>
                  <a:schemeClr val="bg1"/>
                </a:solidFill>
              </a:rPr>
              <a:t>Cutoff at 2% False Discovery Rate</a:t>
            </a:r>
          </a:p>
          <a:p>
            <a:pPr marL="285750" indent="-285750">
              <a:buFont typeface="Arial" panose="020B0604020202020204" pitchFamily="34" charset="0"/>
              <a:buChar char="•"/>
            </a:pPr>
            <a:r>
              <a:rPr lang="en-US" b="1" dirty="0">
                <a:solidFill>
                  <a:schemeClr val="bg1"/>
                </a:solidFill>
              </a:rPr>
              <a:t>No cutoff.</a:t>
            </a:r>
          </a:p>
        </p:txBody>
      </p:sp>
      <p:sp>
        <p:nvSpPr>
          <p:cNvPr id="4" name="Rectangle 3">
            <a:extLst>
              <a:ext uri="{FF2B5EF4-FFF2-40B4-BE49-F238E27FC236}">
                <a16:creationId xmlns:a16="http://schemas.microsoft.com/office/drawing/2014/main" id="{0063BAA3-6A9D-7993-26D7-E833016EC7A3}"/>
              </a:ext>
            </a:extLst>
          </p:cNvPr>
          <p:cNvSpPr/>
          <p:nvPr/>
        </p:nvSpPr>
        <p:spPr>
          <a:xfrm>
            <a:off x="7976709" y="2662812"/>
            <a:ext cx="2714737" cy="786284"/>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538328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2" name="TextBox 1">
            <a:extLst>
              <a:ext uri="{FF2B5EF4-FFF2-40B4-BE49-F238E27FC236}">
                <a16:creationId xmlns:a16="http://schemas.microsoft.com/office/drawing/2014/main" id="{C53BDA1F-89D6-A51D-EE5A-6038D5C35AD2}"/>
              </a:ext>
            </a:extLst>
          </p:cNvPr>
          <p:cNvSpPr txBox="1"/>
          <p:nvPr/>
        </p:nvSpPr>
        <p:spPr>
          <a:xfrm>
            <a:off x="3672803" y="3429000"/>
            <a:ext cx="4419600" cy="923330"/>
          </a:xfrm>
          <a:prstGeom prst="rect">
            <a:avLst/>
          </a:prstGeom>
          <a:solidFill>
            <a:schemeClr val="accent6"/>
          </a:solidFill>
        </p:spPr>
        <p:txBody>
          <a:bodyPr wrap="square" rtlCol="0">
            <a:spAutoFit/>
          </a:bodyPr>
          <a:lstStyle/>
          <a:p>
            <a:r>
              <a:rPr lang="en-US" b="1" dirty="0">
                <a:solidFill>
                  <a:schemeClr val="bg1"/>
                </a:solidFill>
              </a:rPr>
              <a:t>A new </a:t>
            </a:r>
            <a:r>
              <a:rPr lang="en-US" b="1" dirty="0" err="1">
                <a:solidFill>
                  <a:schemeClr val="bg1"/>
                </a:solidFill>
              </a:rPr>
              <a:t>fasta</a:t>
            </a:r>
            <a:r>
              <a:rPr lang="en-US" b="1" dirty="0">
                <a:solidFill>
                  <a:schemeClr val="bg1"/>
                </a:solidFill>
              </a:rPr>
              <a:t> database file containing only the proteins found in this database, including decoys.</a:t>
            </a:r>
          </a:p>
        </p:txBody>
      </p:sp>
      <p:sp>
        <p:nvSpPr>
          <p:cNvPr id="4" name="Rectangle 3">
            <a:extLst>
              <a:ext uri="{FF2B5EF4-FFF2-40B4-BE49-F238E27FC236}">
                <a16:creationId xmlns:a16="http://schemas.microsoft.com/office/drawing/2014/main" id="{FDA513FE-5F7C-707F-E4D1-C3AC929A749E}"/>
              </a:ext>
            </a:extLst>
          </p:cNvPr>
          <p:cNvSpPr/>
          <p:nvPr/>
        </p:nvSpPr>
        <p:spPr>
          <a:xfrm>
            <a:off x="8136165" y="3562778"/>
            <a:ext cx="1537674" cy="323903"/>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424763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2" name="TextBox 1">
            <a:extLst>
              <a:ext uri="{FF2B5EF4-FFF2-40B4-BE49-F238E27FC236}">
                <a16:creationId xmlns:a16="http://schemas.microsoft.com/office/drawing/2014/main" id="{1A7416A8-EFFF-5838-B28A-CCDB44B90C53}"/>
              </a:ext>
            </a:extLst>
          </p:cNvPr>
          <p:cNvSpPr txBox="1"/>
          <p:nvPr/>
        </p:nvSpPr>
        <p:spPr>
          <a:xfrm>
            <a:off x="6079105" y="3738412"/>
            <a:ext cx="2177273" cy="369332"/>
          </a:xfrm>
          <a:prstGeom prst="rect">
            <a:avLst/>
          </a:prstGeom>
          <a:solidFill>
            <a:schemeClr val="accent6"/>
          </a:solidFill>
        </p:spPr>
        <p:txBody>
          <a:bodyPr wrap="square" rtlCol="0">
            <a:spAutoFit/>
          </a:bodyPr>
          <a:lstStyle/>
          <a:p>
            <a:r>
              <a:rPr lang="en-US" b="1" dirty="0">
                <a:solidFill>
                  <a:schemeClr val="bg1"/>
                </a:solidFill>
              </a:rPr>
              <a:t>CPASS requires this.</a:t>
            </a:r>
          </a:p>
        </p:txBody>
      </p:sp>
      <p:sp>
        <p:nvSpPr>
          <p:cNvPr id="4" name="Rectangle 3">
            <a:extLst>
              <a:ext uri="{FF2B5EF4-FFF2-40B4-BE49-F238E27FC236}">
                <a16:creationId xmlns:a16="http://schemas.microsoft.com/office/drawing/2014/main" id="{6AA06554-C47E-2B4B-2B65-E26FAB46D941}"/>
              </a:ext>
            </a:extLst>
          </p:cNvPr>
          <p:cNvSpPr/>
          <p:nvPr/>
        </p:nvSpPr>
        <p:spPr>
          <a:xfrm>
            <a:off x="8317035" y="3763745"/>
            <a:ext cx="1537674" cy="323903"/>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314984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Graphical user interface, text, application, email&#10;&#10;Description automatically generated">
            <a:extLst>
              <a:ext uri="{FF2B5EF4-FFF2-40B4-BE49-F238E27FC236}">
                <a16:creationId xmlns:a16="http://schemas.microsoft.com/office/drawing/2014/main" id="{E2B619E5-8B8A-4AC5-76AF-10DB8A173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33" y="214884"/>
            <a:ext cx="9669133" cy="6428232"/>
          </a:xfrm>
          <a:prstGeom prst="rect">
            <a:avLst/>
          </a:prstGeom>
        </p:spPr>
      </p:pic>
      <p:sp>
        <p:nvSpPr>
          <p:cNvPr id="2" name="TextBox 1">
            <a:extLst>
              <a:ext uri="{FF2B5EF4-FFF2-40B4-BE49-F238E27FC236}">
                <a16:creationId xmlns:a16="http://schemas.microsoft.com/office/drawing/2014/main" id="{C014E19B-68F6-A1D2-607E-7330E2397FB0}"/>
              </a:ext>
            </a:extLst>
          </p:cNvPr>
          <p:cNvSpPr txBox="1"/>
          <p:nvPr/>
        </p:nvSpPr>
        <p:spPr>
          <a:xfrm>
            <a:off x="5314336" y="4107176"/>
            <a:ext cx="4114800" cy="2308324"/>
          </a:xfrm>
          <a:prstGeom prst="rect">
            <a:avLst/>
          </a:prstGeom>
          <a:solidFill>
            <a:schemeClr val="accent6"/>
          </a:solidFill>
        </p:spPr>
        <p:txBody>
          <a:bodyPr wrap="square" rtlCol="0">
            <a:spAutoFit/>
          </a:bodyPr>
          <a:lstStyle/>
          <a:p>
            <a:r>
              <a:rPr lang="en-US" b="1" dirty="0">
                <a:solidFill>
                  <a:schemeClr val="bg1"/>
                </a:solidFill>
              </a:rPr>
              <a:t>How fast will your search run?</a:t>
            </a:r>
          </a:p>
          <a:p>
            <a:br>
              <a:rPr lang="en-US" b="1" dirty="0">
                <a:solidFill>
                  <a:schemeClr val="bg1"/>
                </a:solidFill>
              </a:rPr>
            </a:br>
            <a:r>
              <a:rPr lang="en-US" b="1" dirty="0">
                <a:solidFill>
                  <a:schemeClr val="bg1"/>
                </a:solidFill>
              </a:rPr>
              <a:t>What else will you be able to do on your computer while the search is running?</a:t>
            </a:r>
          </a:p>
          <a:p>
            <a:endParaRPr lang="en-US" b="1" dirty="0">
              <a:solidFill>
                <a:schemeClr val="bg1"/>
              </a:solidFill>
            </a:endParaRPr>
          </a:p>
          <a:p>
            <a:r>
              <a:rPr lang="en-US" b="1" dirty="0">
                <a:solidFill>
                  <a:schemeClr val="bg1"/>
                </a:solidFill>
              </a:rPr>
              <a:t>Light:  Uses one core</a:t>
            </a:r>
          </a:p>
          <a:p>
            <a:r>
              <a:rPr lang="en-US" b="1" dirty="0">
                <a:solidFill>
                  <a:schemeClr val="bg1"/>
                </a:solidFill>
              </a:rPr>
              <a:t>Normal: Uses all but two cores</a:t>
            </a:r>
          </a:p>
          <a:p>
            <a:r>
              <a:rPr lang="en-US" b="1" dirty="0">
                <a:solidFill>
                  <a:schemeClr val="bg1"/>
                </a:solidFill>
              </a:rPr>
              <a:t>Heavy:  Uses all cores!</a:t>
            </a:r>
          </a:p>
        </p:txBody>
      </p:sp>
      <p:sp>
        <p:nvSpPr>
          <p:cNvPr id="4" name="Rectangle 3">
            <a:extLst>
              <a:ext uri="{FF2B5EF4-FFF2-40B4-BE49-F238E27FC236}">
                <a16:creationId xmlns:a16="http://schemas.microsoft.com/office/drawing/2014/main" id="{122C7823-4946-D552-5D31-772E0ED129F9}"/>
              </a:ext>
            </a:extLst>
          </p:cNvPr>
          <p:cNvSpPr/>
          <p:nvPr/>
        </p:nvSpPr>
        <p:spPr>
          <a:xfrm>
            <a:off x="3938071" y="5775235"/>
            <a:ext cx="1234157" cy="640265"/>
          </a:xfrm>
          <a:prstGeom prst="rect">
            <a:avLst/>
          </a:prstGeom>
          <a:noFill/>
          <a:ln w="5715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032868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FF92E6-BCDB-692B-57EC-61CAABF51BDD}"/>
              </a:ext>
            </a:extLst>
          </p:cNvPr>
          <p:cNvSpPr txBox="1"/>
          <p:nvPr/>
        </p:nvSpPr>
        <p:spPr>
          <a:xfrm>
            <a:off x="1328058" y="575355"/>
            <a:ext cx="9535884" cy="707886"/>
          </a:xfrm>
          <a:prstGeom prst="rect">
            <a:avLst/>
          </a:prstGeom>
          <a:noFill/>
        </p:spPr>
        <p:txBody>
          <a:bodyPr wrap="square">
            <a:spAutoFit/>
          </a:bodyPr>
          <a:lstStyle/>
          <a:p>
            <a:r>
              <a:rPr lang="en-US" sz="4000" b="1" dirty="0"/>
              <a:t>Future Directions for Peptide Identification</a:t>
            </a:r>
          </a:p>
        </p:txBody>
      </p:sp>
      <p:sp>
        <p:nvSpPr>
          <p:cNvPr id="4" name="TextBox 3">
            <a:extLst>
              <a:ext uri="{FF2B5EF4-FFF2-40B4-BE49-F238E27FC236}">
                <a16:creationId xmlns:a16="http://schemas.microsoft.com/office/drawing/2014/main" id="{81C45C77-7825-20A9-EFB5-B5748A2ECC31}"/>
              </a:ext>
            </a:extLst>
          </p:cNvPr>
          <p:cNvSpPr txBox="1"/>
          <p:nvPr/>
        </p:nvSpPr>
        <p:spPr>
          <a:xfrm>
            <a:off x="2064327" y="1997839"/>
            <a:ext cx="8063345" cy="3970318"/>
          </a:xfrm>
          <a:prstGeom prst="rect">
            <a:avLst/>
          </a:prstGeom>
          <a:noFill/>
        </p:spPr>
        <p:txBody>
          <a:bodyPr wrap="square" rtlCol="0">
            <a:spAutoFit/>
          </a:bodyPr>
          <a:lstStyle/>
          <a:p>
            <a:pPr marL="285750" indent="-285750">
              <a:buFont typeface="Arial" panose="020B0604020202020204" pitchFamily="34" charset="0"/>
              <a:buChar char="•"/>
            </a:pPr>
            <a:r>
              <a:rPr lang="en-US" sz="3600" dirty="0"/>
              <a:t>Real-time search during data acquisition</a:t>
            </a:r>
          </a:p>
          <a:p>
            <a:pPr marL="285750" indent="-285750">
              <a:buFont typeface="Arial" panose="020B0604020202020204" pitchFamily="34" charset="0"/>
              <a:buChar char="•"/>
            </a:pPr>
            <a:r>
              <a:rPr lang="en-US" sz="3600" dirty="0"/>
              <a:t>Standardized code-friendly formats for acquired data (FAIR data practices)</a:t>
            </a:r>
          </a:p>
          <a:p>
            <a:pPr marL="285750" indent="-285750">
              <a:buFont typeface="Arial" panose="020B0604020202020204" pitchFamily="34" charset="0"/>
              <a:buChar char="•"/>
            </a:pPr>
            <a:r>
              <a:rPr lang="en-US" sz="3600" dirty="0"/>
              <a:t>Public data repositories (e.g., </a:t>
            </a:r>
            <a:r>
              <a:rPr lang="en-US" sz="3600" dirty="0" err="1"/>
              <a:t>MassIVE</a:t>
            </a:r>
            <a:r>
              <a:rPr lang="en-US" sz="3600" dirty="0"/>
              <a:t>)</a:t>
            </a:r>
          </a:p>
          <a:p>
            <a:pPr marL="285750" indent="-285750">
              <a:buFont typeface="Arial" panose="020B0604020202020204" pitchFamily="34" charset="0"/>
              <a:buChar char="•"/>
            </a:pPr>
            <a:r>
              <a:rPr lang="en-US" sz="3600" dirty="0"/>
              <a:t>Machine learning</a:t>
            </a:r>
          </a:p>
          <a:p>
            <a:pPr marL="285750" indent="-285750">
              <a:buFont typeface="Arial" panose="020B0604020202020204" pitchFamily="34" charset="0"/>
              <a:buChar char="•"/>
            </a:pPr>
            <a:r>
              <a:rPr lang="en-US" sz="3600" dirty="0"/>
              <a:t>Cloud computing</a:t>
            </a:r>
          </a:p>
          <a:p>
            <a:pPr marL="285750" indent="-285750">
              <a:buFont typeface="Arial" panose="020B0604020202020204" pitchFamily="34" charset="0"/>
              <a:buChar char="•"/>
            </a:pPr>
            <a:r>
              <a:rPr lang="en-US" sz="3600" i="1" dirty="0"/>
              <a:t>de novo </a:t>
            </a:r>
            <a:r>
              <a:rPr lang="en-US" sz="3600" dirty="0"/>
              <a:t>sequencing</a:t>
            </a:r>
          </a:p>
        </p:txBody>
      </p:sp>
    </p:spTree>
    <p:extLst>
      <p:ext uri="{BB962C8B-B14F-4D97-AF65-F5344CB8AC3E}">
        <p14:creationId xmlns:p14="http://schemas.microsoft.com/office/powerpoint/2010/main" val="27047634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References</a:t>
            </a:r>
          </a:p>
        </p:txBody>
      </p:sp>
      <p:sp>
        <p:nvSpPr>
          <p:cNvPr id="3" name="TextBox 2"/>
          <p:cNvSpPr txBox="1"/>
          <p:nvPr/>
        </p:nvSpPr>
        <p:spPr>
          <a:xfrm>
            <a:off x="1003579" y="1093140"/>
            <a:ext cx="10184842" cy="5509200"/>
          </a:xfrm>
          <a:prstGeom prst="rect">
            <a:avLst/>
          </a:prstGeom>
          <a:noFill/>
        </p:spPr>
        <p:txBody>
          <a:bodyPr wrap="square" rtlCol="0">
            <a:spAutoFit/>
          </a:bodyPr>
          <a:lstStyle/>
          <a:p>
            <a:pPr marL="342900" indent="-342900"/>
            <a:r>
              <a:rPr lang="en-US" sz="2400" dirty="0" err="1"/>
              <a:t>Byonic</a:t>
            </a:r>
            <a:r>
              <a:rPr lang="en-US" sz="2400" dirty="0"/>
              <a:t>:</a:t>
            </a:r>
          </a:p>
          <a:p>
            <a:pPr marL="342900" indent="-342900"/>
            <a:endParaRPr lang="en-US" sz="2400" dirty="0"/>
          </a:p>
          <a:p>
            <a:pPr marL="342900" indent="-342900"/>
            <a:r>
              <a:rPr lang="en-US" sz="2400" dirty="0"/>
              <a:t>	</a:t>
            </a:r>
            <a:r>
              <a:rPr lang="en-US" sz="2000" dirty="0"/>
              <a:t>Bern M, </a:t>
            </a:r>
            <a:r>
              <a:rPr lang="en-US" sz="2000" dirty="0" err="1"/>
              <a:t>Cai</a:t>
            </a:r>
            <a:r>
              <a:rPr lang="en-US" sz="2000" dirty="0"/>
              <a:t> Y, Goldberg D.  Lookup peaks:  A hybrid de novo sequencing and database search algorithm for protein identification by tandem mass spectrometry. Anal. Chem. 2007, 79, 1393-1400.</a:t>
            </a:r>
          </a:p>
          <a:p>
            <a:pPr marL="342900" indent="-342900"/>
            <a:endParaRPr lang="en-US" sz="2000" dirty="0"/>
          </a:p>
          <a:p>
            <a:pPr marL="342900" indent="-342900"/>
            <a:r>
              <a:rPr lang="en-US" sz="2000" dirty="0"/>
              <a:t>	Bern, M, </a:t>
            </a:r>
            <a:r>
              <a:rPr lang="en-US" sz="2000" dirty="0" err="1"/>
              <a:t>Kil</a:t>
            </a:r>
            <a:r>
              <a:rPr lang="en-US" sz="2000" dirty="0"/>
              <a:t> YJ. Two-dimensional target decoy strategy for shotgun proteomics. J Proteome Res. 2011 </a:t>
            </a:r>
            <a:r>
              <a:rPr lang="en-US" sz="2000" i="1" dirty="0"/>
              <a:t>10</a:t>
            </a:r>
            <a:r>
              <a:rPr lang="en-US" sz="2000" dirty="0"/>
              <a:t> (12), 5296-5301.  DOI:10.1021/pr200780j </a:t>
            </a:r>
          </a:p>
          <a:p>
            <a:pPr marL="342900" indent="-342900"/>
            <a:endParaRPr lang="en-US" sz="2000" dirty="0"/>
          </a:p>
          <a:p>
            <a:pPr marL="342900" indent="-342900"/>
            <a:r>
              <a:rPr lang="en-US" sz="2000" dirty="0"/>
              <a:t>	Bern M, </a:t>
            </a:r>
            <a:r>
              <a:rPr lang="en-US" sz="2000" dirty="0" err="1"/>
              <a:t>Kil</a:t>
            </a:r>
            <a:r>
              <a:rPr lang="en-US" sz="2000" dirty="0"/>
              <a:t> YJ, Becker C. </a:t>
            </a:r>
            <a:r>
              <a:rPr lang="en-US" sz="2000" dirty="0" err="1"/>
              <a:t>Byonic</a:t>
            </a:r>
            <a:r>
              <a:rPr lang="en-US" sz="2000" dirty="0"/>
              <a:t>: advanced peptide and protein identification software. </a:t>
            </a:r>
            <a:r>
              <a:rPr lang="en-US" sz="2000" dirty="0" err="1"/>
              <a:t>Curr</a:t>
            </a:r>
            <a:r>
              <a:rPr lang="en-US" sz="2000" dirty="0"/>
              <a:t> </a:t>
            </a:r>
            <a:r>
              <a:rPr lang="en-US" sz="2000" dirty="0" err="1"/>
              <a:t>Protoc</a:t>
            </a:r>
            <a:r>
              <a:rPr lang="en-US" sz="2000" dirty="0"/>
              <a:t> Bioinformatics. 2012 </a:t>
            </a:r>
            <a:r>
              <a:rPr lang="en-US" sz="2000" dirty="0" err="1"/>
              <a:t>Dec;Chapter</a:t>
            </a:r>
            <a:r>
              <a:rPr lang="en-US" sz="2000" dirty="0"/>
              <a:t> 13:Unit13.20. </a:t>
            </a:r>
            <a:r>
              <a:rPr lang="en-US" sz="2000" dirty="0" err="1"/>
              <a:t>doi</a:t>
            </a:r>
            <a:r>
              <a:rPr lang="en-US" sz="2000" dirty="0"/>
              <a:t>: 10.1002/0471250953.bi1320s40. PMID: 23255153; PMCID: PMC3545648.</a:t>
            </a:r>
          </a:p>
          <a:p>
            <a:pPr marL="342900" indent="-342900"/>
            <a:endParaRPr lang="en-US" sz="2000" dirty="0"/>
          </a:p>
          <a:p>
            <a:pPr marL="342900" indent="-342900"/>
            <a:r>
              <a:rPr lang="en-US" sz="2000" dirty="0"/>
              <a:t>	The </a:t>
            </a:r>
            <a:r>
              <a:rPr lang="en-US" sz="2000" dirty="0" err="1"/>
              <a:t>Byonic</a:t>
            </a:r>
            <a:r>
              <a:rPr lang="en-US" sz="2000" dirty="0"/>
              <a:t> User’s Manual: </a:t>
            </a:r>
            <a:r>
              <a:rPr lang="en-US" sz="2000" dirty="0">
                <a:hlinkClick r:id="rId2">
                  <a:extLst>
                    <a:ext uri="{A12FA001-AC4F-418D-AE19-62706E023703}">
                      <ahyp:hlinkClr xmlns:ahyp="http://schemas.microsoft.com/office/drawing/2018/hyperlinkcolor" val="tx"/>
                    </a:ext>
                  </a:extLst>
                </a:hlinkClick>
              </a:rPr>
              <a:t>http://www.proteinmetrics.com/products/byonic/byonic-manual/</a:t>
            </a:r>
            <a:endParaRPr lang="en-US" sz="2000" dirty="0"/>
          </a:p>
          <a:p>
            <a:pPr marL="342900" indent="-342900"/>
            <a:endParaRPr lang="en-US" sz="2000" dirty="0"/>
          </a:p>
          <a:p>
            <a:pPr marL="342900" indent="-342900"/>
            <a:r>
              <a:rPr lang="en-US" sz="2000" dirty="0"/>
              <a:t>	The Protein Metrics web site (www.proteinmetrics.com) has tutorials and videos on many topics.</a:t>
            </a:r>
            <a:endParaRPr lang="en-US" sz="2400" dirty="0"/>
          </a:p>
        </p:txBody>
      </p:sp>
    </p:spTree>
    <p:extLst>
      <p:ext uri="{BB962C8B-B14F-4D97-AF65-F5344CB8AC3E}">
        <p14:creationId xmlns:p14="http://schemas.microsoft.com/office/powerpoint/2010/main" val="30760411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References</a:t>
            </a:r>
          </a:p>
        </p:txBody>
      </p:sp>
      <p:sp>
        <p:nvSpPr>
          <p:cNvPr id="3" name="TextBox 2"/>
          <p:cNvSpPr txBox="1"/>
          <p:nvPr/>
        </p:nvSpPr>
        <p:spPr>
          <a:xfrm>
            <a:off x="1752600" y="1214260"/>
            <a:ext cx="8686800" cy="3662541"/>
          </a:xfrm>
          <a:prstGeom prst="rect">
            <a:avLst/>
          </a:prstGeom>
          <a:noFill/>
        </p:spPr>
        <p:txBody>
          <a:bodyPr wrap="square" rtlCol="0">
            <a:spAutoFit/>
          </a:bodyPr>
          <a:lstStyle/>
          <a:p>
            <a:pPr marL="342900" indent="-342900"/>
            <a:endParaRPr lang="en-US" sz="2400" dirty="0">
              <a:solidFill>
                <a:srgbClr val="FFFF00"/>
              </a:solidFill>
            </a:endParaRPr>
          </a:p>
          <a:p>
            <a:pPr marL="342900" indent="-342900"/>
            <a:r>
              <a:rPr lang="en-US" sz="2400" dirty="0"/>
              <a:t>PEP and FDR calculation:</a:t>
            </a:r>
          </a:p>
          <a:p>
            <a:pPr marL="342900" indent="-342900"/>
            <a:endParaRPr lang="en-US" sz="2400" dirty="0"/>
          </a:p>
          <a:p>
            <a:pPr marL="342900" indent="-342900"/>
            <a:r>
              <a:rPr lang="en-US" sz="2400" dirty="0"/>
              <a:t>	</a:t>
            </a:r>
            <a:r>
              <a:rPr lang="en-US" sz="2000" dirty="0" err="1"/>
              <a:t>Kall</a:t>
            </a:r>
            <a:r>
              <a:rPr lang="en-US" sz="2000" dirty="0"/>
              <a:t> L, Storey, JD, </a:t>
            </a:r>
            <a:r>
              <a:rPr lang="en-US" sz="2000" dirty="0" err="1"/>
              <a:t>MacCoss</a:t>
            </a:r>
            <a:r>
              <a:rPr lang="en-US" sz="2000" dirty="0"/>
              <a:t> MJ, Noble WS. Assigning significance to peptides identified by tandem mass spectrometry using decoy databases. J Proteome Res. 2008 Jan;7(1):29-34. </a:t>
            </a:r>
            <a:r>
              <a:rPr lang="en-US" sz="2000" dirty="0" err="1"/>
              <a:t>Epub</a:t>
            </a:r>
            <a:r>
              <a:rPr lang="en-US" sz="2000" dirty="0"/>
              <a:t> 2007 Dec 8</a:t>
            </a:r>
            <a:r>
              <a:rPr lang="en-US" sz="2400" dirty="0"/>
              <a:t>.</a:t>
            </a:r>
          </a:p>
          <a:p>
            <a:pPr marL="342900" indent="-342900"/>
            <a:endParaRPr lang="en-US" sz="2400" dirty="0"/>
          </a:p>
          <a:p>
            <a:pPr marL="342900" indent="-342900"/>
            <a:r>
              <a:rPr lang="en-US" sz="2400" b="1" dirty="0"/>
              <a:t>	</a:t>
            </a:r>
            <a:r>
              <a:rPr lang="en-US" sz="2000" dirty="0"/>
              <a:t>https://bioinfomagician.wordpress.com/2013/10/14/p-vs-q-vs-pep-values-in-mass-spec-database-search/</a:t>
            </a:r>
          </a:p>
          <a:p>
            <a:pPr marL="342900" indent="-342900"/>
            <a:r>
              <a:rPr lang="en-US" sz="2400" b="1" dirty="0">
                <a:solidFill>
                  <a:srgbClr val="FFFF00"/>
                </a:solidFill>
              </a:rPr>
              <a:t>	</a:t>
            </a:r>
          </a:p>
        </p:txBody>
      </p:sp>
    </p:spTree>
    <p:extLst>
      <p:ext uri="{BB962C8B-B14F-4D97-AF65-F5344CB8AC3E}">
        <p14:creationId xmlns:p14="http://schemas.microsoft.com/office/powerpoint/2010/main" val="8468782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References</a:t>
            </a:r>
          </a:p>
        </p:txBody>
      </p:sp>
      <p:sp>
        <p:nvSpPr>
          <p:cNvPr id="3" name="TextBox 2"/>
          <p:cNvSpPr txBox="1"/>
          <p:nvPr/>
        </p:nvSpPr>
        <p:spPr>
          <a:xfrm>
            <a:off x="1752600" y="1522036"/>
            <a:ext cx="8686800" cy="3354765"/>
          </a:xfrm>
          <a:prstGeom prst="rect">
            <a:avLst/>
          </a:prstGeom>
          <a:noFill/>
        </p:spPr>
        <p:txBody>
          <a:bodyPr wrap="square" rtlCol="0">
            <a:spAutoFit/>
          </a:bodyPr>
          <a:lstStyle/>
          <a:p>
            <a:pPr marL="342900" indent="-342900"/>
            <a:r>
              <a:rPr lang="en-US" sz="2400" dirty="0" err="1"/>
              <a:t>cRAP</a:t>
            </a:r>
            <a:r>
              <a:rPr lang="en-US" sz="2400" dirty="0"/>
              <a:t> database:</a:t>
            </a:r>
          </a:p>
          <a:p>
            <a:pPr marL="342900" indent="-342900"/>
            <a:r>
              <a:rPr lang="en-US" sz="2400" b="1" dirty="0"/>
              <a:t>	</a:t>
            </a:r>
            <a:r>
              <a:rPr lang="en-US" sz="2000" dirty="0" err="1"/>
              <a:t>Mellacheruvu</a:t>
            </a:r>
            <a:r>
              <a:rPr lang="en-US" sz="2000" dirty="0"/>
              <a:t> D et al.  The </a:t>
            </a:r>
            <a:r>
              <a:rPr lang="en-US" sz="2000" dirty="0" err="1"/>
              <a:t>CRAPome</a:t>
            </a:r>
            <a:r>
              <a:rPr lang="en-US" sz="2000" dirty="0"/>
              <a:t>: a contaminant repository for affinity purification mass spectrometry data. Nat Methods. 2013(Aug), 10(8), 730-736.</a:t>
            </a:r>
          </a:p>
          <a:p>
            <a:pPr marL="342900" indent="-342900"/>
            <a:endParaRPr lang="en-US" sz="2000" b="1" dirty="0"/>
          </a:p>
          <a:p>
            <a:pPr marL="342900" indent="-342900"/>
            <a:r>
              <a:rPr lang="en-US" sz="2400" dirty="0" err="1"/>
              <a:t>Averagine</a:t>
            </a:r>
            <a:r>
              <a:rPr lang="en-US" sz="2400" dirty="0"/>
              <a:t>:</a:t>
            </a:r>
          </a:p>
          <a:p>
            <a:pPr marL="342900" indent="-342900"/>
            <a:r>
              <a:rPr lang="en-US" sz="2400" dirty="0"/>
              <a:t>     </a:t>
            </a:r>
            <a:r>
              <a:rPr lang="en-US" sz="2000" dirty="0"/>
              <a:t>Senko, M, </a:t>
            </a:r>
            <a:r>
              <a:rPr lang="en-US" sz="2000" dirty="0" err="1"/>
              <a:t>Beu</a:t>
            </a:r>
            <a:r>
              <a:rPr lang="en-US" sz="2000" dirty="0"/>
              <a:t>, S, </a:t>
            </a:r>
            <a:r>
              <a:rPr lang="en-US" sz="2000" dirty="0" err="1"/>
              <a:t>McLafferty</a:t>
            </a:r>
            <a:r>
              <a:rPr lang="en-US" sz="2000" dirty="0"/>
              <a:t>, F.  Determination of monoisotopic masses and ion populations for large biomolecules from resolved isotopic distributions.  JASMS, 1995, 6, 229-233.</a:t>
            </a:r>
          </a:p>
          <a:p>
            <a:pPr marL="342900" indent="-342900"/>
            <a:r>
              <a:rPr lang="en-US" sz="2800" dirty="0">
                <a:solidFill>
                  <a:srgbClr val="FFFF00"/>
                </a:solidFill>
              </a:rPr>
              <a:t>	</a:t>
            </a:r>
          </a:p>
        </p:txBody>
      </p:sp>
    </p:spTree>
    <p:extLst>
      <p:ext uri="{BB962C8B-B14F-4D97-AF65-F5344CB8AC3E}">
        <p14:creationId xmlns:p14="http://schemas.microsoft.com/office/powerpoint/2010/main" val="24223205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3868" y="255660"/>
            <a:ext cx="7044267" cy="707886"/>
          </a:xfrm>
          <a:prstGeom prst="rect">
            <a:avLst/>
          </a:prstGeom>
          <a:noFill/>
        </p:spPr>
        <p:txBody>
          <a:bodyPr wrap="square" rtlCol="0">
            <a:spAutoFit/>
          </a:bodyPr>
          <a:lstStyle/>
          <a:p>
            <a:pPr algn="ctr" eaLnBrk="0" fontAlgn="base" hangingPunct="0">
              <a:spcBef>
                <a:spcPct val="0"/>
              </a:spcBef>
              <a:spcAft>
                <a:spcPct val="0"/>
              </a:spcAft>
            </a:pPr>
            <a:r>
              <a:rPr lang="en-US" sz="4000" dirty="0"/>
              <a:t>References</a:t>
            </a:r>
          </a:p>
        </p:txBody>
      </p:sp>
      <p:sp>
        <p:nvSpPr>
          <p:cNvPr id="3" name="TextBox 2"/>
          <p:cNvSpPr txBox="1"/>
          <p:nvPr/>
        </p:nvSpPr>
        <p:spPr>
          <a:xfrm>
            <a:off x="1752600" y="1522036"/>
            <a:ext cx="8686800" cy="3724096"/>
          </a:xfrm>
          <a:prstGeom prst="rect">
            <a:avLst/>
          </a:prstGeom>
          <a:noFill/>
        </p:spPr>
        <p:txBody>
          <a:bodyPr wrap="square" rtlCol="0">
            <a:spAutoFit/>
          </a:bodyPr>
          <a:lstStyle/>
          <a:p>
            <a:pPr marL="342900" indent="-342900"/>
            <a:r>
              <a:rPr lang="en-US" sz="2400" dirty="0" err="1"/>
              <a:t>MassIVE</a:t>
            </a:r>
            <a:r>
              <a:rPr lang="en-US" sz="2400" dirty="0"/>
              <a:t>:</a:t>
            </a:r>
            <a:endParaRPr lang="en-US" sz="2000" dirty="0"/>
          </a:p>
          <a:p>
            <a:pPr marL="342900" indent="-342900"/>
            <a:r>
              <a:rPr lang="en-US" sz="2000" dirty="0"/>
              <a:t>	</a:t>
            </a:r>
            <a:r>
              <a:rPr lang="en-US" sz="2000" dirty="0">
                <a:hlinkClick r:id="rId2"/>
              </a:rPr>
              <a:t>https://massive.ucsd.edu/ProteoSAFe/static/massive.jsp</a:t>
            </a:r>
            <a:endParaRPr lang="en-US" sz="2000" dirty="0"/>
          </a:p>
          <a:p>
            <a:pPr marL="342900" indent="-342900"/>
            <a:endParaRPr lang="en-US" sz="2000" b="1" dirty="0"/>
          </a:p>
          <a:p>
            <a:pPr marL="342900" indent="-342900"/>
            <a:r>
              <a:rPr lang="en-US" sz="2000" dirty="0"/>
              <a:t>	</a:t>
            </a:r>
            <a:r>
              <a:rPr lang="en-US" sz="2000" dirty="0">
                <a:hlinkClick r:id="rId3"/>
              </a:rPr>
              <a:t>https://ccms-ucsd.github.io/MassIVEDocumentation/</a:t>
            </a:r>
            <a:endParaRPr lang="en-US" sz="2000" dirty="0"/>
          </a:p>
          <a:p>
            <a:pPr marL="342900" indent="-342900"/>
            <a:endParaRPr lang="en-US" sz="2000" dirty="0"/>
          </a:p>
          <a:p>
            <a:pPr marL="342900" indent="-342900"/>
            <a:r>
              <a:rPr lang="en-US" sz="2400" dirty="0" err="1"/>
              <a:t>Sequest</a:t>
            </a:r>
            <a:r>
              <a:rPr lang="en-US" sz="2400" dirty="0"/>
              <a:t> History:</a:t>
            </a:r>
          </a:p>
          <a:p>
            <a:pPr marL="342900" indent="-342900"/>
            <a:r>
              <a:rPr lang="en-US" sz="2000" dirty="0"/>
              <a:t> 	Tabb DL. The SEQUEST family tree. J Am Soc Mass </a:t>
            </a:r>
            <a:r>
              <a:rPr lang="en-US" sz="2000" dirty="0" err="1"/>
              <a:t>Spectrom</a:t>
            </a:r>
            <a:r>
              <a:rPr lang="en-US" sz="2000" dirty="0"/>
              <a:t>. 2015 Nov;26(11):1814-9. </a:t>
            </a:r>
            <a:r>
              <a:rPr lang="en-US" sz="2000" dirty="0" err="1"/>
              <a:t>doi</a:t>
            </a:r>
            <a:r>
              <a:rPr lang="en-US" sz="2000" dirty="0"/>
              <a:t>: 10.1007/s13361-015-1201-3. </a:t>
            </a:r>
            <a:r>
              <a:rPr lang="en-US" sz="2000" dirty="0" err="1"/>
              <a:t>Epub</a:t>
            </a:r>
            <a:r>
              <a:rPr lang="en-US" sz="2000" dirty="0"/>
              <a:t> 2015 Jun 30. PMID: 26122518; PMCID: PMC4607603.</a:t>
            </a:r>
          </a:p>
          <a:p>
            <a:pPr marL="342900" indent="-342900"/>
            <a:endParaRPr lang="en-US" sz="2000" dirty="0"/>
          </a:p>
          <a:p>
            <a:pPr marL="342900" indent="-342900"/>
            <a:r>
              <a:rPr lang="en-US" sz="2800" dirty="0">
                <a:solidFill>
                  <a:srgbClr val="FFFF00"/>
                </a:solidFill>
              </a:rPr>
              <a:t>	</a:t>
            </a:r>
          </a:p>
        </p:txBody>
      </p:sp>
    </p:spTree>
    <p:extLst>
      <p:ext uri="{BB962C8B-B14F-4D97-AF65-F5344CB8AC3E}">
        <p14:creationId xmlns:p14="http://schemas.microsoft.com/office/powerpoint/2010/main" val="243830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3987</TotalTime>
  <Words>4174</Words>
  <Application>Microsoft Office PowerPoint</Application>
  <PresentationFormat>Widescreen</PresentationFormat>
  <Paragraphs>484</Paragraphs>
  <Slides>61</Slides>
  <Notes>14</Notes>
  <HiddenSlides>9</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Arial</vt:lpstr>
      <vt:lpstr>Arial Unicode MS</vt:lpstr>
      <vt:lpstr>Calibri</vt:lpstr>
      <vt:lpstr>Calibri Light</vt:lpstr>
      <vt:lpstr>Courier New</vt:lpstr>
      <vt:lpstr>Times New Roman</vt:lpstr>
      <vt:lpstr>Wingdings</vt:lpstr>
      <vt:lpstr>Office Theme</vt:lpstr>
      <vt:lpstr>An Introduction to the Byonic Search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Bai, Dina L (dlb6z)</dc:creator>
  <cp:lastModifiedBy>Bai, Dina L (dlb6z)</cp:lastModifiedBy>
  <cp:revision>74</cp:revision>
  <dcterms:created xsi:type="dcterms:W3CDTF">2022-07-18T13:29:19Z</dcterms:created>
  <dcterms:modified xsi:type="dcterms:W3CDTF">2022-10-30T14:31:21Z</dcterms:modified>
</cp:coreProperties>
</file>